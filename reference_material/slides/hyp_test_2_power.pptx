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2" r:id="rId2"/>
    <p:sldId id="263" r:id="rId3"/>
    <p:sldId id="256" r:id="rId4"/>
    <p:sldId id="257" r:id="rId5"/>
    <p:sldId id="258" r:id="rId6"/>
    <p:sldId id="259" r:id="rId7"/>
    <p:sldId id="260" r:id="rId8"/>
    <p:sldId id="261" r:id="rId9"/>
    <p:sldId id="264" r:id="rId10"/>
    <p:sldId id="265" r:id="rId11"/>
    <p:sldId id="267" r:id="rId12"/>
    <p:sldId id="268" r:id="rId13"/>
    <p:sldId id="295" r:id="rId14"/>
    <p:sldId id="266" r:id="rId15"/>
    <p:sldId id="289" r:id="rId16"/>
    <p:sldId id="290" r:id="rId17"/>
    <p:sldId id="291" r:id="rId18"/>
    <p:sldId id="293" r:id="rId19"/>
    <p:sldId id="292" r:id="rId20"/>
    <p:sldId id="29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4E228B-04D0-A446-8FD3-C313896E500B}">
          <p14:sldIdLst>
            <p14:sldId id="262"/>
            <p14:sldId id="263"/>
            <p14:sldId id="256"/>
            <p14:sldId id="257"/>
            <p14:sldId id="258"/>
            <p14:sldId id="259"/>
            <p14:sldId id="260"/>
            <p14:sldId id="261"/>
            <p14:sldId id="264"/>
            <p14:sldId id="265"/>
            <p14:sldId id="267"/>
            <p14:sldId id="268"/>
            <p14:sldId id="295"/>
            <p14:sldId id="266"/>
          </p14:sldIdLst>
        </p14:section>
        <p14:section name="classes" id="{8196374A-564B-4240-A63D-8B2E8DA91127}">
          <p14:sldIdLst>
            <p14:sldId id="289"/>
            <p14:sldId id="290"/>
            <p14:sldId id="291"/>
            <p14:sldId id="293"/>
            <p14:sldId id="292"/>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p:restoredTop sz="95897"/>
  </p:normalViewPr>
  <p:slideViewPr>
    <p:cSldViewPr snapToGrid="0">
      <p:cViewPr varScale="1">
        <p:scale>
          <a:sx n="127" d="100"/>
          <a:sy n="127" d="100"/>
        </p:scale>
        <p:origin x="4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445BEF-4026-1644-AE80-187C224A6D1A}" type="datetimeFigureOut">
              <a:rPr lang="en-US" smtClean="0"/>
              <a:t>10/24/25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2417A9D-DF61-C846-834C-CBDD6A5B36D3}"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951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45BEF-4026-1644-AE80-187C224A6D1A}" type="datetimeFigureOut">
              <a:rPr lang="en-US" smtClean="0"/>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17A9D-DF61-C846-834C-CBDD6A5B36D3}"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8394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445BEF-4026-1644-AE80-187C224A6D1A}" type="datetimeFigureOut">
              <a:rPr lang="en-US" smtClean="0"/>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17A9D-DF61-C846-834C-CBDD6A5B36D3}"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4426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445BEF-4026-1644-AE80-187C224A6D1A}" type="datetimeFigureOut">
              <a:rPr lang="en-US" smtClean="0"/>
              <a:t>10/24/25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17A9D-DF61-C846-834C-CBDD6A5B36D3}"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3687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445BEF-4026-1644-AE80-187C224A6D1A}" type="datetimeFigureOut">
              <a:rPr lang="en-US" smtClean="0"/>
              <a:t>10/24/25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417A9D-DF61-C846-834C-CBDD6A5B36D3}"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334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445BEF-4026-1644-AE80-187C224A6D1A}" type="datetimeFigureOut">
              <a:rPr lang="en-US" smtClean="0"/>
              <a:t>10/24/25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417A9D-DF61-C846-834C-CBDD6A5B36D3}"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60416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445BEF-4026-1644-AE80-187C224A6D1A}" type="datetimeFigureOut">
              <a:rPr lang="en-US" smtClean="0"/>
              <a:t>10/24/25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417A9D-DF61-C846-834C-CBDD6A5B36D3}" type="slidenum">
              <a:rPr lang="en-US" smtClean="0"/>
              <a:t>‹#›</a:t>
            </a:fld>
            <a:endParaRPr lang="en-US"/>
          </a:p>
        </p:txBody>
      </p:sp>
    </p:spTree>
    <p:extLst>
      <p:ext uri="{BB962C8B-B14F-4D97-AF65-F5344CB8AC3E}">
        <p14:creationId xmlns:p14="http://schemas.microsoft.com/office/powerpoint/2010/main" val="278627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445BEF-4026-1644-AE80-187C224A6D1A}" type="datetimeFigureOut">
              <a:rPr lang="en-US" smtClean="0"/>
              <a:t>10/24/25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17A9D-DF61-C846-834C-CBDD6A5B36D3}"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95834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C445BEF-4026-1644-AE80-187C224A6D1A}" type="datetimeFigureOut">
              <a:rPr lang="en-US" smtClean="0"/>
              <a:t>10/24/25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2417A9D-DF61-C846-834C-CBDD6A5B36D3}"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74671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45BEF-4026-1644-AE80-187C224A6D1A}" type="datetimeFigureOut">
              <a:rPr lang="en-US" smtClean="0"/>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17A9D-DF61-C846-834C-CBDD6A5B36D3}"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1292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45BEF-4026-1644-AE80-187C224A6D1A}" type="datetimeFigureOut">
              <a:rPr lang="en-US" smtClean="0"/>
              <a:t>10/24/25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17A9D-DF61-C846-834C-CBDD6A5B36D3}"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8472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C445BEF-4026-1644-AE80-187C224A6D1A}" type="datetimeFigureOut">
              <a:rPr lang="en-US" smtClean="0"/>
              <a:t>10/24/25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2417A9D-DF61-C846-834C-CBDD6A5B36D3}"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76522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06BC1-9605-9EA0-3AA0-C838CB9098DE}"/>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62C30D12-39CB-E0FA-09CE-1EB9CB4F3BC2}"/>
              </a:ext>
            </a:extLst>
          </p:cNvPr>
          <p:cNvSpPr>
            <a:spLocks noGrp="1"/>
          </p:cNvSpPr>
          <p:nvPr>
            <p:ph idx="1"/>
          </p:nvPr>
        </p:nvSpPr>
        <p:spPr>
          <a:xfrm>
            <a:off x="677334" y="1853754"/>
            <a:ext cx="11133666" cy="4293046"/>
          </a:xfrm>
        </p:spPr>
        <p:txBody>
          <a:bodyPr>
            <a:normAutofit lnSpcReduction="10000"/>
          </a:bodyPr>
          <a:lstStyle/>
          <a:p>
            <a:r>
              <a:rPr lang="en-US" dirty="0"/>
              <a:t>Today:</a:t>
            </a:r>
          </a:p>
          <a:p>
            <a:pPr lvl="1"/>
            <a:r>
              <a:rPr lang="en-US" dirty="0"/>
              <a:t>Hypothesis testing #2 – power and alternate </a:t>
            </a:r>
            <a:r>
              <a:rPr lang="en-US" dirty="0" err="1"/>
              <a:t>hyp</a:t>
            </a:r>
            <a:r>
              <a:rPr lang="en-US" dirty="0"/>
              <a:t> tests. (017)</a:t>
            </a:r>
          </a:p>
          <a:p>
            <a:pPr lvl="1"/>
            <a:r>
              <a:rPr lang="en-US" dirty="0"/>
              <a:t>Open ended exercise on </a:t>
            </a:r>
            <a:r>
              <a:rPr lang="en-US" dirty="0" err="1"/>
              <a:t>hyp</a:t>
            </a:r>
            <a:r>
              <a:rPr lang="en-US" dirty="0"/>
              <a:t> test. (018)</a:t>
            </a:r>
          </a:p>
          <a:p>
            <a:pPr lvl="1"/>
            <a:r>
              <a:rPr lang="en-US" dirty="0"/>
              <a:t>Linear least squares – foundation of regression (Maybe – if there happens to be time) – Actual ML!!!</a:t>
            </a:r>
          </a:p>
          <a:p>
            <a:r>
              <a:rPr lang="en-US" dirty="0"/>
              <a:t>Note:</a:t>
            </a:r>
          </a:p>
          <a:p>
            <a:pPr lvl="1"/>
            <a:r>
              <a:rPr lang="en-US" dirty="0"/>
              <a:t>Due to (likely) impending layoffs I looked at LinkedIn – a bunch of last year’s students have data-</a:t>
            </a:r>
            <a:r>
              <a:rPr lang="en-US" dirty="0" err="1"/>
              <a:t>ish</a:t>
            </a:r>
            <a:r>
              <a:rPr lang="en-US" dirty="0"/>
              <a:t> job titles!</a:t>
            </a:r>
          </a:p>
          <a:p>
            <a:r>
              <a:rPr lang="en-US" dirty="0"/>
              <a:t>Quiz:</a:t>
            </a:r>
          </a:p>
          <a:p>
            <a:pPr lvl="1"/>
            <a:r>
              <a:rPr lang="en-US" dirty="0"/>
              <a:t>Due to holidays pushing back initial quiz, we’ll do the next on the 11</a:t>
            </a:r>
            <a:r>
              <a:rPr lang="en-US" baseline="30000" dirty="0"/>
              <a:t>th</a:t>
            </a:r>
            <a:r>
              <a:rPr lang="en-US" dirty="0"/>
              <a:t>. Unless there’s objection. </a:t>
            </a:r>
          </a:p>
          <a:p>
            <a:pPr lvl="1"/>
            <a:r>
              <a:rPr lang="en-US" dirty="0"/>
              <a:t>Analytical distributions, hypothesis testing, correlation, errors. </a:t>
            </a:r>
          </a:p>
          <a:p>
            <a:pPr lvl="1"/>
            <a:r>
              <a:rPr lang="en-US" dirty="0"/>
              <a:t>(Honestly, I don’t care much when these things happen, and would prefer to just place them as we go. You’re entitled to an advance schedule though, so if the ambiguity is an issue, let me know and I can set fixed dates.)</a:t>
            </a:r>
          </a:p>
        </p:txBody>
      </p:sp>
    </p:spTree>
    <p:extLst>
      <p:ext uri="{BB962C8B-B14F-4D97-AF65-F5344CB8AC3E}">
        <p14:creationId xmlns:p14="http://schemas.microsoft.com/office/powerpoint/2010/main" val="2680665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D3B07-909A-1893-E61B-2986A5EF9802}"/>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FAA52B66-92B0-3633-D066-180CD16DA551}"/>
              </a:ext>
            </a:extLst>
          </p:cNvPr>
          <p:cNvSpPr>
            <a:spLocks noGrp="1"/>
          </p:cNvSpPr>
          <p:nvPr>
            <p:ph idx="1"/>
          </p:nvPr>
        </p:nvSpPr>
        <p:spPr/>
        <p:txBody>
          <a:bodyPr/>
          <a:lstStyle/>
          <a:p>
            <a:r>
              <a:rPr lang="en-US" dirty="0"/>
              <a:t>Get hype tested! With more power. </a:t>
            </a:r>
          </a:p>
        </p:txBody>
      </p:sp>
    </p:spTree>
    <p:extLst>
      <p:ext uri="{BB962C8B-B14F-4D97-AF65-F5344CB8AC3E}">
        <p14:creationId xmlns:p14="http://schemas.microsoft.com/office/powerpoint/2010/main" val="413545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FB89-A311-82DB-FB5A-B96D0D254120}"/>
              </a:ext>
            </a:extLst>
          </p:cNvPr>
          <p:cNvSpPr>
            <a:spLocks noGrp="1"/>
          </p:cNvSpPr>
          <p:nvPr>
            <p:ph type="ctrTitle"/>
          </p:nvPr>
        </p:nvSpPr>
        <p:spPr/>
        <p:txBody>
          <a:bodyPr/>
          <a:lstStyle/>
          <a:p>
            <a:r>
              <a:rPr lang="en-US" dirty="0"/>
              <a:t>Hypothesis Testing #2</a:t>
            </a:r>
          </a:p>
        </p:txBody>
      </p:sp>
      <p:sp>
        <p:nvSpPr>
          <p:cNvPr id="3" name="Subtitle 2">
            <a:extLst>
              <a:ext uri="{FF2B5EF4-FFF2-40B4-BE49-F238E27FC236}">
                <a16:creationId xmlns:a16="http://schemas.microsoft.com/office/drawing/2014/main" id="{B51ED9AC-8B74-DB72-1220-7894C40CAF4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97711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E19F-57DF-5CCB-3787-DC0780A8792D}"/>
              </a:ext>
            </a:extLst>
          </p:cNvPr>
          <p:cNvSpPr>
            <a:spLocks noGrp="1"/>
          </p:cNvSpPr>
          <p:nvPr>
            <p:ph type="title"/>
          </p:nvPr>
        </p:nvSpPr>
        <p:spPr/>
        <p:txBody>
          <a:bodyPr/>
          <a:lstStyle/>
          <a:p>
            <a:r>
              <a:rPr lang="en-US" dirty="0"/>
              <a:t>Hypothesis Test Errors</a:t>
            </a:r>
          </a:p>
        </p:txBody>
      </p:sp>
      <p:sp>
        <p:nvSpPr>
          <p:cNvPr id="3" name="Content Placeholder 2">
            <a:extLst>
              <a:ext uri="{FF2B5EF4-FFF2-40B4-BE49-F238E27FC236}">
                <a16:creationId xmlns:a16="http://schemas.microsoft.com/office/drawing/2014/main" id="{2437DE22-180B-3EC1-A623-00A404470C95}"/>
              </a:ext>
            </a:extLst>
          </p:cNvPr>
          <p:cNvSpPr>
            <a:spLocks noGrp="1"/>
          </p:cNvSpPr>
          <p:nvPr>
            <p:ph idx="1"/>
          </p:nvPr>
        </p:nvSpPr>
        <p:spPr>
          <a:xfrm>
            <a:off x="1451579" y="2015732"/>
            <a:ext cx="9603275" cy="4037749"/>
          </a:xfrm>
        </p:spPr>
        <p:txBody>
          <a:bodyPr/>
          <a:lstStyle/>
          <a:p>
            <a:r>
              <a:rPr lang="en-US" dirty="0"/>
              <a:t>When doing a hypothesis test, we are testing for one specific error:</a:t>
            </a:r>
          </a:p>
          <a:p>
            <a:pPr lvl="1"/>
            <a:r>
              <a:rPr lang="en-US" dirty="0"/>
              <a:t>False positives, aka…</a:t>
            </a:r>
          </a:p>
          <a:p>
            <a:pPr lvl="1"/>
            <a:r>
              <a:rPr lang="en-US" dirty="0"/>
              <a:t>There is no real difference in the samples, but we think there is. </a:t>
            </a:r>
          </a:p>
          <a:p>
            <a:pPr lvl="1"/>
            <a:r>
              <a:rPr lang="en-US" dirty="0"/>
              <a:t>This is ”capped” by the p-value – you can’t have over p-value likelihood of a FP. </a:t>
            </a:r>
          </a:p>
          <a:p>
            <a:pPr lvl="1"/>
            <a:r>
              <a:rPr lang="en-US" dirty="0"/>
              <a:t>For many cases this is sensible – we are looking for evidence that there is a difference.</a:t>
            </a:r>
          </a:p>
          <a:p>
            <a:r>
              <a:rPr lang="en-US" dirty="0"/>
              <a:t>What about other errors?</a:t>
            </a:r>
          </a:p>
          <a:p>
            <a:pPr lvl="1"/>
            <a:r>
              <a:rPr lang="en-US" dirty="0"/>
              <a:t>What about a false negative – there is no difference, but we think there is. </a:t>
            </a:r>
          </a:p>
          <a:p>
            <a:pPr lvl="1"/>
            <a:r>
              <a:rPr lang="en-US" dirty="0"/>
              <a:t>I.e. we think a drug is helping, but it is actually useless. </a:t>
            </a:r>
          </a:p>
          <a:p>
            <a:r>
              <a:rPr lang="en-US" dirty="0"/>
              <a:t>Power tells us – if there is a real effect, how likely are we to detect it? </a:t>
            </a:r>
          </a:p>
        </p:txBody>
      </p:sp>
    </p:spTree>
    <p:extLst>
      <p:ext uri="{BB962C8B-B14F-4D97-AF65-F5344CB8AC3E}">
        <p14:creationId xmlns:p14="http://schemas.microsoft.com/office/powerpoint/2010/main" val="867111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89970-0EAC-9F49-CCCD-752C9E6C0021}"/>
              </a:ext>
            </a:extLst>
          </p:cNvPr>
          <p:cNvSpPr>
            <a:spLocks noGrp="1"/>
          </p:cNvSpPr>
          <p:nvPr>
            <p:ph type="title"/>
          </p:nvPr>
        </p:nvSpPr>
        <p:spPr>
          <a:xfrm>
            <a:off x="1451579" y="804519"/>
            <a:ext cx="9603275" cy="1049235"/>
          </a:xfrm>
        </p:spPr>
        <p:txBody>
          <a:bodyPr>
            <a:normAutofit/>
          </a:bodyPr>
          <a:lstStyle/>
          <a:p>
            <a:r>
              <a:rPr lang="en-US" dirty="0"/>
              <a:t>Error Types</a:t>
            </a:r>
          </a:p>
        </p:txBody>
      </p:sp>
      <p:sp>
        <p:nvSpPr>
          <p:cNvPr id="3" name="Content Placeholder 2">
            <a:extLst>
              <a:ext uri="{FF2B5EF4-FFF2-40B4-BE49-F238E27FC236}">
                <a16:creationId xmlns:a16="http://schemas.microsoft.com/office/drawing/2014/main" id="{F0003943-FD2B-3180-A005-3CB0D8E08C6E}"/>
              </a:ext>
            </a:extLst>
          </p:cNvPr>
          <p:cNvSpPr>
            <a:spLocks noGrp="1"/>
          </p:cNvSpPr>
          <p:nvPr>
            <p:ph idx="1"/>
          </p:nvPr>
        </p:nvSpPr>
        <p:spPr>
          <a:xfrm>
            <a:off x="333487" y="1853754"/>
            <a:ext cx="5760924" cy="4199727"/>
          </a:xfrm>
        </p:spPr>
        <p:txBody>
          <a:bodyPr>
            <a:normAutofit/>
          </a:bodyPr>
          <a:lstStyle/>
          <a:p>
            <a:r>
              <a:rPr lang="en-US" dirty="0"/>
              <a:t>We can split (classification) errors into two types:</a:t>
            </a:r>
          </a:p>
          <a:p>
            <a:r>
              <a:rPr lang="en-US" dirty="0"/>
              <a:t>Type 1 – False Positives. </a:t>
            </a:r>
          </a:p>
          <a:p>
            <a:pPr lvl="1"/>
            <a:r>
              <a:rPr lang="en-US" dirty="0"/>
              <a:t># of actual negatives we predict as positive. </a:t>
            </a:r>
          </a:p>
          <a:p>
            <a:r>
              <a:rPr lang="en-US" dirty="0"/>
              <a:t>Type 2 – False Negatives. </a:t>
            </a:r>
          </a:p>
          <a:p>
            <a:pPr lvl="1"/>
            <a:r>
              <a:rPr lang="en-US" dirty="0"/>
              <a:t># of actual positives we predict as negative. </a:t>
            </a:r>
          </a:p>
          <a:p>
            <a:r>
              <a:rPr lang="en-US" dirty="0"/>
              <a:t>We can examine this via a confusion matrix. </a:t>
            </a:r>
          </a:p>
          <a:p>
            <a:pPr lvl="1"/>
            <a:r>
              <a:rPr lang="en-US" dirty="0"/>
              <a:t>This will be our friend in classifications later.  </a:t>
            </a:r>
          </a:p>
          <a:p>
            <a:pPr lvl="1"/>
            <a:r>
              <a:rPr lang="en-US" dirty="0"/>
              <a:t>We need to know/understand this, but can look at it as a reference as we do stuff. </a:t>
            </a:r>
          </a:p>
          <a:p>
            <a:endParaRPr lang="en-US" dirty="0"/>
          </a:p>
        </p:txBody>
      </p:sp>
      <p:pic>
        <p:nvPicPr>
          <p:cNvPr id="4" name="Picture 3">
            <a:extLst>
              <a:ext uri="{FF2B5EF4-FFF2-40B4-BE49-F238E27FC236}">
                <a16:creationId xmlns:a16="http://schemas.microsoft.com/office/drawing/2014/main" id="{64BB455C-D756-022A-72A6-4E533353ECAC}"/>
              </a:ext>
            </a:extLst>
          </p:cNvPr>
          <p:cNvPicPr>
            <a:picLocks noChangeAspect="1"/>
          </p:cNvPicPr>
          <p:nvPr/>
        </p:nvPicPr>
        <p:blipFill>
          <a:blip r:embed="rId2"/>
          <a:stretch>
            <a:fillRect/>
          </a:stretch>
        </p:blipFill>
        <p:spPr>
          <a:xfrm>
            <a:off x="6094411" y="2395768"/>
            <a:ext cx="6014164" cy="3262082"/>
          </a:xfrm>
          <a:prstGeom prst="rect">
            <a:avLst/>
          </a:prstGeom>
        </p:spPr>
      </p:pic>
    </p:spTree>
    <p:extLst>
      <p:ext uri="{BB962C8B-B14F-4D97-AF65-F5344CB8AC3E}">
        <p14:creationId xmlns:p14="http://schemas.microsoft.com/office/powerpoint/2010/main" val="1878397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21FC-C2B8-27CE-1E43-578A15D0ED09}"/>
              </a:ext>
            </a:extLst>
          </p:cNvPr>
          <p:cNvSpPr>
            <a:spLocks noGrp="1"/>
          </p:cNvSpPr>
          <p:nvPr>
            <p:ph type="title"/>
          </p:nvPr>
        </p:nvSpPr>
        <p:spPr/>
        <p:txBody>
          <a:bodyPr/>
          <a:lstStyle/>
          <a:p>
            <a:r>
              <a:rPr lang="en-US" dirty="0"/>
              <a:t>Power</a:t>
            </a:r>
          </a:p>
        </p:txBody>
      </p:sp>
      <p:sp>
        <p:nvSpPr>
          <p:cNvPr id="3" name="Content Placeholder 2">
            <a:extLst>
              <a:ext uri="{FF2B5EF4-FFF2-40B4-BE49-F238E27FC236}">
                <a16:creationId xmlns:a16="http://schemas.microsoft.com/office/drawing/2014/main" id="{E37C3657-C29B-779C-1567-C596681A974A}"/>
              </a:ext>
            </a:extLst>
          </p:cNvPr>
          <p:cNvSpPr>
            <a:spLocks noGrp="1"/>
          </p:cNvSpPr>
          <p:nvPr>
            <p:ph sz="half" idx="1"/>
          </p:nvPr>
        </p:nvSpPr>
        <p:spPr>
          <a:xfrm>
            <a:off x="5426109" y="3761157"/>
            <a:ext cx="6765889" cy="2356521"/>
          </a:xfrm>
        </p:spPr>
        <p:txBody>
          <a:bodyPr>
            <a:normAutofit fontScale="92500" lnSpcReduction="20000"/>
          </a:bodyPr>
          <a:lstStyle/>
          <a:p>
            <a:r>
              <a:rPr lang="en-US" dirty="0"/>
              <a:t>In a hypothesis test, we can calculate something to measure the false negative errors – power. </a:t>
            </a:r>
          </a:p>
          <a:p>
            <a:pPr lvl="1"/>
            <a:r>
              <a:rPr lang="en-US" dirty="0"/>
              <a:t>Power is the probability of wrongly classifying an actually true result. </a:t>
            </a:r>
          </a:p>
          <a:p>
            <a:pPr lvl="1"/>
            <a:r>
              <a:rPr lang="en-US" dirty="0"/>
              <a:t>Hypothesis tests give us the probability of wrongly classifying an actually false result. </a:t>
            </a:r>
          </a:p>
          <a:p>
            <a:r>
              <a:rPr lang="en-US" dirty="0"/>
              <a:t>Power can be calculated by (1 – False Negative Rate). </a:t>
            </a:r>
          </a:p>
        </p:txBody>
      </p:sp>
      <p:sp>
        <p:nvSpPr>
          <p:cNvPr id="4" name="Content Placeholder 3">
            <a:extLst>
              <a:ext uri="{FF2B5EF4-FFF2-40B4-BE49-F238E27FC236}">
                <a16:creationId xmlns:a16="http://schemas.microsoft.com/office/drawing/2014/main" id="{39E91A60-B833-AC88-5324-106281D717CF}"/>
              </a:ext>
            </a:extLst>
          </p:cNvPr>
          <p:cNvSpPr>
            <a:spLocks noGrp="1"/>
          </p:cNvSpPr>
          <p:nvPr>
            <p:ph sz="half" idx="2"/>
          </p:nvPr>
        </p:nvSpPr>
        <p:spPr>
          <a:xfrm>
            <a:off x="0" y="1864194"/>
            <a:ext cx="5778229" cy="4253484"/>
          </a:xfrm>
        </p:spPr>
        <p:txBody>
          <a:bodyPr>
            <a:normAutofit fontScale="92500" lnSpcReduction="20000"/>
          </a:bodyPr>
          <a:lstStyle/>
          <a:p>
            <a:r>
              <a:rPr lang="en-US" dirty="0"/>
              <a:t>Power descriptions:</a:t>
            </a:r>
          </a:p>
          <a:p>
            <a:pPr lvl="1"/>
            <a:r>
              <a:rPr lang="en-US" dirty="0"/>
              <a:t>Power is the probability of rejecting the null hypothesis when, in fact, it is false.</a:t>
            </a:r>
          </a:p>
          <a:p>
            <a:pPr lvl="1"/>
            <a:r>
              <a:rPr lang="en-US" dirty="0"/>
              <a:t>Power is the probability of making a correct decision (to reject the null hypothesis) when the null hypothesis is false.</a:t>
            </a:r>
          </a:p>
          <a:p>
            <a:pPr lvl="1"/>
            <a:r>
              <a:rPr lang="en-US" dirty="0"/>
              <a:t>Power is the probability that a test of significance will pick up on an effect that is present.</a:t>
            </a:r>
          </a:p>
          <a:p>
            <a:pPr lvl="1"/>
            <a:r>
              <a:rPr lang="en-US" dirty="0"/>
              <a:t>Power is the probability that a test of significance will detect a deviation from the null hypothesis, should such a deviation exist.</a:t>
            </a:r>
          </a:p>
          <a:p>
            <a:pPr lvl="1"/>
            <a:r>
              <a:rPr lang="en-US" dirty="0"/>
              <a:t>Power is the probability of avoiding a Type II error.</a:t>
            </a:r>
          </a:p>
          <a:p>
            <a:endParaRPr lang="en-US" dirty="0"/>
          </a:p>
        </p:txBody>
      </p:sp>
      <p:pic>
        <p:nvPicPr>
          <p:cNvPr id="1026" name="Picture 2" descr="Kanye Power GIFs - Find &amp; Share on GIPHY">
            <a:extLst>
              <a:ext uri="{FF2B5EF4-FFF2-40B4-BE49-F238E27FC236}">
                <a16:creationId xmlns:a16="http://schemas.microsoft.com/office/drawing/2014/main" id="{83676888-9DF6-45CF-6D10-6A192465D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660" y="0"/>
            <a:ext cx="4879339" cy="3761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2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19AE21-A41A-F766-12B9-C5DCC5EA9B40}"/>
              </a:ext>
            </a:extLst>
          </p:cNvPr>
          <p:cNvSpPr>
            <a:spLocks noGrp="1"/>
          </p:cNvSpPr>
          <p:nvPr>
            <p:ph type="title"/>
          </p:nvPr>
        </p:nvSpPr>
        <p:spPr/>
        <p:txBody>
          <a:bodyPr/>
          <a:lstStyle/>
          <a:p>
            <a:r>
              <a:rPr lang="en-US" dirty="0"/>
              <a:t>Using Power</a:t>
            </a:r>
          </a:p>
        </p:txBody>
      </p:sp>
      <p:sp>
        <p:nvSpPr>
          <p:cNvPr id="6" name="Content Placeholder 5">
            <a:extLst>
              <a:ext uri="{FF2B5EF4-FFF2-40B4-BE49-F238E27FC236}">
                <a16:creationId xmlns:a16="http://schemas.microsoft.com/office/drawing/2014/main" id="{F4261A5A-B20A-17C9-F460-4B88199B249F}"/>
              </a:ext>
            </a:extLst>
          </p:cNvPr>
          <p:cNvSpPr>
            <a:spLocks noGrp="1"/>
          </p:cNvSpPr>
          <p:nvPr>
            <p:ph idx="1"/>
          </p:nvPr>
        </p:nvSpPr>
        <p:spPr>
          <a:xfrm>
            <a:off x="1451579" y="2015732"/>
            <a:ext cx="9603275" cy="4037749"/>
          </a:xfrm>
        </p:spPr>
        <p:txBody>
          <a:bodyPr/>
          <a:lstStyle/>
          <a:p>
            <a:r>
              <a:rPr lang="en-US" dirty="0"/>
              <a:t>Power is a percentage, on a 0 to 1 scale. </a:t>
            </a:r>
          </a:p>
          <a:p>
            <a:r>
              <a:rPr lang="en-US" dirty="0"/>
              <a:t>Powers over .8 (80%) are generally considered “good enough”. </a:t>
            </a:r>
          </a:p>
          <a:p>
            <a:pPr lvl="1"/>
            <a:r>
              <a:rPr lang="en-US" dirty="0"/>
              <a:t>Similar to how p-values of .05 are a default cutoff for type 1 errors. </a:t>
            </a:r>
          </a:p>
          <a:p>
            <a:r>
              <a:rPr lang="en-US" dirty="0"/>
              <a:t>Power is dependent on:</a:t>
            </a:r>
          </a:p>
          <a:p>
            <a:pPr lvl="1"/>
            <a:r>
              <a:rPr lang="en-US" dirty="0"/>
              <a:t>Alpha (type 1 errors). </a:t>
            </a:r>
          </a:p>
          <a:p>
            <a:pPr lvl="1"/>
            <a:r>
              <a:rPr lang="en-US" dirty="0"/>
              <a:t>Effect size.</a:t>
            </a:r>
          </a:p>
          <a:p>
            <a:pPr lvl="1"/>
            <a:r>
              <a:rPr lang="en-US" dirty="0"/>
              <a:t>Sample size. </a:t>
            </a:r>
          </a:p>
          <a:p>
            <a:r>
              <a:rPr lang="en-US" dirty="0"/>
              <a:t>The alpha and power together tell us how reliable our hypothesis test is overall. </a:t>
            </a:r>
          </a:p>
          <a:p>
            <a:r>
              <a:rPr lang="en-US" dirty="0"/>
              <a:t>The power function can also back calculate other inputs – such as sample size required.</a:t>
            </a:r>
          </a:p>
        </p:txBody>
      </p:sp>
    </p:spTree>
    <p:extLst>
      <p:ext uri="{BB962C8B-B14F-4D97-AF65-F5344CB8AC3E}">
        <p14:creationId xmlns:p14="http://schemas.microsoft.com/office/powerpoint/2010/main" val="3965158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D6252-08DA-607F-15AE-15E336791B67}"/>
              </a:ext>
            </a:extLst>
          </p:cNvPr>
          <p:cNvSpPr>
            <a:spLocks noGrp="1"/>
          </p:cNvSpPr>
          <p:nvPr>
            <p:ph type="title"/>
          </p:nvPr>
        </p:nvSpPr>
        <p:spPr/>
        <p:txBody>
          <a:bodyPr/>
          <a:lstStyle/>
          <a:p>
            <a:r>
              <a:rPr lang="en-US" dirty="0"/>
              <a:t>Weird Hypothesis Tests</a:t>
            </a:r>
          </a:p>
        </p:txBody>
      </p:sp>
      <p:sp>
        <p:nvSpPr>
          <p:cNvPr id="3" name="Content Placeholder 2">
            <a:extLst>
              <a:ext uri="{FF2B5EF4-FFF2-40B4-BE49-F238E27FC236}">
                <a16:creationId xmlns:a16="http://schemas.microsoft.com/office/drawing/2014/main" id="{AF2579FC-E9DC-4CE7-B8BD-C2028E1984D4}"/>
              </a:ext>
            </a:extLst>
          </p:cNvPr>
          <p:cNvSpPr>
            <a:spLocks noGrp="1"/>
          </p:cNvSpPr>
          <p:nvPr>
            <p:ph idx="1"/>
          </p:nvPr>
        </p:nvSpPr>
        <p:spPr>
          <a:xfrm>
            <a:off x="1451579" y="2015732"/>
            <a:ext cx="9603275" cy="4097201"/>
          </a:xfrm>
        </p:spPr>
        <p:txBody>
          <a:bodyPr>
            <a:normAutofit lnSpcReduction="10000"/>
          </a:bodyPr>
          <a:lstStyle/>
          <a:p>
            <a:r>
              <a:rPr lang="en-US" dirty="0"/>
              <a:t>The idea of a hypothesis test here is transferable to other scenarios. </a:t>
            </a:r>
          </a:p>
          <a:p>
            <a:r>
              <a:rPr lang="en-US" dirty="0"/>
              <a:t>Non-normal data – Mann Whitney.</a:t>
            </a:r>
          </a:p>
          <a:p>
            <a:pPr lvl="1"/>
            <a:r>
              <a:rPr lang="en-US" dirty="0"/>
              <a:t>Basically a t-test for non-parametric data. </a:t>
            </a:r>
          </a:p>
          <a:p>
            <a:r>
              <a:rPr lang="en-US" dirty="0"/>
              <a:t>Categorical data - Chi2.</a:t>
            </a:r>
          </a:p>
          <a:p>
            <a:pPr lvl="1"/>
            <a:r>
              <a:rPr lang="en-US" dirty="0"/>
              <a:t>Basically a t-test for categorical data. </a:t>
            </a:r>
          </a:p>
          <a:p>
            <a:pPr lvl="1"/>
            <a:r>
              <a:rPr lang="en-US" dirty="0"/>
              <a:t>Do counts of different categories meet our expected distributions?</a:t>
            </a:r>
          </a:p>
          <a:p>
            <a:r>
              <a:rPr lang="en-US" dirty="0"/>
              <a:t>Multiple sets – ANOVA. </a:t>
            </a:r>
          </a:p>
          <a:p>
            <a:pPr lvl="1"/>
            <a:r>
              <a:rPr lang="en-US" dirty="0"/>
              <a:t>Basically a t-test to detect if any of a group are different. </a:t>
            </a:r>
          </a:p>
          <a:p>
            <a:r>
              <a:rPr lang="en-US" dirty="0"/>
              <a:t>The basic idea is the same – is there a statistically significant difference between 2+ sets. </a:t>
            </a:r>
          </a:p>
          <a:p>
            <a:pPr lvl="1"/>
            <a:r>
              <a:rPr lang="en-US" dirty="0"/>
              <a:t>The mechanics of doing that comparison differs with the data, the concepts are the same. </a:t>
            </a:r>
          </a:p>
        </p:txBody>
      </p:sp>
    </p:spTree>
    <p:extLst>
      <p:ext uri="{BB962C8B-B14F-4D97-AF65-F5344CB8AC3E}">
        <p14:creationId xmlns:p14="http://schemas.microsoft.com/office/powerpoint/2010/main" val="2358408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5B958-21AA-812A-4A7D-979A0DF0C7B7}"/>
              </a:ext>
            </a:extLst>
          </p:cNvPr>
          <p:cNvSpPr>
            <a:spLocks noGrp="1"/>
          </p:cNvSpPr>
          <p:nvPr>
            <p:ph type="title"/>
          </p:nvPr>
        </p:nvSpPr>
        <p:spPr/>
        <p:txBody>
          <a:bodyPr/>
          <a:lstStyle/>
          <a:p>
            <a:r>
              <a:rPr lang="en-US" dirty="0"/>
              <a:t>Chi Squared</a:t>
            </a:r>
          </a:p>
        </p:txBody>
      </p:sp>
      <p:sp>
        <p:nvSpPr>
          <p:cNvPr id="3" name="Content Placeholder 2">
            <a:extLst>
              <a:ext uri="{FF2B5EF4-FFF2-40B4-BE49-F238E27FC236}">
                <a16:creationId xmlns:a16="http://schemas.microsoft.com/office/drawing/2014/main" id="{F02B36CC-D595-46DE-CBB7-67A5FF6A1C8D}"/>
              </a:ext>
            </a:extLst>
          </p:cNvPr>
          <p:cNvSpPr>
            <a:spLocks noGrp="1"/>
          </p:cNvSpPr>
          <p:nvPr>
            <p:ph idx="1"/>
          </p:nvPr>
        </p:nvSpPr>
        <p:spPr>
          <a:xfrm>
            <a:off x="1451579" y="2015732"/>
            <a:ext cx="9603275" cy="4037749"/>
          </a:xfrm>
        </p:spPr>
        <p:txBody>
          <a:bodyPr/>
          <a:lstStyle/>
          <a:p>
            <a:r>
              <a:rPr lang="en-US" dirty="0"/>
              <a:t>Chi-squared tests are based on deviation from expectation for categorical things. </a:t>
            </a:r>
          </a:p>
          <a:p>
            <a:r>
              <a:rPr lang="en-US" dirty="0"/>
              <a:t>Example – is a die loaded?</a:t>
            </a:r>
          </a:p>
          <a:p>
            <a:pPr lvl="1"/>
            <a:r>
              <a:rPr lang="en-US" dirty="0"/>
              <a:t>We expect a fair die to have an even count for each number. That’s our null hypothesis. </a:t>
            </a:r>
          </a:p>
          <a:p>
            <a:pPr lvl="1"/>
            <a:r>
              <a:rPr lang="en-US" dirty="0"/>
              <a:t>We run the test – roll the die a bunch, like 60 times to make the math easy. </a:t>
            </a:r>
          </a:p>
          <a:p>
            <a:pPr lvl="1"/>
            <a:r>
              <a:rPr lang="en-US" dirty="0"/>
              <a:t>The expectation is 10 rolls per number. </a:t>
            </a:r>
          </a:p>
          <a:p>
            <a:pPr lvl="1"/>
            <a:r>
              <a:rPr lang="en-US" dirty="0"/>
              <a:t>The observation is the actual counts. </a:t>
            </a:r>
          </a:p>
          <a:p>
            <a:pPr lvl="1"/>
            <a:r>
              <a:rPr lang="en-US" dirty="0"/>
              <a:t>The chi2 calculation aggregates these roughly similar to residuals into MSE. </a:t>
            </a:r>
          </a:p>
          <a:p>
            <a:pPr lvl="1"/>
            <a:r>
              <a:rPr lang="en-US" dirty="0"/>
              <a:t>The division normalizes the calculation, in case counts are different. </a:t>
            </a:r>
          </a:p>
          <a:p>
            <a:r>
              <a:rPr lang="en-US" dirty="0"/>
              <a:t>If we get counts of 8,9,19,5,8,11, how likely is that with a fair die? </a:t>
            </a:r>
          </a:p>
          <a:p>
            <a:pPr lvl="1"/>
            <a:endParaRPr lang="en-US" dirty="0"/>
          </a:p>
        </p:txBody>
      </p:sp>
      <p:pic>
        <p:nvPicPr>
          <p:cNvPr id="2054" name="Picture 6" descr="Quick P Value from Chi-Square Score Calculator">
            <a:extLst>
              <a:ext uri="{FF2B5EF4-FFF2-40B4-BE49-F238E27FC236}">
                <a16:creationId xmlns:a16="http://schemas.microsoft.com/office/drawing/2014/main" id="{169607D1-3B03-5E12-5709-ED3E70BA5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3346" y="1"/>
            <a:ext cx="3578654" cy="201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627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41AF8-8BE2-79CA-727E-8E3FB062D071}"/>
              </a:ext>
            </a:extLst>
          </p:cNvPr>
          <p:cNvSpPr>
            <a:spLocks noGrp="1"/>
          </p:cNvSpPr>
          <p:nvPr>
            <p:ph type="title"/>
          </p:nvPr>
        </p:nvSpPr>
        <p:spPr/>
        <p:txBody>
          <a:bodyPr/>
          <a:lstStyle/>
          <a:p>
            <a:r>
              <a:rPr lang="en-US" dirty="0"/>
              <a:t>Chi2</a:t>
            </a:r>
          </a:p>
        </p:txBody>
      </p:sp>
      <p:sp>
        <p:nvSpPr>
          <p:cNvPr id="3" name="Content Placeholder 2">
            <a:extLst>
              <a:ext uri="{FF2B5EF4-FFF2-40B4-BE49-F238E27FC236}">
                <a16:creationId xmlns:a16="http://schemas.microsoft.com/office/drawing/2014/main" id="{9613505F-33AF-8651-C209-65799D6B9FE2}"/>
              </a:ext>
            </a:extLst>
          </p:cNvPr>
          <p:cNvSpPr>
            <a:spLocks noGrp="1"/>
          </p:cNvSpPr>
          <p:nvPr>
            <p:ph idx="1"/>
          </p:nvPr>
        </p:nvSpPr>
        <p:spPr>
          <a:xfrm>
            <a:off x="1451579" y="1853754"/>
            <a:ext cx="9603275" cy="4199727"/>
          </a:xfrm>
        </p:spPr>
        <p:txBody>
          <a:bodyPr/>
          <a:lstStyle/>
          <a:p>
            <a:r>
              <a:rPr lang="en-US" dirty="0"/>
              <a:t>The chi-squared goodness of fit test is based on the chi-squared distribution. </a:t>
            </a:r>
          </a:p>
          <a:p>
            <a:pPr lvl="1"/>
            <a:r>
              <a:rPr lang="en-US" dirty="0"/>
              <a:t>We don’t need too many details beyond the basics. </a:t>
            </a:r>
          </a:p>
          <a:p>
            <a:pPr lvl="1"/>
            <a:r>
              <a:rPr lang="en-US" dirty="0"/>
              <a:t>This is a big topic in production stuff like six sigma. </a:t>
            </a:r>
          </a:p>
          <a:p>
            <a:r>
              <a:rPr lang="en-US" dirty="0"/>
              <a:t>I frame it as “amount of deviation”. </a:t>
            </a:r>
          </a:p>
          <a:p>
            <a:pPr lvl="1"/>
            <a:r>
              <a:rPr lang="en-US" dirty="0"/>
              <a:t>Most results “should” have counts that are quite near the expectation. </a:t>
            </a:r>
          </a:p>
          <a:p>
            <a:pPr lvl="1"/>
            <a:r>
              <a:rPr lang="en-US" dirty="0"/>
              <a:t>The chi2 calculation gets larger the more deviation from expectation there is. </a:t>
            </a:r>
          </a:p>
          <a:p>
            <a:pPr lvl="1"/>
            <a:r>
              <a:rPr lang="en-US" dirty="0"/>
              <a:t>The simulation rounds count up the number of times that happened. </a:t>
            </a:r>
          </a:p>
          <a:p>
            <a:pPr lvl="2"/>
            <a:r>
              <a:rPr lang="en-US" dirty="0"/>
              <a:t>Null hypothesis is that things are happening as expected. </a:t>
            </a:r>
          </a:p>
          <a:p>
            <a:pPr lvl="2"/>
            <a:r>
              <a:rPr lang="en-US" dirty="0"/>
              <a:t>Test statistic is the observed deviation. </a:t>
            </a:r>
          </a:p>
          <a:p>
            <a:pPr lvl="1"/>
            <a:r>
              <a:rPr lang="en-US" dirty="0"/>
              <a:t>As long as we can frame things in terms of expectation and observed, we can likely use. </a:t>
            </a:r>
          </a:p>
        </p:txBody>
      </p:sp>
    </p:spTree>
    <p:extLst>
      <p:ext uri="{BB962C8B-B14F-4D97-AF65-F5344CB8AC3E}">
        <p14:creationId xmlns:p14="http://schemas.microsoft.com/office/powerpoint/2010/main" val="3118484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1A64C-6ED9-CD3F-BEE8-93FC82F952AD}"/>
              </a:ext>
            </a:extLst>
          </p:cNvPr>
          <p:cNvSpPr>
            <a:spLocks noGrp="1"/>
          </p:cNvSpPr>
          <p:nvPr>
            <p:ph type="title"/>
          </p:nvPr>
        </p:nvSpPr>
        <p:spPr/>
        <p:txBody>
          <a:bodyPr/>
          <a:lstStyle/>
          <a:p>
            <a:r>
              <a:rPr lang="en-US" dirty="0"/>
              <a:t>Multiple Groups - ANOVA</a:t>
            </a:r>
          </a:p>
        </p:txBody>
      </p:sp>
      <p:sp>
        <p:nvSpPr>
          <p:cNvPr id="3" name="Content Placeholder 2">
            <a:extLst>
              <a:ext uri="{FF2B5EF4-FFF2-40B4-BE49-F238E27FC236}">
                <a16:creationId xmlns:a16="http://schemas.microsoft.com/office/drawing/2014/main" id="{E5BF45E7-5D6A-B164-B555-E79CFB9D0536}"/>
              </a:ext>
            </a:extLst>
          </p:cNvPr>
          <p:cNvSpPr>
            <a:spLocks noGrp="1"/>
          </p:cNvSpPr>
          <p:nvPr>
            <p:ph idx="1"/>
          </p:nvPr>
        </p:nvSpPr>
        <p:spPr>
          <a:xfrm>
            <a:off x="1451579" y="2015731"/>
            <a:ext cx="9603275" cy="4037749"/>
          </a:xfrm>
        </p:spPr>
        <p:txBody>
          <a:bodyPr/>
          <a:lstStyle/>
          <a:p>
            <a:r>
              <a:rPr lang="en-US" dirty="0"/>
              <a:t>ANOVA, or analysis of variance, can compare means of multiple groups. </a:t>
            </a:r>
          </a:p>
          <a:p>
            <a:r>
              <a:rPr lang="en-US" dirty="0"/>
              <a:t>Tests if any of the groups appears different. </a:t>
            </a:r>
          </a:p>
          <a:p>
            <a:pPr lvl="1"/>
            <a:r>
              <a:rPr lang="en-US" dirty="0"/>
              <a:t>Null hypothesis – they all have the same mean. </a:t>
            </a:r>
          </a:p>
          <a:p>
            <a:pPr lvl="1"/>
            <a:r>
              <a:rPr lang="en-US" dirty="0"/>
              <a:t>Alternative hypothesis – at least one has a different mean. </a:t>
            </a:r>
          </a:p>
          <a:p>
            <a:pPr lvl="1"/>
            <a:r>
              <a:rPr lang="en-US" dirty="0"/>
              <a:t>*we don’t get more detail, like an indication of which. </a:t>
            </a:r>
          </a:p>
          <a:p>
            <a:r>
              <a:rPr lang="en-US" dirty="0"/>
              <a:t>Assumptions:</a:t>
            </a:r>
          </a:p>
          <a:p>
            <a:pPr lvl="1"/>
            <a:r>
              <a:rPr lang="en-US" dirty="0"/>
              <a:t>Data is close to normal. </a:t>
            </a:r>
          </a:p>
          <a:p>
            <a:pPr lvl="1"/>
            <a:r>
              <a:rPr lang="en-US" dirty="0"/>
              <a:t>Groups have similar variances. </a:t>
            </a:r>
          </a:p>
        </p:txBody>
      </p:sp>
    </p:spTree>
    <p:extLst>
      <p:ext uri="{BB962C8B-B14F-4D97-AF65-F5344CB8AC3E}">
        <p14:creationId xmlns:p14="http://schemas.microsoft.com/office/powerpoint/2010/main" val="2883535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A0B8D-46A4-C870-DE21-543A1D1A0059}"/>
              </a:ext>
            </a:extLst>
          </p:cNvPr>
          <p:cNvSpPr>
            <a:spLocks noGrp="1"/>
          </p:cNvSpPr>
          <p:nvPr>
            <p:ph type="title"/>
          </p:nvPr>
        </p:nvSpPr>
        <p:spPr/>
        <p:txBody>
          <a:bodyPr/>
          <a:lstStyle/>
          <a:p>
            <a:r>
              <a:rPr lang="en-US" dirty="0"/>
              <a:t>ANOVA Says F This!</a:t>
            </a:r>
          </a:p>
        </p:txBody>
      </p:sp>
      <p:sp>
        <p:nvSpPr>
          <p:cNvPr id="3" name="Content Placeholder 2">
            <a:extLst>
              <a:ext uri="{FF2B5EF4-FFF2-40B4-BE49-F238E27FC236}">
                <a16:creationId xmlns:a16="http://schemas.microsoft.com/office/drawing/2014/main" id="{C5602DA3-967C-FE0D-B891-400B0874955C}"/>
              </a:ext>
            </a:extLst>
          </p:cNvPr>
          <p:cNvSpPr>
            <a:spLocks noGrp="1"/>
          </p:cNvSpPr>
          <p:nvPr>
            <p:ph idx="1"/>
          </p:nvPr>
        </p:nvSpPr>
        <p:spPr>
          <a:xfrm>
            <a:off x="502419" y="1853754"/>
            <a:ext cx="6410848" cy="4125015"/>
          </a:xfrm>
        </p:spPr>
        <p:txBody>
          <a:bodyPr/>
          <a:lstStyle/>
          <a:p>
            <a:r>
              <a:rPr lang="en-US" dirty="0"/>
              <a:t>The ANOVA is based on a value called the F-statistic: </a:t>
            </a:r>
          </a:p>
          <a:p>
            <a:pPr lvl="1"/>
            <a:r>
              <a:rPr lang="en-US" dirty="0"/>
              <a:t>(variation between groups) / (variation within groups). </a:t>
            </a:r>
          </a:p>
          <a:p>
            <a:pPr lvl="1"/>
            <a:r>
              <a:rPr lang="en-US" dirty="0"/>
              <a:t>Larger variance between groups will segregate them. </a:t>
            </a:r>
          </a:p>
          <a:p>
            <a:pPr lvl="1"/>
            <a:r>
              <a:rPr lang="en-US" dirty="0"/>
              <a:t>Larger within groups will increase blending areas. </a:t>
            </a:r>
          </a:p>
          <a:p>
            <a:r>
              <a:rPr lang="en-US" dirty="0"/>
              <a:t>We are testing if the difference we see is real/random. </a:t>
            </a:r>
          </a:p>
          <a:p>
            <a:pPr lvl="1"/>
            <a:r>
              <a:rPr lang="en-US" dirty="0"/>
              <a:t>F calculation compares in this context. </a:t>
            </a:r>
          </a:p>
          <a:p>
            <a:pPr lvl="1"/>
            <a:r>
              <a:rPr lang="en-US" dirty="0"/>
              <a:t>P value is probability of seeing this size effect randomly. </a:t>
            </a:r>
          </a:p>
        </p:txBody>
      </p:sp>
      <p:pic>
        <p:nvPicPr>
          <p:cNvPr id="4098" name="Picture 2" descr="Graph that shows sample data that produce a high F-value">
            <a:extLst>
              <a:ext uri="{FF2B5EF4-FFF2-40B4-BE49-F238E27FC236}">
                <a16:creationId xmlns:a16="http://schemas.microsoft.com/office/drawing/2014/main" id="{5B2E9EFB-1414-A95A-0193-51B767706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3266" y="-54228"/>
            <a:ext cx="5278734" cy="351915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Graph that shows sample data that produce a low F-value">
            <a:extLst>
              <a:ext uri="{FF2B5EF4-FFF2-40B4-BE49-F238E27FC236}">
                <a16:creationId xmlns:a16="http://schemas.microsoft.com/office/drawing/2014/main" id="{9F6BDCFE-5DF7-9BF3-2952-1D63B2F4D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266" y="3373376"/>
            <a:ext cx="5278734" cy="351915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Probability distribution plot for an F-distribution with a probability">
            <a:extLst>
              <a:ext uri="{FF2B5EF4-FFF2-40B4-BE49-F238E27FC236}">
                <a16:creationId xmlns:a16="http://schemas.microsoft.com/office/drawing/2014/main" id="{ED439F09-3B5D-C304-E4DC-4C76FA41C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17" y="4863402"/>
            <a:ext cx="2862524" cy="1908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820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3EC1A-DC89-0C01-9111-10CE1B8FFAA6}"/>
              </a:ext>
            </a:extLst>
          </p:cNvPr>
          <p:cNvSpPr>
            <a:spLocks noGrp="1"/>
          </p:cNvSpPr>
          <p:nvPr>
            <p:ph type="title"/>
          </p:nvPr>
        </p:nvSpPr>
        <p:spPr/>
        <p:txBody>
          <a:bodyPr/>
          <a:lstStyle/>
          <a:p>
            <a:r>
              <a:rPr lang="en-US" dirty="0"/>
              <a:t>Boxplots</a:t>
            </a:r>
          </a:p>
        </p:txBody>
      </p:sp>
      <p:sp>
        <p:nvSpPr>
          <p:cNvPr id="3" name="Content Placeholder 2">
            <a:extLst>
              <a:ext uri="{FF2B5EF4-FFF2-40B4-BE49-F238E27FC236}">
                <a16:creationId xmlns:a16="http://schemas.microsoft.com/office/drawing/2014/main" id="{48989038-1B15-3485-50CD-D8DE8AB25447}"/>
              </a:ext>
            </a:extLst>
          </p:cNvPr>
          <p:cNvSpPr>
            <a:spLocks noGrp="1"/>
          </p:cNvSpPr>
          <p:nvPr>
            <p:ph idx="1"/>
          </p:nvPr>
        </p:nvSpPr>
        <p:spPr>
          <a:xfrm>
            <a:off x="1451580" y="2015732"/>
            <a:ext cx="6165072" cy="3450613"/>
          </a:xfrm>
        </p:spPr>
        <p:txBody>
          <a:bodyPr/>
          <a:lstStyle/>
          <a:p>
            <a:r>
              <a:rPr lang="en-US" dirty="0"/>
              <a:t>ANOVA-type scenarios can be visualized with a boxplot. </a:t>
            </a:r>
          </a:p>
          <a:p>
            <a:r>
              <a:rPr lang="en-US" dirty="0"/>
              <a:t>The default boxplots are similar to the top picture. </a:t>
            </a:r>
          </a:p>
          <a:p>
            <a:pPr lvl="1"/>
            <a:r>
              <a:rPr lang="en-US" dirty="0"/>
              <a:t>Good for comparison. </a:t>
            </a:r>
          </a:p>
          <a:p>
            <a:pPr lvl="1"/>
            <a:r>
              <a:rPr lang="en-US" dirty="0"/>
              <a:t>Box </a:t>
            </a:r>
            <a:r>
              <a:rPr lang="en-US"/>
              <a:t>is middle 50% of data. </a:t>
            </a:r>
            <a:endParaRPr lang="en-US" dirty="0"/>
          </a:p>
          <a:p>
            <a:r>
              <a:rPr lang="en-US" dirty="0"/>
              <a:t>Box and whisker plots have more detail. </a:t>
            </a:r>
          </a:p>
        </p:txBody>
      </p:sp>
      <p:pic>
        <p:nvPicPr>
          <p:cNvPr id="6150" name="Picture 6" descr="Solved: proc boxplot legend - SAS Support Communities">
            <a:extLst>
              <a:ext uri="{FF2B5EF4-FFF2-40B4-BE49-F238E27FC236}">
                <a16:creationId xmlns:a16="http://schemas.microsoft.com/office/drawing/2014/main" id="{CE48F91E-AFF0-C9E9-5988-DB92C4A09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1148" y="638489"/>
            <a:ext cx="4650852" cy="279051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Reading a Box and Whisker Plot">
            <a:extLst>
              <a:ext uri="{FF2B5EF4-FFF2-40B4-BE49-F238E27FC236}">
                <a16:creationId xmlns:a16="http://schemas.microsoft.com/office/drawing/2014/main" id="{A13B6AF5-55E6-65D1-FD89-C171D9E35B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1332" y="4033046"/>
            <a:ext cx="5680668" cy="2186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720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2C3B7-7850-B50E-2929-EFAC2011A4B8}"/>
              </a:ext>
            </a:extLst>
          </p:cNvPr>
          <p:cNvSpPr>
            <a:spLocks noGrp="1"/>
          </p:cNvSpPr>
          <p:nvPr>
            <p:ph type="title"/>
          </p:nvPr>
        </p:nvSpPr>
        <p:spPr/>
        <p:txBody>
          <a:bodyPr/>
          <a:lstStyle/>
          <a:p>
            <a:r>
              <a:rPr lang="en-US" dirty="0"/>
              <a:t>The Duality of Hypothesis Testing</a:t>
            </a:r>
          </a:p>
        </p:txBody>
      </p:sp>
      <p:sp>
        <p:nvSpPr>
          <p:cNvPr id="3" name="Content Placeholder 2">
            <a:extLst>
              <a:ext uri="{FF2B5EF4-FFF2-40B4-BE49-F238E27FC236}">
                <a16:creationId xmlns:a16="http://schemas.microsoft.com/office/drawing/2014/main" id="{C6BD257D-D52B-A25D-67EA-8A2C0F47D95F}"/>
              </a:ext>
            </a:extLst>
          </p:cNvPr>
          <p:cNvSpPr>
            <a:spLocks noGrp="1"/>
          </p:cNvSpPr>
          <p:nvPr>
            <p:ph idx="1"/>
          </p:nvPr>
        </p:nvSpPr>
        <p:spPr>
          <a:xfrm>
            <a:off x="1451579" y="1853754"/>
            <a:ext cx="9603275" cy="4199727"/>
          </a:xfrm>
        </p:spPr>
        <p:txBody>
          <a:bodyPr>
            <a:normAutofit lnSpcReduction="10000"/>
          </a:bodyPr>
          <a:lstStyle/>
          <a:p>
            <a:r>
              <a:rPr lang="en-US" dirty="0"/>
              <a:t>The concept behind the hypothesis test is always the same:</a:t>
            </a:r>
          </a:p>
          <a:p>
            <a:pPr lvl="1"/>
            <a:r>
              <a:rPr lang="en-US" dirty="0"/>
              <a:t>What is the likelihood what we observed here is ‘real’ vs due to chance?</a:t>
            </a:r>
          </a:p>
          <a:p>
            <a:r>
              <a:rPr lang="en-US" dirty="0"/>
              <a:t>We can look at hypothesis testing from two perspectives. </a:t>
            </a:r>
          </a:p>
          <a:p>
            <a:pPr lvl="1"/>
            <a:r>
              <a:rPr lang="en-US" dirty="0"/>
              <a:t>Classical stats – there are many tests with formulas that we can apply in certain scenarios. </a:t>
            </a:r>
          </a:p>
          <a:p>
            <a:pPr lvl="1"/>
            <a:r>
              <a:rPr lang="en-US" dirty="0"/>
              <a:t>Book and us – as long as we have model, we can run a simulation for </a:t>
            </a:r>
            <a:r>
              <a:rPr lang="en-US" i="1" dirty="0"/>
              <a:t>that</a:t>
            </a:r>
            <a:r>
              <a:rPr lang="en-US" dirty="0"/>
              <a:t>. </a:t>
            </a:r>
          </a:p>
          <a:p>
            <a:r>
              <a:rPr lang="en-US" dirty="0"/>
              <a:t>These things can overlap (t-tests, chi2, </a:t>
            </a:r>
            <a:r>
              <a:rPr lang="en-US" dirty="0" err="1"/>
              <a:t>etc</a:t>
            </a:r>
            <a:r>
              <a:rPr lang="en-US" dirty="0"/>
              <a:t>), but we don’t need the </a:t>
            </a:r>
            <a:r>
              <a:rPr lang="en-US" i="1" dirty="0"/>
              <a:t>test</a:t>
            </a:r>
            <a:r>
              <a:rPr lang="en-US" dirty="0"/>
              <a:t> to run it. </a:t>
            </a:r>
          </a:p>
          <a:p>
            <a:pPr lvl="1"/>
            <a:r>
              <a:rPr lang="en-US" dirty="0"/>
              <a:t>As long as we can frame what we want to test, we can likely do one. </a:t>
            </a:r>
          </a:p>
          <a:p>
            <a:pPr lvl="1"/>
            <a:r>
              <a:rPr lang="en-US" dirty="0"/>
              <a:t>We should be aware of common tests (t-tests,anova,chi2) and comfortable with others.</a:t>
            </a:r>
          </a:p>
          <a:p>
            <a:r>
              <a:rPr lang="en-US" dirty="0"/>
              <a:t>The examples in the workbook are mostly using library stats tests, not simulations. </a:t>
            </a:r>
          </a:p>
          <a:p>
            <a:pPr lvl="1"/>
            <a:r>
              <a:rPr lang="en-US" dirty="0"/>
              <a:t>This is a code complexity thing, you should be able to do the things in the book eventually.</a:t>
            </a:r>
          </a:p>
        </p:txBody>
      </p:sp>
    </p:spTree>
    <p:extLst>
      <p:ext uri="{BB962C8B-B14F-4D97-AF65-F5344CB8AC3E}">
        <p14:creationId xmlns:p14="http://schemas.microsoft.com/office/powerpoint/2010/main" val="492939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9623-527F-9870-5419-C8924A9434CA}"/>
              </a:ext>
            </a:extLst>
          </p:cNvPr>
          <p:cNvSpPr>
            <a:spLocks noGrp="1"/>
          </p:cNvSpPr>
          <p:nvPr>
            <p:ph type="title"/>
          </p:nvPr>
        </p:nvSpPr>
        <p:spPr/>
        <p:txBody>
          <a:bodyPr/>
          <a:lstStyle/>
          <a:p>
            <a:r>
              <a:rPr lang="en-US" dirty="0"/>
              <a:t>Classes and Objects</a:t>
            </a:r>
          </a:p>
        </p:txBody>
      </p:sp>
      <p:sp>
        <p:nvSpPr>
          <p:cNvPr id="3" name="Content Placeholder 2">
            <a:extLst>
              <a:ext uri="{FF2B5EF4-FFF2-40B4-BE49-F238E27FC236}">
                <a16:creationId xmlns:a16="http://schemas.microsoft.com/office/drawing/2014/main" id="{D58B4E2A-B221-940D-A63F-C080495BCF3C}"/>
              </a:ext>
            </a:extLst>
          </p:cNvPr>
          <p:cNvSpPr>
            <a:spLocks noGrp="1"/>
          </p:cNvSpPr>
          <p:nvPr>
            <p:ph idx="1"/>
          </p:nvPr>
        </p:nvSpPr>
        <p:spPr>
          <a:xfrm>
            <a:off x="1451579" y="1921566"/>
            <a:ext cx="9603275" cy="4131916"/>
          </a:xfrm>
        </p:spPr>
        <p:txBody>
          <a:bodyPr/>
          <a:lstStyle/>
          <a:p>
            <a:r>
              <a:rPr lang="en-US" dirty="0"/>
              <a:t>Pretty much everything you use in Python is an object. </a:t>
            </a:r>
          </a:p>
          <a:p>
            <a:pPr lvl="1"/>
            <a:r>
              <a:rPr lang="en-US" dirty="0"/>
              <a:t>Strings, </a:t>
            </a:r>
            <a:r>
              <a:rPr lang="en-US" dirty="0" err="1"/>
              <a:t>dataframes</a:t>
            </a:r>
            <a:r>
              <a:rPr lang="en-US" dirty="0"/>
              <a:t>, integers, </a:t>
            </a:r>
            <a:r>
              <a:rPr lang="en-US" dirty="0" err="1"/>
              <a:t>etc</a:t>
            </a:r>
            <a:r>
              <a:rPr lang="en-US" dirty="0"/>
              <a:t>…</a:t>
            </a:r>
          </a:p>
          <a:p>
            <a:pPr lvl="1"/>
            <a:r>
              <a:rPr lang="en-US" dirty="0"/>
              <a:t>Each variable declaration is (usually) a creation of an object. </a:t>
            </a:r>
          </a:p>
          <a:p>
            <a:r>
              <a:rPr lang="en-US" dirty="0"/>
              <a:t>Objects can be made to do whatever we need, each object has:</a:t>
            </a:r>
          </a:p>
          <a:p>
            <a:pPr lvl="1"/>
            <a:r>
              <a:rPr lang="en-US" dirty="0"/>
              <a:t>Some things it knows – the data stored in the object. </a:t>
            </a:r>
          </a:p>
          <a:p>
            <a:pPr lvl="1"/>
            <a:r>
              <a:rPr lang="en-US" dirty="0"/>
              <a:t>Some things it can do – the methods (functions) that can take action. </a:t>
            </a:r>
          </a:p>
          <a:p>
            <a:r>
              <a:rPr lang="en-US" dirty="0"/>
              <a:t>Examples:</a:t>
            </a:r>
          </a:p>
          <a:p>
            <a:pPr lvl="1"/>
            <a:r>
              <a:rPr lang="en-US" dirty="0" err="1"/>
              <a:t>Dataframe</a:t>
            </a:r>
            <a:r>
              <a:rPr lang="en-US" dirty="0"/>
              <a:t>: ”things known” – data, “things done” – describe(), info(), </a:t>
            </a:r>
            <a:r>
              <a:rPr lang="en-US" dirty="0" err="1"/>
              <a:t>etc</a:t>
            </a:r>
            <a:r>
              <a:rPr lang="en-US" dirty="0"/>
              <a:t>…</a:t>
            </a:r>
          </a:p>
          <a:p>
            <a:pPr lvl="1"/>
            <a:r>
              <a:rPr lang="en-US" dirty="0"/>
              <a:t>Integer: “Thing known” – data, “things done” – all the operators, </a:t>
            </a:r>
            <a:r>
              <a:rPr lang="en-US" dirty="0" err="1"/>
              <a:t>etc</a:t>
            </a:r>
            <a:r>
              <a:rPr lang="en-US" dirty="0"/>
              <a:t>…</a:t>
            </a:r>
          </a:p>
        </p:txBody>
      </p:sp>
    </p:spTree>
    <p:extLst>
      <p:ext uri="{BB962C8B-B14F-4D97-AF65-F5344CB8AC3E}">
        <p14:creationId xmlns:p14="http://schemas.microsoft.com/office/powerpoint/2010/main" val="2727267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D85F9-7601-B74E-3FE9-8D41DF070F3C}"/>
              </a:ext>
            </a:extLst>
          </p:cNvPr>
          <p:cNvSpPr>
            <a:spLocks noGrp="1"/>
          </p:cNvSpPr>
          <p:nvPr>
            <p:ph type="title"/>
          </p:nvPr>
        </p:nvSpPr>
        <p:spPr/>
        <p:txBody>
          <a:bodyPr/>
          <a:lstStyle/>
          <a:p>
            <a:r>
              <a:rPr lang="en-US" dirty="0"/>
              <a:t>Custom Objects (classes)</a:t>
            </a:r>
          </a:p>
        </p:txBody>
      </p:sp>
      <p:sp>
        <p:nvSpPr>
          <p:cNvPr id="3" name="Content Placeholder 2">
            <a:extLst>
              <a:ext uri="{FF2B5EF4-FFF2-40B4-BE49-F238E27FC236}">
                <a16:creationId xmlns:a16="http://schemas.microsoft.com/office/drawing/2014/main" id="{CCA1E9FE-7152-7C39-1B42-BF4A052B50E1}"/>
              </a:ext>
            </a:extLst>
          </p:cNvPr>
          <p:cNvSpPr>
            <a:spLocks noGrp="1"/>
          </p:cNvSpPr>
          <p:nvPr>
            <p:ph idx="1"/>
          </p:nvPr>
        </p:nvSpPr>
        <p:spPr>
          <a:xfrm>
            <a:off x="1451579" y="1956097"/>
            <a:ext cx="9603275" cy="3987503"/>
          </a:xfrm>
        </p:spPr>
        <p:txBody>
          <a:bodyPr/>
          <a:lstStyle/>
          <a:p>
            <a:r>
              <a:rPr lang="en-US" dirty="0"/>
              <a:t>We can create classes that let us use custom objects. </a:t>
            </a:r>
          </a:p>
          <a:p>
            <a:pPr lvl="1"/>
            <a:r>
              <a:rPr lang="en-US" dirty="0"/>
              <a:t>We can add any other objects to it to store data inside. </a:t>
            </a:r>
          </a:p>
          <a:p>
            <a:pPr lvl="1"/>
            <a:r>
              <a:rPr lang="en-US" dirty="0"/>
              <a:t>We can create methods (functions) to add functionality. </a:t>
            </a:r>
          </a:p>
          <a:p>
            <a:r>
              <a:rPr lang="en-US" dirty="0"/>
              <a:t>For example – a college registration record. </a:t>
            </a:r>
          </a:p>
          <a:p>
            <a:pPr lvl="1"/>
            <a:r>
              <a:rPr lang="en-US" dirty="0"/>
              <a:t>Data – student, class, date, grade, status, </a:t>
            </a:r>
            <a:r>
              <a:rPr lang="en-US" dirty="0" err="1"/>
              <a:t>etc</a:t>
            </a:r>
            <a:r>
              <a:rPr lang="en-US" dirty="0"/>
              <a:t>…</a:t>
            </a:r>
          </a:p>
          <a:p>
            <a:pPr lvl="1"/>
            <a:r>
              <a:rPr lang="en-US" dirty="0"/>
              <a:t>Methods – </a:t>
            </a:r>
            <a:r>
              <a:rPr lang="en-US" dirty="0" err="1"/>
              <a:t>cancelRegistration</a:t>
            </a:r>
            <a:r>
              <a:rPr lang="en-US" dirty="0"/>
              <a:t>(), print(), </a:t>
            </a:r>
            <a:r>
              <a:rPr lang="en-US" dirty="0" err="1"/>
              <a:t>changeGrade</a:t>
            </a:r>
            <a:r>
              <a:rPr lang="en-US" dirty="0"/>
              <a:t>(), </a:t>
            </a:r>
            <a:r>
              <a:rPr lang="en-US" dirty="0" err="1"/>
              <a:t>changeStatus</a:t>
            </a:r>
            <a:r>
              <a:rPr lang="en-US" dirty="0"/>
              <a:t>()…</a:t>
            </a:r>
          </a:p>
          <a:p>
            <a:r>
              <a:rPr lang="en-US" dirty="0"/>
              <a:t>Once created we can use them just like anything else. </a:t>
            </a:r>
          </a:p>
          <a:p>
            <a:pPr lvl="1"/>
            <a:r>
              <a:rPr lang="en-US" dirty="0"/>
              <a:t>Create by calling the constructor, usually in a variable declaration. </a:t>
            </a:r>
          </a:p>
          <a:p>
            <a:pPr lvl="1"/>
            <a:r>
              <a:rPr lang="en-US" dirty="0"/>
              <a:t>Interact by using functions on those objects – </a:t>
            </a:r>
            <a:r>
              <a:rPr lang="en-US" dirty="0" err="1"/>
              <a:t>newObject.theNewFunction</a:t>
            </a:r>
            <a:r>
              <a:rPr lang="en-US" dirty="0"/>
              <a:t>(parameter_1).</a:t>
            </a:r>
          </a:p>
          <a:p>
            <a:pPr lvl="1"/>
            <a:endParaRPr lang="en-US" dirty="0"/>
          </a:p>
        </p:txBody>
      </p:sp>
    </p:spTree>
    <p:extLst>
      <p:ext uri="{BB962C8B-B14F-4D97-AF65-F5344CB8AC3E}">
        <p14:creationId xmlns:p14="http://schemas.microsoft.com/office/powerpoint/2010/main" val="2619415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6B79-300D-ABDE-AAC4-F2C91BEE3E7E}"/>
              </a:ext>
            </a:extLst>
          </p:cNvPr>
          <p:cNvSpPr>
            <a:spLocks noGrp="1"/>
          </p:cNvSpPr>
          <p:nvPr>
            <p:ph type="title"/>
          </p:nvPr>
        </p:nvSpPr>
        <p:spPr/>
        <p:txBody>
          <a:bodyPr/>
          <a:lstStyle/>
          <a:p>
            <a:r>
              <a:rPr lang="en-US" dirty="0"/>
              <a:t>Inheritance</a:t>
            </a:r>
          </a:p>
        </p:txBody>
      </p:sp>
      <p:sp>
        <p:nvSpPr>
          <p:cNvPr id="3" name="Content Placeholder 2">
            <a:extLst>
              <a:ext uri="{FF2B5EF4-FFF2-40B4-BE49-F238E27FC236}">
                <a16:creationId xmlns:a16="http://schemas.microsoft.com/office/drawing/2014/main" id="{E62B541F-B8F9-15D8-BE84-2FB50BA9FE98}"/>
              </a:ext>
            </a:extLst>
          </p:cNvPr>
          <p:cNvSpPr>
            <a:spLocks noGrp="1"/>
          </p:cNvSpPr>
          <p:nvPr>
            <p:ph idx="1"/>
          </p:nvPr>
        </p:nvSpPr>
        <p:spPr>
          <a:xfrm>
            <a:off x="1451579" y="1934817"/>
            <a:ext cx="9603275" cy="4118663"/>
          </a:xfrm>
        </p:spPr>
        <p:txBody>
          <a:bodyPr/>
          <a:lstStyle/>
          <a:p>
            <a:r>
              <a:rPr lang="en-US" dirty="0"/>
              <a:t>We have another feature, the one thing that matters in the modern economy, inheritance. </a:t>
            </a:r>
          </a:p>
          <a:p>
            <a:r>
              <a:rPr lang="en-US" dirty="0"/>
              <a:t>Inheritance is a hierarchy with an “is-a” relationship. </a:t>
            </a:r>
          </a:p>
          <a:p>
            <a:pPr lvl="1"/>
            <a:r>
              <a:rPr lang="en-US" dirty="0"/>
              <a:t>We can define types that share data/methods. </a:t>
            </a:r>
          </a:p>
          <a:p>
            <a:pPr lvl="1"/>
            <a:r>
              <a:rPr lang="en-US" dirty="0"/>
              <a:t>We can change the different parts as needed. </a:t>
            </a:r>
          </a:p>
          <a:p>
            <a:pPr lvl="1"/>
            <a:r>
              <a:rPr lang="en-US" dirty="0"/>
              <a:t>We can still access the common stuff directly. </a:t>
            </a:r>
          </a:p>
          <a:p>
            <a:r>
              <a:rPr lang="en-US" dirty="0"/>
              <a:t>Example – a large company with employees.</a:t>
            </a:r>
          </a:p>
          <a:p>
            <a:pPr lvl="1"/>
            <a:r>
              <a:rPr lang="en-US" dirty="0"/>
              <a:t>Parent class – “Worker”. Common stuff - wage, address, </a:t>
            </a:r>
            <a:r>
              <a:rPr lang="en-US" dirty="0" err="1"/>
              <a:t>changePay</a:t>
            </a:r>
            <a:r>
              <a:rPr lang="en-US" dirty="0"/>
              <a:t>, </a:t>
            </a:r>
            <a:r>
              <a:rPr lang="en-US" dirty="0" err="1"/>
              <a:t>etc</a:t>
            </a:r>
            <a:r>
              <a:rPr lang="en-US" dirty="0"/>
              <a:t>…</a:t>
            </a:r>
          </a:p>
          <a:p>
            <a:pPr lvl="1"/>
            <a:r>
              <a:rPr lang="en-US" dirty="0"/>
              <a:t>Children – Full time employee, part time, contractor, temporary. Pay/benefit things change. </a:t>
            </a:r>
          </a:p>
          <a:p>
            <a:pPr lvl="1"/>
            <a:r>
              <a:rPr lang="en-US" dirty="0"/>
              <a:t>We can leave common stuff in Worker and make specific versions for children. </a:t>
            </a:r>
          </a:p>
        </p:txBody>
      </p:sp>
    </p:spTree>
    <p:extLst>
      <p:ext uri="{BB962C8B-B14F-4D97-AF65-F5344CB8AC3E}">
        <p14:creationId xmlns:p14="http://schemas.microsoft.com/office/powerpoint/2010/main" val="2366003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59093-B8A2-939C-22E7-540BB26E387E}"/>
              </a:ext>
            </a:extLst>
          </p:cNvPr>
          <p:cNvSpPr>
            <a:spLocks noGrp="1"/>
          </p:cNvSpPr>
          <p:nvPr>
            <p:ph type="title"/>
          </p:nvPr>
        </p:nvSpPr>
        <p:spPr>
          <a:xfrm>
            <a:off x="7356969" y="804519"/>
            <a:ext cx="3697885" cy="1049235"/>
          </a:xfrm>
        </p:spPr>
        <p:txBody>
          <a:bodyPr/>
          <a:lstStyle/>
          <a:p>
            <a:r>
              <a:rPr lang="en-US" dirty="0"/>
              <a:t>Simple example</a:t>
            </a:r>
          </a:p>
        </p:txBody>
      </p:sp>
      <p:sp>
        <p:nvSpPr>
          <p:cNvPr id="3" name="Content Placeholder 2">
            <a:extLst>
              <a:ext uri="{FF2B5EF4-FFF2-40B4-BE49-F238E27FC236}">
                <a16:creationId xmlns:a16="http://schemas.microsoft.com/office/drawing/2014/main" id="{14CD2078-7D52-E760-F8BA-FE9515667799}"/>
              </a:ext>
            </a:extLst>
          </p:cNvPr>
          <p:cNvSpPr>
            <a:spLocks noGrp="1"/>
          </p:cNvSpPr>
          <p:nvPr>
            <p:ph idx="1"/>
          </p:nvPr>
        </p:nvSpPr>
        <p:spPr>
          <a:xfrm>
            <a:off x="7356969" y="1914940"/>
            <a:ext cx="4662753" cy="4138542"/>
          </a:xfrm>
        </p:spPr>
        <p:txBody>
          <a:bodyPr/>
          <a:lstStyle/>
          <a:p>
            <a:r>
              <a:rPr lang="en-US" dirty="0"/>
              <a:t>This is s simple example. </a:t>
            </a:r>
          </a:p>
          <a:p>
            <a:pPr lvl="1"/>
            <a:r>
              <a:rPr lang="en-US" dirty="0"/>
              <a:t>Ignore the green part. </a:t>
            </a:r>
          </a:p>
          <a:p>
            <a:r>
              <a:rPr lang="en-US" dirty="0"/>
              <a:t>An employee is the parent. </a:t>
            </a:r>
          </a:p>
          <a:p>
            <a:pPr lvl="1"/>
            <a:r>
              <a:rPr lang="en-US" dirty="0"/>
              <a:t>Employees all have names and ID. </a:t>
            </a:r>
          </a:p>
          <a:p>
            <a:r>
              <a:rPr lang="en-US" dirty="0"/>
              <a:t>All employees need pay calculated. </a:t>
            </a:r>
          </a:p>
          <a:p>
            <a:pPr lvl="1"/>
            <a:r>
              <a:rPr lang="en-US" dirty="0"/>
              <a:t>Each child has a separate method. </a:t>
            </a:r>
          </a:p>
          <a:p>
            <a:pPr lvl="1"/>
            <a:r>
              <a:rPr lang="en-US" dirty="0"/>
              <a:t>When told to “calc pay” each does it. </a:t>
            </a:r>
          </a:p>
          <a:p>
            <a:pPr lvl="1"/>
            <a:r>
              <a:rPr lang="en-US" dirty="0"/>
              <a:t>A loop could “calc pay” for all employees, each ’knows’ how to do it.</a:t>
            </a:r>
          </a:p>
        </p:txBody>
      </p:sp>
      <p:pic>
        <p:nvPicPr>
          <p:cNvPr id="1026" name="Picture 2" descr="Inheritance and Composition: A Python OOP Guide – Real Python">
            <a:extLst>
              <a:ext uri="{FF2B5EF4-FFF2-40B4-BE49-F238E27FC236}">
                <a16:creationId xmlns:a16="http://schemas.microsoft.com/office/drawing/2014/main" id="{9804C9A4-330C-0C23-C912-27DAE6B005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44" y="0"/>
            <a:ext cx="72358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462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F776B-DB5A-D724-6587-80DDED57ACFE}"/>
              </a:ext>
            </a:extLst>
          </p:cNvPr>
          <p:cNvSpPr>
            <a:spLocks noGrp="1"/>
          </p:cNvSpPr>
          <p:nvPr>
            <p:ph type="title"/>
          </p:nvPr>
        </p:nvSpPr>
        <p:spPr/>
        <p:txBody>
          <a:bodyPr/>
          <a:lstStyle/>
          <a:p>
            <a:r>
              <a:rPr lang="en-US" dirty="0"/>
              <a:t>In the Book</a:t>
            </a:r>
          </a:p>
        </p:txBody>
      </p:sp>
      <p:sp>
        <p:nvSpPr>
          <p:cNvPr id="3" name="Content Placeholder 2">
            <a:extLst>
              <a:ext uri="{FF2B5EF4-FFF2-40B4-BE49-F238E27FC236}">
                <a16:creationId xmlns:a16="http://schemas.microsoft.com/office/drawing/2014/main" id="{89B4D29D-B4C1-349F-E12B-5FFF24C75AAE}"/>
              </a:ext>
            </a:extLst>
          </p:cNvPr>
          <p:cNvSpPr>
            <a:spLocks noGrp="1"/>
          </p:cNvSpPr>
          <p:nvPr>
            <p:ph idx="1"/>
          </p:nvPr>
        </p:nvSpPr>
        <p:spPr>
          <a:xfrm>
            <a:off x="1451579" y="1853754"/>
            <a:ext cx="9603275" cy="4199727"/>
          </a:xfrm>
        </p:spPr>
        <p:txBody>
          <a:bodyPr/>
          <a:lstStyle/>
          <a:p>
            <a:r>
              <a:rPr lang="en-US" dirty="0"/>
              <a:t>The simulation mechanics are mostly identical. </a:t>
            </a:r>
          </a:p>
          <a:p>
            <a:r>
              <a:rPr lang="en-US" dirty="0"/>
              <a:t>The details of the probability of each round change. </a:t>
            </a:r>
          </a:p>
          <a:p>
            <a:r>
              <a:rPr lang="en-US" dirty="0"/>
              <a:t>The book example shows a simulation inheritance setup:</a:t>
            </a:r>
          </a:p>
          <a:p>
            <a:pPr lvl="1"/>
            <a:r>
              <a:rPr lang="en-US" dirty="0"/>
              <a:t>We need to redo the testing and tabulating each time. </a:t>
            </a:r>
          </a:p>
          <a:p>
            <a:pPr lvl="1"/>
            <a:r>
              <a:rPr lang="en-US" dirty="0"/>
              <a:t>The way ‘events’ (the values) are generated changes (different models). </a:t>
            </a:r>
          </a:p>
          <a:p>
            <a:pPr lvl="1"/>
            <a:r>
              <a:rPr lang="en-US" dirty="0"/>
              <a:t>As long as we can provide the probability part, the rest can happen without change. </a:t>
            </a:r>
          </a:p>
          <a:p>
            <a:r>
              <a:rPr lang="en-US" dirty="0"/>
              <a:t>The parent is a generic simulator harness. </a:t>
            </a:r>
          </a:p>
          <a:p>
            <a:r>
              <a:rPr lang="en-US" dirty="0"/>
              <a:t>The children change the specifics for that scenario. </a:t>
            </a:r>
          </a:p>
          <a:p>
            <a:r>
              <a:rPr lang="en-US" dirty="0"/>
              <a:t>This can be repurposed to almost any application. </a:t>
            </a:r>
          </a:p>
        </p:txBody>
      </p:sp>
    </p:spTree>
    <p:extLst>
      <p:ext uri="{BB962C8B-B14F-4D97-AF65-F5344CB8AC3E}">
        <p14:creationId xmlns:p14="http://schemas.microsoft.com/office/powerpoint/2010/main" val="1349325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86D7-A2E6-F241-1E5D-C97F6B6CA403}"/>
              </a:ext>
            </a:extLst>
          </p:cNvPr>
          <p:cNvSpPr>
            <a:spLocks noGrp="1"/>
          </p:cNvSpPr>
          <p:nvPr>
            <p:ph type="title"/>
          </p:nvPr>
        </p:nvSpPr>
        <p:spPr/>
        <p:txBody>
          <a:bodyPr/>
          <a:lstStyle/>
          <a:p>
            <a:r>
              <a:rPr lang="en-US" dirty="0"/>
              <a:t>Using the Classes</a:t>
            </a:r>
          </a:p>
        </p:txBody>
      </p:sp>
      <p:sp>
        <p:nvSpPr>
          <p:cNvPr id="3" name="Content Placeholder 2">
            <a:extLst>
              <a:ext uri="{FF2B5EF4-FFF2-40B4-BE49-F238E27FC236}">
                <a16:creationId xmlns:a16="http://schemas.microsoft.com/office/drawing/2014/main" id="{CB5ABC3B-DC40-A260-8E81-147B3D0A70FB}"/>
              </a:ext>
            </a:extLst>
          </p:cNvPr>
          <p:cNvSpPr>
            <a:spLocks noGrp="1"/>
          </p:cNvSpPr>
          <p:nvPr>
            <p:ph idx="1"/>
          </p:nvPr>
        </p:nvSpPr>
        <p:spPr>
          <a:xfrm>
            <a:off x="1451579" y="1853754"/>
            <a:ext cx="9603275" cy="4199727"/>
          </a:xfrm>
        </p:spPr>
        <p:txBody>
          <a:bodyPr/>
          <a:lstStyle/>
          <a:p>
            <a:r>
              <a:rPr lang="en-US" dirty="0"/>
              <a:t>We use and take advantage of this all the time. </a:t>
            </a:r>
          </a:p>
          <a:p>
            <a:pPr lvl="1"/>
            <a:r>
              <a:rPr lang="en-US" dirty="0"/>
              <a:t>Shared functionality – the parent can provide data/functions that are shared. </a:t>
            </a:r>
          </a:p>
          <a:p>
            <a:pPr lvl="1"/>
            <a:r>
              <a:rPr lang="en-US" dirty="0"/>
              <a:t>Different implementations – each child can implement the same functionality differently. </a:t>
            </a:r>
          </a:p>
          <a:p>
            <a:r>
              <a:rPr lang="en-US" dirty="0"/>
              <a:t>Interchangeability:</a:t>
            </a:r>
          </a:p>
          <a:p>
            <a:pPr lvl="1"/>
            <a:r>
              <a:rPr lang="en-US" dirty="0"/>
              <a:t>As long as one object can do what is asked of it, it works. </a:t>
            </a:r>
          </a:p>
          <a:p>
            <a:pPr lvl="1"/>
            <a:r>
              <a:rPr lang="en-US" dirty="0"/>
              <a:t>We can create new objects that work differently, as long as we don’t break other stuff.</a:t>
            </a:r>
          </a:p>
          <a:p>
            <a:r>
              <a:rPr lang="en-US" dirty="0"/>
              <a:t>When we do basic data processing, we can feed most functions data as:</a:t>
            </a:r>
          </a:p>
          <a:p>
            <a:pPr lvl="1"/>
            <a:r>
              <a:rPr lang="en-US" dirty="0" err="1"/>
              <a:t>Dataframe</a:t>
            </a:r>
            <a:r>
              <a:rPr lang="en-US" dirty="0"/>
              <a:t>, list, array, series, </a:t>
            </a:r>
            <a:r>
              <a:rPr lang="en-US" dirty="0" err="1"/>
              <a:t>etc</a:t>
            </a:r>
            <a:r>
              <a:rPr lang="en-US" dirty="0"/>
              <a:t>…</a:t>
            </a:r>
          </a:p>
          <a:p>
            <a:pPr lvl="1"/>
            <a:r>
              <a:rPr lang="en-US" dirty="0"/>
              <a:t>All of these can do “storage container” stuff, so we can usually swap them out for each other. </a:t>
            </a:r>
          </a:p>
        </p:txBody>
      </p:sp>
    </p:spTree>
    <p:extLst>
      <p:ext uri="{BB962C8B-B14F-4D97-AF65-F5344CB8AC3E}">
        <p14:creationId xmlns:p14="http://schemas.microsoft.com/office/powerpoint/2010/main" val="13545685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286</TotalTime>
  <Words>1963</Words>
  <Application>Microsoft Macintosh PowerPoint</Application>
  <PresentationFormat>Widescreen</PresentationFormat>
  <Paragraphs>179</Paragraphs>
  <Slides>20</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Gill Sans MT</vt:lpstr>
      <vt:lpstr>Gallery</vt:lpstr>
      <vt:lpstr>housekeeping</vt:lpstr>
      <vt:lpstr>Housekeeping</vt:lpstr>
      <vt:lpstr>Hypothesis Testing #2</vt:lpstr>
      <vt:lpstr>Hypothesis Test Errors</vt:lpstr>
      <vt:lpstr>Error Types</vt:lpstr>
      <vt:lpstr>Power</vt:lpstr>
      <vt:lpstr>Using Power</vt:lpstr>
      <vt:lpstr>Weird Hypothesis Tests</vt:lpstr>
      <vt:lpstr>Chi Squared</vt:lpstr>
      <vt:lpstr>Chi2</vt:lpstr>
      <vt:lpstr>Multiple Groups - ANOVA</vt:lpstr>
      <vt:lpstr>ANOVA Says F This!</vt:lpstr>
      <vt:lpstr>Boxplots</vt:lpstr>
      <vt:lpstr>The Duality of Hypothesis Testing</vt:lpstr>
      <vt:lpstr>Classes and Objects</vt:lpstr>
      <vt:lpstr>Custom Objects (classes)</vt:lpstr>
      <vt:lpstr>Inheritance</vt:lpstr>
      <vt:lpstr>Simple example</vt:lpstr>
      <vt:lpstr>In the Book</vt:lpstr>
      <vt:lpstr>Using the Classes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Akeem Semper</dc:creator>
  <cp:lastModifiedBy>Akeem Semper</cp:lastModifiedBy>
  <cp:revision>10</cp:revision>
  <dcterms:created xsi:type="dcterms:W3CDTF">2022-11-02T17:13:45Z</dcterms:created>
  <dcterms:modified xsi:type="dcterms:W3CDTF">2025-10-27T18:33:42Z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2025-10-27T15:31:55Z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72d62e6f-9d3b-4ad3-b9b9-df8313938d38</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
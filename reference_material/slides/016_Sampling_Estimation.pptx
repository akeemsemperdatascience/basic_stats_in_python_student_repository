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68" r:id="rId2"/>
    <p:sldId id="269" r:id="rId3"/>
    <p:sldId id="266" r:id="rId4"/>
    <p:sldId id="256" r:id="rId5"/>
    <p:sldId id="257" r:id="rId6"/>
    <p:sldId id="283" r:id="rId7"/>
    <p:sldId id="267" r:id="rId8"/>
    <p:sldId id="265" r:id="rId9"/>
    <p:sldId id="264" r:id="rId10"/>
    <p:sldId id="276" r:id="rId11"/>
    <p:sldId id="277" r:id="rId12"/>
    <p:sldId id="258" r:id="rId13"/>
    <p:sldId id="259" r:id="rId14"/>
    <p:sldId id="278" r:id="rId15"/>
    <p:sldId id="279" r:id="rId16"/>
    <p:sldId id="281" r:id="rId17"/>
    <p:sldId id="280" r:id="rId18"/>
    <p:sldId id="260" r:id="rId19"/>
    <p:sldId id="270" r:id="rId20"/>
    <p:sldId id="284" r:id="rId21"/>
    <p:sldId id="285" r:id="rId22"/>
    <p:sldId id="271" r:id="rId23"/>
    <p:sldId id="261" r:id="rId24"/>
    <p:sldId id="272" r:id="rId25"/>
    <p:sldId id="262" r:id="rId26"/>
    <p:sldId id="263" r:id="rId27"/>
    <p:sldId id="273" r:id="rId28"/>
    <p:sldId id="274" r:id="rId29"/>
    <p:sldId id="282" r:id="rId30"/>
    <p:sldId id="286" r:id="rId31"/>
    <p:sldId id="287" r:id="rId32"/>
    <p:sldId id="275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572"/>
    <p:restoredTop sz="95897"/>
  </p:normalViewPr>
  <p:slideViewPr>
    <p:cSldViewPr snapToGrid="0" snapToObjects="1">
      <p:cViewPr varScale="1">
        <p:scale>
          <a:sx n="97" d="100"/>
          <a:sy n="97" d="100"/>
        </p:scale>
        <p:origin x="232" y="1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71BF5-A32E-1A45-9C2B-1802D67C77D5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97B72422-04E8-1040-B52D-75360DF95DD4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3728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71BF5-A32E-1A45-9C2B-1802D67C77D5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72422-04E8-1040-B52D-75360DF95DD4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7171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71BF5-A32E-1A45-9C2B-1802D67C77D5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72422-04E8-1040-B52D-75360DF95DD4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87560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71BF5-A32E-1A45-9C2B-1802D67C77D5}" type="datetimeFigureOut">
              <a:rPr lang="en-US" smtClean="0"/>
              <a:t>10/6/25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72422-04E8-1040-B52D-75360DF95DD4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3387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71BF5-A32E-1A45-9C2B-1802D67C77D5}" type="datetimeFigureOut">
              <a:rPr lang="en-US" smtClean="0"/>
              <a:t>10/6/25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72422-04E8-1040-B52D-75360DF95DD4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5154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71BF5-A32E-1A45-9C2B-1802D67C77D5}" type="datetimeFigureOut">
              <a:rPr lang="en-US" smtClean="0"/>
              <a:t>10/6/25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72422-04E8-1040-B52D-75360DF95DD4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991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71BF5-A32E-1A45-9C2B-1802D67C77D5}" type="datetimeFigureOut">
              <a:rPr lang="en-US" smtClean="0"/>
              <a:t>10/6/25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72422-04E8-1040-B52D-75360DF95D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734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71BF5-A32E-1A45-9C2B-1802D67C77D5}" type="datetimeFigureOut">
              <a:rPr lang="en-US" smtClean="0"/>
              <a:t>10/6/25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72422-04E8-1040-B52D-75360DF95DD4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02916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DD771BF5-A32E-1A45-9C2B-1802D67C77D5}" type="datetimeFigureOut">
              <a:rPr lang="en-US" smtClean="0"/>
              <a:t>10/6/25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72422-04E8-1040-B52D-75360DF95DD4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2161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71BF5-A32E-1A45-9C2B-1802D67C77D5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72422-04E8-1040-B52D-75360DF95DD4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7304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71BF5-A32E-1A45-9C2B-1802D67C77D5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72422-04E8-1040-B52D-75360DF95DD4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0108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771BF5-A32E-1A45-9C2B-1802D67C77D5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97B72422-04E8-1040-B52D-75360DF95DD4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8188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6D69360-4419-789A-A678-CD1817664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Analytical Distributions and You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DABA2CC-B1D5-33BD-2F20-BBE7EEDB16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/>
          <a:lstStyle/>
          <a:p>
            <a:r>
              <a:rPr lang="en-US" dirty="0"/>
              <a:t>We can use an analytical distribution to generalize. </a:t>
            </a:r>
          </a:p>
          <a:p>
            <a:r>
              <a:rPr lang="en-US" dirty="0"/>
              <a:t>From the book:</a:t>
            </a:r>
          </a:p>
          <a:p>
            <a:pPr lvl="1"/>
            <a:r>
              <a:rPr lang="en-US" dirty="0"/>
              <a:t>Suppose we are measuring the weight of gorillas. </a:t>
            </a:r>
          </a:p>
          <a:p>
            <a:pPr lvl="1"/>
            <a:r>
              <a:rPr lang="en-US" dirty="0"/>
              <a:t>We have a small sample of 9 (its expensive and hard to measure them). </a:t>
            </a:r>
          </a:p>
          <a:p>
            <a:pPr lvl="1"/>
            <a:r>
              <a:rPr lang="en-US" dirty="0"/>
              <a:t>What if we got big gorillas randomly? Or small ones. </a:t>
            </a:r>
          </a:p>
          <a:p>
            <a:r>
              <a:rPr lang="en-US" dirty="0"/>
              <a:t>We don’t know the true mean and standard deviation for the population. </a:t>
            </a:r>
          </a:p>
          <a:p>
            <a:pPr lvl="1"/>
            <a:r>
              <a:rPr lang="en-US" dirty="0"/>
              <a:t>We have estimates, captured from the sample.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91940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1B0B4-4C3F-A39D-0FA9-79C144102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Sampling Distributions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C3168-DD69-64AC-C589-1327F94DAF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/>
          <a:lstStyle/>
          <a:p>
            <a:r>
              <a:rPr lang="en-US" dirty="0"/>
              <a:t>How can we evaluate quality of the estimations? </a:t>
            </a:r>
          </a:p>
          <a:p>
            <a:r>
              <a:rPr lang="en-US" dirty="0"/>
              <a:t>Play a game – the estimation game. </a:t>
            </a:r>
          </a:p>
          <a:p>
            <a:pPr lvl="1"/>
            <a:r>
              <a:rPr lang="en-US" dirty="0"/>
              <a:t>Generate a ‘new’ distribution from the analytical one. </a:t>
            </a:r>
          </a:p>
          <a:p>
            <a:pPr lvl="1"/>
            <a:r>
              <a:rPr lang="en-US" dirty="0"/>
              <a:t>Measure its stats. </a:t>
            </a:r>
          </a:p>
          <a:p>
            <a:pPr lvl="1"/>
            <a:r>
              <a:rPr lang="en-US" dirty="0"/>
              <a:t>Repeat and collect (means). </a:t>
            </a:r>
          </a:p>
          <a:p>
            <a:r>
              <a:rPr lang="en-US" dirty="0"/>
              <a:t>If the sample is bad (small, large std) we get widely varied results. </a:t>
            </a:r>
          </a:p>
        </p:txBody>
      </p:sp>
    </p:spTree>
    <p:extLst>
      <p:ext uri="{BB962C8B-B14F-4D97-AF65-F5344CB8AC3E}">
        <p14:creationId xmlns:p14="http://schemas.microsoft.com/office/powerpoint/2010/main" val="1267737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15388-214D-1823-95C6-B755F8E12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Housekeeping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780454-DD05-6B13-FD2D-0DA7C85BCA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Today:</a:t>
            </a:r>
          </a:p>
          <a:p>
            <a:pPr lvl="1"/>
            <a:r>
              <a:rPr lang="en-US" dirty="0"/>
              <a:t>Notebook (012A) – I reordered a few things, so the numbers are different. </a:t>
            </a:r>
          </a:p>
          <a:p>
            <a:pPr lvl="1"/>
            <a:r>
              <a:rPr lang="en-US" dirty="0"/>
              <a:t>Estimating populations from samples. </a:t>
            </a:r>
          </a:p>
          <a:p>
            <a:pPr lvl="1"/>
            <a:r>
              <a:rPr lang="en-US" dirty="0"/>
              <a:t>Intro to inferential statistics. </a:t>
            </a:r>
          </a:p>
          <a:p>
            <a:pPr lvl="1"/>
            <a:r>
              <a:rPr lang="en-US" dirty="0"/>
              <a:t>Types of errors from samples. </a:t>
            </a:r>
          </a:p>
        </p:txBody>
      </p:sp>
    </p:spTree>
    <p:extLst>
      <p:ext uri="{BB962C8B-B14F-4D97-AF65-F5344CB8AC3E}">
        <p14:creationId xmlns:p14="http://schemas.microsoft.com/office/powerpoint/2010/main" val="11849036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098EB-A250-A874-A3B8-BC5C20DA40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Sampling and Estimation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9C422E-46E4-BD06-A346-ECE3FC96640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3219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F99F5-5D45-A4E8-7071-A6F679513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Population and Samples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6471A5-775B-DD25-737A-64390A3039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149541"/>
          </a:xfrm>
        </p:spPr>
        <p:txBody>
          <a:bodyPr>
            <a:normAutofit/>
          </a:bodyPr>
          <a:lstStyle/>
          <a:p>
            <a:r>
              <a:rPr lang="en-US" dirty="0"/>
              <a:t>Recall:</a:t>
            </a:r>
          </a:p>
          <a:p>
            <a:pPr lvl="1"/>
            <a:r>
              <a:rPr lang="en-US" dirty="0"/>
              <a:t>Population – the entirety of whatever we are examining. </a:t>
            </a:r>
          </a:p>
          <a:p>
            <a:pPr lvl="1"/>
            <a:r>
              <a:rPr lang="en-US" dirty="0"/>
              <a:t>Sample – some subset that we pull from the population for analysis. </a:t>
            </a:r>
          </a:p>
          <a:p>
            <a:r>
              <a:rPr lang="en-US" dirty="0"/>
              <a:t>We can’t generally get a population wide dataset. </a:t>
            </a:r>
          </a:p>
          <a:p>
            <a:pPr lvl="1"/>
            <a:r>
              <a:rPr lang="en-US" dirty="0"/>
              <a:t>If the average height of our sample is 5’10”, we can’t just say that’s true for the population. </a:t>
            </a:r>
          </a:p>
          <a:p>
            <a:r>
              <a:rPr lang="en-US" dirty="0"/>
              <a:t>Our sample should mirror our population, but there is always some difference. </a:t>
            </a:r>
          </a:p>
          <a:p>
            <a:pPr lvl="1"/>
            <a:r>
              <a:rPr lang="en-US" dirty="0"/>
              <a:t>This introduces some error – the sampling error. </a:t>
            </a:r>
          </a:p>
          <a:p>
            <a:r>
              <a:rPr lang="en-US" b="1" dirty="0"/>
              <a:t>Here, we will use our sample to make estimates of the population. </a:t>
            </a:r>
          </a:p>
        </p:txBody>
      </p:sp>
    </p:spTree>
    <p:extLst>
      <p:ext uri="{BB962C8B-B14F-4D97-AF65-F5344CB8AC3E}">
        <p14:creationId xmlns:p14="http://schemas.microsoft.com/office/powerpoint/2010/main" val="21804706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B2E33-8066-AC7C-137B-904CE0A2B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Some stuff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69AA4-3F8C-8C84-519B-8556F1B766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960776"/>
            <a:ext cx="9603275" cy="4015818"/>
          </a:xfrm>
        </p:spPr>
        <p:txBody>
          <a:bodyPr/>
          <a:lstStyle/>
          <a:p>
            <a:r>
              <a:rPr lang="en-US" dirty="0"/>
              <a:t>We frequently want to be able to use stats to draw conclusions or make predictions. </a:t>
            </a:r>
          </a:p>
          <a:p>
            <a:r>
              <a:rPr lang="en-US" dirty="0"/>
              <a:t>We may want to compare two distributions. </a:t>
            </a:r>
          </a:p>
          <a:p>
            <a:pPr lvl="1"/>
            <a:r>
              <a:rPr lang="en-US" dirty="0"/>
              <a:t>Drug trials, societal wide comparisons, testing for normality, hypothesis tests.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r>
              <a:rPr lang="en-US" dirty="0"/>
              <a:t>We may want to generalize from sample-&gt;population. </a:t>
            </a:r>
          </a:p>
          <a:p>
            <a:pPr lvl="1"/>
            <a:r>
              <a:rPr lang="en-US" dirty="0"/>
              <a:t>How many schools vs old folks homes are needed? </a:t>
            </a:r>
          </a:p>
          <a:p>
            <a:r>
              <a:rPr lang="en-US" dirty="0"/>
              <a:t>These actions are probabilistic – we are calculating likelihoods. </a:t>
            </a:r>
          </a:p>
          <a:p>
            <a:pPr lvl="1"/>
            <a:r>
              <a:rPr lang="en-US" dirty="0"/>
              <a:t>These things aren’t definitive, we get a probability something is true. </a:t>
            </a:r>
          </a:p>
          <a:p>
            <a:pPr lvl="1"/>
            <a:r>
              <a:rPr lang="en-US" dirty="0"/>
              <a:t>We can also measure our certainty – if we predict it, can we trust that? </a:t>
            </a:r>
          </a:p>
        </p:txBody>
      </p:sp>
    </p:spTree>
    <p:extLst>
      <p:ext uri="{BB962C8B-B14F-4D97-AF65-F5344CB8AC3E}">
        <p14:creationId xmlns:p14="http://schemas.microsoft.com/office/powerpoint/2010/main" val="39586793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D65B1-822E-410F-63F4-3DF1E407F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Matching Analytical Distributions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4CE85A-BD59-58E7-3526-AB0697D51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/>
          <a:lstStyle/>
          <a:p>
            <a:r>
              <a:rPr lang="en-US" dirty="0"/>
              <a:t>An analytical distribution is a model – how we expect a value to fall. </a:t>
            </a:r>
          </a:p>
          <a:p>
            <a:r>
              <a:rPr lang="en-US" dirty="0"/>
              <a:t>Our main goal with analytical distributions has been to match one to data. </a:t>
            </a:r>
          </a:p>
          <a:p>
            <a:pPr lvl="1"/>
            <a:r>
              <a:rPr lang="en-US" dirty="0"/>
              <a:t>May need some transformation like log. </a:t>
            </a:r>
          </a:p>
          <a:p>
            <a:pPr lvl="1"/>
            <a:r>
              <a:rPr lang="en-US" dirty="0"/>
              <a:t>Calculate the parameters from the empirical data. </a:t>
            </a:r>
          </a:p>
          <a:p>
            <a:pPr lvl="1"/>
            <a:r>
              <a:rPr lang="en-US" dirty="0"/>
              <a:t>Create a model that follows empirical as closely as possible. </a:t>
            </a:r>
          </a:p>
          <a:p>
            <a:r>
              <a:rPr lang="en-US" dirty="0"/>
              <a:t>We can use this model to generalize about the population. </a:t>
            </a:r>
          </a:p>
          <a:p>
            <a:pPr lvl="1"/>
            <a:r>
              <a:rPr lang="en-US" dirty="0"/>
              <a:t>E.g. how many people wear size 9 or earn over $92,000.</a:t>
            </a:r>
          </a:p>
          <a:p>
            <a:r>
              <a:rPr lang="en-US" dirty="0"/>
              <a:t>How do we quantify the quality of that estimate? </a:t>
            </a:r>
          </a:p>
          <a:p>
            <a:pPr lvl="1"/>
            <a:r>
              <a:rPr lang="en-US" dirty="0"/>
              <a:t>We can always make an analytical model, but how good is it? </a:t>
            </a:r>
          </a:p>
        </p:txBody>
      </p:sp>
    </p:spTree>
    <p:extLst>
      <p:ext uri="{BB962C8B-B14F-4D97-AF65-F5344CB8AC3E}">
        <p14:creationId xmlns:p14="http://schemas.microsoft.com/office/powerpoint/2010/main" val="40875486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35C3D674-3D59-4E93-80CA-0C0A9095E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33" name="Straight Connector 1032">
            <a:extLst>
              <a:ext uri="{FF2B5EF4-FFF2-40B4-BE49-F238E27FC236}">
                <a16:creationId xmlns:a16="http://schemas.microsoft.com/office/drawing/2014/main" id="{C884B8F8-FDC9-498B-9960-5D7260AFC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6" y="1847088"/>
            <a:ext cx="417737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66C18E8C-0AA9-C452-9B56-F41D43C59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80" y="804520"/>
            <a:ext cx="4176511" cy="1049235"/>
          </a:xfrm>
        </p:spPr>
        <p:txBody>
          <a:bodyPr>
            <a:normAutofit/>
          </a:bodyPr>
          <a:lstStyle/>
          <a:p>
            <a:r>
              <a:rPr lang="en-US" dirty="0"/>
              <a:t>Think Intuitively…</a:t>
            </a:r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EF2A81E1-BCBE-426B-8C09-33274E6940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0018B-B9AC-A8E0-C0A3-BD1C9E109B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6182" y="2008046"/>
            <a:ext cx="5112327" cy="4117370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600" dirty="0"/>
              <a:t>If we are attempting to estimate the height of people:</a:t>
            </a:r>
          </a:p>
          <a:p>
            <a:pPr lvl="1">
              <a:lnSpc>
                <a:spcPct val="110000"/>
              </a:lnSpc>
            </a:pPr>
            <a:r>
              <a:rPr lang="en-US" sz="1600" dirty="0"/>
              <a:t>If our sample is the full population, we can calculate it directly – 0 difference. </a:t>
            </a:r>
          </a:p>
          <a:p>
            <a:pPr lvl="1">
              <a:lnSpc>
                <a:spcPct val="110000"/>
              </a:lnSpc>
            </a:pPr>
            <a:r>
              <a:rPr lang="en-US" sz="1600" dirty="0"/>
              <a:t>If our sample is just one person, that person could be any height – Danny DeVito or Yao Ming. </a:t>
            </a:r>
          </a:p>
          <a:p>
            <a:pPr lvl="1">
              <a:lnSpc>
                <a:spcPct val="110000"/>
              </a:lnSpc>
            </a:pPr>
            <a:r>
              <a:rPr lang="en-US" sz="1600" dirty="0"/>
              <a:t>As the sample size grows, the randomness of getting a non-representative sample becomes less likely. </a:t>
            </a:r>
          </a:p>
          <a:p>
            <a:pPr>
              <a:lnSpc>
                <a:spcPct val="110000"/>
              </a:lnSpc>
            </a:pPr>
            <a:r>
              <a:rPr lang="en-US" dirty="0"/>
              <a:t>The larger the sample size, the more reliably it matches the population, in general. </a:t>
            </a:r>
          </a:p>
        </p:txBody>
      </p:sp>
      <p:pic>
        <p:nvPicPr>
          <p:cNvPr id="1026" name="Picture 2" descr="Twins would've been a better movie if they didn't cast such a hunk to play  the scumbag brother. : r/pics">
            <a:extLst>
              <a:ext uri="{FF2B5EF4-FFF2-40B4-BE49-F238E27FC236}">
                <a16:creationId xmlns:a16="http://schemas.microsoft.com/office/drawing/2014/main" id="{875EA0BF-31CF-B70D-4687-3C8795FAE5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978321" y="805583"/>
            <a:ext cx="3192621" cy="4660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7" name="Picture 1036">
            <a:extLst>
              <a:ext uri="{FF2B5EF4-FFF2-40B4-BE49-F238E27FC236}">
                <a16:creationId xmlns:a16="http://schemas.microsoft.com/office/drawing/2014/main" id="{39D1DDD4-5BB3-45BA-B9B3-06B62299AD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039" name="Straight Connector 1038">
            <a:extLst>
              <a:ext uri="{FF2B5EF4-FFF2-40B4-BE49-F238E27FC236}">
                <a16:creationId xmlns:a16="http://schemas.microsoft.com/office/drawing/2014/main" id="{A24DAE64-2302-42EA-8239-F2F0775CA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04933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BCB09-330E-67CB-A7D1-AEAA682A7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E798D-CC78-5128-6D64-8338981E6D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Sampling error:</a:t>
            </a:r>
          </a:p>
          <a:p>
            <a:pPr lvl="1"/>
            <a:r>
              <a:rPr lang="en-US" dirty="0"/>
              <a:t>We are taking a sample of a population. It should be random and the stats for the sample should match the distribution, but there’s always some error. </a:t>
            </a:r>
          </a:p>
          <a:p>
            <a:pPr lvl="1"/>
            <a:r>
              <a:rPr lang="en-US" dirty="0"/>
              <a:t>E.g. if you randomly sample heights, and you randomly get three 7ft people, that’s bad luck. </a:t>
            </a:r>
          </a:p>
          <a:p>
            <a:r>
              <a:rPr lang="en-US" dirty="0"/>
              <a:t>Sampling bias:</a:t>
            </a:r>
          </a:p>
          <a:p>
            <a:pPr lvl="1"/>
            <a:r>
              <a:rPr lang="en-US" dirty="0"/>
              <a:t>Is the sample that we are taking representative of the population?</a:t>
            </a:r>
          </a:p>
          <a:p>
            <a:pPr lvl="1"/>
            <a:r>
              <a:rPr lang="en-US" dirty="0"/>
              <a:t>Easiest to think of with polling – landlines may not represent the whole population. </a:t>
            </a:r>
          </a:p>
          <a:p>
            <a:r>
              <a:rPr lang="en-US" dirty="0"/>
              <a:t>Measurement error:</a:t>
            </a:r>
          </a:p>
          <a:p>
            <a:pPr lvl="1"/>
            <a:r>
              <a:rPr lang="en-US" dirty="0"/>
              <a:t>How “off” is the actual measurement of the data? </a:t>
            </a:r>
          </a:p>
          <a:p>
            <a:pPr lvl="1"/>
            <a:r>
              <a:rPr lang="en-US" dirty="0"/>
              <a:t>E.g. when measuring heights, a ruler has some error.</a:t>
            </a:r>
          </a:p>
          <a:p>
            <a:r>
              <a:rPr lang="en-US" dirty="0"/>
              <a:t>We can’t address the last two – they happen before we get the data, we’d need to act earlier.</a:t>
            </a:r>
          </a:p>
        </p:txBody>
      </p:sp>
    </p:spTree>
    <p:extLst>
      <p:ext uri="{BB962C8B-B14F-4D97-AF65-F5344CB8AC3E}">
        <p14:creationId xmlns:p14="http://schemas.microsoft.com/office/powerpoint/2010/main" val="19767972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E27B1-EB75-7B01-8698-2EDCEBC70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Sampling error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A4FD4-1FD7-87DA-E1F0-A16EEDA877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/>
          <a:lstStyle/>
          <a:p>
            <a:r>
              <a:rPr lang="en-US" dirty="0"/>
              <a:t>Any time we deal with sampling and estimation, we introduce errors. </a:t>
            </a:r>
          </a:p>
          <a:p>
            <a:pPr lvl="1"/>
            <a:r>
              <a:rPr lang="en-US" dirty="0"/>
              <a:t>We can’t measure perfectly, our random selection isn’t perfectly representative,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pPr lvl="1"/>
            <a:r>
              <a:rPr lang="en-US" dirty="0"/>
              <a:t>These errors can stem from these sources. </a:t>
            </a:r>
          </a:p>
          <a:p>
            <a:r>
              <a:rPr lang="en-US" dirty="0"/>
              <a:t>Our estimations are better with less error. </a:t>
            </a:r>
          </a:p>
          <a:p>
            <a:pPr lvl="1"/>
            <a:r>
              <a:rPr lang="en-US" dirty="0"/>
              <a:t>We can’t mitigate or measure measurement error at our level. </a:t>
            </a:r>
          </a:p>
          <a:p>
            <a:pPr lvl="1"/>
            <a:r>
              <a:rPr lang="en-US" dirty="0"/>
              <a:t>We can estimate error from sampling. </a:t>
            </a:r>
          </a:p>
        </p:txBody>
      </p:sp>
    </p:spTree>
    <p:extLst>
      <p:ext uri="{BB962C8B-B14F-4D97-AF65-F5344CB8AC3E}">
        <p14:creationId xmlns:p14="http://schemas.microsoft.com/office/powerpoint/2010/main" val="13049946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150CB-159C-FC4A-39D8-3AA731603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Finally, inferential Statistics!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108AE-CC9D-FF8E-6E10-A1CA040DE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932496"/>
            <a:ext cx="9603275" cy="3533850"/>
          </a:xfrm>
        </p:spPr>
        <p:txBody>
          <a:bodyPr/>
          <a:lstStyle/>
          <a:p>
            <a:r>
              <a:rPr lang="en-US" dirty="0"/>
              <a:t>Our sample tells us something. </a:t>
            </a:r>
          </a:p>
          <a:p>
            <a:r>
              <a:rPr lang="en-US" dirty="0"/>
              <a:t>We use that something to generate a model of expectation. </a:t>
            </a:r>
          </a:p>
          <a:p>
            <a:pPr lvl="1"/>
            <a:r>
              <a:rPr lang="en-US" dirty="0"/>
              <a:t>I.e. if we generate new data it will follow that pattern. </a:t>
            </a:r>
          </a:p>
          <a:p>
            <a:r>
              <a:rPr lang="en-US" dirty="0"/>
              <a:t>We measure our confidence in those expectations. </a:t>
            </a:r>
          </a:p>
        </p:txBody>
      </p:sp>
    </p:spTree>
    <p:extLst>
      <p:ext uri="{BB962C8B-B14F-4D97-AF65-F5344CB8AC3E}">
        <p14:creationId xmlns:p14="http://schemas.microsoft.com/office/powerpoint/2010/main" val="31723126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5FECA-0DE7-E666-AB37-57E9018B6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15A6CA-60D9-2612-A200-6FAA0E9D7B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>
            <a:normAutofit/>
          </a:bodyPr>
          <a:lstStyle/>
          <a:p>
            <a:r>
              <a:rPr lang="en-US" dirty="0"/>
              <a:t>We can use a sample to draw inferences about the population as a whole:</a:t>
            </a:r>
          </a:p>
          <a:p>
            <a:pPr lvl="1"/>
            <a:r>
              <a:rPr lang="en-US" dirty="0"/>
              <a:t>This is what statisticians do with a census or pollsters with polls (soon-</a:t>
            </a:r>
            <a:r>
              <a:rPr lang="en-US" dirty="0" err="1"/>
              <a:t>ish</a:t>
            </a:r>
            <a:r>
              <a:rPr lang="en-US" dirty="0"/>
              <a:t>). </a:t>
            </a:r>
          </a:p>
          <a:p>
            <a:pPr lvl="1"/>
            <a:r>
              <a:rPr lang="en-US" dirty="0"/>
              <a:t>This is called inferential statistics – using stats to predict. ML grows from this. </a:t>
            </a:r>
          </a:p>
          <a:p>
            <a:r>
              <a:rPr lang="en-US" dirty="0"/>
              <a:t>The process is:</a:t>
            </a:r>
          </a:p>
          <a:p>
            <a:pPr lvl="1"/>
            <a:r>
              <a:rPr lang="en-US" dirty="0"/>
              <a:t>Match our sample to an analytical distribution. </a:t>
            </a:r>
          </a:p>
          <a:p>
            <a:pPr lvl="1"/>
            <a:r>
              <a:rPr lang="en-US" dirty="0"/>
              <a:t>Generate random values that fit that distribution in many trials. </a:t>
            </a:r>
          </a:p>
          <a:p>
            <a:pPr lvl="1"/>
            <a:r>
              <a:rPr lang="en-US" dirty="0"/>
              <a:t>Use the aggregates of those trails along with error measures to draw inferences about the population. </a:t>
            </a:r>
          </a:p>
        </p:txBody>
      </p:sp>
    </p:spTree>
    <p:extLst>
      <p:ext uri="{BB962C8B-B14F-4D97-AF65-F5344CB8AC3E}">
        <p14:creationId xmlns:p14="http://schemas.microsoft.com/office/powerpoint/2010/main" val="8969421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CB30F-8FC5-BA2F-DDAE-26A52B671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9297A-60F8-D213-DA79-218C928CE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932496"/>
            <a:ext cx="9603275" cy="4120986"/>
          </a:xfrm>
        </p:spPr>
        <p:txBody>
          <a:bodyPr/>
          <a:lstStyle/>
          <a:p>
            <a:r>
              <a:rPr lang="en-US" dirty="0"/>
              <a:t>Estimators are what we capture from a sample to make a model. </a:t>
            </a:r>
          </a:p>
          <a:p>
            <a:r>
              <a:rPr lang="en-US" dirty="0"/>
              <a:t>Estimators are a bigger thing in math-y stats than data analytics-y stats. </a:t>
            </a:r>
          </a:p>
          <a:p>
            <a:r>
              <a:rPr lang="en-US" dirty="0"/>
              <a:t>The estimator is basically the thing we use from the sample to estimate the population. </a:t>
            </a:r>
          </a:p>
          <a:p>
            <a:r>
              <a:rPr lang="en-US" dirty="0"/>
              <a:t>For normal distribution type of things, it’ll be the mean and standard deviation. </a:t>
            </a:r>
          </a:p>
          <a:p>
            <a:endParaRPr lang="en-US" dirty="0"/>
          </a:p>
          <a:p>
            <a:r>
              <a:rPr lang="en-US" dirty="0"/>
              <a:t>In layman's terms, our estimators are what we use to create the analytical distributions from the empirical data. We want those to not introduce any error themselves.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25523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67568-C0E5-5A5D-4C7A-884A2C2D6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Estimator Error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042435-9091-2374-AA83-37F38C8910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/>
          <a:lstStyle/>
          <a:p>
            <a:r>
              <a:rPr lang="en-US" dirty="0"/>
              <a:t>We want estimators that are unbiased – or don’t introduce error. </a:t>
            </a:r>
          </a:p>
          <a:p>
            <a:pPr lvl="1"/>
            <a:r>
              <a:rPr lang="en-US" dirty="0"/>
              <a:t>There is error in our generalization, but these don’t add to it. </a:t>
            </a:r>
          </a:p>
          <a:p>
            <a:r>
              <a:rPr lang="en-US" dirty="0"/>
              <a:t>For example, mean in a normal distribution. </a:t>
            </a:r>
          </a:p>
          <a:p>
            <a:pPr lvl="1"/>
            <a:r>
              <a:rPr lang="en-US" dirty="0"/>
              <a:t>The mean is an estimator used to create the analytical distribution. </a:t>
            </a:r>
          </a:p>
          <a:p>
            <a:pPr lvl="1"/>
            <a:r>
              <a:rPr lang="en-US" dirty="0"/>
              <a:t>If you generate </a:t>
            </a:r>
            <a:r>
              <a:rPr lang="en-US" dirty="0" err="1"/>
              <a:t>dist</a:t>
            </a:r>
            <a:r>
              <a:rPr lang="en-US" dirty="0"/>
              <a:t> data, we expect the mean of each new sample to have similar mean. </a:t>
            </a:r>
          </a:p>
          <a:p>
            <a:pPr lvl="1"/>
            <a:r>
              <a:rPr lang="en-US" dirty="0"/>
              <a:t>Some will be a bit larger, some a bit smaller, but most very close. </a:t>
            </a:r>
          </a:p>
          <a:p>
            <a:pPr lvl="1"/>
            <a:r>
              <a:rPr lang="en-US" dirty="0"/>
              <a:t>The estimator is not introducing error – the average mean of sample matches empirical. </a:t>
            </a:r>
          </a:p>
          <a:p>
            <a:r>
              <a:rPr lang="en-US" dirty="0"/>
              <a:t>In biased estimators, we see a drift – new random samples aren’t centered. </a:t>
            </a:r>
          </a:p>
        </p:txBody>
      </p:sp>
    </p:spTree>
    <p:extLst>
      <p:ext uri="{BB962C8B-B14F-4D97-AF65-F5344CB8AC3E}">
        <p14:creationId xmlns:p14="http://schemas.microsoft.com/office/powerpoint/2010/main" val="21714990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ECD01-B64A-926A-2F7B-D78AB198B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Avoiding Bias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4FCE91-DE9B-9F98-BF49-16A23C3CF6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1099" y="1853754"/>
            <a:ext cx="4581071" cy="4147903"/>
          </a:xfrm>
        </p:spPr>
        <p:txBody>
          <a:bodyPr/>
          <a:lstStyle/>
          <a:p>
            <a:r>
              <a:rPr lang="en-US" dirty="0"/>
              <a:t>If an estimator is biased, the samples won’t match empirical. </a:t>
            </a:r>
          </a:p>
          <a:p>
            <a:pPr lvl="1"/>
            <a:r>
              <a:rPr lang="en-US" dirty="0"/>
              <a:t>Get systemic errors higher or lower. </a:t>
            </a:r>
          </a:p>
          <a:p>
            <a:r>
              <a:rPr lang="en-US" dirty="0"/>
              <a:t>We don’t really need to know the details of this much. </a:t>
            </a:r>
          </a:p>
          <a:p>
            <a:pPr lvl="1"/>
            <a:r>
              <a:rPr lang="en-US" dirty="0"/>
              <a:t>In stat-y predictions this is more important. </a:t>
            </a:r>
          </a:p>
          <a:p>
            <a:pPr lvl="1"/>
            <a:r>
              <a:rPr lang="en-US" dirty="0"/>
              <a:t>With DS tools, we can avoid. </a:t>
            </a:r>
          </a:p>
        </p:txBody>
      </p:sp>
      <p:pic>
        <p:nvPicPr>
          <p:cNvPr id="4098" name="Picture 2" descr="Unbiasedness - Statistics for Data Science &amp; Analytics - Made Easy 2025">
            <a:extLst>
              <a:ext uri="{FF2B5EF4-FFF2-40B4-BE49-F238E27FC236}">
                <a16:creationId xmlns:a16="http://schemas.microsoft.com/office/drawing/2014/main" id="{C508EE0F-D34C-8546-3CE8-D10034A3E3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122714"/>
            <a:ext cx="7531100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09580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8711B-B191-B1E6-28D0-48EF9703F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Odd Estimators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8FEE9F-4DD2-9B15-D3AB-6EF8F0DCB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973943"/>
            <a:ext cx="9603275" cy="4027713"/>
          </a:xfrm>
        </p:spPr>
        <p:txBody>
          <a:bodyPr/>
          <a:lstStyle/>
          <a:p>
            <a:r>
              <a:rPr lang="en-US" dirty="0"/>
              <a:t>For the most part, our estimators are just mean and standard deviation. </a:t>
            </a:r>
          </a:p>
          <a:p>
            <a:r>
              <a:rPr lang="en-US" dirty="0"/>
              <a:t>There are scenarios where other estimators are used. </a:t>
            </a:r>
          </a:p>
          <a:p>
            <a:pPr lvl="1"/>
            <a:r>
              <a:rPr lang="en-US" dirty="0"/>
              <a:t>In outlier/skew data, median may make a better estimator. </a:t>
            </a:r>
          </a:p>
          <a:p>
            <a:pPr lvl="1"/>
            <a:r>
              <a:rPr lang="en-US" dirty="0"/>
              <a:t>Specific scenarios – there are baseball ones, but I don’t know the details. </a:t>
            </a:r>
          </a:p>
          <a:p>
            <a:pPr lvl="1"/>
            <a:r>
              <a:rPr lang="en-US" dirty="0"/>
              <a:t>Standard deviation – see book. </a:t>
            </a:r>
          </a:p>
          <a:p>
            <a:r>
              <a:rPr lang="en-US" dirty="0"/>
              <a:t>All models are wrong! All we care about are accurate predictions! </a:t>
            </a:r>
          </a:p>
        </p:txBody>
      </p:sp>
    </p:spTree>
    <p:extLst>
      <p:ext uri="{BB962C8B-B14F-4D97-AF65-F5344CB8AC3E}">
        <p14:creationId xmlns:p14="http://schemas.microsoft.com/office/powerpoint/2010/main" val="34130500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6F632-66DB-FE96-F423-241473DEB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Making predictions – Trial Runs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FF96C8-5B50-8CA9-84ED-D71DF0ACD9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9553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D80B7-4916-A592-E090-DF4288745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90C60B-00BE-4416-FDD0-9563238527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335173"/>
          </a:xfrm>
        </p:spPr>
        <p:txBody>
          <a:bodyPr/>
          <a:lstStyle/>
          <a:p>
            <a:r>
              <a:rPr lang="en-US" dirty="0"/>
              <a:t>Once we have a matching distribution, we can make predictions via running trials. </a:t>
            </a:r>
          </a:p>
          <a:p>
            <a:r>
              <a:rPr lang="en-US" dirty="0"/>
              <a:t>Each trial has a few steps:</a:t>
            </a:r>
          </a:p>
          <a:p>
            <a:pPr lvl="1"/>
            <a:r>
              <a:rPr lang="en-US" dirty="0"/>
              <a:t>Create an analytical distribution from the estimator(s). </a:t>
            </a:r>
          </a:p>
          <a:p>
            <a:pPr lvl="1"/>
            <a:r>
              <a:rPr lang="en-US" dirty="0"/>
              <a:t>Generate a bunch of values from that distribution. </a:t>
            </a:r>
          </a:p>
          <a:p>
            <a:pPr lvl="1"/>
            <a:r>
              <a:rPr lang="en-US" dirty="0"/>
              <a:t>Calculate the (usually) mean of those generated values. </a:t>
            </a:r>
          </a:p>
          <a:p>
            <a:pPr lvl="1"/>
            <a:r>
              <a:rPr lang="en-US" dirty="0"/>
              <a:t>Create a CDF of all of the means. </a:t>
            </a:r>
          </a:p>
          <a:p>
            <a:r>
              <a:rPr lang="en-US" dirty="0"/>
              <a:t>In effect, we are predicting what we expect the mean to be, based on the values from the empirical data, then making a distribution of those means. </a:t>
            </a:r>
          </a:p>
          <a:p>
            <a:r>
              <a:rPr lang="en-US" dirty="0"/>
              <a:t>Our estimate is the mean of those means – but how accurate is it…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11707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5AB18-4D6B-AC80-AF2F-89AAB41E2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- Heights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0DA599-88F9-ABCC-164C-CE88C9628B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Capture sample of size N and calculate estimators (mean and std most likely).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Create analytical distribution using sample estimators.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Generate many (like 1000+) new distributions of size N from the analytical one.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Each should be </a:t>
            </a:r>
            <a:r>
              <a:rPr lang="en-US" i="1" dirty="0"/>
              <a:t>mostly</a:t>
            </a:r>
            <a:r>
              <a:rPr lang="en-US" dirty="0"/>
              <a:t> identical to the empirical data, but not perfectly.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For each of those new </a:t>
            </a:r>
            <a:r>
              <a:rPr lang="en-US" dirty="0" err="1"/>
              <a:t>dists</a:t>
            </a:r>
            <a:r>
              <a:rPr lang="en-US" dirty="0"/>
              <a:t>, calculate the mean.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Plot the distribution of the new means. (Note: diff from </a:t>
            </a:r>
            <a:r>
              <a:rPr lang="en-US" dirty="0" err="1"/>
              <a:t>orig</a:t>
            </a:r>
            <a:r>
              <a:rPr lang="en-US" dirty="0"/>
              <a:t> values)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If they vary little, the prediction is more trustworthy.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If they vary widely, the prediction is less trustworthy.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If the fit is good, each sample drawn from </a:t>
            </a:r>
            <a:r>
              <a:rPr lang="en-US" dirty="0" err="1"/>
              <a:t>dist</a:t>
            </a:r>
            <a:r>
              <a:rPr lang="en-US" dirty="0"/>
              <a:t> should match the population. </a:t>
            </a:r>
          </a:p>
        </p:txBody>
      </p:sp>
    </p:spTree>
    <p:extLst>
      <p:ext uri="{BB962C8B-B14F-4D97-AF65-F5344CB8AC3E}">
        <p14:creationId xmlns:p14="http://schemas.microsoft.com/office/powerpoint/2010/main" val="17108728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F6EB8-C1DE-C5F9-2A61-4E9EDB824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3" y="804519"/>
            <a:ext cx="4413503" cy="1049235"/>
          </a:xfrm>
        </p:spPr>
        <p:txBody>
          <a:bodyPr/>
          <a:lstStyle/>
          <a:p>
            <a:r>
              <a:rPr lang="en-US" dirty="0"/>
              <a:t>Many, many, trials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25A8E0-3AB9-349B-857B-09953D6D81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15732"/>
            <a:ext cx="5801506" cy="395326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Our model defines how new data will fall. </a:t>
            </a:r>
          </a:p>
          <a:p>
            <a:r>
              <a:rPr lang="en-US" dirty="0"/>
              <a:t>Each trial generates one set of that data. </a:t>
            </a:r>
          </a:p>
          <a:p>
            <a:r>
              <a:rPr lang="en-US" dirty="0"/>
              <a:t>Our predicted mean will have values:</a:t>
            </a:r>
          </a:p>
          <a:p>
            <a:pPr lvl="1"/>
            <a:r>
              <a:rPr lang="en-US" dirty="0"/>
              <a:t>Varying a little bit from the sample mean.</a:t>
            </a:r>
          </a:p>
          <a:p>
            <a:pPr lvl="1"/>
            <a:r>
              <a:rPr lang="en-US" dirty="0"/>
              <a:t>Normal, with mean at center. </a:t>
            </a:r>
          </a:p>
          <a:p>
            <a:r>
              <a:rPr lang="en-US" dirty="0"/>
              <a:t>Our predicted population mean is avg. </a:t>
            </a:r>
          </a:p>
          <a:p>
            <a:pPr lvl="1"/>
            <a:r>
              <a:rPr lang="en-US" dirty="0"/>
              <a:t>Assuming no bias. </a:t>
            </a:r>
          </a:p>
          <a:p>
            <a:r>
              <a:rPr lang="en-US" dirty="0"/>
              <a:t>Our ‘confidence’ is greater the less variance. </a:t>
            </a:r>
          </a:p>
          <a:p>
            <a:pPr lvl="1"/>
            <a:r>
              <a:rPr lang="en-US" dirty="0"/>
              <a:t>I.e. if all generated means are the same, high conf.</a:t>
            </a:r>
          </a:p>
        </p:txBody>
      </p:sp>
      <p:pic>
        <p:nvPicPr>
          <p:cNvPr id="5122" name="Picture 2" descr="Estimation in Statistics - GeeksforGeeks">
            <a:extLst>
              <a:ext uri="{FF2B5EF4-FFF2-40B4-BE49-F238E27FC236}">
                <a16:creationId xmlns:a16="http://schemas.microsoft.com/office/drawing/2014/main" id="{C066A7DA-63AA-4D09-0058-AF75A3855C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80" r="16880"/>
          <a:stretch>
            <a:fillRect/>
          </a:stretch>
        </p:blipFill>
        <p:spPr bwMode="auto">
          <a:xfrm>
            <a:off x="5801506" y="1432874"/>
            <a:ext cx="6390494" cy="4536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69398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34167-22E6-AE98-34FB-24B3F518E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Detour/preview - Central Limit Theorem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450E18-FE75-08E0-2C0E-C98989C331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330" y="1853754"/>
            <a:ext cx="7245628" cy="4199727"/>
          </a:xfrm>
        </p:spPr>
        <p:txBody>
          <a:bodyPr>
            <a:normAutofit/>
          </a:bodyPr>
          <a:lstStyle/>
          <a:p>
            <a:r>
              <a:rPr lang="en-US" dirty="0"/>
              <a:t>As a note, this is an example of the central limit theorem. </a:t>
            </a:r>
          </a:p>
          <a:p>
            <a:pPr lvl="1"/>
            <a:r>
              <a:rPr lang="en-US" dirty="0"/>
              <a:t>The distribution of sample means is normal. </a:t>
            </a:r>
          </a:p>
          <a:p>
            <a:pPr lvl="1"/>
            <a:r>
              <a:rPr lang="en-US" dirty="0"/>
              <a:t>I.e. if we take a bunch of samples from a population, the means of each sample is normal. </a:t>
            </a:r>
          </a:p>
          <a:p>
            <a:r>
              <a:rPr lang="en-US" dirty="0"/>
              <a:t>The original data doesn’t need to be normal for this to be true. </a:t>
            </a:r>
          </a:p>
          <a:p>
            <a:r>
              <a:rPr lang="en-US" dirty="0"/>
              <a:t>Really important in math-y stats – parametric tools can be used. </a:t>
            </a:r>
          </a:p>
          <a:p>
            <a:pPr lvl="1"/>
            <a:r>
              <a:rPr lang="en-US" dirty="0"/>
              <a:t>Things like confidence intervals can rely on normal properties. </a:t>
            </a:r>
          </a:p>
        </p:txBody>
      </p:sp>
      <p:pic>
        <p:nvPicPr>
          <p:cNvPr id="6146" name="Picture 2" descr="Central limit theorem - Wikipedia">
            <a:extLst>
              <a:ext uri="{FF2B5EF4-FFF2-40B4-BE49-F238E27FC236}">
                <a16:creationId xmlns:a16="http://schemas.microsoft.com/office/drawing/2014/main" id="{411C5A8C-F791-460B-DA56-058F641FA9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8587" y="2765011"/>
            <a:ext cx="4191000" cy="176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04261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6B065-7093-C8E9-D70B-70C1B14BF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Quantifying – Standard Error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2BB196-436D-0A48-B7F5-E9354A1B19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9523" y="2202688"/>
            <a:ext cx="5842477" cy="3850793"/>
          </a:xfrm>
        </p:spPr>
        <p:txBody>
          <a:bodyPr/>
          <a:lstStyle/>
          <a:p>
            <a:r>
              <a:rPr lang="en-US" dirty="0"/>
              <a:t>The distribution of the new means shows how similar new samples are. </a:t>
            </a:r>
          </a:p>
          <a:p>
            <a:r>
              <a:rPr lang="en-US" dirty="0"/>
              <a:t>Hopefully most sample means are similar. </a:t>
            </a:r>
          </a:p>
          <a:p>
            <a:pPr lvl="1"/>
            <a:r>
              <a:rPr lang="en-US" dirty="0"/>
              <a:t>In theory, they would be the same in a perfect world.</a:t>
            </a:r>
          </a:p>
          <a:p>
            <a:r>
              <a:rPr lang="en-US" dirty="0"/>
              <a:t>This is the standard deviation of the new means. </a:t>
            </a:r>
          </a:p>
          <a:p>
            <a:pPr lvl="1"/>
            <a:r>
              <a:rPr lang="en-US" dirty="0"/>
              <a:t>I.e. how much do the new samples vary on average. </a:t>
            </a:r>
          </a:p>
          <a:p>
            <a:r>
              <a:rPr lang="en-US" dirty="0"/>
              <a:t>SE = ~if we predict the population mean, how much do predictions vary.  </a:t>
            </a:r>
          </a:p>
          <a:p>
            <a:endParaRPr lang="en-US" dirty="0"/>
          </a:p>
        </p:txBody>
      </p:sp>
      <p:pic>
        <p:nvPicPr>
          <p:cNvPr id="1026" name="Picture 2" descr="Standard Error vs Standard Deviation: Finding the Difference - SixSigma.us">
            <a:extLst>
              <a:ext uri="{FF2B5EF4-FFF2-40B4-BE49-F238E27FC236}">
                <a16:creationId xmlns:a16="http://schemas.microsoft.com/office/drawing/2014/main" id="{0EE7686B-46E8-A4D3-5F2E-4F1D5B27E9F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731" b="7733"/>
          <a:stretch>
            <a:fillRect/>
          </a:stretch>
        </p:blipFill>
        <p:spPr bwMode="auto">
          <a:xfrm>
            <a:off x="0" y="1853754"/>
            <a:ext cx="6349523" cy="4492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Example sampling distributions with the standard error of the mean.">
            <a:extLst>
              <a:ext uri="{FF2B5EF4-FFF2-40B4-BE49-F238E27FC236}">
                <a16:creationId xmlns:a16="http://schemas.microsoft.com/office/drawing/2014/main" id="{A045E408-2B68-C34E-BC42-5F9FA10CD6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7968" y="0"/>
            <a:ext cx="3304032" cy="2202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40601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6FBC0-75DD-15F9-AD6A-66963F21B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Confidence Intervals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31A34-1874-F77F-41E5-05B92E77ED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1149" y="2027583"/>
            <a:ext cx="10153706" cy="4025897"/>
          </a:xfrm>
        </p:spPr>
        <p:txBody>
          <a:bodyPr>
            <a:normAutofit/>
          </a:bodyPr>
          <a:lstStyle/>
          <a:p>
            <a:r>
              <a:rPr lang="en-US" dirty="0"/>
              <a:t>The CI is the range in which we can expect X% of values to fall:</a:t>
            </a:r>
          </a:p>
          <a:p>
            <a:pPr lvl="1"/>
            <a:r>
              <a:rPr lang="en-US" dirty="0"/>
              <a:t>A 90% confidence interval means that 90% of the values fall between the two CI limits. </a:t>
            </a:r>
          </a:p>
          <a:p>
            <a:r>
              <a:rPr lang="en-US" dirty="0"/>
              <a:t>Confidence intervals are something that we can derive from our predictions and CDF. </a:t>
            </a:r>
          </a:p>
          <a:p>
            <a:pPr lvl="1"/>
            <a:r>
              <a:rPr lang="en-US" dirty="0"/>
              <a:t>The CDF is a distribution of our predicted means. </a:t>
            </a:r>
          </a:p>
          <a:p>
            <a:pPr lvl="1"/>
            <a:r>
              <a:rPr lang="en-US" dirty="0"/>
              <a:t>Can use the </a:t>
            </a:r>
            <a:r>
              <a:rPr lang="en-US" dirty="0" err="1"/>
              <a:t>cdf</a:t>
            </a:r>
            <a:r>
              <a:rPr lang="en-US" dirty="0"/>
              <a:t>/percentile calculations to get details. </a:t>
            </a:r>
          </a:p>
          <a:p>
            <a:r>
              <a:rPr lang="en-US" dirty="0"/>
              <a:t>A.k.a. – “We are 90% confident that the value will lie within X amount of this value”. </a:t>
            </a:r>
          </a:p>
          <a:p>
            <a:pPr lvl="1"/>
            <a:r>
              <a:rPr lang="en-US" dirty="0"/>
              <a:t>E.g. ”Poll is accurate to within +/- 2%, 19 times out of 20”.</a:t>
            </a:r>
          </a:p>
          <a:p>
            <a:pPr lvl="1"/>
            <a:r>
              <a:rPr lang="en-US" dirty="0"/>
              <a:t>Could also be a range – 90% between 18 and 22.5 - same meaning. </a:t>
            </a:r>
          </a:p>
          <a:p>
            <a:r>
              <a:rPr lang="en-US" dirty="0"/>
              <a:t>Remember: those means that we generated in the trial are a distribution…</a:t>
            </a:r>
          </a:p>
        </p:txBody>
      </p:sp>
      <p:pic>
        <p:nvPicPr>
          <p:cNvPr id="8194" name="Picture 2" descr="Chapter 10 Confidence Intervals | Introduction to Statistics and Data  Science">
            <a:extLst>
              <a:ext uri="{FF2B5EF4-FFF2-40B4-BE49-F238E27FC236}">
                <a16:creationId xmlns:a16="http://schemas.microsoft.com/office/drawing/2014/main" id="{A02C8C93-60BD-51FD-581B-B07868E59F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3204" y="0"/>
            <a:ext cx="4278796" cy="2445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26925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6F207-5343-1E72-B6A6-7720B5456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Improving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8F87B7-2835-AC99-C93C-C7BDF23100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4559077" cy="3450613"/>
          </a:xfrm>
        </p:spPr>
        <p:txBody>
          <a:bodyPr/>
          <a:lstStyle/>
          <a:p>
            <a:r>
              <a:rPr lang="en-US" dirty="0"/>
              <a:t>Each error source can be addressed.</a:t>
            </a:r>
          </a:p>
          <a:p>
            <a:r>
              <a:rPr lang="en-US" dirty="0"/>
              <a:t>Sample error:</a:t>
            </a:r>
          </a:p>
          <a:p>
            <a:pPr lvl="1"/>
            <a:r>
              <a:rPr lang="en-US" dirty="0"/>
              <a:t>Bigger and more representative. </a:t>
            </a:r>
          </a:p>
          <a:p>
            <a:r>
              <a:rPr lang="en-US" dirty="0"/>
              <a:t>Measurement error:</a:t>
            </a:r>
          </a:p>
          <a:p>
            <a:pPr lvl="1"/>
            <a:r>
              <a:rPr lang="en-US" dirty="0"/>
              <a:t>Better tools/process. </a:t>
            </a:r>
          </a:p>
        </p:txBody>
      </p:sp>
      <p:pic>
        <p:nvPicPr>
          <p:cNvPr id="2050" name="Picture 2" descr="What Is Standard Error? Statistics Calculation and Overview | Outlier">
            <a:extLst>
              <a:ext uri="{FF2B5EF4-FFF2-40B4-BE49-F238E27FC236}">
                <a16:creationId xmlns:a16="http://schemas.microsoft.com/office/drawing/2014/main" id="{1B4A7896-FCDA-521A-BFA0-F631250397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10" t="6519" r="13997"/>
          <a:stretch>
            <a:fillRect/>
          </a:stretch>
        </p:blipFill>
        <p:spPr bwMode="auto">
          <a:xfrm>
            <a:off x="6010656" y="1031366"/>
            <a:ext cx="5995174" cy="5419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39523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790E28E-4ACC-B3A2-5DAE-9F5DEDC696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19" y="642938"/>
            <a:ext cx="1214096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7432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C96DC-7E2A-0EDD-B5D5-63CD8E209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2C27DC-E89B-10F0-DE2B-A1D8BB33E8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729039" cy="4199727"/>
          </a:xfrm>
        </p:spPr>
        <p:txBody>
          <a:bodyPr>
            <a:normAutofit/>
          </a:bodyPr>
          <a:lstStyle/>
          <a:p>
            <a:r>
              <a:rPr lang="en-US" dirty="0"/>
              <a:t>We did two types of estimation:</a:t>
            </a:r>
          </a:p>
          <a:p>
            <a:pPr lvl="1"/>
            <a:r>
              <a:rPr lang="en-US" dirty="0"/>
              <a:t>Point estimation – predict a value, like the mean. </a:t>
            </a:r>
          </a:p>
          <a:p>
            <a:pPr lvl="1"/>
            <a:r>
              <a:rPr lang="en-US" dirty="0"/>
              <a:t>Interval estimation – predict a range, like the confidence interval. </a:t>
            </a:r>
          </a:p>
          <a:p>
            <a:r>
              <a:rPr lang="en-US" dirty="0"/>
              <a:t>We can do this type of estimation anytime we are generalizing from sample to population. </a:t>
            </a:r>
          </a:p>
          <a:p>
            <a:r>
              <a:rPr lang="en-US" dirty="0"/>
              <a:t>The details of what estimators are used, and the analytical distributions differs, the process is generally the same. </a:t>
            </a:r>
          </a:p>
          <a:p>
            <a:pPr lvl="1"/>
            <a:r>
              <a:rPr lang="en-US" dirty="0"/>
              <a:t>We’ll look at estimation from discreet distributions, like election polling, a bit later on. </a:t>
            </a:r>
          </a:p>
          <a:p>
            <a:r>
              <a:rPr lang="en-US" dirty="0"/>
              <a:t>We end up with both an estimate of the population, and the bounds of how accurate we expect that answer to be!</a:t>
            </a:r>
          </a:p>
        </p:txBody>
      </p:sp>
    </p:spTree>
    <p:extLst>
      <p:ext uri="{BB962C8B-B14F-4D97-AF65-F5344CB8AC3E}">
        <p14:creationId xmlns:p14="http://schemas.microsoft.com/office/powerpoint/2010/main" val="24415003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9C203-8EA9-7410-B8BA-9D9CB018E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84DE7B-31AB-063F-8BC5-23E4889972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6" name="Picture 4" descr="Can't find the CLT? Fundamental Statistics for Machine Learning: Part 1 |  by Abhishek Divekar | Medium">
            <a:extLst>
              <a:ext uri="{FF2B5EF4-FFF2-40B4-BE49-F238E27FC236}">
                <a16:creationId xmlns:a16="http://schemas.microsoft.com/office/drawing/2014/main" id="{B0F902A8-0C2E-0F8C-1A06-AA40FDFF50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4825" y="0"/>
            <a:ext cx="86423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74658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89425-5AA5-D960-23F5-0EC9EA7AE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Estimating and Confidence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FD658-4B45-438D-FEE3-564CC5FD35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/>
          <a:lstStyle/>
          <a:p>
            <a:r>
              <a:rPr lang="en-US" dirty="0"/>
              <a:t>In picking analytical distribution, we state that the expected distribution is [that]. </a:t>
            </a:r>
          </a:p>
          <a:p>
            <a:r>
              <a:rPr lang="en-US" dirty="0"/>
              <a:t>In a perfect world, every sample from a population will have the same distribution. </a:t>
            </a:r>
          </a:p>
          <a:p>
            <a:pPr lvl="1"/>
            <a:r>
              <a:rPr lang="en-US" dirty="0"/>
              <a:t>This won’t be true, but can be </a:t>
            </a:r>
            <a:r>
              <a:rPr lang="en-US" i="1" dirty="0"/>
              <a:t>mostly</a:t>
            </a:r>
            <a:r>
              <a:rPr lang="en-US" dirty="0"/>
              <a:t> true. </a:t>
            </a:r>
          </a:p>
          <a:p>
            <a:pPr lvl="1"/>
            <a:r>
              <a:rPr lang="en-US" dirty="0"/>
              <a:t>So, if we were to take several samples from the analytical distribution, they should match.</a:t>
            </a:r>
          </a:p>
          <a:p>
            <a:r>
              <a:rPr lang="en-US" dirty="0"/>
              <a:t>If we take many samples (e.g. 1000), we can observe the stats of those samples. </a:t>
            </a:r>
          </a:p>
          <a:p>
            <a:pPr lvl="1"/>
            <a:r>
              <a:rPr lang="en-US" dirty="0"/>
              <a:t>What range do (90%/95%/99%) fall in - +/- N, M times out of 20. </a:t>
            </a:r>
          </a:p>
          <a:p>
            <a:pPr lvl="1"/>
            <a:r>
              <a:rPr lang="en-US" dirty="0"/>
              <a:t>E.g. we take election poll, run fake elections with those probabilities, and observe results. </a:t>
            </a:r>
          </a:p>
          <a:p>
            <a:pPr lvl="1"/>
            <a:r>
              <a:rPr lang="en-US" dirty="0"/>
              <a:t>Candidate A polls at 52% +/- 2, 19 times out of 20. </a:t>
            </a:r>
          </a:p>
          <a:p>
            <a:pPr lvl="1"/>
            <a:r>
              <a:rPr lang="en-US" dirty="0"/>
              <a:t>When creating data on this </a:t>
            </a:r>
            <a:r>
              <a:rPr lang="en-US" dirty="0" err="1"/>
              <a:t>dist</a:t>
            </a:r>
            <a:r>
              <a:rPr lang="en-US" dirty="0"/>
              <a:t>, 95% of tests fell within 50-54, the other 5% outside that. </a:t>
            </a:r>
          </a:p>
        </p:txBody>
      </p:sp>
    </p:spTree>
    <p:extLst>
      <p:ext uri="{BB962C8B-B14F-4D97-AF65-F5344CB8AC3E}">
        <p14:creationId xmlns:p14="http://schemas.microsoft.com/office/powerpoint/2010/main" val="31403530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1E6CD-4963-E8D0-2071-D9F595F75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Accuracy and Stability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4E110E-E939-D1F1-8ED2-60D66B8C3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930400"/>
            <a:ext cx="9603275" cy="4123081"/>
          </a:xfrm>
        </p:spPr>
        <p:txBody>
          <a:bodyPr/>
          <a:lstStyle/>
          <a:p>
            <a:r>
              <a:rPr lang="en-US" dirty="0"/>
              <a:t>Our estimates for a population can be pretty accurate with good data. </a:t>
            </a:r>
          </a:p>
          <a:p>
            <a:pPr lvl="1"/>
            <a:r>
              <a:rPr lang="en-US" dirty="0"/>
              <a:t>Larger samples, more </a:t>
            </a:r>
            <a:r>
              <a:rPr lang="en-US" dirty="0" err="1"/>
              <a:t>dist</a:t>
            </a:r>
            <a:r>
              <a:rPr lang="en-US" dirty="0"/>
              <a:t>-like data, less variance all help accuracy. </a:t>
            </a:r>
          </a:p>
          <a:p>
            <a:r>
              <a:rPr lang="en-US" dirty="0"/>
              <a:t>Big application – statistics Canada and census. </a:t>
            </a:r>
          </a:p>
          <a:p>
            <a:pPr lvl="1"/>
            <a:r>
              <a:rPr lang="en-US" dirty="0"/>
              <a:t>Take a low-detail collection of (almost) population data. </a:t>
            </a:r>
          </a:p>
          <a:p>
            <a:pPr lvl="1"/>
            <a:r>
              <a:rPr lang="en-US" dirty="0"/>
              <a:t>Take a detailed collection of a random sample. </a:t>
            </a:r>
          </a:p>
          <a:p>
            <a:pPr lvl="1"/>
            <a:r>
              <a:rPr lang="en-US" dirty="0"/>
              <a:t>Use sample data to generalize for different populations (regional, demographic, </a:t>
            </a:r>
            <a:r>
              <a:rPr lang="en-US" dirty="0" err="1"/>
              <a:t>etc</a:t>
            </a:r>
            <a:r>
              <a:rPr lang="en-US" dirty="0"/>
              <a:t>…). </a:t>
            </a:r>
          </a:p>
          <a:p>
            <a:pPr lvl="1"/>
            <a:r>
              <a:rPr lang="en-US" dirty="0"/>
              <a:t>Estimate things like age cohorts, population change, </a:t>
            </a:r>
            <a:r>
              <a:rPr lang="en-US" dirty="0" err="1"/>
              <a:t>etc</a:t>
            </a:r>
            <a:r>
              <a:rPr lang="en-US" dirty="0"/>
              <a:t>… by generalizing. </a:t>
            </a:r>
          </a:p>
          <a:p>
            <a:pPr lvl="1"/>
            <a:r>
              <a:rPr lang="en-US" dirty="0"/>
              <a:t>Based on experience, apply corrections to data for better projections (e.g. undercounting). </a:t>
            </a:r>
          </a:p>
        </p:txBody>
      </p:sp>
    </p:spTree>
    <p:extLst>
      <p:ext uri="{BB962C8B-B14F-4D97-AF65-F5344CB8AC3E}">
        <p14:creationId xmlns:p14="http://schemas.microsoft.com/office/powerpoint/2010/main" val="9507100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D98C9-3D1D-6DAD-73FA-9E1D9ACF3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Simulations and Stats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F3740-58E9-C77C-B2A8-FEF2D42037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10740421" cy="4199727"/>
          </a:xfrm>
        </p:spPr>
        <p:txBody>
          <a:bodyPr>
            <a:normAutofit/>
          </a:bodyPr>
          <a:lstStyle/>
          <a:p>
            <a:r>
              <a:rPr lang="en-US" dirty="0"/>
              <a:t>Note: this should come together as a concept more post hypothesis testing. </a:t>
            </a:r>
          </a:p>
          <a:p>
            <a:r>
              <a:rPr lang="en-US" dirty="0"/>
              <a:t>In math-y stats, tools like t-tests, normal test, </a:t>
            </a:r>
            <a:r>
              <a:rPr lang="en-US" dirty="0" err="1"/>
              <a:t>etc</a:t>
            </a:r>
            <a:r>
              <a:rPr lang="en-US" dirty="0"/>
              <a:t>… let us do analysis. </a:t>
            </a:r>
          </a:p>
          <a:p>
            <a:r>
              <a:rPr lang="en-US" dirty="0"/>
              <a:t>In ml stats, our simulations can do the same/similar things directly. </a:t>
            </a:r>
          </a:p>
          <a:p>
            <a:r>
              <a:rPr lang="en-US" dirty="0"/>
              <a:t>For example – voting predictions (binomial distributions):</a:t>
            </a:r>
          </a:p>
          <a:p>
            <a:pPr lvl="1"/>
            <a:r>
              <a:rPr lang="en-US" dirty="0"/>
              <a:t>We have a sample of people (usually 500-1500), and their intended votes. </a:t>
            </a:r>
          </a:p>
          <a:p>
            <a:pPr lvl="1"/>
            <a:r>
              <a:rPr lang="en-US" dirty="0"/>
              <a:t>Traditional – parametric assumptions, we can calculate CI with stats from sample and premade calcs. </a:t>
            </a:r>
          </a:p>
          <a:p>
            <a:pPr lvl="1"/>
            <a:r>
              <a:rPr lang="en-US" dirty="0"/>
              <a:t>ML (us) – we can build a simulation based on the distribution, test it many times, and count. </a:t>
            </a:r>
          </a:p>
          <a:p>
            <a:r>
              <a:rPr lang="en-US" dirty="0"/>
              <a:t>The two do the same – math works but requires assumptions, simulations are flexible.</a:t>
            </a:r>
          </a:p>
          <a:p>
            <a:pPr lvl="1"/>
            <a:r>
              <a:rPr lang="en-US" dirty="0"/>
              <a:t>Big reason why matching a </a:t>
            </a:r>
            <a:r>
              <a:rPr lang="en-US" dirty="0" err="1"/>
              <a:t>dist</a:t>
            </a:r>
            <a:r>
              <a:rPr lang="en-US" dirty="0"/>
              <a:t> and making data normal matters – need its tools. </a:t>
            </a:r>
          </a:p>
        </p:txBody>
      </p:sp>
      <p:pic>
        <p:nvPicPr>
          <p:cNvPr id="7170" name="Picture 2" descr="Equation to calculate binominal two-sided upper confidence interval">
            <a:extLst>
              <a:ext uri="{FF2B5EF4-FFF2-40B4-BE49-F238E27FC236}">
                <a16:creationId xmlns:a16="http://schemas.microsoft.com/office/drawing/2014/main" id="{D64657AC-9859-82BD-ABB2-D13856F11A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0" y="0"/>
            <a:ext cx="4191000" cy="1535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1097C83-8C4D-BED8-3B43-951A972EE7D8}"/>
              </a:ext>
            </a:extLst>
          </p:cNvPr>
          <p:cNvSpPr txBox="1"/>
          <p:nvPr/>
        </p:nvSpPr>
        <p:spPr>
          <a:xfrm>
            <a:off x="8825482" y="1535709"/>
            <a:ext cx="3829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sample binomial CI calculation</a:t>
            </a:r>
          </a:p>
        </p:txBody>
      </p:sp>
    </p:spTree>
    <p:extLst>
      <p:ext uri="{BB962C8B-B14F-4D97-AF65-F5344CB8AC3E}">
        <p14:creationId xmlns:p14="http://schemas.microsoft.com/office/powerpoint/2010/main" val="22182901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24498-433E-DCAB-9344-3EC48E0E5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Simulations Continued…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789BB6-0B25-1181-7F94-42CB6146C6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/>
          <a:lstStyle/>
          <a:p>
            <a:r>
              <a:rPr lang="en-US" dirty="0"/>
              <a:t>With our trusty toolset, we could use any probability to simulate and predict. </a:t>
            </a:r>
          </a:p>
          <a:p>
            <a:pPr lvl="1"/>
            <a:r>
              <a:rPr lang="en-US" dirty="0"/>
              <a:t>We have a probability of X happening or of having X value. </a:t>
            </a:r>
          </a:p>
          <a:p>
            <a:pPr lvl="1"/>
            <a:r>
              <a:rPr lang="en-US" dirty="0"/>
              <a:t>We can build that probability into a model (analytical </a:t>
            </a:r>
            <a:r>
              <a:rPr lang="en-US" dirty="0" err="1"/>
              <a:t>dist</a:t>
            </a:r>
            <a:r>
              <a:rPr lang="en-US" dirty="0"/>
              <a:t> or it could be anything). </a:t>
            </a:r>
          </a:p>
          <a:p>
            <a:pPr lvl="1"/>
            <a:r>
              <a:rPr lang="en-US" dirty="0"/>
              <a:t>Once we have the model, generate many sample distributions. </a:t>
            </a:r>
          </a:p>
          <a:p>
            <a:pPr lvl="1"/>
            <a:r>
              <a:rPr lang="en-US" dirty="0"/>
              <a:t>Tabulate results into answer and confidence. </a:t>
            </a:r>
          </a:p>
          <a:p>
            <a:r>
              <a:rPr lang="en-US" dirty="0"/>
              <a:t>The only part that really changes is defining the probability distribution. </a:t>
            </a:r>
          </a:p>
          <a:p>
            <a:pPr lvl="1"/>
            <a:r>
              <a:rPr lang="en-US" dirty="0"/>
              <a:t>Our judgement determines its accuracy – “what </a:t>
            </a:r>
            <a:r>
              <a:rPr lang="en-US" dirty="0" err="1"/>
              <a:t>dist</a:t>
            </a:r>
            <a:r>
              <a:rPr lang="en-US" dirty="0"/>
              <a:t> pattern does this data follow…”</a:t>
            </a:r>
          </a:p>
          <a:p>
            <a:pPr lvl="1"/>
            <a:r>
              <a:rPr lang="en-US" dirty="0"/>
              <a:t>We are saying that model (anal. Dist.) </a:t>
            </a:r>
            <a:r>
              <a:rPr lang="en-US" i="1" dirty="0"/>
              <a:t>is</a:t>
            </a:r>
            <a:r>
              <a:rPr lang="en-US" dirty="0"/>
              <a:t> the shape of the data, so generated data follows. </a:t>
            </a:r>
          </a:p>
          <a:p>
            <a:r>
              <a:rPr lang="en-US" dirty="0"/>
              <a:t>Think of any other scenario….</a:t>
            </a:r>
          </a:p>
        </p:txBody>
      </p:sp>
    </p:spTree>
    <p:extLst>
      <p:ext uri="{BB962C8B-B14F-4D97-AF65-F5344CB8AC3E}">
        <p14:creationId xmlns:p14="http://schemas.microsoft.com/office/powerpoint/2010/main" val="42847446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AA33D-C32C-99A9-885A-D68A074A8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5151A3-87F3-C029-D1E1-3406A56AD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/>
          <a:lstStyle/>
          <a:p>
            <a:r>
              <a:rPr lang="en-US" dirty="0"/>
              <a:t>We can use estimation to predict population stats with small samples. </a:t>
            </a:r>
          </a:p>
          <a:p>
            <a:r>
              <a:rPr lang="en-US" dirty="0"/>
              <a:t>We can use probability and errors to establish confidence in our prediction. </a:t>
            </a:r>
          </a:p>
          <a:p>
            <a:r>
              <a:rPr lang="en-US" dirty="0"/>
              <a:t>This is inferential statistics - making predictions of the unknown. </a:t>
            </a:r>
          </a:p>
          <a:p>
            <a:pPr lvl="1"/>
            <a:r>
              <a:rPr lang="en-US" dirty="0"/>
              <a:t>Also the foundation for machine learning models. </a:t>
            </a:r>
          </a:p>
          <a:p>
            <a:pPr lvl="1"/>
            <a:r>
              <a:rPr lang="en-US" dirty="0"/>
              <a:t>Our future ML models are kind of super complex versions of this. </a:t>
            </a:r>
          </a:p>
          <a:p>
            <a:r>
              <a:rPr lang="en-US" dirty="0"/>
              <a:t>Always depends on judgment. </a:t>
            </a:r>
          </a:p>
          <a:p>
            <a:pPr lvl="1"/>
            <a:r>
              <a:rPr lang="en-US" dirty="0"/>
              <a:t>We need to match distributions, assert ‘good enough’, choose estimators, filter,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pPr lvl="1"/>
            <a:r>
              <a:rPr lang="en-US" dirty="0"/>
              <a:t>We don’t really care about matching stats, we care about accurate predicting. </a:t>
            </a:r>
          </a:p>
        </p:txBody>
      </p:sp>
    </p:spTree>
    <p:extLst>
      <p:ext uri="{BB962C8B-B14F-4D97-AF65-F5344CB8AC3E}">
        <p14:creationId xmlns:p14="http://schemas.microsoft.com/office/powerpoint/2010/main" val="4088599478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{2C098A6B-0D6A-6740-AB07-6AAE29A34FE3}tf10001119</Template>
  <TotalTime>17567</TotalTime>
  <Words>2615</Words>
  <Application>Microsoft Macintosh PowerPoint</Application>
  <PresentationFormat>Widescreen</PresentationFormat>
  <Paragraphs>233</Paragraphs>
  <Slides>32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Gill Sans MT</vt:lpstr>
      <vt:lpstr>Gallery</vt:lpstr>
      <vt:lpstr>Analytical Distributions and You</vt:lpstr>
      <vt:lpstr>Sampling Distributions</vt:lpstr>
      <vt:lpstr>Housekeeping</vt:lpstr>
      <vt:lpstr>Sampling and Estimation</vt:lpstr>
      <vt:lpstr>Population and Samples</vt:lpstr>
      <vt:lpstr>Sample Some stuff</vt:lpstr>
      <vt:lpstr>Matching Analytical Distributions</vt:lpstr>
      <vt:lpstr>Think Intuitively…</vt:lpstr>
      <vt:lpstr>Error Types</vt:lpstr>
      <vt:lpstr>Sampling error</vt:lpstr>
      <vt:lpstr>Finally, inferential Statistics!</vt:lpstr>
      <vt:lpstr>Estimation</vt:lpstr>
      <vt:lpstr>Estimators</vt:lpstr>
      <vt:lpstr>Simple Estimator Error</vt:lpstr>
      <vt:lpstr>Avoiding Bias</vt:lpstr>
      <vt:lpstr>Odd Estimators</vt:lpstr>
      <vt:lpstr>Making predictions – Trial Runs</vt:lpstr>
      <vt:lpstr>Trials</vt:lpstr>
      <vt:lpstr>Example - Heights</vt:lpstr>
      <vt:lpstr>Many, many, trials</vt:lpstr>
      <vt:lpstr>Detour/preview - Central Limit Theorem</vt:lpstr>
      <vt:lpstr>Quantifying – Standard Error</vt:lpstr>
      <vt:lpstr>Confidence Intervals </vt:lpstr>
      <vt:lpstr>Improving</vt:lpstr>
      <vt:lpstr>PowerPoint Presentation</vt:lpstr>
      <vt:lpstr>Estimation</vt:lpstr>
      <vt:lpstr>PowerPoint Presentation</vt:lpstr>
      <vt:lpstr>Estimating and Confidence</vt:lpstr>
      <vt:lpstr>Accuracy and Stability</vt:lpstr>
      <vt:lpstr>Simulations and Stats</vt:lpstr>
      <vt:lpstr>Simulations Continued…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Sampling and Estimation</dc:title>
  <dc:creator>Akeem Semper</dc:creator>
  <cp:lastModifiedBy>Akeem Semper</cp:lastModifiedBy>
  <cp:revision>28</cp:revision>
  <dcterms:created xsi:type="dcterms:W3CDTF">2022-06-01T19:53:14Z</dcterms:created>
  <dcterms:modified xsi:type="dcterms:W3CDTF">2025-10-17T15:06:28Z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0877899-02b0-462c-b2a9-b7d15c4f96fe_Enabled">
    <vt:lpwstr>true</vt:lpwstr>
  </property>
  <property fmtid="{D5CDD505-2E9C-101B-9397-08002B2CF9AE}" pid="3" name="MSIP_Label_10877899-02b0-462c-b2a9-b7d15c4f96fe_SetDate">
    <vt:lpwstr>2025-10-06T17:10:44Z</vt:lpwstr>
  </property>
  <property fmtid="{D5CDD505-2E9C-101B-9397-08002B2CF9AE}" pid="4" name="MSIP_Label_10877899-02b0-462c-b2a9-b7d15c4f96fe_Method">
    <vt:lpwstr>Standard</vt:lpwstr>
  </property>
  <property fmtid="{D5CDD505-2E9C-101B-9397-08002B2CF9AE}" pid="5" name="MSIP_Label_10877899-02b0-462c-b2a9-b7d15c4f96fe_Name">
    <vt:lpwstr>Protected [Protected A]</vt:lpwstr>
  </property>
  <property fmtid="{D5CDD505-2E9C-101B-9397-08002B2CF9AE}" pid="6" name="MSIP_Label_10877899-02b0-462c-b2a9-b7d15c4f96fe_SiteId">
    <vt:lpwstr>5c98fb47-d3b9-4649-9d94-f88cbdd9729c</vt:lpwstr>
  </property>
  <property fmtid="{D5CDD505-2E9C-101B-9397-08002B2CF9AE}" pid="7" name="MSIP_Label_10877899-02b0-462c-b2a9-b7d15c4f96fe_ActionId">
    <vt:lpwstr>fd86be50-8f8d-45e6-b0d3-1e3b813ccea1</vt:lpwstr>
  </property>
  <property fmtid="{D5CDD505-2E9C-101B-9397-08002B2CF9AE}" pid="8" name="MSIP_Label_10877899-02b0-462c-b2a9-b7d15c4f96fe_ContentBits">
    <vt:lpwstr>0</vt:lpwstr>
  </property>
  <property fmtid="{D5CDD505-2E9C-101B-9397-08002B2CF9AE}" pid="9" name="MSIP_Label_10877899-02b0-462c-b2a9-b7d15c4f96fe_Tag">
    <vt:lpwstr>50, 3, 0, 1</vt:lpwstr>
  </property>
</Properties>
</file>
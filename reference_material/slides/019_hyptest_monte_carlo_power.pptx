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13" r:id="rId2"/>
    <p:sldId id="256" r:id="rId3"/>
    <p:sldId id="296" r:id="rId4"/>
    <p:sldId id="297" r:id="rId5"/>
    <p:sldId id="298" r:id="rId6"/>
    <p:sldId id="306" r:id="rId7"/>
    <p:sldId id="299" r:id="rId8"/>
    <p:sldId id="300" r:id="rId9"/>
    <p:sldId id="314" r:id="rId10"/>
    <p:sldId id="301" r:id="rId11"/>
    <p:sldId id="303" r:id="rId12"/>
    <p:sldId id="304" r:id="rId13"/>
    <p:sldId id="315" r:id="rId14"/>
    <p:sldId id="305" r:id="rId15"/>
    <p:sldId id="307" r:id="rId16"/>
    <p:sldId id="308" r:id="rId17"/>
    <p:sldId id="311" r:id="rId18"/>
    <p:sldId id="312" r:id="rId19"/>
    <p:sldId id="309" r:id="rId20"/>
    <p:sldId id="31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/>
    <p:restoredTop sz="94607"/>
  </p:normalViewPr>
  <p:slideViewPr>
    <p:cSldViewPr snapToGrid="0">
      <p:cViewPr varScale="1">
        <p:scale>
          <a:sx n="164" d="100"/>
          <a:sy n="164" d="100"/>
        </p:scale>
        <p:origin x="19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7619-CC90-6B48-91DA-2A07BD171D4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2DC4FA7-6873-E243-B512-6AB3A12A60C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8999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7619-CC90-6B48-91DA-2A07BD171D4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4FA7-6873-E243-B512-6AB3A12A60CA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78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7619-CC90-6B48-91DA-2A07BD171D4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4FA7-6873-E243-B512-6AB3A12A60C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909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7619-CC90-6B48-91DA-2A07BD171D4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4FA7-6873-E243-B512-6AB3A12A60CA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8771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7619-CC90-6B48-91DA-2A07BD171D4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4FA7-6873-E243-B512-6AB3A12A60CA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846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7619-CC90-6B48-91DA-2A07BD171D4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4FA7-6873-E243-B512-6AB3A12A60CA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156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7619-CC90-6B48-91DA-2A07BD171D4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4FA7-6873-E243-B512-6AB3A12A6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39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7619-CC90-6B48-91DA-2A07BD171D4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4FA7-6873-E243-B512-6AB3A12A60CA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F1D7619-CC90-6B48-91DA-2A07BD171D4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4FA7-6873-E243-B512-6AB3A12A60CA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465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7619-CC90-6B48-91DA-2A07BD171D4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4FA7-6873-E243-B512-6AB3A12A60CA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330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7619-CC90-6B48-91DA-2A07BD171D4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4FA7-6873-E243-B512-6AB3A12A60C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0828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1D7619-CC90-6B48-91DA-2A07BD171D47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2DC4FA7-6873-E243-B512-6AB3A12A60C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426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039E7-CCC8-55DC-8250-B767EBCA3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ADFEA-37AD-193D-81A6-60EB41266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21790"/>
            <a:ext cx="9603275" cy="4200041"/>
          </a:xfrm>
        </p:spPr>
        <p:txBody>
          <a:bodyPr/>
          <a:lstStyle/>
          <a:p>
            <a:r>
              <a:rPr lang="en-US" dirty="0"/>
              <a:t>Wrap up hypothesis testing. </a:t>
            </a:r>
          </a:p>
          <a:p>
            <a:pPr lvl="1"/>
            <a:r>
              <a:rPr lang="en-US" dirty="0"/>
              <a:t>More on power specifically, from question last time. </a:t>
            </a:r>
          </a:p>
          <a:p>
            <a:pPr lvl="1"/>
            <a:r>
              <a:rPr lang="en-US" dirty="0"/>
              <a:t>You might be asked a theory thing on power, but nothing deep in exam. </a:t>
            </a:r>
          </a:p>
          <a:p>
            <a:pPr lvl="1"/>
            <a:r>
              <a:rPr lang="en-US" dirty="0"/>
              <a:t>Expand a bit on Monte Carlo simulation (the loop stuff). </a:t>
            </a:r>
          </a:p>
          <a:p>
            <a:r>
              <a:rPr lang="en-US" dirty="0"/>
              <a:t>Assignment 3 – basic inference. </a:t>
            </a:r>
          </a:p>
          <a:p>
            <a:pPr lvl="1"/>
            <a:r>
              <a:rPr lang="en-US" dirty="0"/>
              <a:t>Two parts – election simulation (can do now) and regression (after next week-</a:t>
            </a:r>
            <a:r>
              <a:rPr lang="en-US" dirty="0" err="1"/>
              <a:t>ish</a:t>
            </a:r>
            <a:r>
              <a:rPr lang="en-US" dirty="0"/>
              <a:t>). </a:t>
            </a:r>
          </a:p>
          <a:p>
            <a:pPr lvl="1"/>
            <a:r>
              <a:rPr lang="en-US" dirty="0"/>
              <a:t>The election simulation is a larger version of the workbook example. </a:t>
            </a:r>
          </a:p>
          <a:p>
            <a:pPr lvl="2"/>
            <a:r>
              <a:rPr lang="en-US" dirty="0"/>
              <a:t>The basic concept is the same – we have probability and want expected outcome. </a:t>
            </a:r>
          </a:p>
          <a:p>
            <a:pPr lvl="2"/>
            <a:r>
              <a:rPr lang="en-US" dirty="0"/>
              <a:t>The details here are a bit more complex and open ended. </a:t>
            </a:r>
          </a:p>
          <a:p>
            <a:pPr lvl="2"/>
            <a:r>
              <a:rPr lang="en-US" dirty="0"/>
              <a:t>There isn’t one specific solution, there’s a range of reasonable ways </a:t>
            </a:r>
            <a:r>
              <a:rPr lang="en-US"/>
              <a:t>to construct it.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637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4C4E1-8CE9-90BE-DDB4-53A5D131F8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Power and Monte Carlo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D4B520-28E0-287A-4B88-D46C9CD561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7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A065C-8528-ADE9-5896-71B937EFF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and Alpha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A572D-4F15-0913-E67F-7E5CAD520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/>
          </a:bodyPr>
          <a:lstStyle/>
          <a:p>
            <a:r>
              <a:rPr lang="en-US" dirty="0"/>
              <a:t>Recall the errors when predicting. </a:t>
            </a:r>
          </a:p>
          <a:p>
            <a:pPr lvl="1"/>
            <a:r>
              <a:rPr lang="en-US" dirty="0"/>
              <a:t>Type 1 – false positive (we see an effect where there’s none). P value in a test. </a:t>
            </a:r>
          </a:p>
          <a:p>
            <a:pPr lvl="1"/>
            <a:r>
              <a:rPr lang="en-US" dirty="0"/>
              <a:t>Type 2 – false negative (we see no effect where there is one). </a:t>
            </a:r>
          </a:p>
          <a:p>
            <a:r>
              <a:rPr lang="en-US" dirty="0"/>
              <a:t>Power – (1 – Type 2 error rate). </a:t>
            </a:r>
          </a:p>
          <a:p>
            <a:pPr lvl="1"/>
            <a:r>
              <a:rPr lang="en-US" dirty="0"/>
              <a:t>80% normally the default value used. </a:t>
            </a:r>
          </a:p>
          <a:p>
            <a:r>
              <a:rPr lang="en-US" dirty="0"/>
              <a:t>In calculations, power fits with other ‘indicators’.</a:t>
            </a:r>
          </a:p>
          <a:p>
            <a:pPr lvl="1"/>
            <a:r>
              <a:rPr lang="en-US" dirty="0"/>
              <a:t>Power. </a:t>
            </a:r>
          </a:p>
          <a:p>
            <a:pPr lvl="1"/>
            <a:r>
              <a:rPr lang="en-US" dirty="0"/>
              <a:t>Effect size. </a:t>
            </a:r>
          </a:p>
          <a:p>
            <a:pPr lvl="1"/>
            <a:r>
              <a:rPr lang="en-US" dirty="0"/>
              <a:t>Sample size. </a:t>
            </a:r>
          </a:p>
          <a:p>
            <a:pPr lvl="1"/>
            <a:r>
              <a:rPr lang="en-US" dirty="0"/>
              <a:t>P-value. </a:t>
            </a:r>
          </a:p>
          <a:p>
            <a:endParaRPr lang="en-US" dirty="0"/>
          </a:p>
        </p:txBody>
      </p:sp>
      <p:pic>
        <p:nvPicPr>
          <p:cNvPr id="1026" name="Picture 2" descr="Types of Errors in Machine Learning - Scaler Topics">
            <a:extLst>
              <a:ext uri="{FF2B5EF4-FFF2-40B4-BE49-F238E27FC236}">
                <a16:creationId xmlns:a16="http://schemas.microsoft.com/office/drawing/2014/main" id="{5C0092AE-1C6C-1D45-98BC-B98CDC3ACD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55" t="15744" r="19324" b="34763"/>
          <a:stretch>
            <a:fillRect/>
          </a:stretch>
        </p:blipFill>
        <p:spPr bwMode="auto">
          <a:xfrm>
            <a:off x="7187513" y="0"/>
            <a:ext cx="5004487" cy="199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231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360A2-1651-FB1A-EF01-4C2F9E2C7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4030701" cy="1049235"/>
          </a:xfrm>
        </p:spPr>
        <p:txBody>
          <a:bodyPr/>
          <a:lstStyle/>
          <a:p>
            <a:r>
              <a:rPr lang="en-US" dirty="0"/>
              <a:t>Calculating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67471-BD5D-DEC6-A2CB-DB877DA82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015732"/>
            <a:ext cx="5482280" cy="4037749"/>
          </a:xfrm>
        </p:spPr>
        <p:txBody>
          <a:bodyPr/>
          <a:lstStyle/>
          <a:p>
            <a:r>
              <a:rPr lang="en-US" dirty="0"/>
              <a:t>Our calculation for power finds one of the four. </a:t>
            </a:r>
          </a:p>
          <a:p>
            <a:r>
              <a:rPr lang="en-US" dirty="0"/>
              <a:t>All impact if two samples are the same or different. </a:t>
            </a:r>
          </a:p>
          <a:p>
            <a:r>
              <a:rPr lang="en-US" dirty="0"/>
              <a:t>As long as the assumptions are met, this calculation will be accurate. </a:t>
            </a:r>
          </a:p>
          <a:p>
            <a:pPr lvl="1"/>
            <a:r>
              <a:rPr lang="en-US" dirty="0"/>
              <a:t>‘Normal’ isn’t on/off, there’s degrees. </a:t>
            </a:r>
          </a:p>
          <a:p>
            <a:pPr lvl="1"/>
            <a:r>
              <a:rPr lang="en-US" dirty="0"/>
              <a:t>The more </a:t>
            </a:r>
            <a:r>
              <a:rPr lang="en-US" dirty="0" err="1"/>
              <a:t>varaiance</a:t>
            </a:r>
            <a:r>
              <a:rPr lang="en-US" dirty="0"/>
              <a:t> differs, the less accurate. </a:t>
            </a:r>
          </a:p>
          <a:p>
            <a:r>
              <a:rPr lang="en-US" dirty="0"/>
              <a:t>The z-scores are post-standardization.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42B7E8-0E0B-D6E5-56B9-15C5211D31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1" r="2014"/>
          <a:stretch>
            <a:fillRect/>
          </a:stretch>
        </p:blipFill>
        <p:spPr>
          <a:xfrm>
            <a:off x="5482280" y="21613"/>
            <a:ext cx="67097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397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AE2BA-8FD1-3CC7-6870-949764604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7B3F4-B246-9768-F712-67DB1BE06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/>
          </a:bodyPr>
          <a:lstStyle/>
          <a:p>
            <a:r>
              <a:rPr lang="en-CA" dirty="0"/>
              <a:t>Using a random sample of balls,  we perform the following hypothesis test:</a:t>
            </a:r>
          </a:p>
          <a:p>
            <a:pPr lvl="1"/>
            <a:r>
              <a:rPr lang="en-CA" dirty="0"/>
              <a:t>Sample size = 25, sample mean = 172</a:t>
            </a:r>
          </a:p>
          <a:p>
            <a:pPr lvl="1"/>
            <a:r>
              <a:rPr lang="en-CA" dirty="0"/>
              <a:t>Population mean = 170</a:t>
            </a:r>
          </a:p>
          <a:p>
            <a:pPr lvl="1"/>
            <a:r>
              <a:rPr lang="en-CA" dirty="0"/>
              <a:t>Null hypothesis: sample u = population u = 170 = (squiggly) &lt;= 172</a:t>
            </a:r>
          </a:p>
          <a:p>
            <a:pPr lvl="1"/>
            <a:r>
              <a:rPr lang="en-CA" dirty="0"/>
              <a:t>Alternative hypothesis: u &gt; 172* </a:t>
            </a:r>
          </a:p>
          <a:p>
            <a:r>
              <a:rPr lang="en-CA" dirty="0"/>
              <a:t>If the engineer decides to reject the null hypothesis if the sample mean is 172 or greater, that is, if , what is the probability that the engineer commits a Type I error?</a:t>
            </a:r>
          </a:p>
          <a:p>
            <a:pPr lvl="1"/>
            <a:r>
              <a:rPr lang="en-CA" dirty="0"/>
              <a:t>One sided test, comparing against a fixed number. </a:t>
            </a:r>
          </a:p>
          <a:p>
            <a:pPr lvl="1"/>
            <a:r>
              <a:rPr lang="en-CA" dirty="0"/>
              <a:t>We simulate a distribution (or calculate it), observe the mean, count # over 172 randomly. </a:t>
            </a:r>
          </a:p>
          <a:p>
            <a:pPr lvl="1"/>
            <a:r>
              <a:rPr lang="en-CA" dirty="0"/>
              <a:t>If it rarely happens, it probably isn’t random, and the effect is real (diff pops).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395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7836A-BC9E-A980-C59B-9C5BB46B2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Note – Data is Standardized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BBCEC-7E5F-7CE6-88C8-AF72ACD62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56" y="1853754"/>
            <a:ext cx="7575436" cy="4199727"/>
          </a:xfrm>
        </p:spPr>
        <p:txBody>
          <a:bodyPr>
            <a:normAutofit/>
          </a:bodyPr>
          <a:lstStyle/>
          <a:p>
            <a:r>
              <a:rPr lang="en-US" dirty="0"/>
              <a:t>In stats-y examples for this stuff the data will often be standardized. </a:t>
            </a:r>
          </a:p>
          <a:p>
            <a:pPr lvl="1"/>
            <a:r>
              <a:rPr lang="en-US" dirty="0"/>
              <a:t>Mean of 0, std of 1, symmetrical. </a:t>
            </a:r>
          </a:p>
          <a:p>
            <a:pPr lvl="1"/>
            <a:r>
              <a:rPr lang="en-US" dirty="0"/>
              <a:t>“10 less than the mean” becomes “M std. less than mean. </a:t>
            </a:r>
          </a:p>
          <a:p>
            <a:pPr lvl="1"/>
            <a:r>
              <a:rPr lang="en-US" dirty="0"/>
              <a:t>We can use z-scores instead of values. </a:t>
            </a:r>
          </a:p>
          <a:p>
            <a:r>
              <a:rPr lang="en-US" dirty="0"/>
              <a:t>Dealing with distributions of sample means. </a:t>
            </a:r>
          </a:p>
          <a:p>
            <a:pPr lvl="1"/>
            <a:r>
              <a:rPr lang="en-US" dirty="0"/>
              <a:t>The data will be normal (via </a:t>
            </a:r>
            <a:r>
              <a:rPr lang="en-US" dirty="0" err="1"/>
              <a:t>clt</a:t>
            </a:r>
            <a:r>
              <a:rPr lang="en-US" dirty="0"/>
              <a:t>). </a:t>
            </a:r>
          </a:p>
          <a:p>
            <a:r>
              <a:rPr lang="en-US" dirty="0"/>
              <a:t>The concepts don’t change at all. </a:t>
            </a:r>
          </a:p>
          <a:p>
            <a:r>
              <a:rPr lang="en-US" dirty="0"/>
              <a:t>We’ll cover this in depth a bit later. </a:t>
            </a:r>
          </a:p>
          <a:p>
            <a:pPr lvl="1"/>
            <a:r>
              <a:rPr lang="en-US" dirty="0"/>
              <a:t>Usually rescale variables so they are all similar.</a:t>
            </a:r>
          </a:p>
          <a:p>
            <a:pPr lvl="1"/>
            <a:endParaRPr lang="en-US" dirty="0"/>
          </a:p>
        </p:txBody>
      </p:sp>
      <p:pic>
        <p:nvPicPr>
          <p:cNvPr id="13318" name="Picture 6" descr="Standard Normal Distribution - GeeksforGeeks">
            <a:extLst>
              <a:ext uri="{FF2B5EF4-FFF2-40B4-BE49-F238E27FC236}">
                <a16:creationId xmlns:a16="http://schemas.microsoft.com/office/drawing/2014/main" id="{FAD99DC6-8231-FC04-A1D6-E9EB68F64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737" y="3282710"/>
            <a:ext cx="5492263" cy="2635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What is Standardization in Machine Learning - GeeksforGeeks">
            <a:extLst>
              <a:ext uri="{FF2B5EF4-FFF2-40B4-BE49-F238E27FC236}">
                <a16:creationId xmlns:a16="http://schemas.microsoft.com/office/drawing/2014/main" id="{8DA6BD8F-8DD5-B8EB-09AD-4C82AC82D4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05" t="11303" b="19583"/>
          <a:stretch>
            <a:fillRect/>
          </a:stretch>
        </p:blipFill>
        <p:spPr bwMode="auto">
          <a:xfrm>
            <a:off x="8782259" y="1799320"/>
            <a:ext cx="3409741" cy="1483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3743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B16A9-F1AC-87E9-FE8E-BEFD06F22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some Sims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7BA1B-3210-A3DC-8DA6-FF0C6BCCA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065" y="1853754"/>
            <a:ext cx="6857802" cy="41997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Each simulation round we make a new sample, calculate the mean, and plot it here. </a:t>
            </a:r>
          </a:p>
          <a:p>
            <a:r>
              <a:rPr lang="en-US" dirty="0"/>
              <a:t>If the new sample mean is &lt; 172(</a:t>
            </a:r>
            <a:r>
              <a:rPr lang="en-US" dirty="0" err="1"/>
              <a:t>ts</a:t>
            </a:r>
            <a:r>
              <a:rPr lang="en-US" dirty="0"/>
              <a:t>), it matches pop. </a:t>
            </a:r>
          </a:p>
          <a:p>
            <a:pPr lvl="1"/>
            <a:r>
              <a:rPr lang="en-US" dirty="0"/>
              <a:t>If the sample-pop mean is really 170, we expect values here. </a:t>
            </a:r>
          </a:p>
          <a:p>
            <a:r>
              <a:rPr lang="en-US" dirty="0"/>
              <a:t>If the new sample mean is &gt; 172, it’s from diff. </a:t>
            </a:r>
          </a:p>
          <a:p>
            <a:pPr lvl="1"/>
            <a:r>
              <a:rPr lang="en-US" dirty="0"/>
              <a:t>An error – we see effect where there’s “none”. Type 1 error.</a:t>
            </a:r>
          </a:p>
          <a:p>
            <a:pPr lvl="1"/>
            <a:r>
              <a:rPr lang="en-US" dirty="0"/>
              <a:t>Recall, null </a:t>
            </a:r>
            <a:r>
              <a:rPr lang="en-US" dirty="0" err="1"/>
              <a:t>hyp</a:t>
            </a:r>
            <a:r>
              <a:rPr lang="en-US" dirty="0"/>
              <a:t> means means should be the same. </a:t>
            </a:r>
          </a:p>
          <a:p>
            <a:pPr lvl="1"/>
            <a:r>
              <a:rPr lang="en-US" dirty="0"/>
              <a:t>Being different indicates an effect.  </a:t>
            </a:r>
          </a:p>
          <a:p>
            <a:r>
              <a:rPr lang="en-US" dirty="0"/>
              <a:t>This could be done as a difference of 2 as test stat. </a:t>
            </a:r>
          </a:p>
          <a:p>
            <a:pPr lvl="1"/>
            <a:r>
              <a:rPr lang="en-US" dirty="0"/>
              <a:t>Does it make sense why…? </a:t>
            </a:r>
          </a:p>
          <a:p>
            <a:pPr lvl="1"/>
            <a:r>
              <a:rPr lang="en-US" dirty="0"/>
              <a:t>Can equate to a 2 value test (u1=170, u2=172, same pop?)</a:t>
            </a:r>
          </a:p>
        </p:txBody>
      </p:sp>
      <p:pic>
        <p:nvPicPr>
          <p:cNvPr id="7170" name="Picture 2" descr="graph">
            <a:extLst>
              <a:ext uri="{FF2B5EF4-FFF2-40B4-BE49-F238E27FC236}">
                <a16:creationId xmlns:a16="http://schemas.microsoft.com/office/drawing/2014/main" id="{31EB7353-99C8-8BFB-BF4A-893741554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8867" y="246666"/>
            <a:ext cx="5018023" cy="2515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drawing">
            <a:extLst>
              <a:ext uri="{FF2B5EF4-FFF2-40B4-BE49-F238E27FC236}">
                <a16:creationId xmlns:a16="http://schemas.microsoft.com/office/drawing/2014/main" id="{5FA30B86-1C8C-5B23-F22A-B4B040C28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842" y="2761812"/>
            <a:ext cx="4967048" cy="353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4484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96BC-61EF-7026-90EB-0F9CCC23C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69" y="804519"/>
            <a:ext cx="4139285" cy="1049235"/>
          </a:xfrm>
        </p:spPr>
        <p:txBody>
          <a:bodyPr/>
          <a:lstStyle/>
          <a:p>
            <a:r>
              <a:rPr lang="en-US" dirty="0"/>
              <a:t>Go the Other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3BF81-4BBC-1E21-6571-B570CED86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569" y="1853754"/>
            <a:ext cx="5152501" cy="4254946"/>
          </a:xfrm>
        </p:spPr>
        <p:txBody>
          <a:bodyPr/>
          <a:lstStyle/>
          <a:p>
            <a:r>
              <a:rPr lang="en-US" dirty="0"/>
              <a:t>Type 2 errors happen when we don’t see effect in sample and there is in population. </a:t>
            </a:r>
          </a:p>
          <a:p>
            <a:pPr lvl="1"/>
            <a:r>
              <a:rPr lang="en-US" dirty="0"/>
              <a:t>In this example, that means the population means are actually different. (e.g. 173). </a:t>
            </a:r>
          </a:p>
          <a:p>
            <a:pPr lvl="1"/>
            <a:r>
              <a:rPr lang="en-US" dirty="0"/>
              <a:t>I.e. the sample’s true pop mean is 173 (???)</a:t>
            </a:r>
          </a:p>
          <a:p>
            <a:r>
              <a:rPr lang="en-US" dirty="0"/>
              <a:t>Our null hypothesis is that mean = 170. </a:t>
            </a:r>
          </a:p>
          <a:p>
            <a:pPr lvl="1"/>
            <a:r>
              <a:rPr lang="en-US" dirty="0"/>
              <a:t>The true (unknown) mean is actually higher. </a:t>
            </a:r>
          </a:p>
          <a:p>
            <a:r>
              <a:rPr lang="en-US" dirty="0"/>
              <a:t>The “too high” prediction for population is “too low” for the unknown “true” mean. </a:t>
            </a:r>
          </a:p>
        </p:txBody>
      </p:sp>
      <p:pic>
        <p:nvPicPr>
          <p:cNvPr id="8196" name="Picture 4" descr="drawing">
            <a:extLst>
              <a:ext uri="{FF2B5EF4-FFF2-40B4-BE49-F238E27FC236}">
                <a16:creationId xmlns:a16="http://schemas.microsoft.com/office/drawing/2014/main" id="{D9AF2462-967C-73C9-A86D-93B51BA2F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74426"/>
            <a:ext cx="6915569" cy="370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1843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272D-6940-8C0F-5945-37E690385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in Error Types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FF83C-599B-AB7B-C965-25CFADEB5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66614"/>
          </a:xfrm>
        </p:spPr>
        <p:txBody>
          <a:bodyPr/>
          <a:lstStyle/>
          <a:p>
            <a:r>
              <a:rPr lang="en-US" dirty="0"/>
              <a:t>The last two slides show the two types of errors (</a:t>
            </a:r>
            <a:r>
              <a:rPr lang="en-US" dirty="0" err="1"/>
              <a:t>kinda</a:t>
            </a:r>
            <a:r>
              <a:rPr lang="en-US" dirty="0"/>
              <a:t>) clearly. </a:t>
            </a:r>
          </a:p>
          <a:p>
            <a:r>
              <a:rPr lang="en-US" dirty="0"/>
              <a:t>Type 1 (p value). </a:t>
            </a:r>
          </a:p>
          <a:p>
            <a:pPr lvl="1"/>
            <a:r>
              <a:rPr lang="en-US" dirty="0"/>
              <a:t>The populations are assumed to be the same (one bell), so “too different” indicates error. </a:t>
            </a:r>
          </a:p>
          <a:p>
            <a:r>
              <a:rPr lang="en-US" dirty="0"/>
              <a:t>Type 2 (power testing). </a:t>
            </a:r>
          </a:p>
          <a:p>
            <a:pPr lvl="1"/>
            <a:r>
              <a:rPr lang="en-US" dirty="0"/>
              <a:t>The populations are assumed to be different (two bells), so “too similar” indicates error. </a:t>
            </a:r>
          </a:p>
          <a:p>
            <a:r>
              <a:rPr lang="en-US" dirty="0"/>
              <a:t>Don’t have a </a:t>
            </a:r>
            <a:r>
              <a:rPr lang="en-US" b="1" dirty="0"/>
              <a:t>true, known </a:t>
            </a:r>
            <a:r>
              <a:rPr lang="en-US" dirty="0"/>
              <a:t>definition of the population mean, so we don’t know which. </a:t>
            </a:r>
          </a:p>
        </p:txBody>
      </p:sp>
    </p:spTree>
    <p:extLst>
      <p:ext uri="{BB962C8B-B14F-4D97-AF65-F5344CB8AC3E}">
        <p14:creationId xmlns:p14="http://schemas.microsoft.com/office/powerpoint/2010/main" val="2679309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68BD-1B17-BF2E-F331-F0406DD7F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FF00E-5421-DDDE-BE49-FD8C09749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5156201" cy="4199727"/>
          </a:xfrm>
        </p:spPr>
        <p:txBody>
          <a:bodyPr/>
          <a:lstStyle/>
          <a:p>
            <a:r>
              <a:rPr lang="en-US" dirty="0"/>
              <a:t>The power is all samples that don’t do this. </a:t>
            </a:r>
          </a:p>
          <a:p>
            <a:pPr lvl="1"/>
            <a:r>
              <a:rPr lang="en-US" dirty="0"/>
              <a:t>The pop means are different, and we see it. </a:t>
            </a:r>
          </a:p>
          <a:p>
            <a:r>
              <a:rPr lang="en-US" dirty="0"/>
              <a:t>They may be type 1 errors – good!</a:t>
            </a:r>
          </a:p>
          <a:p>
            <a:pPr lvl="1"/>
            <a:r>
              <a:rPr lang="en-US" dirty="0"/>
              <a:t>They’d be picked up in the </a:t>
            </a:r>
            <a:r>
              <a:rPr lang="en-US" dirty="0" err="1"/>
              <a:t>hyp</a:t>
            </a:r>
            <a:r>
              <a:rPr lang="en-US" dirty="0"/>
              <a:t>. Test. </a:t>
            </a:r>
          </a:p>
          <a:p>
            <a:pPr lvl="1"/>
            <a:r>
              <a:rPr lang="en-US" dirty="0"/>
              <a:t>The leftmost ones are the issue here. </a:t>
            </a:r>
          </a:p>
          <a:p>
            <a:r>
              <a:rPr lang="en-US" dirty="0"/>
              <a:t>But, we don’t know the ‘true’ sample-pop…</a:t>
            </a:r>
          </a:p>
          <a:p>
            <a:r>
              <a:rPr lang="en-US" dirty="0"/>
              <a:t>We need one more addition:</a:t>
            </a:r>
          </a:p>
          <a:p>
            <a:pPr lvl="1"/>
            <a:r>
              <a:rPr lang="en-US" dirty="0"/>
              <a:t>Sample size. </a:t>
            </a:r>
          </a:p>
          <a:p>
            <a:pPr lvl="1"/>
            <a:r>
              <a:rPr lang="en-US" dirty="0"/>
              <a:t>Effect size.  </a:t>
            </a:r>
          </a:p>
          <a:p>
            <a:endParaRPr lang="en-US" dirty="0"/>
          </a:p>
        </p:txBody>
      </p:sp>
      <p:pic>
        <p:nvPicPr>
          <p:cNvPr id="9218" name="Picture 2" descr="drawing">
            <a:extLst>
              <a:ext uri="{FF2B5EF4-FFF2-40B4-BE49-F238E27FC236}">
                <a16:creationId xmlns:a16="http://schemas.microsoft.com/office/drawing/2014/main" id="{8671F6EF-EF2A-170C-E5F9-72A0CA93E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00" y="1194247"/>
            <a:ext cx="70358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57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AB2E-A719-959D-D339-3D68CC889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963" y="804519"/>
            <a:ext cx="9607891" cy="1049235"/>
          </a:xfrm>
        </p:spPr>
        <p:txBody>
          <a:bodyPr/>
          <a:lstStyle/>
          <a:p>
            <a:r>
              <a:rPr lang="en-US" dirty="0"/>
              <a:t>Collecting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0697A-3754-0E36-DA13-90D596DBA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853755"/>
            <a:ext cx="6070599" cy="4199726"/>
          </a:xfrm>
        </p:spPr>
        <p:txBody>
          <a:bodyPr/>
          <a:lstStyle/>
          <a:p>
            <a:r>
              <a:rPr lang="en-US" dirty="0"/>
              <a:t>Sample size or effect size is needed along with cutoffs. </a:t>
            </a:r>
          </a:p>
          <a:p>
            <a:pPr lvl="1"/>
            <a:r>
              <a:rPr lang="en-US" dirty="0"/>
              <a:t>Effect size will tell us the separation between </a:t>
            </a:r>
            <a:r>
              <a:rPr lang="en-US" dirty="0" err="1"/>
              <a:t>dists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Sample size will set shapes of </a:t>
            </a:r>
            <a:r>
              <a:rPr lang="en-US" dirty="0" err="1"/>
              <a:t>dists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We can calculate the one we are missing. </a:t>
            </a:r>
          </a:p>
          <a:p>
            <a:r>
              <a:rPr lang="en-US" dirty="0"/>
              <a:t>These errors are from different ‘realities’. </a:t>
            </a:r>
          </a:p>
          <a:p>
            <a:pPr lvl="1"/>
            <a:r>
              <a:rPr lang="en-US" dirty="0"/>
              <a:t>If the pop means are actually equal, alpha is error. </a:t>
            </a:r>
          </a:p>
          <a:p>
            <a:pPr lvl="1"/>
            <a:r>
              <a:rPr lang="en-US" dirty="0"/>
              <a:t>If the pop means are actually different, beta is error. </a:t>
            </a:r>
          </a:p>
          <a:p>
            <a:r>
              <a:rPr lang="en-US" dirty="0"/>
              <a:t>We don’t </a:t>
            </a:r>
            <a:r>
              <a:rPr lang="en-US" i="1" dirty="0"/>
              <a:t>know</a:t>
            </a:r>
            <a:r>
              <a:rPr lang="en-US" dirty="0"/>
              <a:t> either, we are estimating w/ error. </a:t>
            </a:r>
          </a:p>
        </p:txBody>
      </p:sp>
      <p:pic>
        <p:nvPicPr>
          <p:cNvPr id="11266" name="Picture 2" descr="drawing">
            <a:extLst>
              <a:ext uri="{FF2B5EF4-FFF2-40B4-BE49-F238E27FC236}">
                <a16:creationId xmlns:a16="http://schemas.microsoft.com/office/drawing/2014/main" id="{95BE9FFC-DFDA-7809-5CE3-C044FC33EC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869"/>
          <a:stretch>
            <a:fillRect/>
          </a:stretch>
        </p:blipFill>
        <p:spPr bwMode="auto">
          <a:xfrm>
            <a:off x="25402" y="2255278"/>
            <a:ext cx="6070600" cy="3200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8126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4B4C6-B1CB-E3D6-38E2-FF1C70B5F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68B55-017E-CCAD-6100-12C5804AD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29284"/>
            <a:ext cx="9603275" cy="4124197"/>
          </a:xfrm>
        </p:spPr>
        <p:txBody>
          <a:bodyPr/>
          <a:lstStyle/>
          <a:p>
            <a:r>
              <a:rPr lang="en-US" dirty="0"/>
              <a:t>The power tells us, “if there’s an effect, how likely are we to detect it?”. </a:t>
            </a:r>
          </a:p>
          <a:p>
            <a:pPr lvl="1"/>
            <a:r>
              <a:rPr lang="en-US" dirty="0"/>
              <a:t>A.k.a. Sensitivity – the more sensitive, the more likely to notice some effect. </a:t>
            </a:r>
          </a:p>
          <a:p>
            <a:r>
              <a:rPr lang="en-US" dirty="0"/>
              <a:t>Often/usually done pre-survey/collection. </a:t>
            </a:r>
          </a:p>
          <a:p>
            <a:pPr lvl="1"/>
            <a:r>
              <a:rPr lang="en-US" dirty="0"/>
              <a:t>Determine the sample size needed to meet </a:t>
            </a:r>
            <a:r>
              <a:rPr lang="en-US" dirty="0" err="1"/>
              <a:t>reqs</a:t>
            </a:r>
            <a:r>
              <a:rPr lang="en-US" dirty="0"/>
              <a:t> – e.g. we need X level of confidence. </a:t>
            </a:r>
          </a:p>
          <a:p>
            <a:pPr lvl="1"/>
            <a:r>
              <a:rPr lang="en-US" dirty="0"/>
              <a:t>The bigger the sample size, the more confident in the answer, so we can calculate it. </a:t>
            </a:r>
          </a:p>
          <a:p>
            <a:r>
              <a:rPr lang="en-US" dirty="0"/>
              <a:t>You can calculate it post-hoc (after running a test). </a:t>
            </a:r>
          </a:p>
          <a:p>
            <a:pPr lvl="1"/>
            <a:r>
              <a:rPr lang="en-US" dirty="0"/>
              <a:t>Requires assumption that sample effect = population effect. </a:t>
            </a:r>
          </a:p>
          <a:p>
            <a:pPr lvl="1"/>
            <a:r>
              <a:rPr lang="en-US" dirty="0"/>
              <a:t>Kind of questioned in usefulness by real statisticians, it is an actual debate. </a:t>
            </a:r>
          </a:p>
          <a:p>
            <a:pPr lvl="2"/>
            <a:r>
              <a:rPr lang="en-US" dirty="0"/>
              <a:t>To indicate a ‘real’ effect, the best bet is to show all evidence. </a:t>
            </a:r>
          </a:p>
          <a:p>
            <a:pPr lvl="2"/>
            <a:r>
              <a:rPr lang="en-US" dirty="0"/>
              <a:t>We can demonstrate an effect of this size, it appears to not be due to random variation in data. </a:t>
            </a:r>
          </a:p>
        </p:txBody>
      </p:sp>
    </p:spTree>
    <p:extLst>
      <p:ext uri="{BB962C8B-B14F-4D97-AF65-F5344CB8AC3E}">
        <p14:creationId xmlns:p14="http://schemas.microsoft.com/office/powerpoint/2010/main" val="3288604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7BB18-3453-A34F-CE4B-C9497F0A1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is used less after the fact. Why?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0B20A-9989-7552-168B-0A9D8C917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Look at the design of a typical hypothesis tested example – a drug trial. </a:t>
            </a:r>
          </a:p>
          <a:p>
            <a:pPr lvl="1"/>
            <a:r>
              <a:rPr lang="en-US" dirty="0"/>
              <a:t>There are two groups, control and treatment. </a:t>
            </a:r>
          </a:p>
          <a:p>
            <a:pPr lvl="1"/>
            <a:r>
              <a:rPr lang="en-US" dirty="0"/>
              <a:t>Generally the treatment group show some effect – lower tests, longer life,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The p-value in this shows a very important value – false positives. </a:t>
            </a:r>
          </a:p>
          <a:p>
            <a:pPr lvl="1"/>
            <a:r>
              <a:rPr lang="en-US" dirty="0"/>
              <a:t>We see some difference between C and T (e.g. they are healthier) and we want to confirm this isn’t just luck of the draw with our group selection. </a:t>
            </a:r>
          </a:p>
          <a:p>
            <a:r>
              <a:rPr lang="en-US" dirty="0"/>
              <a:t>The power shows the opposite – our drug is useless, but we see an effect. </a:t>
            </a:r>
          </a:p>
          <a:p>
            <a:pPr lvl="1"/>
            <a:r>
              <a:rPr lang="en-US" dirty="0"/>
              <a:t>Is this realistic and important? From stats perspective yes, from reality perspective... Maybe. </a:t>
            </a:r>
          </a:p>
          <a:p>
            <a:pPr lvl="1"/>
            <a:r>
              <a:rPr lang="en-US" dirty="0"/>
              <a:t>Having one randomly selected group be noticeably healthier than another is unlikely. </a:t>
            </a:r>
          </a:p>
          <a:p>
            <a:pPr lvl="1"/>
            <a:r>
              <a:rPr lang="en-US" dirty="0"/>
              <a:t>Mitigated in reality by things like participant selection, and repeated trials (which </a:t>
            </a:r>
            <a:r>
              <a:rPr lang="en-US" i="1" dirty="0"/>
              <a:t>do</a:t>
            </a:r>
            <a:r>
              <a:rPr lang="en-US" dirty="0"/>
              <a:t> happen). </a:t>
            </a:r>
          </a:p>
        </p:txBody>
      </p:sp>
    </p:spTree>
    <p:extLst>
      <p:ext uri="{BB962C8B-B14F-4D97-AF65-F5344CB8AC3E}">
        <p14:creationId xmlns:p14="http://schemas.microsoft.com/office/powerpoint/2010/main" val="3127227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270DE-3C8F-E636-F7F8-63D612DB2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804519"/>
            <a:ext cx="10753103" cy="1049235"/>
          </a:xfrm>
        </p:spPr>
        <p:txBody>
          <a:bodyPr/>
          <a:lstStyle/>
          <a:p>
            <a:r>
              <a:rPr lang="en-US" dirty="0"/>
              <a:t>From Wikipedia and the book – Bet on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9B5C0-5184-07FD-A108-134DD93F3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692845"/>
          </a:xfrm>
        </p:spPr>
        <p:txBody>
          <a:bodyPr/>
          <a:lstStyle/>
          <a:p>
            <a:r>
              <a:rPr lang="en-US" dirty="0"/>
              <a:t>Wikipedia gives a general explanation of the simulation things we’ve done, for power!</a:t>
            </a:r>
          </a:p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7598F01-91C0-7A91-C4CE-7BF807595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668" y="2415970"/>
            <a:ext cx="9683096" cy="3637511"/>
          </a:xfrm>
          <a:prstGeom prst="rect">
            <a:avLst/>
          </a:prstGeom>
        </p:spPr>
      </p:pic>
      <p:pic>
        <p:nvPicPr>
          <p:cNvPr id="21" name="Picture 4" descr="Monte-Carlo Casino - Monaco Tribune">
            <a:extLst>
              <a:ext uri="{FF2B5EF4-FFF2-40B4-BE49-F238E27FC236}">
                <a16:creationId xmlns:a16="http://schemas.microsoft.com/office/drawing/2014/main" id="{DA569185-9840-7F6E-3D7E-F014F815F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2017" y="-2521"/>
            <a:ext cx="2919984" cy="185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408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247D-807C-28EA-DDED-411AC652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Hit Monte Carlo!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D7FA2-2169-9EB9-0CC0-9F2D40A75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9" y="1853754"/>
            <a:ext cx="10625086" cy="42775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All of our simulation loops trials are an example of monte </a:t>
            </a:r>
            <a:r>
              <a:rPr lang="en-US" dirty="0" err="1"/>
              <a:t>carlo</a:t>
            </a:r>
            <a:r>
              <a:rPr lang="en-US" dirty="0"/>
              <a:t> simulation. </a:t>
            </a:r>
          </a:p>
          <a:p>
            <a:r>
              <a:rPr lang="en-US" dirty="0"/>
              <a:t>Monte </a:t>
            </a:r>
            <a:r>
              <a:rPr lang="en-US" dirty="0" err="1"/>
              <a:t>carlo</a:t>
            </a:r>
            <a:r>
              <a:rPr lang="en-US" dirty="0"/>
              <a:t> simulations are based on repeated random sampling. </a:t>
            </a:r>
          </a:p>
          <a:p>
            <a:pPr lvl="1"/>
            <a:r>
              <a:rPr lang="en-US" dirty="0"/>
              <a:t>There’s not a strict definition, basically things that resemble what we’re doing. </a:t>
            </a:r>
          </a:p>
          <a:p>
            <a:r>
              <a:rPr lang="en-US" dirty="0"/>
              <a:t>The concept of monte </a:t>
            </a:r>
            <a:r>
              <a:rPr lang="en-US" dirty="0" err="1"/>
              <a:t>carlo</a:t>
            </a:r>
            <a:r>
              <a:rPr lang="en-US" dirty="0"/>
              <a:t> simulation are used in several places. </a:t>
            </a:r>
          </a:p>
          <a:p>
            <a:pPr lvl="1"/>
            <a:r>
              <a:rPr lang="en-US" dirty="0"/>
              <a:t>Back when I was a kid, we used it for robot navigation in school. </a:t>
            </a:r>
          </a:p>
          <a:p>
            <a:pPr lvl="1"/>
            <a:r>
              <a:rPr lang="en-US" dirty="0"/>
              <a:t>In finance, used with portfolio planning. </a:t>
            </a:r>
          </a:p>
          <a:p>
            <a:pPr lvl="2"/>
            <a:r>
              <a:rPr lang="en-US" dirty="0"/>
              <a:t>Different assets can have their performance modeled with some distribution. </a:t>
            </a:r>
          </a:p>
          <a:p>
            <a:pPr lvl="2"/>
            <a:r>
              <a:rPr lang="en-US" dirty="0"/>
              <a:t>Generate many samples of asset performance. </a:t>
            </a:r>
          </a:p>
          <a:p>
            <a:pPr lvl="2"/>
            <a:r>
              <a:rPr lang="en-US" dirty="0"/>
              <a:t>Tabulate the results, and see the expected outcome. </a:t>
            </a:r>
          </a:p>
          <a:p>
            <a:pPr lvl="2"/>
            <a:r>
              <a:rPr lang="en-US" dirty="0"/>
              <a:t>If you’ve heard of the 4% rule for long-term retirement planning, this can test that. </a:t>
            </a:r>
          </a:p>
          <a:p>
            <a:r>
              <a:rPr lang="en-US" dirty="0"/>
              <a:t>Quality of prediction is mostly based on how well the model fits reality (and variance). </a:t>
            </a:r>
          </a:p>
        </p:txBody>
      </p:sp>
      <p:pic>
        <p:nvPicPr>
          <p:cNvPr id="14338" name="Picture 2" descr="Monaco og Monte-Carlo by Night med privat sjåfør/guide | GetYourGuide">
            <a:extLst>
              <a:ext uri="{FF2B5EF4-FFF2-40B4-BE49-F238E27FC236}">
                <a16:creationId xmlns:a16="http://schemas.microsoft.com/office/drawing/2014/main" id="{DDE8E54F-AE30-67E1-30D2-A34213528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1952" y="726683"/>
            <a:ext cx="2670048" cy="2670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9" descr="1: Aibo, a modern toy from Sony. | Download Scientific Diagram">
            <a:extLst>
              <a:ext uri="{FF2B5EF4-FFF2-40B4-BE49-F238E27FC236}">
                <a16:creationId xmlns:a16="http://schemas.microsoft.com/office/drawing/2014/main" id="{6B9A9632-4D8E-C131-464C-1E5B6577A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7731" y="3391190"/>
            <a:ext cx="2328169" cy="2534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2301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D6B0-99D9-ADBB-1D65-2C10E90D3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Coolness of Monte Carlo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DBC90-FEFD-05B4-B238-872B8CA7F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 concept of monte </a:t>
            </a:r>
            <a:r>
              <a:rPr lang="en-US" dirty="0" err="1"/>
              <a:t>carlo</a:t>
            </a:r>
            <a:r>
              <a:rPr lang="en-US" dirty="0"/>
              <a:t> simulation is very useful, if a bit confusing at first. </a:t>
            </a:r>
          </a:p>
          <a:p>
            <a:pPr lvl="1"/>
            <a:r>
              <a:rPr lang="en-US" dirty="0"/>
              <a:t>We require relatively few assumptions. </a:t>
            </a:r>
          </a:p>
          <a:p>
            <a:pPr lvl="1"/>
            <a:r>
              <a:rPr lang="en-US" dirty="0"/>
              <a:t>As long as we have a model (of expectations), we can do it. </a:t>
            </a:r>
          </a:p>
          <a:p>
            <a:pPr lvl="2"/>
            <a:r>
              <a:rPr lang="en-US" dirty="0"/>
              <a:t>We may have to do some work to frame the problem in the correct terms. </a:t>
            </a:r>
          </a:p>
          <a:p>
            <a:pPr lvl="1"/>
            <a:r>
              <a:rPr lang="en-US" dirty="0"/>
              <a:t>If sample sizes are small, MC may be much better (as long as we can fit a model). </a:t>
            </a:r>
          </a:p>
          <a:p>
            <a:r>
              <a:rPr lang="en-US" dirty="0"/>
              <a:t>For us – focus on what (specifically and literally) is being tested. </a:t>
            </a:r>
          </a:p>
          <a:p>
            <a:pPr lvl="1"/>
            <a:r>
              <a:rPr lang="en-US" dirty="0"/>
              <a:t>Any probability thing can be simulated if we can define a good model. </a:t>
            </a:r>
          </a:p>
          <a:p>
            <a:pPr lvl="1"/>
            <a:r>
              <a:rPr lang="en-US" dirty="0"/>
              <a:t>Hypothesis tests are specific implementations that don’t require code/data. </a:t>
            </a:r>
          </a:p>
          <a:p>
            <a:pPr lvl="2"/>
            <a:r>
              <a:rPr lang="en-US" dirty="0"/>
              <a:t>Can calculate a direct estimate, as long as requisites are met. </a:t>
            </a:r>
          </a:p>
          <a:p>
            <a:pPr lvl="1"/>
            <a:r>
              <a:rPr lang="en-US" dirty="0"/>
              <a:t>We can tackle almost any problem, even if we don’t know the theory of what it is. </a:t>
            </a:r>
          </a:p>
        </p:txBody>
      </p:sp>
    </p:spTree>
    <p:extLst>
      <p:ext uri="{BB962C8B-B14F-4D97-AF65-F5344CB8AC3E}">
        <p14:creationId xmlns:p14="http://schemas.microsoft.com/office/powerpoint/2010/main" val="3649028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C9B2C-D9CF-7793-776E-C8A7615B3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simulate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06D5A-C471-1FF1-E3A6-FCEE2F7FF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In the simulation loops we saw several approaches, without much justification. </a:t>
            </a:r>
          </a:p>
          <a:p>
            <a:pPr lvl="1"/>
            <a:r>
              <a:rPr lang="en-US" dirty="0"/>
              <a:t>Create analytical model, generate new sample sets. </a:t>
            </a:r>
          </a:p>
          <a:p>
            <a:pPr lvl="1"/>
            <a:r>
              <a:rPr lang="en-US" dirty="0"/>
              <a:t>Use permutation – take the original data, reshuffle the sets. </a:t>
            </a:r>
          </a:p>
          <a:p>
            <a:pPr lvl="1"/>
            <a:r>
              <a:rPr lang="en-US" dirty="0"/>
              <a:t>Discreet data (coin flips) calling a probability model. </a:t>
            </a:r>
          </a:p>
          <a:p>
            <a:r>
              <a:rPr lang="en-US" dirty="0"/>
              <a:t>All run a ‘trial’ and tabulates the results, but the details of the trial seem open. </a:t>
            </a:r>
          </a:p>
          <a:p>
            <a:r>
              <a:rPr lang="en-US" dirty="0"/>
              <a:t>How do we know which one works in which situation? </a:t>
            </a:r>
          </a:p>
          <a:p>
            <a:pPr lvl="1"/>
            <a:r>
              <a:rPr lang="en-US" dirty="0"/>
              <a:t>If it fits a pattern we’ve seen (</a:t>
            </a:r>
            <a:r>
              <a:rPr lang="en-US" dirty="0" err="1"/>
              <a:t>ttest</a:t>
            </a:r>
            <a:r>
              <a:rPr lang="en-US" dirty="0"/>
              <a:t>=permutation, generalization=model), we can use that. </a:t>
            </a:r>
          </a:p>
          <a:p>
            <a:pPr lvl="1"/>
            <a:r>
              <a:rPr lang="en-US" dirty="0"/>
              <a:t>Beyond that, it is judgment – which method best approximates (models) reality.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164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23C4C-6621-1118-C261-2989DDEF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935891" cy="1049235"/>
          </a:xfrm>
        </p:spPr>
        <p:txBody>
          <a:bodyPr/>
          <a:lstStyle/>
          <a:p>
            <a:r>
              <a:rPr lang="en-US" dirty="0"/>
              <a:t>Example – Permutation vs Analytical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6D49E-6CDB-D8D9-A521-916FE9353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10393091" cy="4291865"/>
          </a:xfrm>
        </p:spPr>
        <p:txBody>
          <a:bodyPr/>
          <a:lstStyle/>
          <a:p>
            <a:r>
              <a:rPr lang="en-US" dirty="0"/>
              <a:t>Suppose you’re doing a </a:t>
            </a:r>
            <a:r>
              <a:rPr lang="en-US" dirty="0" err="1"/>
              <a:t>ttest</a:t>
            </a:r>
            <a:r>
              <a:rPr lang="en-US" dirty="0"/>
              <a:t> – we see a difference in means between G1 and G2. </a:t>
            </a:r>
          </a:p>
          <a:p>
            <a:pPr lvl="1"/>
            <a:r>
              <a:rPr lang="en-US" dirty="0"/>
              <a:t>Is it real, or is it likely due to randomness?</a:t>
            </a:r>
          </a:p>
          <a:p>
            <a:pPr lvl="1"/>
            <a:r>
              <a:rPr lang="en-US" dirty="0"/>
              <a:t>More wordily – w/ a difference this large, how likely is it to get that if each are from same pop. </a:t>
            </a:r>
          </a:p>
          <a:p>
            <a:r>
              <a:rPr lang="en-US" dirty="0"/>
              <a:t>Permutation (what we’ve done here and in book). </a:t>
            </a:r>
          </a:p>
          <a:p>
            <a:pPr lvl="1"/>
            <a:r>
              <a:rPr lang="en-US" dirty="0"/>
              <a:t>Randomly reshuffle G1 and G2 together(pseudo-pop), split into two new groups, measure difference. </a:t>
            </a:r>
          </a:p>
          <a:p>
            <a:r>
              <a:rPr lang="en-US" dirty="0"/>
              <a:t>Analytical model simulation. </a:t>
            </a:r>
          </a:p>
          <a:p>
            <a:pPr lvl="1"/>
            <a:r>
              <a:rPr lang="en-US" dirty="0"/>
              <a:t>Create analytical model representing population, create new groups, measure difference. </a:t>
            </a:r>
          </a:p>
          <a:p>
            <a:r>
              <a:rPr lang="en-US" dirty="0"/>
              <a:t>Which one is the better approach? Kind of depends on N (sample size). </a:t>
            </a:r>
          </a:p>
          <a:p>
            <a:pPr lvl="1"/>
            <a:r>
              <a:rPr lang="en-US" dirty="0"/>
              <a:t>As N increases, the two approaches will converge…</a:t>
            </a:r>
          </a:p>
          <a:p>
            <a:pPr lvl="1"/>
            <a:r>
              <a:rPr lang="en-US" dirty="0"/>
              <a:t>Permutation introduces fewer assumptions, so that’s what the book did. We could choose others…</a:t>
            </a:r>
          </a:p>
        </p:txBody>
      </p:sp>
    </p:spTree>
    <p:extLst>
      <p:ext uri="{BB962C8B-B14F-4D97-AF65-F5344CB8AC3E}">
        <p14:creationId xmlns:p14="http://schemas.microsoft.com/office/powerpoint/2010/main" val="1992097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5F383-97C1-A643-DCC3-42D3CDAD8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do in Practice?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A7D1D-882F-F316-55D0-E08346896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When we encounter situations like this, we need to select the correct tool. </a:t>
            </a:r>
          </a:p>
          <a:p>
            <a:r>
              <a:rPr lang="en-US" dirty="0"/>
              <a:t>Ensure that what exactly you’re checking/testing is clear. </a:t>
            </a:r>
          </a:p>
          <a:p>
            <a:pPr lvl="1"/>
            <a:r>
              <a:rPr lang="en-US" dirty="0"/>
              <a:t>This may involve some arithmetic, rearranging how the problem is written,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Framing the question/problem to meet our patterns can be weird sometimes. </a:t>
            </a:r>
          </a:p>
          <a:p>
            <a:r>
              <a:rPr lang="en-US" dirty="0"/>
              <a:t>If we have the values, assumptions are met, we can calculate. </a:t>
            </a:r>
          </a:p>
          <a:p>
            <a:r>
              <a:rPr lang="en-US" dirty="0"/>
              <a:t>In other scenarios, or if we think the calc isn’t sufficient, we can simulate. </a:t>
            </a:r>
          </a:p>
          <a:p>
            <a:pPr lvl="1"/>
            <a:r>
              <a:rPr lang="en-US" dirty="0"/>
              <a:t>Assumptions not met, forgot test needed, need more ‘evidence’, complex scenario,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As long are our model is accurate, this works. </a:t>
            </a:r>
          </a:p>
          <a:p>
            <a:pPr lvl="1"/>
            <a:r>
              <a:rPr lang="en-US" dirty="0"/>
              <a:t>Accurately modeling real life into a probability is the major roadblock here, not method.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216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DE35F-1285-FBD2-5071-D87B6E914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(this isn’t Trivial)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E385D-78BD-1BBB-CCD5-47A77E61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419972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Simulate retirement drawdown (take money out) for early retirement. </a:t>
            </a:r>
          </a:p>
          <a:p>
            <a:pPr lvl="1"/>
            <a:r>
              <a:rPr lang="en-US" dirty="0"/>
              <a:t>$1.4 million invested at the start, we want to live for 50 years post retirement. </a:t>
            </a:r>
          </a:p>
          <a:p>
            <a:r>
              <a:rPr lang="en-US" dirty="0"/>
              <a:t>Monte Carlo modelling (I assumed monthly calculations for all):</a:t>
            </a:r>
          </a:p>
          <a:p>
            <a:pPr lvl="1"/>
            <a:r>
              <a:rPr lang="en-US" dirty="0"/>
              <a:t>Determine a model for “expected stock returns” (</a:t>
            </a:r>
            <a:r>
              <a:rPr lang="en-US" dirty="0" err="1"/>
              <a:t>yfinance</a:t>
            </a:r>
            <a:r>
              <a:rPr lang="en-US" dirty="0"/>
              <a:t>). </a:t>
            </a:r>
          </a:p>
          <a:p>
            <a:pPr lvl="2"/>
            <a:r>
              <a:rPr lang="en-US" dirty="0"/>
              <a:t>You may need to manipulate the data from prices to returns. </a:t>
            </a:r>
          </a:p>
          <a:p>
            <a:pPr lvl="1"/>
            <a:r>
              <a:rPr lang="en-US" dirty="0"/>
              <a:t>Determine a model for “money withdrawn” – your living expenses. Assume $5k/m to start. </a:t>
            </a:r>
          </a:p>
          <a:p>
            <a:pPr lvl="2"/>
            <a:r>
              <a:rPr lang="en-US" dirty="0"/>
              <a:t>This may be flat, or increasing over time. Should be based on some input from user. </a:t>
            </a:r>
          </a:p>
          <a:p>
            <a:pPr lvl="1"/>
            <a:r>
              <a:rPr lang="en-US" dirty="0"/>
              <a:t>Determine a model for inflation (reduction in money value). </a:t>
            </a:r>
          </a:p>
          <a:p>
            <a:pPr lvl="1"/>
            <a:r>
              <a:rPr lang="en-US" dirty="0"/>
              <a:t>(Optional) They’re American, so in each year there is a 1% chance of a medical issue costing $100k.</a:t>
            </a:r>
          </a:p>
          <a:p>
            <a:r>
              <a:rPr lang="en-US" dirty="0"/>
              <a:t>Month you take cash, investment move, inflation reduces the spending power. </a:t>
            </a:r>
          </a:p>
          <a:p>
            <a:pPr lvl="1"/>
            <a:r>
              <a:rPr lang="en-US" dirty="0"/>
              <a:t>All of this requires research and approximation, there’s not one correct answer. </a:t>
            </a:r>
          </a:p>
          <a:p>
            <a:pPr lvl="1"/>
            <a:r>
              <a:rPr lang="en-US" dirty="0"/>
              <a:t>Start with a simple model (e.g. inflation is 2%), then get more advanced (we have a dist. Of values). </a:t>
            </a:r>
          </a:p>
        </p:txBody>
      </p:sp>
    </p:spTree>
    <p:extLst>
      <p:ext uri="{BB962C8B-B14F-4D97-AF65-F5344CB8AC3E}">
        <p14:creationId xmlns:p14="http://schemas.microsoft.com/office/powerpoint/2010/main" val="313746161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1458</TotalTime>
  <Words>2209</Words>
  <Application>Microsoft Macintosh PowerPoint</Application>
  <PresentationFormat>Widescreen</PresentationFormat>
  <Paragraphs>183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Gill Sans MT</vt:lpstr>
      <vt:lpstr>Gallery</vt:lpstr>
      <vt:lpstr>Housekeeping</vt:lpstr>
      <vt:lpstr>Power and Monte Carlo</vt:lpstr>
      <vt:lpstr>Power and Alpha</vt:lpstr>
      <vt:lpstr>Calculating Power</vt:lpstr>
      <vt:lpstr>An Example</vt:lpstr>
      <vt:lpstr>Side Note – Data is Standardized</vt:lpstr>
      <vt:lpstr>Run some Sims</vt:lpstr>
      <vt:lpstr>Go the Other Way</vt:lpstr>
      <vt:lpstr>Difference in Error Types </vt:lpstr>
      <vt:lpstr>Power</vt:lpstr>
      <vt:lpstr>Collecting Errors</vt:lpstr>
      <vt:lpstr>Using Power</vt:lpstr>
      <vt:lpstr>Power is used less after the fact. Why? </vt:lpstr>
      <vt:lpstr>From Wikipedia and the book – Bet on it!</vt:lpstr>
      <vt:lpstr>Let’s Hit Monte Carlo!</vt:lpstr>
      <vt:lpstr>The Coolness of Monte Carlo</vt:lpstr>
      <vt:lpstr>How to simulate</vt:lpstr>
      <vt:lpstr>Example – Permutation vs Analytical models</vt:lpstr>
      <vt:lpstr>What To do in Practice? </vt:lpstr>
      <vt:lpstr>Try (this isn’t Trivial)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Akeem Semper</dc:creator>
  <cp:lastModifiedBy>Akeem Semper</cp:lastModifiedBy>
  <cp:revision>10</cp:revision>
  <dcterms:created xsi:type="dcterms:W3CDTF">2025-10-30T17:28:25Z</dcterms:created>
  <dcterms:modified xsi:type="dcterms:W3CDTF">2025-10-31T17:48:16Z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2025-10-30T17:28:43Z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bd6d98c2-a67f-47b4-b59d-19be1aeba8eb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
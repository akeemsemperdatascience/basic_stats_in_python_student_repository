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1" r:id="rId2"/>
    <p:sldId id="295" r:id="rId3"/>
    <p:sldId id="256" r:id="rId4"/>
    <p:sldId id="286" r:id="rId5"/>
    <p:sldId id="257" r:id="rId6"/>
    <p:sldId id="278" r:id="rId7"/>
    <p:sldId id="258" r:id="rId8"/>
    <p:sldId id="279" r:id="rId9"/>
    <p:sldId id="288" r:id="rId10"/>
    <p:sldId id="259" r:id="rId11"/>
    <p:sldId id="296" r:id="rId12"/>
    <p:sldId id="287" r:id="rId13"/>
    <p:sldId id="260" r:id="rId14"/>
    <p:sldId id="283" r:id="rId15"/>
    <p:sldId id="262" r:id="rId16"/>
    <p:sldId id="267" r:id="rId17"/>
    <p:sldId id="293" r:id="rId18"/>
    <p:sldId id="261" r:id="rId19"/>
    <p:sldId id="265" r:id="rId20"/>
    <p:sldId id="290" r:id="rId21"/>
    <p:sldId id="269" r:id="rId22"/>
    <p:sldId id="289" r:id="rId23"/>
    <p:sldId id="263" r:id="rId24"/>
    <p:sldId id="266" r:id="rId25"/>
    <p:sldId id="291" r:id="rId26"/>
    <p:sldId id="264" r:id="rId27"/>
    <p:sldId id="276" r:id="rId28"/>
    <p:sldId id="292" r:id="rId29"/>
    <p:sldId id="277" r:id="rId30"/>
    <p:sldId id="268" r:id="rId31"/>
    <p:sldId id="280" r:id="rId32"/>
    <p:sldId id="284" r:id="rId33"/>
    <p:sldId id="274" r:id="rId34"/>
    <p:sldId id="282" r:id="rId35"/>
    <p:sldId id="271" r:id="rId36"/>
    <p:sldId id="272" r:id="rId37"/>
    <p:sldId id="294" r:id="rId38"/>
    <p:sldId id="273" r:id="rId39"/>
    <p:sldId id="285" r:id="rId40"/>
    <p:sldId id="270" r:id="rId41"/>
    <p:sldId id="27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54"/>
    <p:restoredTop sz="96327"/>
  </p:normalViewPr>
  <p:slideViewPr>
    <p:cSldViewPr snapToGrid="0" snapToObjects="1">
      <p:cViewPr varScale="1">
        <p:scale>
          <a:sx n="135" d="100"/>
          <a:sy n="13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15.323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0 16383,'1'99'0,"1"-1"0,-1 1 0,0 0 0,1-1 0,-1 1 0,1 0 0,-1-1 0,1 1 0,-1-1 0,0 1 0,1 0 0,-1-1 0,1 1 0,-1 0 0,0-1 0,1 1 0,-1-1 0,1 1 0,-1 0 0,1-1 0,-1 1 0,0 0 0,1-1 0,-1 1 0,1-1 0,-1 7 0,-1 1 0,0 3 0,-1 2 0,0 0 0,0 1 0,-1 0 0,1 0 0,-1-2 0,1-1 0,0-2 0,1-3 0,0-3 0,1-4 0,1-4 0,1-4 0,0-6 0,2-6 0,1-6 0,2-7 0,1-7 0,14 36 0,5-21 0,1-10 0,-3 2 0,0 8 0,-2-3 0,0 6 0,2 3 0,1 7 0,-1 0 0,-4-4 0,-3 5 0,-4-4 0,-3-3 0,-3 23 0,-7-5 0,-6-15 0,-3-5 0,1-17 0,0-3 0,0-2 0,2-1 0,4-4 0,0 1 0,0 5 0,0 1 0,0-4 0,0 1 0,0 1 0,0 0 0,0 2 0,0 2 0,0 5 0,0 1 0,2-1 0,1 2 0,2 4 0,1 0 0,2 0 0,1-1 0,-1 1 0,0 0 0,-2 4 0,-1 0 0,0 2 0,0 1 0,-2 2 0,0 2 0,0 6 0,0-2 0,-1-14 0,0-5 0,-2 33 0,0-53 0,0-7 0,0 10 0,0 17 0,5 8 0,-4-19 0,4-14 0,-5 4 0,5 9 0,1 31 0,-1-32 0,1 1 0,2 2 0,-1 1 0,-3-2 0,-1-2 0,12 41 0,-14-38 0,3-21 0,-4-25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17.20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10 16383,'66'0'0,"1"0"0,16 2 0,5 0 0,-11-1 0,4-2 0,1 3 0,-1 1 0,0 3 0,-1-1 0,-4-2 0,-1 1 0,-3 1 0,16 4 0,-6 3 0,-18 1 0,-5 0 0,-8-4 0,-2 0 0,42 15 0,-39-19 0,2-2 0,11 1 0,4 1 0,16-3 0,6 1 0,-21 0 0,3 0 0,1 1 0,9 2 0,3 2 0,0 0 0,6 1 0,1 0 0,0 2 0,-1 1 0,0 1 0,-1-1 0,-3-2 0,-1-1 0,-1-2 0,-4-1 0,-2-2 0,0-3 0,-4-5 0,0-3 0,1-1 0,3-3 0,0-1 0,1 1 0,2 0 0,1 0 0,1 2 0,10 0 0,1 2 0,4 3 0,-13 2 0,2 3 0,2 1 0,4-1 0,-5-1 0,3 1 0,2-1 0,2 0 0,1 0 0,-10 1 0,2-1 0,1 0 0,0-1 0,-1 1 0,-1-2 0,12-1 0,-1-1 0,-2 0 0,0-1 0,-3-1 0,-6 1 0,-2 0 0,0-1 0,-5 0 0,-5 0 0,16-3 0,-7-1 0,-5 1 0,19-2 0,-8 2 0,-17 4 0,-3-1 0,5-6 0,2-1 0,5 3 0,5 1 0,-15 1 0,4 1 0,1 1 0,4 1 0,1 2 0,1 1 0,3 1 0,2 2 0,0-1 0,4 0 0,0-1 0,0 2 0,-4 2 0,0 2 0,1 1 0,-16 0 0,1 1 0,1 0 0,-1 2 0,3 1 0,-1 1 0,1 1 0,0-1 0,2 1 0,0 0 0,0-1 0,-1-1 0,-3-1 0,-1-1 0,-2-2 0,-2-1 0,11-3 0,-3-2 0,-5-3 0,18-4 0,-7-3 0,-20-1 0,-5-1 0,35-13 0,-36 18 0,-18-3 0,-22 10 0,6-5 0,-17-1 0,15 0 0,-9 2 0,22-1 0,-6 4 0,0-4 0,-21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19.12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0 16383,'16'57'0,"-4"18"0,0-20 0,1 5 0,-2 9 0,0 3 0,5 8 0,1 1 0,1-1 0,1-1 0,0-1 0,0-2 0,-2-5 0,-1-3 0,1-3 0,-3-2 0,-5-9 0,-1-2 0,12 38 0,-8-15 0,4-16 0,-10-12 0,-2-15 0,-4-11 0,0-1 0,0 2 0,0-9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1.758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93 16383,'34'-12'0,"6"-2"0,18 3 0,34 4 0,-33 2 0,2 0 0,2 3 0,-1 0 0,-3-1 0,-1 0 0,-2-2 0,-1-1 0,6 0 0,1 1 0,6 1 0,0 2 0,1 1 0,-2 2 0,32 5 0,-42 0 0,-38-1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35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64 0 16383,'-17'45'0,"2"16"0,4 20 0,5-1 0,-3 8 0,8-7 0,-4 1 0,10-18 0,1-32 0,0-13 0,-1-18 0,-5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865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1 16383,'0'0'0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5.542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37 34 16383,'5'65'0,"-8"8"0,0-18 0,0 1 0,-3-4 0,0-1 0,-3 7 0,2-1 0,6 32 0,-2-20 0,8-38 0,4-42 0,8-51 0,6-32 0,-10 35 0,0-3 0,-3-2 0,1 1 0,2 5 0,0 2 0,10-27 0,-6 26 0,-3 36 0,-13 21 0,9 6 0,1 38 0,1 22 0,-4-5 0,-1 5 0,-1-1 0,-1 2 0,2 3 0,1-2 0,-2-12 0,0-5 0,5 9 0,-1-26 0,-4-34 0,38-25 0,-6-14 0,25-16 0,-20-8 0,-6 8 0,-10 6 0,0 7 0,-6 10 0,5 0 0,-12 18 0,5 20 0,-13 41 0,14 29 0,-7 7 0,7 10 0,-4-12 0,1-6 0,-6-20 0,4-10 0,-9-9 0,0-6 0,3 0 0,-8-19 0,4-6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6.70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1 494 16383,'21'0'0,"15"0"0,8 5 0,11-4 0,23-15 0,14-10 0,-28-7 0,1-5 0,-12 9 0,-3 0 0,34-21 0,-54 19 0,-35 9 0,-12-4 0,-24-23 0,-13 8 0,-11-9 0,6 19 0,16 0 0,8 17 0,7 1 0,-4 6 0,-9 5 0,-7 10 0,-7 6 0,-3 44 0,36-12 0,5 6 0,2 4 0,4 2 0,7 3 0,4-4 0,1 11 0,4-30 0,-5-10 0,19 17 0,19 24 0,-7-27 0,4-2 0,3-5 0,0-3 0,18 13 0,-11-27 0,-28-15 0,-1-5 0,-6 0 0,20 5 0,10-4 0,14 4 0,0 4 0,-1-2 0,-14 13 0,-7-3 0,-7-5 0,-13-3 0,-1-9 0,-6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8.87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39 1 16383,'-16'35'0,"9"19"0,-2 12 0,9 32 0,-3-41 0,1 3 0,0 18 0,3 4 0,2 0 0,3 0 0,2 0 0,2-5 0,3-17 0,2-7 0,6 15 0,-10-42 0,-6-22 0,-5-25 0,0 13 0,0-6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9.52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20 1 16383,'0'31'0,"5"11"0,10 27 0,2-23 0,3 4 0,3 16 0,0 5 0,3 4 0,-4 2 0,-9-3 0,-8-1 0,-4-8 0,-9-5 0,-25 20 0,5-26 0,8-24 0,15-10 0,5 6 0,-9 3 0,-17 7 0,1-13 0,-1-8 0,16-10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30.237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28 16383,'26'0'0,"25"-10"0,21 3 0,-10 1 0,7 1 0,4 8 0,3 4 0,11 5 0,-1 3 0,-10 1 0,-5 2 0,-13-1 0,-4-2 0,20 0 0,-22-15 0,-23-6 0,10 1 0,-29 0 0,9 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31.45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257 65 16383,'-31'-20'0,"-2"2"0,0 1 0,2 7 0,10 10 0,-5 5 0,-1 10 0,0 27 0,5 28 0,17 26 0,12-38 0,6 1 0,6 2 0,6-3 0,8-4 0,4-5 0,25 20 0,-9-33 0,-8-46 0,-10-33 0,-2-38 0,-24 24 0,-7-4 0,-9-7 0,-7 0 0,-4 0 0,-3 5 0,-13-26 0,9 44 0,15 46 0,4 39 0,1 2 0,5 25 0,20-12 0,4 17 0,3-20 0,-6-10 0,-16-18 0,10-18 0,-3 14 0,4 16 0,10 24 0,-13-4 0,2 1 0,-5-35 0,-9 12 0,4-16 0,-5 0 0,-5-14 0,-1-21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32.50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0 167 16383,'22'0'0,"-6"0"0,0 0 0,-10 5 0,8 34 0,-11 18 0,6-6 0,1 3 0,-8 40 0,12-4 0,-8-32 0,0-12 0,-1-8 0,0-38 0,6-40 0,-7-10 0,-1-8 0,3-6 0,2 0 0,-1 8 0,2 2 0,18-33 0,26 29 0,-4 22 0,12 5 0,0 12 0,8 4 0,4 2 0,21-4 0,5 2 0,1 4 0,-23 6 0,1 1 0,-1 3 0,0 0 0,22 3 0,0 2 0,-10 0 0,-4-2 0,-13 4 0,9 19 0,-79-13 0,-29 8 0,0-8 0,-4 8 0,9-8 0,1-2 0,10 0 0,2-4 0,3-1 0,0 0 0,1-5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34.12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225 1097 16383,'-46'39'0,"-3"2"0,-15 18 0,24 7 0,15-6 0,36 24 0,7-35 0,5-2 0,4-1 0,2-3 0,23 17 0,31-46 0,-14-66 0,-19 4 0,-2-7 0,-4-8 0,-7-6 0,-6-10 0,-8-2 0,-7 2 0,-6 1 0,-5 5 0,-5 0 0,-2 0 0,-2 3 0,-1 7 0,-1 2 0,3 1 0,1 1 0,-1 0 0,1 2 0,2-38 0,-5 1 0,-1 9 0,-4 8 0,4 16 0,-4 25 0,9 31 0,-8 49 0,3 19 0,2-8 0,2 6 0,-1 9 0,1 3 0,2 6 0,0 3 0,0 6 0,0 1 0,0-6 0,0-1 0,0-8 0,0-4 0,0-9 0,0-5 0,0 34 0,-5-17 0,4-9 0,1 14 0,11-10 0,1 5 0,-1-34 0,-2-10 0,-8-18 0,4 0 0,-5-1 0,0 1 0,-5 0 0,4-1 0,-4-4 0,5-1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47.8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5178 24575,'27'0'0,"-5"0"0,-7 0 0,-4 0 0,0 0 0,9-10 0,7-6 0,11-12 0,-4 1 0,2-4 0,-14 8 0,5-18 0,-11 2 0,-5-15 0,-1-4 0,15-2 0,4 1 0,10 0 0,-8-9 0,-10-18 0,-8 35 0,0-2 0,0-2 0,2 2 0,22-34 0,-4 19 0,-5 25 0,-8 11 0,-9 1 0,4 3 0,2-4 0,9-15 0,11-8 0,7-29 0,-17 40 0,0-1 0,0-6 0,0 1 0,22-32 0,-6 3 0,-11 14 0,-6-9 0,-9-7 0,-2 4 0,-9 3 0,-1 20 0,-10 6 0,-5 5 0,-7 0 0,1-9 0,5-8 0,11-5 0,11 5 0,1 17 0,3 12 0,-9 0 0,4-3 0,5-18 0,8-3 0,14-5 0,6 2 0,11 4 0,10-4 0,6-7 0,-9 0 0,-3-14 0,-11 7 0,2 2 0,0 16 0,4 17 0,-9 11 0,8 0 0,2-21 0,10-14 0,-29 19 0,1-2 0,4 5 0,0 1 0,31-31 0,-11 26 0,-18 16 0,-21 12 0,0-1 0,-5 0 0,6-6 0,-5 5 0,8-3 0,16-1 0,20-2 0,20-8 0,0 13 0,-5 3 0,-17 0 0,-1 8 0,-14-8 0,-1 9 0,-6 1 0,-5 5 0,19-5 0,15 4 0,21-9 0,5 9 0,-21-4 0,-23 5 0,-23 0 0,-9 0 0,5 0 0,35 0 0,17 0 0,20 0 0,-2 0 0,-11 0 0,-19 0 0,-4 0 0,-24 0 0,13 5 0,12 1 0,34 5 0,-36-6 0,3 0 0,0 1 0,1-1 0,-5 0 0,-3 1 0,25-1 0,-15-9 0,-15-8 0,7-5 0,-13 6 0,-5 6 0,-11 1 0,16-7 0,35-15 0,18 2 0,-1-2 0,-29 15 0,-28 6 0,-11 5 0,-17-5 0,16 4 0,3-4 0,17 1 0,4 3 0,6 0 0,45-3 0,-41 3 0,-2 2 0,22-1 0,-30 0 0,-11 0 0,-10 0 0,5 0 0,9 0 0,14 0 0,30 0 0,3-5 0,-10-1 0,-11 0 0,-34-4 0,8 9 0,-8-4 0,5 5 0,-6 0 0,-5-4 0,-1-2 0,11-5 0,17 0 0,16-4 0,-21 5 0,2-2 0,40-15 0,-40 11 0,-2-1 0,17-15 0,-9 5 0,-19 1 0,4 4 0,6 1 0,7-1 0,14-9 0,16-7 0,-7-6 0,2 1 0,-12 6 0,-27 14 0,-5 8 0,-25 5 0,-2 9 0,-3-9 0,10 4 0,0-9 0,1 3 0,-2 1 0,-4 6 0,9-9 0,3 6 0,9-13 0,5 6 0,-3-2 0,3 1 0,0-5 0,-13 14 0,1-2 0,14 4 0,12-1 0,45-10 0,-44 10 0,0 0 0,47-4 0,-19 5 0,-37 0 0,-4 4 0,4-4 0,32 5 0,9 0 0,11 5 0,-33-4 0,-15 4 0,-32-10 0,14-1 0,-9-10 0,17 9 0,-15-7 0,-2 13 0,6-4 0,-7 5 0,6 0 0,-9 0 0,29 0 0,27-5 0,-19 2 0,2 0 0,36-3 0,-28 2 0,-39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6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 24575,'-6'74'0,"4"-21"0,4 2 0,11-2 0,4 0 0,-5 9 0,2 4 0,12 19 0,-1 3 0,-9-10 0,-3 2 0,-1 17 0,-2 2 0,-4-11 0,-3-2 0,-3-5 0,0-3 0,4-5 0,2 0 0,0 7 0,4 1 0,9-3 0,4 0 0,-1 3 0,1 0 0,4-3 0,0-3 0,-5-16 0,-1-4 0,21 33 0,-14-44 0,-6-14 0,-8 4 0,7 44 0,-10-23 0,1 6 0,6 21 0,1 5 0,3 0 0,0 0 0,-2-7 0,0-2 0,3-7 0,0-4 0,4 29 0,-7-27 0,-14-7 0,-1-14 0,-10 5 0,4 10 0,-4-3 0,10-5 0,-4-14 0,-1-24 0,-48-32 0,-8-11 0,-9-6 0,-4-2 0,-6-3 0,11 6 0,-4-2 0,3 3 0,-16-4 0,6 2 0,16 7 0,7 2 0,-19-8 0,61-4 0,18 19 0,7-9 0,5 21 0,22 18 0,9 8 0,23 16 0,-13 5 0,12 9 0,-12-3 0,8 19 0,-4-13 0,-11 13 0,-11-19 0,-12 3 0,-19-23 0,3-5 0,-9-18 0,14-1 0,7-10 0,-3 4 0,1-4 0,-14 0 0,5 0 0,-4-1 0,3-4 0,10-10 0,13-33 0,22-20 0,-31 24 0,-2-3 0,3-1 0,-3-1 0,-7-2 0,-1-2 0,4-3 0,0-1 0,-1 0 0,0 0 0,2 1 0,1 3 0,-1 12 0,0 4 0,5-11 0,-9 29 0,-15 23 0,-5-3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86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39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89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32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31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6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9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7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4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6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9A392-0DC8-8B49-8A0A-4A3C1972ED8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3AECD13-F814-E04E-AAAA-897166F7C17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04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7EB3-B82D-F8A9-3F7D-A0071541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942B-7C03-5BF4-0298-43333A810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Today – analytical distributions, part 1. </a:t>
            </a:r>
          </a:p>
          <a:p>
            <a:pPr lvl="1"/>
            <a:r>
              <a:rPr lang="en-US" dirty="0"/>
              <a:t>Roughly chapter 5 today, workbook 8. </a:t>
            </a:r>
          </a:p>
          <a:p>
            <a:pPr lvl="2"/>
            <a:r>
              <a:rPr lang="en-US" dirty="0"/>
              <a:t>We’ll rearrange a little – workbooks 8, 9, then 7. </a:t>
            </a:r>
          </a:p>
          <a:p>
            <a:pPr lvl="2"/>
            <a:r>
              <a:rPr lang="en-US" dirty="0"/>
              <a:t>7 largely overlaps, but I think is easier to look at after. </a:t>
            </a:r>
          </a:p>
          <a:p>
            <a:pPr lvl="1"/>
            <a:r>
              <a:rPr lang="en-US" dirty="0"/>
              <a:t>Matching empirical to analytical, creating analytical distributions, samples, random.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6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FAE1-CA84-49C1-2ADD-1FA9CECB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A165-0C22-7253-E54E-61B2D9D66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57" y="2015732"/>
            <a:ext cx="7107810" cy="4139971"/>
          </a:xfrm>
        </p:spPr>
        <p:txBody>
          <a:bodyPr>
            <a:normAutofit/>
          </a:bodyPr>
          <a:lstStyle/>
          <a:p>
            <a:r>
              <a:rPr lang="en-US" dirty="0"/>
              <a:t>If you suck at coding now, that’s fine. </a:t>
            </a:r>
          </a:p>
          <a:p>
            <a:r>
              <a:rPr lang="en-US" dirty="0"/>
              <a:t>I know it is annoying, I genuinely apologize. You’re in a time-crunched spot. </a:t>
            </a:r>
          </a:p>
          <a:p>
            <a:r>
              <a:rPr lang="en-US" dirty="0"/>
              <a:t>Tips:</a:t>
            </a:r>
          </a:p>
          <a:p>
            <a:pPr lvl="1"/>
            <a:r>
              <a:rPr lang="en-US" dirty="0"/>
              <a:t>Do pseudocode – list steps monotonically, in detail, in English(-</a:t>
            </a:r>
            <a:r>
              <a:rPr lang="en-US" dirty="0" err="1"/>
              <a:t>ish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Translate each step to python, look up or search if you don’t know one. </a:t>
            </a:r>
          </a:p>
          <a:p>
            <a:pPr lvl="1"/>
            <a:r>
              <a:rPr lang="en-US" dirty="0"/>
              <a:t>Use print </a:t>
            </a:r>
            <a:r>
              <a:rPr lang="en-US" dirty="0" err="1"/>
              <a:t>satements</a:t>
            </a:r>
            <a:r>
              <a:rPr lang="en-US" dirty="0"/>
              <a:t> and/or variable window to see values, line-by-line if needed.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412884-000D-C18F-C7C8-3BAC9A705DD4}"/>
              </a:ext>
            </a:extLst>
          </p:cNvPr>
          <p:cNvGrpSpPr/>
          <p:nvPr/>
        </p:nvGrpSpPr>
        <p:grpSpPr>
          <a:xfrm>
            <a:off x="7759570" y="2112562"/>
            <a:ext cx="4016520" cy="4029120"/>
            <a:chOff x="7759570" y="2112562"/>
            <a:chExt cx="4016520" cy="4029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B193AC5-A98F-D28B-7DA7-C147E36C7A46}"/>
                    </a:ext>
                  </a:extLst>
                </p14:cNvPr>
                <p14:cNvContentPartPr/>
                <p14:nvPr/>
              </p14:nvContentPartPr>
              <p14:xfrm>
                <a:off x="8088250" y="2112562"/>
                <a:ext cx="191880" cy="3399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B193AC5-A98F-D28B-7DA7-C147E36C7A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52610" y="1896562"/>
                  <a:ext cx="263520" cy="38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017C64B-25DE-6033-7D48-5B30B788EC18}"/>
                    </a:ext>
                  </a:extLst>
                </p14:cNvPr>
                <p14:cNvContentPartPr/>
                <p14:nvPr/>
              </p14:nvContentPartPr>
              <p14:xfrm>
                <a:off x="7759570" y="4979242"/>
                <a:ext cx="4016520" cy="104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017C64B-25DE-6033-7D48-5B30B788EC1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3930" y="4763242"/>
                  <a:ext cx="40881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01F53D-4CB5-EB7A-0866-A8FAD221A159}"/>
                    </a:ext>
                  </a:extLst>
                </p14:cNvPr>
                <p14:cNvContentPartPr/>
                <p14:nvPr/>
              </p14:nvContentPartPr>
              <p14:xfrm>
                <a:off x="10511770" y="5395042"/>
                <a:ext cx="116280" cy="586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01F53D-4CB5-EB7A-0866-A8FAD221A1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75770" y="5179042"/>
                  <a:ext cx="18792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158C6A-25B0-831B-0A19-5C525967CF4D}"/>
                    </a:ext>
                  </a:extLst>
                </p14:cNvPr>
                <p14:cNvContentPartPr/>
                <p14:nvPr/>
              </p14:nvContentPartPr>
              <p14:xfrm>
                <a:off x="10321690" y="5572162"/>
                <a:ext cx="456480" cy="33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158C6A-25B0-831B-0A19-5C525967CF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85690" y="5356162"/>
                  <a:ext cx="528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A284B5-8818-F92D-6A3C-21381C7AE727}"/>
                    </a:ext>
                  </a:extLst>
                </p14:cNvPr>
                <p14:cNvContentPartPr/>
                <p14:nvPr/>
              </p14:nvContentPartPr>
              <p14:xfrm>
                <a:off x="10810210" y="5744602"/>
                <a:ext cx="23400" cy="23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A284B5-8818-F92D-6A3C-21381C7AE7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74210" y="5528602"/>
                  <a:ext cx="950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6546C8-AF58-AE07-DC48-BFB6B702BC0C}"/>
                    </a:ext>
                  </a:extLst>
                </p14:cNvPr>
                <p14:cNvContentPartPr/>
                <p14:nvPr/>
              </p14:nvContentPartPr>
              <p14:xfrm>
                <a:off x="10810210" y="5676562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6546C8-AF58-AE07-DC48-BFB6B702BC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74570" y="5460922"/>
                  <a:ext cx="72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7D3201-9D89-0071-58B7-7DD2CF1F2322}"/>
                    </a:ext>
                  </a:extLst>
                </p14:cNvPr>
                <p14:cNvContentPartPr/>
                <p14:nvPr/>
              </p14:nvContentPartPr>
              <p14:xfrm>
                <a:off x="10924690" y="5702842"/>
                <a:ext cx="288000" cy="35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7D3201-9D89-0071-58B7-7DD2CF1F23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89050" y="5486842"/>
                  <a:ext cx="35964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6C0CF0-4EBB-AE47-20E1-D48972719768}"/>
                    </a:ext>
                  </a:extLst>
                </p14:cNvPr>
                <p14:cNvContentPartPr/>
                <p14:nvPr/>
              </p14:nvContentPartPr>
              <p14:xfrm>
                <a:off x="11278210" y="5781322"/>
                <a:ext cx="261720" cy="360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6C0CF0-4EBB-AE47-20E1-D4897271976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42570" y="5565322"/>
                  <a:ext cx="333360" cy="79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6429C6-948C-65DE-85A1-BF991F6C0502}"/>
              </a:ext>
            </a:extLst>
          </p:cNvPr>
          <p:cNvGrpSpPr/>
          <p:nvPr/>
        </p:nvGrpSpPr>
        <p:grpSpPr>
          <a:xfrm>
            <a:off x="6926170" y="2063962"/>
            <a:ext cx="1197000" cy="619200"/>
            <a:chOff x="6926170" y="2063962"/>
            <a:chExt cx="1197000" cy="6192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E09E41-002D-CB4B-B829-7EB131315CF6}"/>
                    </a:ext>
                  </a:extLst>
                </p14:cNvPr>
                <p14:cNvContentPartPr/>
                <p14:nvPr/>
              </p14:nvContentPartPr>
              <p14:xfrm>
                <a:off x="6926170" y="2133082"/>
                <a:ext cx="33480" cy="38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E09E41-002D-CB4B-B829-7EB131315C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90170" y="1917442"/>
                  <a:ext cx="10512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E8CB2B-3CA1-5625-BEF8-60C3A0304A4A}"/>
                    </a:ext>
                  </a:extLst>
                </p14:cNvPr>
                <p14:cNvContentPartPr/>
                <p14:nvPr/>
              </p14:nvContentPartPr>
              <p14:xfrm>
                <a:off x="7188250" y="2141002"/>
                <a:ext cx="68400" cy="40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E8CB2B-3CA1-5625-BEF8-60C3A0304A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52250" y="1925362"/>
                  <a:ext cx="14004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3258FD-9680-3044-5911-79332EA677E6}"/>
                    </a:ext>
                  </a:extLst>
                </p14:cNvPr>
                <p14:cNvContentPartPr/>
                <p14:nvPr/>
              </p14:nvContentPartPr>
              <p14:xfrm>
                <a:off x="6931570" y="2371042"/>
                <a:ext cx="390600" cy="42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3258FD-9680-3044-5911-79332EA677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95930" y="2155042"/>
                  <a:ext cx="4622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D51AB7-B9B6-51A4-2877-612F40E5C368}"/>
                    </a:ext>
                  </a:extLst>
                </p14:cNvPr>
                <p14:cNvContentPartPr/>
                <p14:nvPr/>
              </p14:nvContentPartPr>
              <p14:xfrm>
                <a:off x="7365010" y="2411002"/>
                <a:ext cx="159840" cy="26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D51AB7-B9B6-51A4-2877-612F40E5C3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29370" y="2195002"/>
                  <a:ext cx="23148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C4A4FA-9922-EC57-F59B-7D827DBA370E}"/>
                    </a:ext>
                  </a:extLst>
                </p14:cNvPr>
                <p14:cNvContentPartPr/>
                <p14:nvPr/>
              </p14:nvContentPartPr>
              <p14:xfrm>
                <a:off x="7509370" y="2373202"/>
                <a:ext cx="613800" cy="252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C4A4FA-9922-EC57-F59B-7D827DBA37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73370" y="2157202"/>
                  <a:ext cx="6854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AB5156-BA92-A9A1-7C09-24117EA29D27}"/>
                    </a:ext>
                  </a:extLst>
                </p14:cNvPr>
                <p14:cNvContentPartPr/>
                <p14:nvPr/>
              </p14:nvContentPartPr>
              <p14:xfrm>
                <a:off x="7875490" y="2063962"/>
                <a:ext cx="207720" cy="619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AB5156-BA92-A9A1-7C09-24117EA29D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9850" y="1847962"/>
                  <a:ext cx="279360" cy="10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5FD8471-C4BD-5B34-4CB4-ED2D7BAD0796}"/>
                  </a:ext>
                </a:extLst>
              </p14:cNvPr>
              <p14:cNvContentPartPr/>
              <p14:nvPr/>
            </p14:nvContentPartPr>
            <p14:xfrm>
              <a:off x="8523130" y="3095002"/>
              <a:ext cx="3519000" cy="1864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5FD8471-C4BD-5B34-4CB4-ED2D7BAD07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87490" y="3059362"/>
                <a:ext cx="3590640" cy="19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C04D4C0-6E53-5145-8D10-37580A0D91AD}"/>
                  </a:ext>
                </a:extLst>
              </p14:cNvPr>
              <p14:cNvContentPartPr/>
              <p14:nvPr/>
            </p14:nvContentPartPr>
            <p14:xfrm>
              <a:off x="8343850" y="2609722"/>
              <a:ext cx="491760" cy="13942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C04D4C0-6E53-5145-8D10-37580A0D91A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25850" y="2592082"/>
                <a:ext cx="527400" cy="14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39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7512-2BCC-4A45-979A-9837B31FD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Analytical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4DEA8-2576-554D-81C2-F7BC2D8B6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Uno</a:t>
            </a:r>
          </a:p>
        </p:txBody>
      </p:sp>
    </p:spTree>
    <p:extLst>
      <p:ext uri="{BB962C8B-B14F-4D97-AF65-F5344CB8AC3E}">
        <p14:creationId xmlns:p14="http://schemas.microsoft.com/office/powerpoint/2010/main" val="25015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6472-A291-7CA2-D3B0-1E6C4B50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is Boring, Let’s Predict Stuff!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2B9D-17B5-478D-2270-E683873F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04786-FAAE-C181-E7CA-0CA8CB45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885" y="1853754"/>
            <a:ext cx="4232229" cy="423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2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3FB6-089C-B04E-A2CC-240181A8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6265-EED6-CA43-AC23-B403FD74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used empirical distributions, or distributions we observe from collecting and analyzing data, up until now. </a:t>
            </a:r>
          </a:p>
          <a:p>
            <a:r>
              <a:rPr lang="en-US" dirty="0"/>
              <a:t>Empirical distributions are the distributions of our actual data sample. </a:t>
            </a:r>
          </a:p>
          <a:p>
            <a:r>
              <a:rPr lang="en-US" dirty="0"/>
              <a:t>Empirical:</a:t>
            </a:r>
          </a:p>
          <a:p>
            <a:pPr lvl="1"/>
            <a:r>
              <a:rPr lang="en-US" dirty="0"/>
              <a:t>Collect data.</a:t>
            </a:r>
          </a:p>
          <a:p>
            <a:pPr lvl="1"/>
            <a:r>
              <a:rPr lang="en-US" dirty="0"/>
              <a:t>Look at it to see what the distribution is. </a:t>
            </a:r>
          </a:p>
          <a:p>
            <a:r>
              <a:rPr lang="en-US" dirty="0"/>
              <a:t>Problem - you need to collect data first. </a:t>
            </a:r>
          </a:p>
        </p:txBody>
      </p:sp>
    </p:spTree>
    <p:extLst>
      <p:ext uri="{BB962C8B-B14F-4D97-AF65-F5344CB8AC3E}">
        <p14:creationId xmlns:p14="http://schemas.microsoft.com/office/powerpoint/2010/main" val="417766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24D2-AAF8-FDBE-8A9D-3DD9D828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Distribution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BF7C-A19B-A4CD-26EA-472EF26B4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The Empirical Distribution Function | Bounded Rationality">
            <a:extLst>
              <a:ext uri="{FF2B5EF4-FFF2-40B4-BE49-F238E27FC236}">
                <a16:creationId xmlns:a16="http://schemas.microsoft.com/office/drawing/2014/main" id="{A36BADAE-6B90-8483-AA0B-8DE321F23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015732"/>
            <a:ext cx="8890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19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2478-756E-F646-8532-981CC3C8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F9708-AE41-6647-B3E6-2BF4B9D9D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Analytical distributions are mathematical formulas, or models, that describe a distribution with an equation. </a:t>
            </a:r>
          </a:p>
          <a:p>
            <a:r>
              <a:rPr lang="en-US" dirty="0"/>
              <a:t>Allow for analysis and inference without collecting all that data*.</a:t>
            </a:r>
          </a:p>
          <a:p>
            <a:pPr lvl="1"/>
            <a:r>
              <a:rPr lang="en-US" dirty="0"/>
              <a:t>* More on this later. </a:t>
            </a:r>
          </a:p>
          <a:p>
            <a:r>
              <a:rPr lang="en-US" dirty="0"/>
              <a:t>The models of analytical distributions are simplifications of the distributions we can observe in data.  </a:t>
            </a:r>
          </a:p>
          <a:p>
            <a:r>
              <a:rPr lang="en-US" dirty="0"/>
              <a:t>E.g. a normal distribution is: </a:t>
            </a:r>
          </a:p>
        </p:txBody>
      </p:sp>
      <p:pic>
        <p:nvPicPr>
          <p:cNvPr id="3076" name="Picture 4" descr="What Is a Normal Distribution?">
            <a:extLst>
              <a:ext uri="{FF2B5EF4-FFF2-40B4-BE49-F238E27FC236}">
                <a16:creationId xmlns:a16="http://schemas.microsoft.com/office/drawing/2014/main" id="{D0AB4B37-BD5D-30CB-0645-2B4D5AB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02" y="4793226"/>
            <a:ext cx="6093349" cy="182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650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3D6A-4247-95DD-4E73-0BB2B5F4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3006-37A9-41E0-0797-A16DC51A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1" name="Picture 5" descr="Diferentes tipos de distribuciones y visualizaciones con ejemplos de la  vida real😍 | Kaggle">
            <a:extLst>
              <a:ext uri="{FF2B5EF4-FFF2-40B4-BE49-F238E27FC236}">
                <a16:creationId xmlns:a16="http://schemas.microsoft.com/office/drawing/2014/main" id="{C751FC9A-52D0-4C5E-C5DF-696893A8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0"/>
            <a:ext cx="9394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54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F595-BEC0-AC0F-2583-93F59B65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Discrete,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5813-2E89-6C61-13EC-E0FB075FC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98293" cy="3450613"/>
          </a:xfrm>
        </p:spPr>
        <p:txBody>
          <a:bodyPr/>
          <a:lstStyle/>
          <a:p>
            <a:r>
              <a:rPr lang="en-US" dirty="0"/>
              <a:t>Take note of if your data is discreet or not when matching distributions. </a:t>
            </a:r>
          </a:p>
          <a:p>
            <a:pPr lvl="1"/>
            <a:r>
              <a:rPr lang="en-US" dirty="0"/>
              <a:t>I.e. can the value only be specific values (shoe size) or can it be anything within the range. </a:t>
            </a:r>
          </a:p>
          <a:p>
            <a:r>
              <a:rPr lang="en-US" dirty="0"/>
              <a:t>Things will often work with a mismatch, but the details will be off. </a:t>
            </a:r>
          </a:p>
          <a:p>
            <a:pPr lvl="1"/>
            <a:r>
              <a:rPr lang="en-US" dirty="0"/>
              <a:t>A continuous distribution may generate a shoe size of 8.353, while a discreet one would be 8.5. </a:t>
            </a:r>
          </a:p>
          <a:p>
            <a:r>
              <a:rPr lang="en-US" dirty="0"/>
              <a:t>We are mostly doing continuous, when not it is usually obvious.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65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A7BD-C7C9-E940-AA85-456CDD3A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177A7-98AA-5C4C-855D-D22EA4C8F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Using a simplified model instead of real raw data requires that the model closely fits, or can be made to closely fit the distribution of the real-world data. </a:t>
            </a:r>
          </a:p>
          <a:p>
            <a:r>
              <a:rPr lang="en-US" dirty="0"/>
              <a:t>The closer an analytical distribution is in shape to the empirical data, the more accurate and better that analytical distribution will be. </a:t>
            </a:r>
          </a:p>
          <a:p>
            <a:pPr lvl="1"/>
            <a:r>
              <a:rPr lang="en-US" dirty="0"/>
              <a:t>The normal distribution on the previous slide is defined by mean and standard dev. </a:t>
            </a:r>
          </a:p>
          <a:p>
            <a:pPr lvl="1"/>
            <a:r>
              <a:rPr lang="en-US" dirty="0"/>
              <a:t>If our empirical distribution is normal, we can make a “matching” one from the mean and std.</a:t>
            </a:r>
          </a:p>
          <a:p>
            <a:pPr lvl="1"/>
            <a:r>
              <a:rPr lang="en-US" dirty="0"/>
              <a:t>Generalizing from our sample to a broad definition of the distribution. </a:t>
            </a:r>
          </a:p>
          <a:p>
            <a:r>
              <a:rPr lang="en-US" dirty="0"/>
              <a:t>Note: The book looks mainly at CDFs. I think it is a little easier/more intuitive to look at the the histogram/</a:t>
            </a:r>
            <a:r>
              <a:rPr lang="en-US" dirty="0" err="1"/>
              <a:t>pmf</a:t>
            </a:r>
            <a:r>
              <a:rPr lang="en-US" dirty="0"/>
              <a:t> perspective at first.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29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F133-F1F4-A30C-D1AC-C94CD1F1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AC97-F52D-7ED9-8EE1-513ED0B6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03986"/>
          </a:xfrm>
        </p:spPr>
        <p:txBody>
          <a:bodyPr/>
          <a:lstStyle/>
          <a:p>
            <a:r>
              <a:rPr lang="en-US" dirty="0"/>
              <a:t>Empirical distributions are the shapes of the datasets we collect. </a:t>
            </a:r>
          </a:p>
          <a:p>
            <a:pPr lvl="1"/>
            <a:r>
              <a:rPr lang="en-US" dirty="0"/>
              <a:t>Based on reality, we actually have to count and crunch numbers. </a:t>
            </a:r>
          </a:p>
          <a:p>
            <a:pPr lvl="1"/>
            <a:r>
              <a:rPr lang="en-US" dirty="0"/>
              <a:t>Limited to the data we have access to. </a:t>
            </a:r>
          </a:p>
          <a:p>
            <a:r>
              <a:rPr lang="en-US" dirty="0"/>
              <a:t>Analytical distributions are mathematical formulas that define distribution patterns. </a:t>
            </a:r>
          </a:p>
          <a:p>
            <a:pPr lvl="1"/>
            <a:r>
              <a:rPr lang="en-US" dirty="0"/>
              <a:t>Not directly based on any real-world count, it is defined by formula. </a:t>
            </a:r>
          </a:p>
          <a:p>
            <a:pPr lvl="1"/>
            <a:r>
              <a:rPr lang="en-US" dirty="0"/>
              <a:t>Not constrained by any data, values are theoretical. </a:t>
            </a:r>
          </a:p>
          <a:p>
            <a:r>
              <a:rPr lang="en-US" dirty="0"/>
              <a:t>We are usually searching for a analytical pattern that looks like our empirical one. </a:t>
            </a:r>
          </a:p>
        </p:txBody>
      </p:sp>
    </p:spTree>
    <p:extLst>
      <p:ext uri="{BB962C8B-B14F-4D97-AF65-F5344CB8AC3E}">
        <p14:creationId xmlns:p14="http://schemas.microsoft.com/office/powerpoint/2010/main" val="58539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6CA6-47E8-EC83-275A-40E58D1E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69CD9-0097-5602-6441-4B4071BC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analytical distribution is a model. </a:t>
            </a:r>
          </a:p>
          <a:p>
            <a:pPr lvl="1"/>
            <a:r>
              <a:rPr lang="en-US" dirty="0"/>
              <a:t>Simplified representation of a real thing. </a:t>
            </a:r>
          </a:p>
          <a:p>
            <a:r>
              <a:rPr lang="en-US" dirty="0"/>
              <a:t>It is never a perfect formula for reality, but it can be very close. </a:t>
            </a:r>
          </a:p>
          <a:p>
            <a:r>
              <a:rPr lang="en-US" dirty="0"/>
              <a:t>We use models to predict things. </a:t>
            </a:r>
          </a:p>
          <a:p>
            <a:pPr lvl="1"/>
            <a:r>
              <a:rPr lang="en-US" dirty="0"/>
              <a:t>The model defines what </a:t>
            </a:r>
            <a:r>
              <a:rPr lang="en-US" i="1" dirty="0"/>
              <a:t>should</a:t>
            </a:r>
            <a:r>
              <a:rPr lang="en-US" dirty="0"/>
              <a:t> happen (based on the data used to make it). </a:t>
            </a:r>
          </a:p>
          <a:p>
            <a:pPr lvl="1"/>
            <a:r>
              <a:rPr lang="en-US" dirty="0"/>
              <a:t>The more accurate our data matches reality, the better the model will work. </a:t>
            </a:r>
          </a:p>
        </p:txBody>
      </p:sp>
    </p:spTree>
    <p:extLst>
      <p:ext uri="{BB962C8B-B14F-4D97-AF65-F5344CB8AC3E}">
        <p14:creationId xmlns:p14="http://schemas.microsoft.com/office/powerpoint/2010/main" val="416429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0CCE53-313F-0D4B-B555-1B8EAE5F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/>
              <a:t>Are you Normal?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CBA31-AD61-7C42-820E-5E8F9CC2A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2015732"/>
            <a:ext cx="4886142" cy="4037747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The normal distribution is used to model many real-world distributions.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E.g. shoe size - most people are close to the mean size, as you get bigger and smaller, there’s fewer people there.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 normal dist. “fits” the shape of the dist. so we can analyze that mathematical curve and infer that real data will follow that pattern. </a:t>
            </a:r>
          </a:p>
        </p:txBody>
      </p:sp>
      <p:pic>
        <p:nvPicPr>
          <p:cNvPr id="4098" name="Picture 2" descr="What is the distribution of men&amp;#39;s shoe sizes? - Quora">
            <a:extLst>
              <a:ext uri="{FF2B5EF4-FFF2-40B4-BE49-F238E27FC236}">
                <a16:creationId xmlns:a16="http://schemas.microsoft.com/office/drawing/2014/main" id="{E8111D54-AF9E-2A4A-994C-D6163E3BF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1606" y="1360389"/>
            <a:ext cx="6974470" cy="455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392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ABBB-D42E-2553-2172-53053671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your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7AD8E-FDA9-E192-031E-8C6AD0783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470" y="1966586"/>
            <a:ext cx="5217531" cy="4086895"/>
          </a:xfrm>
        </p:spPr>
        <p:txBody>
          <a:bodyPr/>
          <a:lstStyle/>
          <a:p>
            <a:r>
              <a:rPr lang="en-US" dirty="0"/>
              <a:t>When we say that the data “is normal” or matches a distribution, we are saying:</a:t>
            </a:r>
          </a:p>
          <a:p>
            <a:pPr lvl="1"/>
            <a:r>
              <a:rPr lang="en-US" dirty="0"/>
              <a:t>We can approximate the distribution of the data with this function. </a:t>
            </a:r>
          </a:p>
          <a:p>
            <a:pPr lvl="1"/>
            <a:r>
              <a:rPr lang="en-US" dirty="0"/>
              <a:t>We expect further data to follow this pattern. </a:t>
            </a:r>
          </a:p>
          <a:p>
            <a:pPr lvl="1"/>
            <a:r>
              <a:rPr lang="en-US" dirty="0"/>
              <a:t>We can use the properties of this analytical distribution to draw inference about the population*.</a:t>
            </a:r>
          </a:p>
          <a:p>
            <a:pPr lvl="1"/>
            <a:r>
              <a:rPr lang="en-US" dirty="0"/>
              <a:t>We can use properties, like z-scores. </a:t>
            </a:r>
          </a:p>
          <a:p>
            <a:r>
              <a:rPr lang="en-US" dirty="0"/>
              <a:t>* Not without error.  </a:t>
            </a:r>
          </a:p>
        </p:txBody>
      </p:sp>
      <p:pic>
        <p:nvPicPr>
          <p:cNvPr id="4" name="Picture 2" descr="What is the distribution of men&amp;#39;s shoe sizes? - Quora">
            <a:extLst>
              <a:ext uri="{FF2B5EF4-FFF2-40B4-BE49-F238E27FC236}">
                <a16:creationId xmlns:a16="http://schemas.microsoft.com/office/drawing/2014/main" id="{10FA01D7-9B2B-66FC-6948-064B4E316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53754"/>
            <a:ext cx="6974470" cy="455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65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3264-DDAC-7F43-8B49-4EB3383B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F544-9E76-5944-B5AE-85A44EE5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Many phenomena can be modeled with a normal distribution. </a:t>
            </a:r>
          </a:p>
          <a:p>
            <a:pPr lvl="1"/>
            <a:r>
              <a:rPr lang="en-US" dirty="0"/>
              <a:t>Shoe size, weight, grades in school…</a:t>
            </a:r>
          </a:p>
          <a:p>
            <a:pPr lvl="1"/>
            <a:r>
              <a:rPr lang="en-US" dirty="0"/>
              <a:t>Most things where people tend to be close to average, and values farther away are more rare, are often normal (or close).</a:t>
            </a:r>
          </a:p>
          <a:p>
            <a:r>
              <a:rPr lang="en-US" dirty="0"/>
              <a:t>Key normal distribution facts:</a:t>
            </a:r>
          </a:p>
          <a:p>
            <a:pPr lvl="1"/>
            <a:r>
              <a:rPr lang="en-US" dirty="0"/>
              <a:t>Symmetrical on either side of the mean.</a:t>
            </a:r>
          </a:p>
          <a:p>
            <a:pPr lvl="1"/>
            <a:r>
              <a:rPr lang="en-US" dirty="0"/>
              <a:t>Median and mean are equal. </a:t>
            </a:r>
          </a:p>
          <a:p>
            <a:pPr lvl="1"/>
            <a:r>
              <a:rPr lang="en-US" dirty="0"/>
              <a:t>Defined by standard deviation and mean. </a:t>
            </a:r>
          </a:p>
          <a:p>
            <a:pPr lvl="1"/>
            <a:r>
              <a:rPr lang="en-US" dirty="0"/>
              <a:t>Known amounts fall within X standard deviations (~68%, 97%, 99%,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2"/>
            <a:r>
              <a:rPr lang="en-US" dirty="0"/>
              <a:t>We can use this to estimate how many records we can expect to fall in a range.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26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FE0BDA-819A-E44A-B59C-1A2CE55D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sz="2700"/>
              <a:t>Other Distributions - </a:t>
            </a:r>
            <a:r>
              <a:rPr lang="en-US" sz="2700" err="1"/>
              <a:t>LogNormal</a:t>
            </a:r>
            <a:endParaRPr lang="en-US" sz="27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5F7E9-E3A8-E149-9A35-8BFA15336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30" y="1847088"/>
            <a:ext cx="5944716" cy="4206390"/>
          </a:xfrm>
        </p:spPr>
        <p:txBody>
          <a:bodyPr>
            <a:normAutofit/>
          </a:bodyPr>
          <a:lstStyle/>
          <a:p>
            <a:r>
              <a:rPr lang="en-US" dirty="0"/>
              <a:t>Lognormal distributions are similar to normal, but slightly ‘tweaked’. </a:t>
            </a:r>
          </a:p>
          <a:p>
            <a:r>
              <a:rPr lang="en-US" dirty="0"/>
              <a:t>They have a longer right side tail. </a:t>
            </a:r>
          </a:p>
          <a:p>
            <a:pPr lvl="1"/>
            <a:r>
              <a:rPr lang="en-US" dirty="0"/>
              <a:t>It is skewed to the right. </a:t>
            </a:r>
          </a:p>
          <a:p>
            <a:r>
              <a:rPr lang="en-US" dirty="0"/>
              <a:t>E.g. Wave heights – there are few that are really large. </a:t>
            </a:r>
          </a:p>
          <a:p>
            <a:r>
              <a:rPr lang="en-US" dirty="0"/>
              <a:t>Heights are slightly more lognormal than normal. </a:t>
            </a:r>
          </a:p>
          <a:p>
            <a:r>
              <a:rPr lang="en-US" dirty="0"/>
              <a:t>Many wealth/income things. 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Lognormal and Normal Distribution">
            <a:extLst>
              <a:ext uri="{FF2B5EF4-FFF2-40B4-BE49-F238E27FC236}">
                <a16:creationId xmlns:a16="http://schemas.microsoft.com/office/drawing/2014/main" id="{37CDB209-8D0F-CDA9-B569-E30EE0871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849" y="729586"/>
            <a:ext cx="6013957" cy="549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469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23EC-0AF8-FFD9-4B78-001D9CD5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Lognormal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8912-5284-0823-8F39-45EEB1C41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1477" y="2015732"/>
            <a:ext cx="6033377" cy="3450613"/>
          </a:xfrm>
        </p:spPr>
        <p:txBody>
          <a:bodyPr/>
          <a:lstStyle/>
          <a:p>
            <a:r>
              <a:rPr lang="en-US" dirty="0"/>
              <a:t>Lognormal data is has a </a:t>
            </a:r>
            <a:r>
              <a:rPr lang="en-US" i="1" dirty="0"/>
              <a:t>normally distributed log. </a:t>
            </a:r>
          </a:p>
          <a:p>
            <a:pPr lvl="1"/>
            <a:r>
              <a:rPr lang="en-US" dirty="0"/>
              <a:t>Y = ln(X)</a:t>
            </a:r>
          </a:p>
          <a:p>
            <a:r>
              <a:rPr lang="en-US" dirty="0"/>
              <a:t>Lognormal data can often be transformed to normal…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5FE6A-8B4C-1082-EBE2-549398DFF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7" y="2260600"/>
            <a:ext cx="41529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0652-6841-F04E-B871-279EB871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Distributions - Exponential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4069-1BD7-8246-BF19-8D162C6D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Topical – viral spread can be modeled exponentially.</a:t>
            </a:r>
          </a:p>
          <a:p>
            <a:r>
              <a:rPr lang="en-US" dirty="0"/>
              <a:t>The “R” value often quoted is a measure of how many people an average infected person will infect. If it is greater than one, the virus spreads; if lower, it eventually dies out.</a:t>
            </a:r>
          </a:p>
          <a:p>
            <a:r>
              <a:rPr lang="en-US" dirty="0"/>
              <a:t>E.g. an R value of 1.1 would mean that 100 infected people generate 110 infections, who in turn generate 121 infections,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Real world models are more complex – vaccine penetration, population behavior, restrictions, </a:t>
            </a:r>
            <a:r>
              <a:rPr lang="en-US" dirty="0" err="1"/>
              <a:t>etc</a:t>
            </a:r>
            <a:r>
              <a:rPr lang="en-US" dirty="0"/>
              <a:t>… all complicate the math. </a:t>
            </a:r>
          </a:p>
          <a:p>
            <a:r>
              <a:rPr lang="en-US" dirty="0"/>
              <a:t>Note:  The book looks at a slightly different exponential distribution, more on that next time.</a:t>
            </a:r>
          </a:p>
        </p:txBody>
      </p:sp>
    </p:spTree>
    <p:extLst>
      <p:ext uri="{BB962C8B-B14F-4D97-AF65-F5344CB8AC3E}">
        <p14:creationId xmlns:p14="http://schemas.microsoft.com/office/powerpoint/2010/main" val="967434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67CC-3132-AD46-A606-DE458524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593" y="804519"/>
            <a:ext cx="4755261" cy="1049235"/>
          </a:xfrm>
        </p:spPr>
        <p:txBody>
          <a:bodyPr/>
          <a:lstStyle/>
          <a:p>
            <a:r>
              <a:rPr lang="en-US" dirty="0"/>
              <a:t>Exponential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1C41D-F379-724A-AD0C-09F8ACAE8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910203"/>
            <a:ext cx="6372522" cy="1143278"/>
          </a:xfrm>
        </p:spPr>
        <p:txBody>
          <a:bodyPr/>
          <a:lstStyle/>
          <a:p>
            <a:r>
              <a:rPr lang="en-US" dirty="0"/>
              <a:t>Exponential are often seen in a time-series plot, as seen on the right. </a:t>
            </a:r>
          </a:p>
        </p:txBody>
      </p:sp>
      <p:pic>
        <p:nvPicPr>
          <p:cNvPr id="1026" name="Picture 2" descr="Coronavirus is growing exponentially – here&amp;#39;s what that really means">
            <a:extLst>
              <a:ext uri="{FF2B5EF4-FFF2-40B4-BE49-F238E27FC236}">
                <a16:creationId xmlns:a16="http://schemas.microsoft.com/office/drawing/2014/main" id="{F4BB64A2-1B33-A14B-9F31-EEAE9ACD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523" y="2749463"/>
            <a:ext cx="5819477" cy="410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xponential Distribution: Uses, Parameters &amp; Examples - Statistics By Jim">
            <a:extLst>
              <a:ext uri="{FF2B5EF4-FFF2-40B4-BE49-F238E27FC236}">
                <a16:creationId xmlns:a16="http://schemas.microsoft.com/office/drawing/2014/main" id="{EC7E29DC-A042-6DDB-C0E3-509124548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04519"/>
            <a:ext cx="6299592" cy="419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310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859F-76B6-1B77-B346-0D7A123E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09C96-C5BB-1E9A-A923-8C7B1CC5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2015732"/>
            <a:ext cx="5603301" cy="4037749"/>
          </a:xfrm>
        </p:spPr>
        <p:txBody>
          <a:bodyPr/>
          <a:lstStyle/>
          <a:p>
            <a:r>
              <a:rPr lang="en-US" dirty="0"/>
              <a:t>Exponential distributions have this formula. </a:t>
            </a:r>
          </a:p>
          <a:p>
            <a:r>
              <a:rPr lang="en-US" dirty="0"/>
              <a:t>They are defined by a parameter lambda. </a:t>
            </a:r>
          </a:p>
          <a:p>
            <a:pPr lvl="1"/>
            <a:r>
              <a:rPr lang="en-US" dirty="0"/>
              <a:t>A rate – events per unit of time. </a:t>
            </a:r>
          </a:p>
          <a:p>
            <a:pPr lvl="1"/>
            <a:r>
              <a:rPr lang="en-US" dirty="0"/>
              <a:t>E(x) = 1 / lambda</a:t>
            </a:r>
          </a:p>
          <a:p>
            <a:pPr lvl="2"/>
            <a:r>
              <a:rPr lang="en-US" dirty="0"/>
              <a:t>Mean = 1 / lambda</a:t>
            </a:r>
          </a:p>
          <a:p>
            <a:pPr lvl="2"/>
            <a:r>
              <a:rPr lang="en-US" dirty="0"/>
              <a:t>Lambda = 1 / mean</a:t>
            </a:r>
          </a:p>
          <a:p>
            <a:r>
              <a:rPr lang="en-US" dirty="0"/>
              <a:t>Exponential + lambda = distribution. </a:t>
            </a:r>
          </a:p>
          <a:p>
            <a:r>
              <a:rPr lang="en-US" dirty="0"/>
              <a:t>Note: in </a:t>
            </a:r>
            <a:r>
              <a:rPr lang="en-US" dirty="0" err="1"/>
              <a:t>scipy</a:t>
            </a:r>
            <a:r>
              <a:rPr lang="en-US" dirty="0"/>
              <a:t>, there’s also loc, for the asymptote.</a:t>
            </a:r>
          </a:p>
        </p:txBody>
      </p:sp>
      <p:pic>
        <p:nvPicPr>
          <p:cNvPr id="5" name="Picture 4" descr="Exponential Distribution — Intuition, Derivation, and Applications | by  Aerin Kim | TDS Archive | Medium">
            <a:extLst>
              <a:ext uri="{FF2B5EF4-FFF2-40B4-BE49-F238E27FC236}">
                <a16:creationId xmlns:a16="http://schemas.microsoft.com/office/drawing/2014/main" id="{84A9A3DD-677A-0A3B-C044-2C2CE548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77" r="5194"/>
          <a:stretch>
            <a:fillRect/>
          </a:stretch>
        </p:blipFill>
        <p:spPr>
          <a:xfrm>
            <a:off x="5754130" y="2015732"/>
            <a:ext cx="6437870" cy="369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09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EB1A-3910-CAEF-2C2C-671EA3E1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0D8FF-D580-F956-C863-2FEF39741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77" y="2015732"/>
            <a:ext cx="5514939" cy="3450613"/>
          </a:xfrm>
        </p:spPr>
        <p:txBody>
          <a:bodyPr/>
          <a:lstStyle/>
          <a:p>
            <a:r>
              <a:rPr lang="en-US" dirty="0"/>
              <a:t>The plot of exponential growth (normally shown over time) looks like a hockey stick. </a:t>
            </a:r>
          </a:p>
          <a:p>
            <a:r>
              <a:rPr lang="en-US" dirty="0"/>
              <a:t>The histogram/</a:t>
            </a:r>
            <a:r>
              <a:rPr lang="en-US" dirty="0" err="1"/>
              <a:t>pmf</a:t>
            </a:r>
            <a:r>
              <a:rPr lang="en-US" dirty="0"/>
              <a:t>/pdf function is the “opposite”:</a:t>
            </a:r>
          </a:p>
          <a:p>
            <a:pPr lvl="1"/>
            <a:r>
              <a:rPr lang="en-US" dirty="0"/>
              <a:t>Lots of small values. (The flat, early part). </a:t>
            </a:r>
          </a:p>
          <a:p>
            <a:pPr lvl="1"/>
            <a:r>
              <a:rPr lang="en-US" dirty="0"/>
              <a:t>A few large values. (The “climbing” part). </a:t>
            </a:r>
          </a:p>
        </p:txBody>
      </p:sp>
      <p:pic>
        <p:nvPicPr>
          <p:cNvPr id="1026" name="Picture 2" descr="plot of the probability density function of the exponential distribution">
            <a:extLst>
              <a:ext uri="{FF2B5EF4-FFF2-40B4-BE49-F238E27FC236}">
                <a16:creationId xmlns:a16="http://schemas.microsoft.com/office/drawing/2014/main" id="{6C7D26DD-5554-9114-A879-460661FFB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7" r="5578" b="7185"/>
          <a:stretch/>
        </p:blipFill>
        <p:spPr bwMode="auto">
          <a:xfrm>
            <a:off x="6178616" y="1853754"/>
            <a:ext cx="6013384" cy="434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195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0385-847E-E51B-4564-4BCCD21D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CDF your Exponents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9055-C7CD-DB76-2BB7-24F4A7191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476" y="2015732"/>
            <a:ext cx="5935378" cy="4037749"/>
          </a:xfrm>
        </p:spPr>
        <p:txBody>
          <a:bodyPr/>
          <a:lstStyle/>
          <a:p>
            <a:r>
              <a:rPr lang="en-US" dirty="0"/>
              <a:t>Exponential distributions tend to be easier to match with a CDF. </a:t>
            </a:r>
          </a:p>
          <a:p>
            <a:pPr lvl="1"/>
            <a:r>
              <a:rPr lang="en-US" dirty="0"/>
              <a:t>Tends to have tones of small values, a trickle of much larger ones. </a:t>
            </a:r>
          </a:p>
          <a:p>
            <a:pPr lvl="1"/>
            <a:r>
              <a:rPr lang="en-US" dirty="0"/>
              <a:t>Especially if they are very steep or sparse. </a:t>
            </a:r>
          </a:p>
          <a:p>
            <a:r>
              <a:rPr lang="en-US" dirty="0"/>
              <a:t>It is a good idea to check the </a:t>
            </a:r>
            <a:r>
              <a:rPr lang="en-US" dirty="0" err="1"/>
              <a:t>cdf</a:t>
            </a:r>
            <a:r>
              <a:rPr lang="en-US" dirty="0"/>
              <a:t> if pdf isn’t obvious. </a:t>
            </a:r>
          </a:p>
        </p:txBody>
      </p:sp>
      <p:pic>
        <p:nvPicPr>
          <p:cNvPr id="4" name="Picture 3" descr="Statistics - Exponential distribution">
            <a:extLst>
              <a:ext uri="{FF2B5EF4-FFF2-40B4-BE49-F238E27FC236}">
                <a16:creationId xmlns:a16="http://schemas.microsoft.com/office/drawing/2014/main" id="{CBE9A1E0-EB78-06DE-4F0E-29F3BE35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76" y="2267838"/>
            <a:ext cx="44958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23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EF875-5449-C54D-8493-0CAA0A5AA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Distributions - Pareto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512E-326E-174D-8A9D-73A51CEB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2015732"/>
            <a:ext cx="7852079" cy="4037749"/>
          </a:xfrm>
        </p:spPr>
        <p:txBody>
          <a:bodyPr>
            <a:normAutofit/>
          </a:bodyPr>
          <a:lstStyle/>
          <a:p>
            <a:r>
              <a:rPr lang="en-US" dirty="0"/>
              <a:t>Pareto was an Italian economist from way back.</a:t>
            </a:r>
          </a:p>
          <a:p>
            <a:r>
              <a:rPr lang="en-US" dirty="0"/>
              <a:t>Created the 80/20 rule or Pareto Principle – 80% of the results come from 20% of the inputs. </a:t>
            </a:r>
          </a:p>
          <a:p>
            <a:pPr lvl="1"/>
            <a:r>
              <a:rPr lang="en-US" dirty="0"/>
              <a:t>Original – 80% land belongs to 20% of people. </a:t>
            </a:r>
          </a:p>
          <a:p>
            <a:pPr lvl="1"/>
            <a:r>
              <a:rPr lang="en-US" dirty="0"/>
              <a:t>Wealth – 80% of wealth belongs to 20% of people.</a:t>
            </a:r>
          </a:p>
          <a:p>
            <a:pPr lvl="1"/>
            <a:r>
              <a:rPr lang="en-US" dirty="0"/>
              <a:t>Customers – 80% of revenue comes from 20% of customers.</a:t>
            </a:r>
          </a:p>
          <a:p>
            <a:r>
              <a:rPr lang="en-US" dirty="0"/>
              <a:t>The 80/20 split varies, but the idea applies in many situations:</a:t>
            </a:r>
          </a:p>
          <a:p>
            <a:pPr lvl="1"/>
            <a:r>
              <a:rPr lang="en-US" dirty="0"/>
              <a:t>Microsoft – 80% errors from 20% bugs.</a:t>
            </a:r>
          </a:p>
          <a:p>
            <a:pPr lvl="1"/>
            <a:r>
              <a:rPr lang="en-US" dirty="0" err="1"/>
              <a:t>Heavist</a:t>
            </a:r>
            <a:r>
              <a:rPr lang="en-US" dirty="0"/>
              <a:t> &lt;10% drinkers drink &gt;90% of hard liquor.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226E2-BD20-0449-9A0D-0637DD37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34" y="419100"/>
            <a:ext cx="3175000" cy="3009900"/>
          </a:xfrm>
          <a:prstGeom prst="rect">
            <a:avLst/>
          </a:prstGeom>
        </p:spPr>
      </p:pic>
      <p:pic>
        <p:nvPicPr>
          <p:cNvPr id="6146" name="Picture 2" descr="Pareto Distribution - GeeksforGeeks">
            <a:extLst>
              <a:ext uri="{FF2B5EF4-FFF2-40B4-BE49-F238E27FC236}">
                <a16:creationId xmlns:a16="http://schemas.microsoft.com/office/drawing/2014/main" id="{7C0C7318-1321-13EC-AADA-7C17EDAC1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253" y="3429000"/>
            <a:ext cx="5118747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681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A31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rice&amp;#39;s Law &amp;amp; Pareto Distribution Inequality – Success &amp;amp; Failure">
            <a:extLst>
              <a:ext uri="{FF2B5EF4-FFF2-40B4-BE49-F238E27FC236}">
                <a16:creationId xmlns:a16="http://schemas.microsoft.com/office/drawing/2014/main" id="{C8B4DCC6-14D6-F544-B893-2B3775A2FF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3570" y="643467"/>
            <a:ext cx="804486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032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6C3F-8A01-06EC-E8B2-9A6102670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Tell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3272-0437-27C0-F4E6-BDE1BFD0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You may notice some distributions are close to each other. </a:t>
            </a:r>
          </a:p>
          <a:p>
            <a:pPr lvl="1"/>
            <a:r>
              <a:rPr lang="en-US" dirty="0"/>
              <a:t>Exponential can look similar to pareto. </a:t>
            </a:r>
          </a:p>
          <a:p>
            <a:r>
              <a:rPr lang="en-US" dirty="0"/>
              <a:t>How do we know which one is correct? </a:t>
            </a:r>
          </a:p>
          <a:p>
            <a:pPr lvl="1"/>
            <a:r>
              <a:rPr lang="en-US" dirty="0"/>
              <a:t>We don’t!</a:t>
            </a:r>
          </a:p>
          <a:p>
            <a:r>
              <a:rPr lang="en-US" dirty="0"/>
              <a:t>We want the model that most closely matches </a:t>
            </a:r>
            <a:r>
              <a:rPr lang="en-US"/>
              <a:t>the real</a:t>
            </a:r>
            <a:r>
              <a:rPr lang="en-US" dirty="0"/>
              <a:t>-</a:t>
            </a:r>
            <a:r>
              <a:rPr lang="en-US"/>
              <a:t>world </a:t>
            </a:r>
            <a:r>
              <a:rPr lang="en-US" dirty="0"/>
              <a:t>data. </a:t>
            </a:r>
          </a:p>
          <a:p>
            <a:pPr lvl="1"/>
            <a:r>
              <a:rPr lang="en-US" dirty="0"/>
              <a:t>If we can’t tell, they are likely close enough that they’ll perform similarly. </a:t>
            </a:r>
          </a:p>
          <a:p>
            <a:pPr lvl="1"/>
            <a:r>
              <a:rPr lang="en-US" dirty="0"/>
              <a:t>We may be able to perform analytical tests. </a:t>
            </a:r>
          </a:p>
          <a:p>
            <a:pPr lvl="1"/>
            <a:r>
              <a:rPr lang="en-US" dirty="0"/>
              <a:t>Domain knowledge or other similar data may help inform us. </a:t>
            </a:r>
          </a:p>
        </p:txBody>
      </p:sp>
      <p:pic>
        <p:nvPicPr>
          <p:cNvPr id="4" name="Picture 3" descr="Heavy Tailed Distribution &amp; Light Tailed Distribution: Definition &amp;  Examples - Statistics How To">
            <a:extLst>
              <a:ext uri="{FF2B5EF4-FFF2-40B4-BE49-F238E27FC236}">
                <a16:creationId xmlns:a16="http://schemas.microsoft.com/office/drawing/2014/main" id="{96275DB5-0811-8AA3-3B2B-1770B966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870" y="1853754"/>
            <a:ext cx="3375795" cy="200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93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3F7D-1356-9240-983E-59AEA90F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Bother? Great Expectations!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1C2E-B5FE-E540-A8D7-832EB72B9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5"/>
            <a:ext cx="5412658" cy="41997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models are wrong, some are useful.</a:t>
            </a:r>
          </a:p>
          <a:p>
            <a:r>
              <a:rPr lang="en-US" dirty="0"/>
              <a:t>Models give a simplified picture of complex and noisy real-world scenarios. </a:t>
            </a:r>
          </a:p>
          <a:p>
            <a:r>
              <a:rPr lang="en-US" dirty="0"/>
              <a:t>Model assumptions fill gaps in knowledge. </a:t>
            </a:r>
          </a:p>
          <a:p>
            <a:r>
              <a:rPr lang="en-US" dirty="0"/>
              <a:t>If a model fits something, we can use it to do calculations and draw </a:t>
            </a:r>
            <a:r>
              <a:rPr lang="en-US" b="1" dirty="0"/>
              <a:t>inference</a:t>
            </a:r>
            <a:r>
              <a:rPr lang="en-US" dirty="0"/>
              <a:t>.</a:t>
            </a:r>
          </a:p>
          <a:p>
            <a:r>
              <a:rPr lang="en-US" dirty="0"/>
              <a:t>Ex. We can try to “fit” a model to explain the spread of COVID. </a:t>
            </a:r>
          </a:p>
          <a:p>
            <a:pPr lvl="1"/>
            <a:r>
              <a:rPr lang="en-US" dirty="0"/>
              <a:t>We understand flu spread and can measure the reproduction rate of covid to estimate. </a:t>
            </a:r>
          </a:p>
        </p:txBody>
      </p:sp>
      <p:pic>
        <p:nvPicPr>
          <p:cNvPr id="2050" name="Picture 2" descr="All Models Are Wrong, Some Are Very Wrong!">
            <a:extLst>
              <a:ext uri="{FF2B5EF4-FFF2-40B4-BE49-F238E27FC236}">
                <a16:creationId xmlns:a16="http://schemas.microsoft.com/office/drawing/2014/main" id="{BEA6BC59-B82B-79D1-F97C-62B1C7C775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94"/>
          <a:stretch/>
        </p:blipFill>
        <p:spPr bwMode="auto">
          <a:xfrm>
            <a:off x="5293390" y="2408962"/>
            <a:ext cx="6723957" cy="31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13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30D9-9B91-600F-7A29-314758A0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4C91B-3315-CB30-C8EE-4135AB024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main way that we identify distributions is by sight. </a:t>
            </a:r>
          </a:p>
          <a:p>
            <a:r>
              <a:rPr lang="en-US" dirty="0"/>
              <a:t>We can also use some statistical tests to measure it. </a:t>
            </a:r>
          </a:p>
          <a:p>
            <a:pPr lvl="1"/>
            <a:r>
              <a:rPr lang="en-US" dirty="0"/>
              <a:t>Details are irrelevant, basically ”how far are real values from perfect distribution”. </a:t>
            </a:r>
          </a:p>
          <a:p>
            <a:r>
              <a:rPr lang="en-US" dirty="0"/>
              <a:t>There’s a normality test in </a:t>
            </a:r>
            <a:r>
              <a:rPr lang="en-US" dirty="0" err="1"/>
              <a:t>scipy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is a hypothesis test – how likely is it that we can reject the null hypothesis of “the data is normal”. </a:t>
            </a:r>
          </a:p>
          <a:p>
            <a:r>
              <a:rPr lang="en-US" dirty="0"/>
              <a:t>There’s also a normality plot, where we can check visually. </a:t>
            </a:r>
          </a:p>
          <a:p>
            <a:r>
              <a:rPr lang="en-US" dirty="0"/>
              <a:t>This is ultimately always a judgement call, there’s no yes/no metric. </a:t>
            </a:r>
          </a:p>
        </p:txBody>
      </p:sp>
    </p:spTree>
    <p:extLst>
      <p:ext uri="{BB962C8B-B14F-4D97-AF65-F5344CB8AC3E}">
        <p14:creationId xmlns:p14="http://schemas.microsoft.com/office/powerpoint/2010/main" val="2233825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5A04-BD53-6416-BD8F-4DC84893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Preview: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16110-EFD4-57AE-B814-A641C7B9E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Hypothesis tests are common in things like medical trials. </a:t>
            </a:r>
          </a:p>
          <a:p>
            <a:pPr lvl="1"/>
            <a:r>
              <a:rPr lang="en-US" dirty="0"/>
              <a:t>The treatment group lives X years longer, is that real? </a:t>
            </a:r>
          </a:p>
          <a:p>
            <a:r>
              <a:rPr lang="en-US" dirty="0"/>
              <a:t>We can frame a hypothesis test as “how likely to occur was the effect we saw in the data, just through natural variation”?</a:t>
            </a:r>
          </a:p>
          <a:p>
            <a:pPr lvl="1"/>
            <a:r>
              <a:rPr lang="en-US" dirty="0"/>
              <a:t>If the treatment group lived one month longer, might be luck. 10 years, likely real. </a:t>
            </a:r>
          </a:p>
          <a:p>
            <a:pPr lvl="1"/>
            <a:r>
              <a:rPr lang="en-US" dirty="0"/>
              <a:t>P=.05 is a 5% chance of the effect happening randomly. </a:t>
            </a:r>
          </a:p>
          <a:p>
            <a:r>
              <a:rPr lang="en-US" dirty="0"/>
              <a:t>The analytical distribution is the baseline expectation. </a:t>
            </a:r>
          </a:p>
          <a:p>
            <a:pPr lvl="1"/>
            <a:r>
              <a:rPr lang="en-US" dirty="0"/>
              <a:t>If we select random variables following that baseline, how many times will it match the effect.</a:t>
            </a:r>
          </a:p>
          <a:p>
            <a:pPr lvl="1"/>
            <a:r>
              <a:rPr lang="en-US" dirty="0"/>
              <a:t>For distribution tests, how frequently could data from this analytical distribution look like the empirical data. </a:t>
            </a:r>
          </a:p>
        </p:txBody>
      </p:sp>
    </p:spTree>
    <p:extLst>
      <p:ext uri="{BB962C8B-B14F-4D97-AF65-F5344CB8AC3E}">
        <p14:creationId xmlns:p14="http://schemas.microsoft.com/office/powerpoint/2010/main" val="2408719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094F-5EE2-3F68-AC7A-A688DF04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1465-838D-37D6-BCAC-2DC22EA99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058" y="2015732"/>
            <a:ext cx="5481772" cy="4037749"/>
          </a:xfrm>
        </p:spPr>
        <p:txBody>
          <a:bodyPr>
            <a:normAutofit/>
          </a:bodyPr>
          <a:lstStyle/>
          <a:p>
            <a:r>
              <a:rPr lang="en-US" dirty="0" err="1"/>
              <a:t>Thinkstats</a:t>
            </a:r>
            <a:r>
              <a:rPr lang="en-US" dirty="0"/>
              <a:t> has a normal probability plot.</a:t>
            </a:r>
          </a:p>
          <a:p>
            <a:r>
              <a:rPr lang="en-US" dirty="0"/>
              <a:t>It plots:</a:t>
            </a:r>
          </a:p>
          <a:p>
            <a:pPr lvl="1"/>
            <a:r>
              <a:rPr lang="en-US" dirty="0"/>
              <a:t>X: a theoretical normal distribution. </a:t>
            </a:r>
          </a:p>
          <a:p>
            <a:pPr lvl="1"/>
            <a:r>
              <a:rPr lang="en-US" dirty="0"/>
              <a:t>Y: the empirical data. (Blue)</a:t>
            </a:r>
          </a:p>
          <a:p>
            <a:r>
              <a:rPr lang="en-US" dirty="0"/>
              <a:t>We can check that the two lines are close. </a:t>
            </a:r>
          </a:p>
          <a:p>
            <a:pPr lvl="1"/>
            <a:r>
              <a:rPr lang="en-US" dirty="0"/>
              <a:t>Higher: the empirical data has is higher here. </a:t>
            </a:r>
          </a:p>
          <a:p>
            <a:pPr lvl="1"/>
            <a:r>
              <a:rPr lang="en-US" dirty="0"/>
              <a:t>Lower: the empirical data is lower here.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85DB9-4A3C-3EBC-AE1C-7CD44A6E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428"/>
            <a:ext cx="6468058" cy="32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13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A67E9BD-6BDA-9E4B-BC24-A43D9240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804520"/>
            <a:ext cx="5031743" cy="1049235"/>
          </a:xfrm>
        </p:spPr>
        <p:txBody>
          <a:bodyPr>
            <a:normAutofit/>
          </a:bodyPr>
          <a:lstStyle/>
          <a:p>
            <a:r>
              <a:rPr lang="en-US" dirty="0"/>
              <a:t>Simple Example – Use model to Predict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4AE7-D507-0242-9DBD-C40892779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16" y="1853755"/>
            <a:ext cx="5893691" cy="4199719"/>
          </a:xfrm>
        </p:spPr>
        <p:txBody>
          <a:bodyPr>
            <a:normAutofit/>
          </a:bodyPr>
          <a:lstStyle/>
          <a:p>
            <a:r>
              <a:rPr lang="en-US" dirty="0"/>
              <a:t>If someone is 67 inches tall, how much do they weigh? </a:t>
            </a:r>
          </a:p>
          <a:p>
            <a:r>
              <a:rPr lang="en-US" dirty="0"/>
              <a:t>Blue dots are the empirical data. </a:t>
            </a:r>
          </a:p>
          <a:p>
            <a:r>
              <a:rPr lang="en-US" dirty="0"/>
              <a:t>Red line is model (best fit). </a:t>
            </a:r>
          </a:p>
          <a:p>
            <a:r>
              <a:rPr lang="en-US" dirty="0"/>
              <a:t>We don’t have empirical data on the weight of a 67 inch person. </a:t>
            </a:r>
          </a:p>
          <a:p>
            <a:r>
              <a:rPr lang="en-US" dirty="0"/>
              <a:t>We do have a model that gives us an estimate, based on the empirical data. </a:t>
            </a:r>
          </a:p>
          <a:p>
            <a:r>
              <a:rPr lang="en-US" dirty="0"/>
              <a:t>We introduce uncertainty here. </a:t>
            </a:r>
          </a:p>
        </p:txBody>
      </p:sp>
      <p:pic>
        <p:nvPicPr>
          <p:cNvPr id="5122" name="Picture 2" descr="Lesson 9: Linear Regression Foundations">
            <a:extLst>
              <a:ext uri="{FF2B5EF4-FFF2-40B4-BE49-F238E27FC236}">
                <a16:creationId xmlns:a16="http://schemas.microsoft.com/office/drawing/2014/main" id="{C734B908-9DD0-384D-830B-40455249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0" y="697859"/>
            <a:ext cx="6097589" cy="410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649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0C76-0923-AD6D-EF3A-945E1B5C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and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AE18-2EF5-D973-BA97-BB3035BD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226" y="1853754"/>
            <a:ext cx="5173864" cy="4199727"/>
          </a:xfrm>
        </p:spPr>
        <p:txBody>
          <a:bodyPr/>
          <a:lstStyle/>
          <a:p>
            <a:r>
              <a:rPr lang="en-US" dirty="0"/>
              <a:t>Our data, and its stats, comes from a sample. </a:t>
            </a:r>
          </a:p>
          <a:p>
            <a:r>
              <a:rPr lang="en-US" dirty="0"/>
              <a:t>The population has lots of data. </a:t>
            </a:r>
          </a:p>
          <a:p>
            <a:r>
              <a:rPr lang="en-US" dirty="0"/>
              <a:t>Our sample is a small subset. </a:t>
            </a:r>
          </a:p>
          <a:p>
            <a:r>
              <a:rPr lang="en-US" dirty="0"/>
              <a:t>Our sample is representative if the distribution of the sample matches the distribution of the population. </a:t>
            </a:r>
          </a:p>
          <a:p>
            <a:r>
              <a:rPr lang="en-US" dirty="0"/>
              <a:t>We ‘generate’ an analytical distribution based on the sample’s characteristics. </a:t>
            </a:r>
          </a:p>
          <a:p>
            <a:pPr lvl="1"/>
            <a:r>
              <a:rPr lang="en-US" dirty="0"/>
              <a:t>This inserts uncertainty. </a:t>
            </a:r>
          </a:p>
        </p:txBody>
      </p:sp>
      <p:pic>
        <p:nvPicPr>
          <p:cNvPr id="7170" name="Picture 2" descr="Sampling Distribution - GeeksforGeeks">
            <a:extLst>
              <a:ext uri="{FF2B5EF4-FFF2-40B4-BE49-F238E27FC236}">
                <a16:creationId xmlns:a16="http://schemas.microsoft.com/office/drawing/2014/main" id="{BB96D3DA-5082-AD32-AFD4-3FFA44E9E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5732"/>
            <a:ext cx="6901226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207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7711-F918-C335-EE02-61C72F7B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 May Vary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D2B3-F1D8-B04B-4457-2D3EDCCFC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5918156" cy="4037749"/>
          </a:xfrm>
        </p:spPr>
        <p:txBody>
          <a:bodyPr>
            <a:normAutofit/>
          </a:bodyPr>
          <a:lstStyle/>
          <a:p>
            <a:r>
              <a:rPr lang="en-US" dirty="0"/>
              <a:t>If we have a large enough sample from a consistent population, it should be stable. </a:t>
            </a:r>
          </a:p>
          <a:p>
            <a:r>
              <a:rPr lang="en-US" dirty="0"/>
              <a:t>If those things aren’t true, we can get variance from sample to sample. </a:t>
            </a:r>
          </a:p>
          <a:p>
            <a:pPr lvl="1"/>
            <a:r>
              <a:rPr lang="en-US" dirty="0"/>
              <a:t>E.g. we are polling 100 people on their height in a university of 40,000 people. </a:t>
            </a:r>
          </a:p>
          <a:p>
            <a:pPr lvl="1"/>
            <a:r>
              <a:rPr lang="en-US" dirty="0"/>
              <a:t>More samples of 100 probably vary somewhat from each other. </a:t>
            </a:r>
          </a:p>
          <a:p>
            <a:pPr lvl="1"/>
            <a:r>
              <a:rPr lang="en-US" dirty="0"/>
              <a:t>This is despite them being from the same population.</a:t>
            </a:r>
          </a:p>
        </p:txBody>
      </p:sp>
      <p:pic>
        <p:nvPicPr>
          <p:cNvPr id="4" name="Picture 3" descr="Population vs Sample and Parameter vs Statistics | by Bala Murugan N G |  Analytics Vidhya">
            <a:extLst>
              <a:ext uri="{FF2B5EF4-FFF2-40B4-BE49-F238E27FC236}">
                <a16:creationId xmlns:a16="http://schemas.microsoft.com/office/drawing/2014/main" id="{2D7A5337-BD8F-6E8E-4D1A-76E9114C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6" y="1853754"/>
            <a:ext cx="6273844" cy="34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05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EDE7-0E08-6DD1-2231-5F128000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- Sampling and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70852-A2E2-6EA6-C1D4-E1A2B0BC9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954060"/>
            <a:ext cx="6354599" cy="4099421"/>
          </a:xfrm>
        </p:spPr>
        <p:txBody>
          <a:bodyPr>
            <a:normAutofit/>
          </a:bodyPr>
          <a:lstStyle/>
          <a:p>
            <a:r>
              <a:rPr lang="en-US" dirty="0"/>
              <a:t>Once we ‘establish’ a distribution, we can sample from it. </a:t>
            </a:r>
          </a:p>
          <a:p>
            <a:r>
              <a:rPr lang="en-US" dirty="0"/>
              <a:t>Sample is N random values, following that distribution. </a:t>
            </a:r>
          </a:p>
          <a:p>
            <a:pPr lvl="1"/>
            <a:r>
              <a:rPr lang="en-US" dirty="0"/>
              <a:t>Density is the probability of an item of that value. </a:t>
            </a:r>
          </a:p>
          <a:p>
            <a:r>
              <a:rPr lang="en-US" dirty="0"/>
              <a:t>Simple example – Nike making shoes of different sizes:</a:t>
            </a:r>
          </a:p>
          <a:p>
            <a:pPr lvl="1"/>
            <a:r>
              <a:rPr lang="en-US" dirty="0"/>
              <a:t>Capture an empirical sample of shoe sizes. </a:t>
            </a:r>
          </a:p>
          <a:p>
            <a:pPr lvl="1"/>
            <a:r>
              <a:rPr lang="en-US" dirty="0"/>
              <a:t>Observe that empirical distribution is normal-</a:t>
            </a:r>
            <a:r>
              <a:rPr lang="en-US" dirty="0" err="1"/>
              <a:t>ish</a:t>
            </a:r>
            <a:r>
              <a:rPr lang="en-US" dirty="0"/>
              <a:t>, calculate mean and standard deviation. </a:t>
            </a:r>
          </a:p>
          <a:p>
            <a:pPr lvl="1"/>
            <a:r>
              <a:rPr lang="en-US" dirty="0"/>
              <a:t>Create an analytical distribution with those params. </a:t>
            </a:r>
          </a:p>
          <a:p>
            <a:pPr lvl="1"/>
            <a:r>
              <a:rPr lang="en-US" dirty="0"/>
              <a:t>Generate [expected sales] random variables, count number in each size, profit. </a:t>
            </a:r>
          </a:p>
        </p:txBody>
      </p:sp>
      <p:pic>
        <p:nvPicPr>
          <p:cNvPr id="2050" name="Picture 2" descr="Research on the Characteristic and Gender Differences in Adult Foot Shape  in China | SpringerLink">
            <a:extLst>
              <a:ext uri="{FF2B5EF4-FFF2-40B4-BE49-F238E27FC236}">
                <a16:creationId xmlns:a16="http://schemas.microsoft.com/office/drawing/2014/main" id="{CCD70528-15FA-38D3-913C-30EACC3DE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600" y="1853754"/>
            <a:ext cx="5837400" cy="3877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045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8B36-F6B0-A25B-53D3-974CE15E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8063-C774-7CD8-36BA-FC77C485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Understanding Random Variables and Probability Distributions | Towards Data  Science">
            <a:extLst>
              <a:ext uri="{FF2B5EF4-FFF2-40B4-BE49-F238E27FC236}">
                <a16:creationId xmlns:a16="http://schemas.microsoft.com/office/drawing/2014/main" id="{D5BE6BC9-ED5F-5A97-E2DE-09C3F63F7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0"/>
            <a:ext cx="1156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19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FB3D-C35B-B136-BBB4-278A248A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F8CC-D188-5EF9-97E4-97C2ACA7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7887"/>
            <a:ext cx="9603275" cy="4075593"/>
          </a:xfrm>
        </p:spPr>
        <p:txBody>
          <a:bodyPr/>
          <a:lstStyle/>
          <a:p>
            <a:r>
              <a:rPr lang="en-US" dirty="0"/>
              <a:t>While data often matches common distributions, sometimes it doesn’t. </a:t>
            </a:r>
          </a:p>
          <a:p>
            <a:r>
              <a:rPr lang="en-US" dirty="0"/>
              <a:t>We can help make analysis easier by transforming the data, so it fits better. </a:t>
            </a:r>
          </a:p>
          <a:p>
            <a:pPr lvl="1"/>
            <a:r>
              <a:rPr lang="en-US" dirty="0"/>
              <a:t>I.e. do some mathematical operation on the dataset. </a:t>
            </a:r>
          </a:p>
          <a:p>
            <a:pPr lvl="1"/>
            <a:r>
              <a:rPr lang="en-US" dirty="0"/>
              <a:t>Do the stats stuff with the transformed dataset. </a:t>
            </a:r>
          </a:p>
          <a:p>
            <a:pPr lvl="1"/>
            <a:r>
              <a:rPr lang="en-US" dirty="0"/>
              <a:t>Convert between model and reality with that transformation. </a:t>
            </a:r>
          </a:p>
          <a:p>
            <a:r>
              <a:rPr lang="en-US" dirty="0"/>
              <a:t>Stupidly simple example – we are analyzing temperatures and we can’t use negatives. </a:t>
            </a:r>
          </a:p>
          <a:p>
            <a:pPr lvl="1"/>
            <a:r>
              <a:rPr lang="en-US" dirty="0"/>
              <a:t>Do a transformation – add 100 to every temperature value. </a:t>
            </a:r>
          </a:p>
          <a:p>
            <a:pPr lvl="1"/>
            <a:r>
              <a:rPr lang="en-US" dirty="0"/>
              <a:t>Do whatever analysis with the +100 data. </a:t>
            </a:r>
          </a:p>
          <a:p>
            <a:pPr lvl="1"/>
            <a:r>
              <a:rPr lang="en-US" dirty="0"/>
              <a:t>To translate to real temperatures, -100. </a:t>
            </a:r>
          </a:p>
        </p:txBody>
      </p:sp>
      <p:pic>
        <p:nvPicPr>
          <p:cNvPr id="4" name="Picture 3" descr="Watch Transformers One | Prime Video">
            <a:extLst>
              <a:ext uri="{FF2B5EF4-FFF2-40B4-BE49-F238E27FC236}">
                <a16:creationId xmlns:a16="http://schemas.microsoft.com/office/drawing/2014/main" id="{43E04E70-B1A9-0689-D9AB-A199A02C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017" y="0"/>
            <a:ext cx="2588983" cy="388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86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1334-D9BC-B8A7-2543-C0E80759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06556-8A7C-2BFD-2400-62AE9F05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258" y="1853754"/>
            <a:ext cx="4938646" cy="4199727"/>
          </a:xfrm>
        </p:spPr>
        <p:txBody>
          <a:bodyPr/>
          <a:lstStyle/>
          <a:p>
            <a:r>
              <a:rPr lang="en-US" dirty="0"/>
              <a:t>In stats, there are a few common transformations. </a:t>
            </a:r>
          </a:p>
          <a:p>
            <a:pPr lvl="1"/>
            <a:r>
              <a:rPr lang="en-US" dirty="0"/>
              <a:t>Often to make data normal. </a:t>
            </a:r>
          </a:p>
          <a:p>
            <a:r>
              <a:rPr lang="en-US" dirty="0"/>
              <a:t>Skewed data is often transformed with log/exponent. </a:t>
            </a:r>
          </a:p>
          <a:p>
            <a:r>
              <a:rPr lang="en-US" dirty="0"/>
              <a:t>Exponential data can be made linear with logarithms. </a:t>
            </a:r>
          </a:p>
          <a:p>
            <a:r>
              <a:rPr lang="en-US" dirty="0"/>
              <a:t>There are a few others, but it could be anything. </a:t>
            </a:r>
          </a:p>
          <a:p>
            <a:pPr lvl="1"/>
            <a:r>
              <a:rPr lang="en-US" dirty="0"/>
              <a:t>As long as the operation is undoable. </a:t>
            </a:r>
          </a:p>
          <a:p>
            <a:endParaRPr lang="en-US" dirty="0"/>
          </a:p>
        </p:txBody>
      </p:sp>
      <p:pic>
        <p:nvPicPr>
          <p:cNvPr id="1026" name="Picture 2" descr="How to transform the data to make normally distributed? - Data Science, AI  and ML - Discussion Forum | Board Infinity">
            <a:extLst>
              <a:ext uri="{FF2B5EF4-FFF2-40B4-BE49-F238E27FC236}">
                <a16:creationId xmlns:a16="http://schemas.microsoft.com/office/drawing/2014/main" id="{ACD4CAB2-858D-36E4-B119-3835F043EB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9" b="8204"/>
          <a:stretch>
            <a:fillRect/>
          </a:stretch>
        </p:blipFill>
        <p:spPr bwMode="auto">
          <a:xfrm>
            <a:off x="151096" y="1853754"/>
            <a:ext cx="6951162" cy="424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074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99D2-8C4A-3102-46E6-EE59280F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 and Exponents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50CF-243C-0DFE-69BA-AED736068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1853754"/>
            <a:ext cx="5676618" cy="4199727"/>
          </a:xfrm>
        </p:spPr>
        <p:txBody>
          <a:bodyPr/>
          <a:lstStyle/>
          <a:p>
            <a:r>
              <a:rPr lang="en-US" dirty="0"/>
              <a:t>Log and exponent operations are opposites. </a:t>
            </a:r>
          </a:p>
          <a:p>
            <a:pPr lvl="1"/>
            <a:r>
              <a:rPr lang="en-US" dirty="0"/>
              <a:t>X = </a:t>
            </a:r>
            <a:r>
              <a:rPr lang="en-US" dirty="0" err="1"/>
              <a:t>b</a:t>
            </a:r>
            <a:r>
              <a:rPr lang="en-US" baseline="30000" dirty="0" err="1"/>
              <a:t>c</a:t>
            </a:r>
            <a:endParaRPr lang="en-US" baseline="30000" dirty="0"/>
          </a:p>
          <a:p>
            <a:pPr lvl="1"/>
            <a:r>
              <a:rPr lang="en-US" dirty="0" err="1"/>
              <a:t>Log</a:t>
            </a:r>
            <a:r>
              <a:rPr lang="en-US" baseline="-25000" dirty="0" err="1"/>
              <a:t>b</a:t>
            </a:r>
            <a:r>
              <a:rPr lang="en-US" dirty="0"/>
              <a:t>(x) = c</a:t>
            </a:r>
          </a:p>
          <a:p>
            <a:r>
              <a:rPr lang="en-US" dirty="0"/>
              <a:t>Common to use as transformations. </a:t>
            </a:r>
          </a:p>
          <a:p>
            <a:pPr lvl="1"/>
            <a:r>
              <a:rPr lang="en-US" dirty="0"/>
              <a:t>Exponential growth on a log scale is a line. </a:t>
            </a:r>
          </a:p>
          <a:p>
            <a:pPr lvl="1"/>
            <a:r>
              <a:rPr lang="en-US" dirty="0"/>
              <a:t>Can make data normal for analysis. </a:t>
            </a:r>
          </a:p>
          <a:p>
            <a:r>
              <a:rPr lang="en-US" dirty="0"/>
              <a:t>The transformed data is easier to resolve.</a:t>
            </a:r>
          </a:p>
          <a:p>
            <a:pPr lvl="1"/>
            <a:r>
              <a:rPr lang="en-US" dirty="0"/>
              <a:t>Projection for Mar 17 is easier than exp graph. </a:t>
            </a:r>
          </a:p>
        </p:txBody>
      </p:sp>
      <p:pic>
        <p:nvPicPr>
          <p:cNvPr id="4" name="Graphic 3" descr="Exponential growth and log scales - All this">
            <a:extLst>
              <a:ext uri="{FF2B5EF4-FFF2-40B4-BE49-F238E27FC236}">
                <a16:creationId xmlns:a16="http://schemas.microsoft.com/office/drawing/2014/main" id="{1B5C56E9-3770-DDBD-E9E1-B9C7E9A59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8197" y="1853754"/>
            <a:ext cx="5063803" cy="337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74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B1BE-1A22-564C-A6CC-B36E5520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D71C-1595-5E78-DC84-E6F7C2CF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824188"/>
          </a:xfrm>
        </p:spPr>
        <p:txBody>
          <a:bodyPr/>
          <a:lstStyle/>
          <a:p>
            <a:r>
              <a:rPr lang="en-US" dirty="0"/>
              <a:t>SciPy is a library that we use for </a:t>
            </a:r>
            <a:r>
              <a:rPr lang="en-US" dirty="0" err="1"/>
              <a:t>mathy</a:t>
            </a:r>
            <a:r>
              <a:rPr lang="en-US" dirty="0"/>
              <a:t> stuff. </a:t>
            </a:r>
          </a:p>
          <a:p>
            <a:r>
              <a:rPr lang="en-US" dirty="0"/>
              <a:t>Here, we’ll use analytical distributions from </a:t>
            </a:r>
            <a:r>
              <a:rPr lang="en-US" dirty="0" err="1"/>
              <a:t>scipy</a:t>
            </a:r>
            <a:r>
              <a:rPr lang="en-US" dirty="0"/>
              <a:t>. </a:t>
            </a:r>
          </a:p>
          <a:p>
            <a:r>
              <a:rPr lang="en-US" dirty="0"/>
              <a:t>The documentation kind of sucks, but our needs are limited. </a:t>
            </a:r>
          </a:p>
          <a:p>
            <a:r>
              <a:rPr lang="en-US" dirty="0"/>
              <a:t>Most common usage:</a:t>
            </a:r>
          </a:p>
          <a:p>
            <a:pPr lvl="1"/>
            <a:r>
              <a:rPr lang="en-US" dirty="0"/>
              <a:t>Generate statistics from empirical data. </a:t>
            </a:r>
          </a:p>
          <a:p>
            <a:pPr lvl="1"/>
            <a:r>
              <a:rPr lang="en-US" dirty="0"/>
              <a:t>Use those stats to create analytical distribution and create random data from it.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72682-8D8C-274F-847F-4F9391484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67" y="4839920"/>
            <a:ext cx="11516866" cy="78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24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7A5E-D80F-F001-C7CD-63BBA7F1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Scipy</a:t>
            </a:r>
            <a:r>
              <a:rPr lang="en-US" dirty="0"/>
              <a:t>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B389-5851-1CCF-6F97-E4C1CBCC3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need to:</a:t>
            </a:r>
          </a:p>
          <a:p>
            <a:pPr lvl="1"/>
            <a:r>
              <a:rPr lang="en-US" dirty="0"/>
              <a:t>Match (visually) our data to a distribution pattern. </a:t>
            </a:r>
          </a:p>
          <a:p>
            <a:pPr lvl="1"/>
            <a:r>
              <a:rPr lang="en-US" dirty="0"/>
              <a:t>Identify the key statistics the distribution needs. Normal = mean, std. </a:t>
            </a:r>
          </a:p>
          <a:p>
            <a:pPr lvl="1"/>
            <a:r>
              <a:rPr lang="en-US" dirty="0"/>
              <a:t>Create an analytical distribution object that matches empirical data. </a:t>
            </a:r>
          </a:p>
          <a:p>
            <a:r>
              <a:rPr lang="en-US" dirty="0"/>
              <a:t>We can also auto-fit the distribution to the data. </a:t>
            </a:r>
          </a:p>
          <a:p>
            <a:pPr lvl="1"/>
            <a:r>
              <a:rPr lang="en-US" dirty="0"/>
              <a:t>Match data to a distribution pattern. </a:t>
            </a:r>
          </a:p>
          <a:p>
            <a:pPr lvl="1"/>
            <a:r>
              <a:rPr lang="en-US" dirty="0"/>
              <a:t>Call </a:t>
            </a:r>
            <a:r>
              <a:rPr lang="en-US" dirty="0" err="1"/>
              <a:t>whateverDistribution.fit</a:t>
            </a:r>
            <a:r>
              <a:rPr lang="en-US" dirty="0"/>
              <a:t>(x) to let </a:t>
            </a:r>
            <a:r>
              <a:rPr lang="en-US" dirty="0" err="1"/>
              <a:t>scipy</a:t>
            </a:r>
            <a:r>
              <a:rPr lang="en-US" dirty="0"/>
              <a:t> estimate the variables. </a:t>
            </a:r>
          </a:p>
          <a:p>
            <a:r>
              <a:rPr lang="en-US" dirty="0"/>
              <a:t>We primarily use this to generate </a:t>
            </a:r>
            <a:r>
              <a:rPr lang="en-US" i="1" dirty="0"/>
              <a:t>expected</a:t>
            </a:r>
            <a:r>
              <a:rPr lang="en-US" dirty="0"/>
              <a:t> values following the distribution. </a:t>
            </a:r>
          </a:p>
          <a:p>
            <a:pPr lvl="1"/>
            <a:r>
              <a:rPr lang="en-US" dirty="0"/>
              <a:t>I.e. get N random values, generated from a distribution following empirical. </a:t>
            </a:r>
          </a:p>
        </p:txBody>
      </p:sp>
    </p:spTree>
    <p:extLst>
      <p:ext uri="{BB962C8B-B14F-4D97-AF65-F5344CB8AC3E}">
        <p14:creationId xmlns:p14="http://schemas.microsoft.com/office/powerpoint/2010/main" val="541611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00ED-3E70-4A5A-6FFB-0C96D620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Models and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71FD-AD95-002C-A2CA-3772CAE52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Analytical models are a key foundation of inferential statistics and machine learning. </a:t>
            </a:r>
          </a:p>
          <a:p>
            <a:pPr lvl="1"/>
            <a:r>
              <a:rPr lang="en-US" dirty="0"/>
              <a:t>The model provides us with a set of expectations. </a:t>
            </a:r>
          </a:p>
          <a:p>
            <a:pPr lvl="1"/>
            <a:r>
              <a:rPr lang="en-US" dirty="0"/>
              <a:t>The empirical data provides us with the parameters shaping those expectations. </a:t>
            </a:r>
          </a:p>
          <a:p>
            <a:r>
              <a:rPr lang="en-US" dirty="0"/>
              <a:t>Generalization in statistics also relies on analytical models. </a:t>
            </a:r>
          </a:p>
          <a:p>
            <a:pPr lvl="1"/>
            <a:r>
              <a:rPr lang="en-US" dirty="0"/>
              <a:t>The parameters come from a small subset, where ‘all’ is impractical. </a:t>
            </a:r>
          </a:p>
          <a:p>
            <a:pPr lvl="1"/>
            <a:r>
              <a:rPr lang="en-US" dirty="0"/>
              <a:t>The model projects those expectations to an entire population. </a:t>
            </a:r>
          </a:p>
          <a:p>
            <a:r>
              <a:rPr lang="en-US" dirty="0"/>
              <a:t>We aren’t assured that an analytical distribution will fit our data, but they commonly do. </a:t>
            </a:r>
          </a:p>
          <a:p>
            <a:pPr lvl="1"/>
            <a:r>
              <a:rPr lang="en-US" dirty="0"/>
              <a:t>ML allows us to be more flexible in making complex models for prediction. </a:t>
            </a:r>
          </a:p>
          <a:p>
            <a:pPr lvl="1"/>
            <a:r>
              <a:rPr lang="en-US" dirty="0"/>
              <a:t>’Old school’ stats is limited to things we can eyeball/calculate by hand. </a:t>
            </a:r>
          </a:p>
        </p:txBody>
      </p:sp>
    </p:spTree>
    <p:extLst>
      <p:ext uri="{BB962C8B-B14F-4D97-AF65-F5344CB8AC3E}">
        <p14:creationId xmlns:p14="http://schemas.microsoft.com/office/powerpoint/2010/main" val="4165556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59AB-7E97-02D7-5111-6F8C47EA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6F18-42E0-3C18-61B1-9FE131EC1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706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27406</TotalTime>
  <Words>2642</Words>
  <Application>Microsoft Macintosh PowerPoint</Application>
  <PresentationFormat>Widescreen</PresentationFormat>
  <Paragraphs>249</Paragraphs>
  <Slides>41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Gill Sans MT</vt:lpstr>
      <vt:lpstr>Gallery</vt:lpstr>
      <vt:lpstr>Housekeeping</vt:lpstr>
      <vt:lpstr>Coding</vt:lpstr>
      <vt:lpstr>Analytical Distributions</vt:lpstr>
      <vt:lpstr>Counting is Boring, Let’s Predict Stuff!</vt:lpstr>
      <vt:lpstr>Empirical Distributions</vt:lpstr>
      <vt:lpstr>Empirical Distribution Data</vt:lpstr>
      <vt:lpstr>Analytical Distributions</vt:lpstr>
      <vt:lpstr>PowerPoint Presentation</vt:lpstr>
      <vt:lpstr>Be Discrete, or not</vt:lpstr>
      <vt:lpstr>Approximation</vt:lpstr>
      <vt:lpstr>So…</vt:lpstr>
      <vt:lpstr>Side Note</vt:lpstr>
      <vt:lpstr>Are you Normal?</vt:lpstr>
      <vt:lpstr>Meet your Match</vt:lpstr>
      <vt:lpstr>Normal Distribution</vt:lpstr>
      <vt:lpstr>Other Distributions - LogNormal</vt:lpstr>
      <vt:lpstr>Lognormal</vt:lpstr>
      <vt:lpstr>Other Distributions - Exponential</vt:lpstr>
      <vt:lpstr>Exponential</vt:lpstr>
      <vt:lpstr>Exponential</vt:lpstr>
      <vt:lpstr>Exponential Distribution</vt:lpstr>
      <vt:lpstr>CDF your Exponents</vt:lpstr>
      <vt:lpstr>Other Distributions - Pareto</vt:lpstr>
      <vt:lpstr>PowerPoint Presentation</vt:lpstr>
      <vt:lpstr>How do we Tell</vt:lpstr>
      <vt:lpstr>Why Bother? Great Expectations!</vt:lpstr>
      <vt:lpstr>Testing Distributions</vt:lpstr>
      <vt:lpstr>Preview: Hypothesis Testing</vt:lpstr>
      <vt:lpstr>Normality Plot</vt:lpstr>
      <vt:lpstr>Simple Example – Use model to Predict</vt:lpstr>
      <vt:lpstr>Sampling and Representation</vt:lpstr>
      <vt:lpstr>Samples May Vary</vt:lpstr>
      <vt:lpstr>Estimation - Sampling and Randomness</vt:lpstr>
      <vt:lpstr>PowerPoint Presentation</vt:lpstr>
      <vt:lpstr>Transformations</vt:lpstr>
      <vt:lpstr>Stats Transformations</vt:lpstr>
      <vt:lpstr>Logs and Exponents</vt:lpstr>
      <vt:lpstr>SciPy</vt:lpstr>
      <vt:lpstr>Using Scipy Distributions</vt:lpstr>
      <vt:lpstr>Analytical Models and Inference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Distribution</dc:title>
  <dc:creator>Akeem Semper</dc:creator>
  <cp:lastModifiedBy>Akeem Semper</cp:lastModifiedBy>
  <cp:revision>43</cp:revision>
  <dcterms:created xsi:type="dcterms:W3CDTF">2021-09-18T21:51:04Z</dcterms:created>
  <dcterms:modified xsi:type="dcterms:W3CDTF">2026-09-15T16:05:51Z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2025-08-20T18:34:40Z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f9441b40-57ad-4c06-b02c-e36b97c7cbe5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
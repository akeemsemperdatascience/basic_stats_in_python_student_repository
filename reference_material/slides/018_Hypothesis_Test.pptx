
<file path=[Content_Types].xml><?xml version="1.0" encoding="utf-8"?>
<Types xmlns="http://schemas.openxmlformats.org/package/2006/content-types">
  <Default Extension="jpeg" ContentType="image/jpeg"/>
  <Default Extension="jpg" ContentType="image/jpeg"/>
  <Default Extension="png" ContentType="image/png"/>
  <Default Extension="rels" ContentType="application/vnd.openxmlformats-package.relationships+xml"/>
  <Default Extension="tiff" ContentType="image/tiff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slides/slide30.xml" ContentType="application/vnd.openxmlformats-officedocument.presentationml.slide+xml"/>
  <Override PartName="/ppt/slides/slide31.xml" ContentType="application/vnd.openxmlformats-officedocument.presentationml.slide+xml"/>
  <Override PartName="/ppt/slides/slide32.xml" ContentType="application/vnd.openxmlformats-officedocument.presentationml.slide+xml"/>
  <Override PartName="/ppt/slides/slide33.xml" ContentType="application/vnd.openxmlformats-officedocument.presentationml.slide+xml"/>
  <Override PartName="/ppt/slides/slide34.xml" ContentType="application/vnd.openxmlformats-officedocument.presentationml.slide+xml"/>
  <Override PartName="/ppt/slides/slide35.xml" ContentType="application/vnd.openxmlformats-officedocument.presentationml.slide+xml"/>
  <Override PartName="/ppt/slides/slide36.xml" ContentType="application/vnd.openxmlformats-officedocument.presentationml.slide+xml"/>
  <Override PartName="/ppt/slides/slide37.xml" ContentType="application/vnd.openxmlformats-officedocument.presentationml.slide+xml"/>
  <Override PartName="/ppt/slides/slide38.xml" ContentType="application/vnd.openxmlformats-officedocument.presentationml.slide+xml"/>
  <Override PartName="/ppt/slides/slide39.xml" ContentType="application/vnd.openxmlformats-officedocument.presentationml.slide+xml"/>
  <Override PartName="/ppt/slides/slide40.xml" ContentType="application/vnd.openxmlformats-officedocument.presentationml.slide+xml"/>
  <Override PartName="/ppt/slides/slide41.xml" ContentType="application/vnd.openxmlformats-officedocument.presentationml.slide+xml"/>
  <Override PartName="/ppt/slides/slide42.xml" ContentType="application/vnd.openxmlformats-officedocument.presentationml.slide+xml"/>
  <Override PartName="/ppt/slides/slide43.xml" ContentType="application/vnd.openxmlformats-officedocument.presentationml.slide+xml"/>
  <Override PartName="/ppt/slides/slide44.xml" ContentType="application/vnd.openxmlformats-officedocument.presentationml.slide+xml"/>
  <Override PartName="/ppt/slides/slide45.xml" ContentType="application/vnd.openxmlformats-officedocument.presentationml.slide+xml"/>
  <Override PartName="/ppt/slides/slide46.xml" ContentType="application/vnd.openxmlformats-officedocument.presentationml.slide+xml"/>
  <Override PartName="/ppt/slides/slide47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theme/theme2.xml" ContentType="application/vnd.openxmlformats-officedocument.theme+xml"/>
  <Override PartName="/ppt/notesSlides/notesSlide1.xml" ContentType="application/vnd.openxmlformats-officedocument.presentationml.notesSlide+xml"/>
  <Override PartName="/ppt/revisionInfo.xml" ContentType="application/vnd.ms-powerpoint.revisioninfo+xml"/>
  <Override PartName="/docProps/core.xml" ContentType="application/vnd.openxmlformats-package.core-properties+xml"/>
  <Override PartName="/docProps/app.xml" ContentType="application/vnd.openxmlformats-officedocument.extended-properties+xml"/>
  <Override PartName="/docProps/custom.xml" ContentType="application/vnd.openxmlformats-officedocument.custom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5" Type="http://schemas.openxmlformats.org/officeDocument/2006/relationships/custom-properties" Target="docProps/custom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60" r:id="rId1"/>
  </p:sldMasterIdLst>
  <p:notesMasterIdLst>
    <p:notesMasterId r:id="rId49"/>
  </p:notesMasterIdLst>
  <p:sldIdLst>
    <p:sldId id="274" r:id="rId2"/>
    <p:sldId id="295" r:id="rId3"/>
    <p:sldId id="256" r:id="rId4"/>
    <p:sldId id="280" r:id="rId5"/>
    <p:sldId id="298" r:id="rId6"/>
    <p:sldId id="299" r:id="rId7"/>
    <p:sldId id="300" r:id="rId8"/>
    <p:sldId id="301" r:id="rId9"/>
    <p:sldId id="286" r:id="rId10"/>
    <p:sldId id="287" r:id="rId11"/>
    <p:sldId id="297" r:id="rId12"/>
    <p:sldId id="288" r:id="rId13"/>
    <p:sldId id="281" r:id="rId14"/>
    <p:sldId id="282" r:id="rId15"/>
    <p:sldId id="283" r:id="rId16"/>
    <p:sldId id="284" r:id="rId17"/>
    <p:sldId id="302" r:id="rId18"/>
    <p:sldId id="257" r:id="rId19"/>
    <p:sldId id="296" r:id="rId20"/>
    <p:sldId id="289" r:id="rId21"/>
    <p:sldId id="290" r:id="rId22"/>
    <p:sldId id="291" r:id="rId23"/>
    <p:sldId id="293" r:id="rId24"/>
    <p:sldId id="292" r:id="rId25"/>
    <p:sldId id="294" r:id="rId26"/>
    <p:sldId id="285" r:id="rId27"/>
    <p:sldId id="275" r:id="rId28"/>
    <p:sldId id="264" r:id="rId29"/>
    <p:sldId id="279" r:id="rId30"/>
    <p:sldId id="262" r:id="rId31"/>
    <p:sldId id="270" r:id="rId32"/>
    <p:sldId id="272" r:id="rId33"/>
    <p:sldId id="268" r:id="rId34"/>
    <p:sldId id="263" r:id="rId35"/>
    <p:sldId id="269" r:id="rId36"/>
    <p:sldId id="265" r:id="rId37"/>
    <p:sldId id="271" r:id="rId38"/>
    <p:sldId id="278" r:id="rId39"/>
    <p:sldId id="277" r:id="rId40"/>
    <p:sldId id="266" r:id="rId41"/>
    <p:sldId id="267" r:id="rId42"/>
    <p:sldId id="273" r:id="rId43"/>
    <p:sldId id="258" r:id="rId44"/>
    <p:sldId id="259" r:id="rId45"/>
    <p:sldId id="260" r:id="rId46"/>
    <p:sldId id="261" r:id="rId47"/>
    <p:sldId id="276" r:id="rId48"/>
  </p:sldIdLst>
  <p:sldSz cx="12192000" cy="6858000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521415D9-36F7-43E2-AB2F-B90AF26B5E84}">
      <p14:sectionLst xmlns:p14="http://schemas.microsoft.com/office/powerpoint/2010/main">
        <p14:section name="Default Section" id="{E563C269-5786-C244-B0B8-ECA227A0178C}">
          <p14:sldIdLst>
            <p14:sldId id="274"/>
            <p14:sldId id="295"/>
            <p14:sldId id="256"/>
            <p14:sldId id="280"/>
          </p14:sldIdLst>
        </p14:section>
        <p14:section name="Recap - estimation" id="{D1136178-9B7A-8C41-BBDD-DEA1FA7E5CD0}">
          <p14:sldIdLst>
            <p14:sldId id="298"/>
            <p14:sldId id="299"/>
            <p14:sldId id="300"/>
            <p14:sldId id="301"/>
          </p14:sldIdLst>
        </p14:section>
        <p14:section name="Effect and intro" id="{4652116E-77C5-3D45-B6A2-2DDC6D3F1749}">
          <p14:sldIdLst>
            <p14:sldId id="286"/>
            <p14:sldId id="287"/>
            <p14:sldId id="297"/>
            <p14:sldId id="288"/>
          </p14:sldIdLst>
        </p14:section>
        <p14:section name="from scratch" id="{1C52BECE-D636-1E44-A3D1-AE1E1C24ADAC}">
          <p14:sldIdLst>
            <p14:sldId id="281"/>
            <p14:sldId id="282"/>
            <p14:sldId id="283"/>
            <p14:sldId id="284"/>
            <p14:sldId id="302"/>
            <p14:sldId id="257"/>
            <p14:sldId id="296"/>
          </p14:sldIdLst>
        </p14:section>
        <p14:section name="Classes" id="{141EB2E9-FC80-D441-9AE9-8E444C99A653}">
          <p14:sldIdLst>
            <p14:sldId id="289"/>
            <p14:sldId id="290"/>
            <p14:sldId id="291"/>
            <p14:sldId id="293"/>
            <p14:sldId id="292"/>
            <p14:sldId id="294"/>
          </p14:sldIdLst>
        </p14:section>
        <p14:section name="Old hyp tests" id="{587513C8-59F6-DC46-BC83-B980CDCEFA5E}">
          <p14:sldIdLst>
            <p14:sldId id="285"/>
            <p14:sldId id="275"/>
          </p14:sldIdLst>
        </p14:section>
        <p14:section name="math tests" id="{032D7B8D-A861-364B-9C61-C0D56F4E9F7A}">
          <p14:sldIdLst>
            <p14:sldId id="264"/>
            <p14:sldId id="279"/>
            <p14:sldId id="262"/>
            <p14:sldId id="270"/>
            <p14:sldId id="272"/>
            <p14:sldId id="268"/>
            <p14:sldId id="263"/>
            <p14:sldId id="269"/>
            <p14:sldId id="265"/>
            <p14:sldId id="271"/>
            <p14:sldId id="278"/>
            <p14:sldId id="277"/>
            <p14:sldId id="266"/>
          </p14:sldIdLst>
        </p14:section>
        <p14:section name="phacking" id="{E3EFF888-5E9A-6D48-81BC-09DD3E25EAEA}">
          <p14:sldIdLst>
            <p14:sldId id="267"/>
            <p14:sldId id="273"/>
            <p14:sldId id="258"/>
            <p14:sldId id="259"/>
            <p14:sldId id="260"/>
            <p14:sldId id="261"/>
          </p14:sldIdLst>
        </p14:section>
        <p14:section name="Conclusion" id="{5A1FA9C0-297A-1B49-BCB2-0547A886D778}">
          <p14:sldIdLst>
            <p14:sldId id="276"/>
          </p14:sldIdLst>
        </p14:section>
      </p14:sectionLst>
    </p:ex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revisionInfo.xml><?xml version="1.0" encoding="utf-8"?>
<p1510:revInfo xmlns:a="http://schemas.openxmlformats.org/drawingml/2006/main" xmlns:r="http://schemas.openxmlformats.org/officeDocument/2006/relationships" xmlns:p1510="http://schemas.microsoft.com/office/powerpoint/2015/10/main">
  <p1510:revLst>
    <p1510:client id="{18EF1630-F646-BD47-BD88-24ECCB7B45E8}" v="2" dt="2021-10-29T15:41:36.668"/>
  </p1510:revLst>
</p1510:revInfo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203"/>
    <p:restoredTop sz="95161"/>
  </p:normalViewPr>
  <p:slideViewPr>
    <p:cSldViewPr snapToGrid="0" snapToObjects="1">
      <p:cViewPr varScale="1">
        <p:scale>
          <a:sx n="132" d="100"/>
          <a:sy n="132" d="100"/>
        </p:scale>
        <p:origin x="192" y="568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
<Relationships xmlns="http://schemas.openxmlformats.org/package/2006/relationships"><Relationship Id="rId13" Type="http://schemas.openxmlformats.org/officeDocument/2006/relationships/slide" Target="slides/slide12.xml"/><Relationship Id="rId18" Type="http://schemas.openxmlformats.org/officeDocument/2006/relationships/slide" Target="slides/slide17.xml"/><Relationship Id="rId26" Type="http://schemas.openxmlformats.org/officeDocument/2006/relationships/slide" Target="slides/slide25.xml"/><Relationship Id="rId39" Type="http://schemas.openxmlformats.org/officeDocument/2006/relationships/slide" Target="slides/slide38.xml"/><Relationship Id="rId21" Type="http://schemas.openxmlformats.org/officeDocument/2006/relationships/slide" Target="slides/slide20.xml"/><Relationship Id="rId34" Type="http://schemas.openxmlformats.org/officeDocument/2006/relationships/slide" Target="slides/slide33.xml"/><Relationship Id="rId42" Type="http://schemas.openxmlformats.org/officeDocument/2006/relationships/slide" Target="slides/slide41.xml"/><Relationship Id="rId47" Type="http://schemas.openxmlformats.org/officeDocument/2006/relationships/slide" Target="slides/slide46.xml"/><Relationship Id="rId50" Type="http://schemas.openxmlformats.org/officeDocument/2006/relationships/presProps" Target="presProps.xml"/><Relationship Id="rId7" Type="http://schemas.openxmlformats.org/officeDocument/2006/relationships/slide" Target="slides/slide6.xml"/><Relationship Id="rId2" Type="http://schemas.openxmlformats.org/officeDocument/2006/relationships/slide" Target="slides/slide1.xml"/><Relationship Id="rId16" Type="http://schemas.openxmlformats.org/officeDocument/2006/relationships/slide" Target="slides/slide15.xml"/><Relationship Id="rId29" Type="http://schemas.openxmlformats.org/officeDocument/2006/relationships/slide" Target="slides/slide28.xml"/><Relationship Id="rId11" Type="http://schemas.openxmlformats.org/officeDocument/2006/relationships/slide" Target="slides/slide10.xml"/><Relationship Id="rId24" Type="http://schemas.openxmlformats.org/officeDocument/2006/relationships/slide" Target="slides/slide23.xml"/><Relationship Id="rId32" Type="http://schemas.openxmlformats.org/officeDocument/2006/relationships/slide" Target="slides/slide31.xml"/><Relationship Id="rId37" Type="http://schemas.openxmlformats.org/officeDocument/2006/relationships/slide" Target="slides/slide36.xml"/><Relationship Id="rId40" Type="http://schemas.openxmlformats.org/officeDocument/2006/relationships/slide" Target="slides/slide39.xml"/><Relationship Id="rId45" Type="http://schemas.openxmlformats.org/officeDocument/2006/relationships/slide" Target="slides/slide44.xml"/><Relationship Id="rId53" Type="http://schemas.openxmlformats.org/officeDocument/2006/relationships/tableStyles" Target="tableStyles.xml"/><Relationship Id="rId5" Type="http://schemas.openxmlformats.org/officeDocument/2006/relationships/slide" Target="slides/slide4.xml"/><Relationship Id="rId10" Type="http://schemas.openxmlformats.org/officeDocument/2006/relationships/slide" Target="slides/slide9.xml"/><Relationship Id="rId19" Type="http://schemas.openxmlformats.org/officeDocument/2006/relationships/slide" Target="slides/slide18.xml"/><Relationship Id="rId31" Type="http://schemas.openxmlformats.org/officeDocument/2006/relationships/slide" Target="slides/slide30.xml"/><Relationship Id="rId44" Type="http://schemas.openxmlformats.org/officeDocument/2006/relationships/slide" Target="slides/slide43.xml"/><Relationship Id="rId52" Type="http://schemas.openxmlformats.org/officeDocument/2006/relationships/theme" Target="theme/theme1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slide" Target="slides/slide13.xml"/><Relationship Id="rId22" Type="http://schemas.openxmlformats.org/officeDocument/2006/relationships/slide" Target="slides/slide21.xml"/><Relationship Id="rId27" Type="http://schemas.openxmlformats.org/officeDocument/2006/relationships/slide" Target="slides/slide26.xml"/><Relationship Id="rId30" Type="http://schemas.openxmlformats.org/officeDocument/2006/relationships/slide" Target="slides/slide29.xml"/><Relationship Id="rId35" Type="http://schemas.openxmlformats.org/officeDocument/2006/relationships/slide" Target="slides/slide34.xml"/><Relationship Id="rId43" Type="http://schemas.openxmlformats.org/officeDocument/2006/relationships/slide" Target="slides/slide42.xml"/><Relationship Id="rId48" Type="http://schemas.openxmlformats.org/officeDocument/2006/relationships/slide" Target="slides/slide47.xml"/><Relationship Id="rId8" Type="http://schemas.openxmlformats.org/officeDocument/2006/relationships/slide" Target="slides/slide7.xml"/><Relationship Id="rId51" Type="http://schemas.openxmlformats.org/officeDocument/2006/relationships/viewProps" Target="viewProps.xml"/><Relationship Id="rId3" Type="http://schemas.openxmlformats.org/officeDocument/2006/relationships/slide" Target="slides/slide2.xml"/><Relationship Id="rId12" Type="http://schemas.openxmlformats.org/officeDocument/2006/relationships/slide" Target="slides/slide11.xml"/><Relationship Id="rId17" Type="http://schemas.openxmlformats.org/officeDocument/2006/relationships/slide" Target="slides/slide16.xml"/><Relationship Id="rId25" Type="http://schemas.openxmlformats.org/officeDocument/2006/relationships/slide" Target="slides/slide24.xml"/><Relationship Id="rId33" Type="http://schemas.openxmlformats.org/officeDocument/2006/relationships/slide" Target="slides/slide32.xml"/><Relationship Id="rId38" Type="http://schemas.openxmlformats.org/officeDocument/2006/relationships/slide" Target="slides/slide37.xml"/><Relationship Id="rId46" Type="http://schemas.openxmlformats.org/officeDocument/2006/relationships/slide" Target="slides/slide45.xml"/><Relationship Id="rId20" Type="http://schemas.openxmlformats.org/officeDocument/2006/relationships/slide" Target="slides/slide19.xml"/><Relationship Id="rId41" Type="http://schemas.openxmlformats.org/officeDocument/2006/relationships/slide" Target="slides/slide40.xml"/><Relationship Id="rId54" Type="http://schemas.microsoft.com/office/2015/10/relationships/revisionInfo" Target="revisionInfo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5" Type="http://schemas.openxmlformats.org/officeDocument/2006/relationships/slide" Target="slides/slide14.xml"/><Relationship Id="rId23" Type="http://schemas.openxmlformats.org/officeDocument/2006/relationships/slide" Target="slides/slide22.xml"/><Relationship Id="rId28" Type="http://schemas.openxmlformats.org/officeDocument/2006/relationships/slide" Target="slides/slide27.xml"/><Relationship Id="rId36" Type="http://schemas.openxmlformats.org/officeDocument/2006/relationships/slide" Target="slides/slide35.xml"/><Relationship Id="rId49" Type="http://schemas.openxmlformats.org/officeDocument/2006/relationships/notesMaster" Target="notesMasters/notesMaster1.xml"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F9CDC526-F730-724D-AA0D-326EFC56D561}" type="datetimeFigureOut">
              <a:rPr lang="en-US" smtClean="0"/>
              <a:t>10/20/25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E36F3295-E463-C64D-A388-E45D36324975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995294334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4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https://</a:t>
            </a:r>
            <a:r>
              <a:rPr lang="en-US" dirty="0" err="1"/>
              <a:t>fivethirtyeight.com</a:t>
            </a:r>
            <a:r>
              <a:rPr lang="en-US" dirty="0"/>
              <a:t>/features/science-</a:t>
            </a:r>
            <a:r>
              <a:rPr lang="en-US" dirty="0" err="1"/>
              <a:t>isnt</a:t>
            </a:r>
            <a:r>
              <a:rPr lang="en-US" dirty="0"/>
              <a:t>-broken/#part1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E36F3295-E463-C64D-A388-E45D36324975}" type="slidenum">
              <a:rPr lang="en-US" smtClean="0"/>
              <a:t>44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4066140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2417779" y="802298"/>
            <a:ext cx="8637073" cy="2541431"/>
          </a:xfrm>
        </p:spPr>
        <p:txBody>
          <a:bodyPr bIns="0" anchor="b">
            <a:normAutofit/>
          </a:bodyPr>
          <a:lstStyle>
            <a:lvl1pPr algn="l">
              <a:defRPr sz="6600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2417780" y="3531204"/>
            <a:ext cx="8637072" cy="977621"/>
          </a:xfrm>
        </p:spPr>
        <p:txBody>
          <a:bodyPr tIns="91440" bIns="91440">
            <a:normAutofit/>
          </a:bodyPr>
          <a:lstStyle>
            <a:lvl1pPr marL="0" indent="0" algn="l">
              <a:buNone/>
              <a:defRPr sz="1800" b="0" cap="all" baseline="0">
                <a:solidFill>
                  <a:schemeClr val="tx1"/>
                </a:solidFill>
              </a:defRPr>
            </a:lvl1pPr>
            <a:lvl2pPr marL="457200" indent="0" algn="ctr">
              <a:buNone/>
              <a:defRPr sz="18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en-US"/>
              <a:t>Click to edit Master subtitle style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2D8FCA8-E96D-1F41-985D-25A168D67D2E}" type="datetimeFigureOut">
              <a:rPr lang="en-US" smtClean="0"/>
              <a:t>10/20/25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>
          <a:xfrm>
            <a:off x="2416500" y="329307"/>
            <a:ext cx="4973915" cy="309201"/>
          </a:xfrm>
        </p:spPr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>
          <a:xfrm>
            <a:off x="1437664" y="798973"/>
            <a:ext cx="811019" cy="503578"/>
          </a:xfrm>
        </p:spPr>
        <p:txBody>
          <a:bodyPr/>
          <a:lstStyle/>
          <a:p>
            <a:fld id="{A14BBD27-E19D-7342-BD66-40829D856D7D}" type="slidenum">
              <a:rPr lang="en-US" smtClean="0"/>
              <a:t>‹#›</a:t>
            </a:fld>
            <a:endParaRPr lang="en-US"/>
          </a:p>
        </p:txBody>
      </p:sp>
      <p:cxnSp>
        <p:nvCxnSpPr>
          <p:cNvPr id="15" name="Straight Connector 14"/>
          <p:cNvCxnSpPr/>
          <p:nvPr/>
        </p:nvCxnSpPr>
        <p:spPr>
          <a:xfrm>
            <a:off x="2417780" y="3528542"/>
            <a:ext cx="8637072" cy="0"/>
          </a:xfrm>
          <a:prstGeom prst="line">
            <a:avLst/>
          </a:prstGeom>
          <a:ln w="31750"/>
        </p:spPr>
        <p:style>
          <a:lnRef idx="3">
            <a:schemeClr val="accent1"/>
          </a:lnRef>
          <a:fillRef idx="0">
            <a:schemeClr val="accent1"/>
          </a:fillRef>
          <a:effectRef idx="2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315431548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 anchor="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2D8FCA8-E96D-1F41-985D-25A168D67D2E}" type="datetimeFigureOut">
              <a:rPr lang="en-US" smtClean="0"/>
              <a:t>10/20/25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A14BBD27-E19D-7342-BD66-40829D856D7D}" type="slidenum">
              <a:rPr lang="en-US" smtClean="0"/>
              <a:t>‹#›</a:t>
            </a:fld>
            <a:endParaRPr lang="en-US"/>
          </a:p>
        </p:txBody>
      </p:sp>
      <p:cxnSp>
        <p:nvCxnSpPr>
          <p:cNvPr id="33" name="Straight Connector 32"/>
          <p:cNvCxnSpPr/>
          <p:nvPr/>
        </p:nvCxnSpPr>
        <p:spPr>
          <a:xfrm>
            <a:off x="1453896" y="1847088"/>
            <a:ext cx="9607522" cy="0"/>
          </a:xfrm>
          <a:prstGeom prst="line">
            <a:avLst/>
          </a:prstGeom>
          <a:ln w="31750"/>
        </p:spPr>
        <p:style>
          <a:lnRef idx="3">
            <a:schemeClr val="accent1"/>
          </a:lnRef>
          <a:fillRef idx="0">
            <a:schemeClr val="accent1"/>
          </a:fillRef>
          <a:effectRef idx="2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4152047795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454239" y="1756130"/>
            <a:ext cx="8643154" cy="1887950"/>
          </a:xfrm>
        </p:spPr>
        <p:txBody>
          <a:bodyPr anchor="b">
            <a:normAutofit/>
          </a:bodyPr>
          <a:lstStyle>
            <a:lvl1pPr algn="l">
              <a:defRPr sz="3600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1454239" y="3806195"/>
            <a:ext cx="8630446" cy="1012929"/>
          </a:xfrm>
        </p:spPr>
        <p:txBody>
          <a:bodyPr tIns="91440">
            <a:normAutofit/>
          </a:bodyPr>
          <a:lstStyle>
            <a:lvl1pPr marL="0" indent="0" algn="l">
              <a:buNone/>
              <a:defRPr sz="1800">
                <a:solidFill>
                  <a:schemeClr val="tx1"/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2D8FCA8-E96D-1F41-985D-25A168D67D2E}" type="datetimeFigureOut">
              <a:rPr lang="en-US" smtClean="0"/>
              <a:t>10/20/25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A14BBD27-E19D-7342-BD66-40829D856D7D}" type="slidenum">
              <a:rPr lang="en-US" smtClean="0"/>
              <a:t>‹#›</a:t>
            </a:fld>
            <a:endParaRPr lang="en-US"/>
          </a:p>
        </p:txBody>
      </p:sp>
      <p:cxnSp>
        <p:nvCxnSpPr>
          <p:cNvPr id="15" name="Straight Connector 14"/>
          <p:cNvCxnSpPr/>
          <p:nvPr/>
        </p:nvCxnSpPr>
        <p:spPr>
          <a:xfrm>
            <a:off x="1454239" y="3804985"/>
            <a:ext cx="8630446" cy="0"/>
          </a:xfrm>
          <a:prstGeom prst="line">
            <a:avLst/>
          </a:prstGeom>
          <a:ln w="31750"/>
        </p:spPr>
        <p:style>
          <a:lnRef idx="3">
            <a:schemeClr val="accent1"/>
          </a:lnRef>
          <a:fillRef idx="0">
            <a:schemeClr val="accent1"/>
          </a:fillRef>
          <a:effectRef idx="2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78195453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449217" y="804889"/>
            <a:ext cx="9605635" cy="1059305"/>
          </a:xfrm>
        </p:spPr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1447331" y="2010878"/>
            <a:ext cx="4645152" cy="3448595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6413771" y="2017343"/>
            <a:ext cx="4645152" cy="3441520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2D8FCA8-E96D-1F41-985D-25A168D67D2E}" type="datetimeFigureOut">
              <a:rPr lang="en-US" smtClean="0"/>
              <a:t>10/20/25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A14BBD27-E19D-7342-BD66-40829D856D7D}" type="slidenum">
              <a:rPr lang="en-US" smtClean="0"/>
              <a:t>‹#›</a:t>
            </a:fld>
            <a:endParaRPr lang="en-US"/>
          </a:p>
        </p:txBody>
      </p:sp>
      <p:cxnSp>
        <p:nvCxnSpPr>
          <p:cNvPr id="35" name="Straight Connector 34"/>
          <p:cNvCxnSpPr/>
          <p:nvPr/>
        </p:nvCxnSpPr>
        <p:spPr>
          <a:xfrm>
            <a:off x="1453896" y="1847088"/>
            <a:ext cx="9607522" cy="0"/>
          </a:xfrm>
          <a:prstGeom prst="line">
            <a:avLst/>
          </a:prstGeom>
          <a:ln w="31750"/>
        </p:spPr>
        <p:style>
          <a:lnRef idx="3">
            <a:schemeClr val="accent1"/>
          </a:lnRef>
          <a:fillRef idx="0">
            <a:schemeClr val="accent1"/>
          </a:fillRef>
          <a:effectRef idx="2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3388851152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447191" y="804163"/>
            <a:ext cx="9607661" cy="1056319"/>
          </a:xfrm>
        </p:spPr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1447191" y="2019549"/>
            <a:ext cx="4645152" cy="801943"/>
          </a:xfrm>
        </p:spPr>
        <p:txBody>
          <a:bodyPr anchor="b">
            <a:normAutofit/>
          </a:bodyPr>
          <a:lstStyle>
            <a:lvl1pPr marL="0" indent="0">
              <a:lnSpc>
                <a:spcPct val="100000"/>
              </a:lnSpc>
              <a:buNone/>
              <a:defRPr sz="2200" b="0" cap="all" baseline="0">
                <a:solidFill>
                  <a:schemeClr val="accent1"/>
                </a:solidFill>
              </a:defRPr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1447191" y="2824269"/>
            <a:ext cx="4645152" cy="2644457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6412362" y="2023003"/>
            <a:ext cx="4645152" cy="802237"/>
          </a:xfrm>
        </p:spPr>
        <p:txBody>
          <a:bodyPr anchor="b">
            <a:normAutofit/>
          </a:bodyPr>
          <a:lstStyle>
            <a:lvl1pPr marL="0" indent="0">
              <a:lnSpc>
                <a:spcPct val="100000"/>
              </a:lnSpc>
              <a:buNone/>
              <a:defRPr sz="2200" b="0" cap="all" baseline="0">
                <a:solidFill>
                  <a:schemeClr val="accent1"/>
                </a:solidFill>
              </a:defRPr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6412362" y="2821491"/>
            <a:ext cx="4645152" cy="2637371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2D8FCA8-E96D-1F41-985D-25A168D67D2E}" type="datetimeFigureOut">
              <a:rPr lang="en-US" smtClean="0"/>
              <a:t>10/20/25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A14BBD27-E19D-7342-BD66-40829D856D7D}" type="slidenum">
              <a:rPr lang="en-US" smtClean="0"/>
              <a:t>‹#›</a:t>
            </a:fld>
            <a:endParaRPr lang="en-US"/>
          </a:p>
        </p:txBody>
      </p:sp>
      <p:cxnSp>
        <p:nvCxnSpPr>
          <p:cNvPr id="29" name="Straight Connector 28"/>
          <p:cNvCxnSpPr/>
          <p:nvPr/>
        </p:nvCxnSpPr>
        <p:spPr>
          <a:xfrm>
            <a:off x="1453896" y="1847088"/>
            <a:ext cx="9607522" cy="0"/>
          </a:xfrm>
          <a:prstGeom prst="line">
            <a:avLst/>
          </a:prstGeom>
          <a:ln w="31750"/>
        </p:spPr>
        <p:style>
          <a:lnRef idx="3">
            <a:schemeClr val="accent1"/>
          </a:lnRef>
          <a:fillRef idx="0">
            <a:schemeClr val="accent1"/>
          </a:fillRef>
          <a:effectRef idx="2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424061767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2D8FCA8-E96D-1F41-985D-25A168D67D2E}" type="datetimeFigureOut">
              <a:rPr lang="en-US" smtClean="0"/>
              <a:t>10/20/25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A14BBD27-E19D-7342-BD66-40829D856D7D}" type="slidenum">
              <a:rPr lang="en-US" smtClean="0"/>
              <a:t>‹#›</a:t>
            </a:fld>
            <a:endParaRPr lang="en-US"/>
          </a:p>
        </p:txBody>
      </p:sp>
      <p:cxnSp>
        <p:nvCxnSpPr>
          <p:cNvPr id="25" name="Straight Connector 24"/>
          <p:cNvCxnSpPr/>
          <p:nvPr/>
        </p:nvCxnSpPr>
        <p:spPr>
          <a:xfrm>
            <a:off x="1453896" y="1847088"/>
            <a:ext cx="9607522" cy="0"/>
          </a:xfrm>
          <a:prstGeom prst="line">
            <a:avLst/>
          </a:prstGeom>
          <a:ln w="31750"/>
        </p:spPr>
        <p:style>
          <a:lnRef idx="3">
            <a:schemeClr val="accent1"/>
          </a:lnRef>
          <a:fillRef idx="0">
            <a:schemeClr val="accent1"/>
          </a:fillRef>
          <a:effectRef idx="2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1320960366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2D8FCA8-E96D-1F41-985D-25A168D67D2E}" type="datetimeFigureOut">
              <a:rPr lang="en-US" smtClean="0"/>
              <a:t>10/20/25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A14BBD27-E19D-7342-BD66-40829D856D7D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337504772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444671" y="798973"/>
            <a:ext cx="3273099" cy="2247117"/>
          </a:xfrm>
        </p:spPr>
        <p:txBody>
          <a:bodyPr anchor="b">
            <a:normAutofit/>
          </a:bodyPr>
          <a:lstStyle>
            <a:lvl1pPr algn="l">
              <a:defRPr sz="2400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5043714" y="798974"/>
            <a:ext cx="6012470" cy="4658826"/>
          </a:xfrm>
        </p:spPr>
        <p:txBody>
          <a:bodyPr anchor="ctr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444671" y="3205491"/>
            <a:ext cx="3275013" cy="2248181"/>
          </a:xfrm>
        </p:spPr>
        <p:txBody>
          <a:bodyPr/>
          <a:lstStyle>
            <a:lvl1pPr marL="0" indent="0" algn="l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2D8FCA8-E96D-1F41-985D-25A168D67D2E}" type="datetimeFigureOut">
              <a:rPr lang="en-US" smtClean="0"/>
              <a:t>10/20/25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A14BBD27-E19D-7342-BD66-40829D856D7D}" type="slidenum">
              <a:rPr lang="en-US" smtClean="0"/>
              <a:t>‹#›</a:t>
            </a:fld>
            <a:endParaRPr lang="en-US"/>
          </a:p>
        </p:txBody>
      </p:sp>
      <p:cxnSp>
        <p:nvCxnSpPr>
          <p:cNvPr id="17" name="Straight Connector 16"/>
          <p:cNvCxnSpPr/>
          <p:nvPr/>
        </p:nvCxnSpPr>
        <p:spPr>
          <a:xfrm>
            <a:off x="1448280" y="3205491"/>
            <a:ext cx="3269490" cy="0"/>
          </a:xfrm>
          <a:prstGeom prst="line">
            <a:avLst/>
          </a:prstGeom>
          <a:ln w="31750"/>
        </p:spPr>
        <p:style>
          <a:lnRef idx="3">
            <a:schemeClr val="accent1"/>
          </a:lnRef>
          <a:fillRef idx="0">
            <a:schemeClr val="accent1"/>
          </a:fillRef>
          <a:effectRef idx="2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3803528912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8" name="Group 7"/>
          <p:cNvGrpSpPr/>
          <p:nvPr/>
        </p:nvGrpSpPr>
        <p:grpSpPr>
          <a:xfrm>
            <a:off x="7477387" y="482170"/>
            <a:ext cx="4074533" cy="5149101"/>
            <a:chOff x="7477387" y="482170"/>
            <a:chExt cx="4074533" cy="5149101"/>
          </a:xfrm>
        </p:grpSpPr>
        <p:sp>
          <p:nvSpPr>
            <p:cNvPr id="18" name="Rectangle 17"/>
            <p:cNvSpPr/>
            <p:nvPr/>
          </p:nvSpPr>
          <p:spPr bwMode="black">
            <a:xfrm>
              <a:off x="7477387" y="482170"/>
              <a:ext cx="4074533" cy="5149101"/>
            </a:xfrm>
            <a:prstGeom prst="rect">
              <a:avLst/>
            </a:prstGeom>
            <a:gradFill>
              <a:gsLst>
                <a:gs pos="0">
                  <a:srgbClr val="000001"/>
                </a:gs>
                <a:gs pos="100000">
                  <a:srgbClr val="191919"/>
                </a:gs>
              </a:gsLst>
            </a:gradFill>
            <a:ln w="76200" cmpd="sng">
              <a:noFill/>
              <a:miter lim="800000"/>
            </a:ln>
            <a:effectLst>
              <a:outerShdw blurRad="127000" dist="228600" dir="4740000" sx="98000" sy="98000" algn="tl" rotWithShape="0">
                <a:srgbClr val="000000">
                  <a:alpha val="34000"/>
                </a:srgbClr>
              </a:outerShdw>
            </a:effectLst>
            <a:scene3d>
              <a:camera prst="orthographicFront"/>
              <a:lightRig rig="threePt" dir="t"/>
            </a:scene3d>
            <a:sp3d>
              <a:bevelT w="152400" h="50800" prst="softRound"/>
            </a:sp3d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</p:sp>
        <p:sp>
          <p:nvSpPr>
            <p:cNvPr id="19" name="Rectangle 18"/>
            <p:cNvSpPr/>
            <p:nvPr/>
          </p:nvSpPr>
          <p:spPr bwMode="blackWhite">
            <a:xfrm>
              <a:off x="7790446" y="812506"/>
              <a:ext cx="3450289" cy="4466452"/>
            </a:xfrm>
            <a:prstGeom prst="rect">
              <a:avLst/>
            </a:prstGeom>
            <a:gradFill>
              <a:gsLst>
                <a:gs pos="0">
                  <a:srgbClr val="DADADA"/>
                </a:gs>
                <a:gs pos="100000">
                  <a:srgbClr val="FFFFFE"/>
                </a:gs>
              </a:gsLst>
              <a:lin ang="16200000" scaled="0"/>
            </a:gradFill>
            <a:ln w="50800" cmpd="sng">
              <a:solidFill>
                <a:srgbClr val="191919"/>
              </a:solidFill>
              <a:miter lim="800000"/>
            </a:ln>
            <a:effectLst>
              <a:innerShdw blurRad="63500" dist="88900" dir="14100000">
                <a:srgbClr val="000000">
                  <a:alpha val="30000"/>
                </a:srgbClr>
              </a:innerShdw>
            </a:effectLst>
            <a:scene3d>
              <a:camera prst="orthographicFront"/>
              <a:lightRig rig="threePt" dir="t"/>
            </a:scene3d>
            <a:sp3d>
              <a:bevelT prst="relaxedInset"/>
            </a:sp3d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</p:sp>
      </p:grpSp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451206" y="1129513"/>
            <a:ext cx="5532328" cy="1830584"/>
          </a:xfrm>
        </p:spPr>
        <p:txBody>
          <a:bodyPr anchor="b">
            <a:normAutofit/>
          </a:bodyPr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Picture Placeholder 2"/>
          <p:cNvSpPr>
            <a:spLocks noGrp="1" noChangeAspect="1"/>
          </p:cNvSpPr>
          <p:nvPr>
            <p:ph type="pic" idx="1"/>
          </p:nvPr>
        </p:nvSpPr>
        <p:spPr>
          <a:xfrm>
            <a:off x="8124389" y="1122542"/>
            <a:ext cx="2791171" cy="3866327"/>
          </a:xfrm>
          <a:solidFill>
            <a:schemeClr val="bg1">
              <a:lumMod val="85000"/>
            </a:schemeClr>
          </a:solidFill>
          <a:ln w="9525" cap="sq">
            <a:noFill/>
            <a:miter lim="800000"/>
          </a:ln>
          <a:effectLst/>
        </p:spPr>
        <p:txBody>
          <a:bodyPr anchor="t"/>
          <a:lstStyle>
            <a:lvl1pPr marL="0" indent="0" algn="ctr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r>
              <a:rPr lang="en-US"/>
              <a:t>Click icon to add picture</a:t>
            </a:r>
            <a:endParaRPr lang="en-US" dirty="0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450329" y="3145992"/>
            <a:ext cx="5524404" cy="2003742"/>
          </a:xfrm>
        </p:spPr>
        <p:txBody>
          <a:bodyPr>
            <a:normAutofit/>
          </a:bodyPr>
          <a:lstStyle>
            <a:lvl1pPr marL="0" indent="0" algn="l">
              <a:buNone/>
              <a:defRPr sz="18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>
          <a:xfrm>
            <a:off x="1447382" y="5469856"/>
            <a:ext cx="5527351" cy="320123"/>
          </a:xfrm>
        </p:spPr>
        <p:txBody>
          <a:bodyPr/>
          <a:lstStyle>
            <a:lvl1pPr algn="l">
              <a:defRPr/>
            </a:lvl1pPr>
          </a:lstStyle>
          <a:p>
            <a:fld id="{B2D8FCA8-E96D-1F41-985D-25A168D67D2E}" type="datetimeFigureOut">
              <a:rPr lang="en-US" smtClean="0"/>
              <a:t>10/20/25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>
          <a:xfrm>
            <a:off x="1447382" y="318640"/>
            <a:ext cx="5541004" cy="320931"/>
          </a:xfrm>
        </p:spPr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A14BBD27-E19D-7342-BD66-40829D856D7D}" type="slidenum">
              <a:rPr lang="en-US" smtClean="0"/>
              <a:t>‹#›</a:t>
            </a:fld>
            <a:endParaRPr lang="en-US"/>
          </a:p>
        </p:txBody>
      </p:sp>
      <p:cxnSp>
        <p:nvCxnSpPr>
          <p:cNvPr id="31" name="Straight Connector 30"/>
          <p:cNvCxnSpPr/>
          <p:nvPr/>
        </p:nvCxnSpPr>
        <p:spPr>
          <a:xfrm>
            <a:off x="1447382" y="3143605"/>
            <a:ext cx="5527351" cy="0"/>
          </a:xfrm>
          <a:prstGeom prst="line">
            <a:avLst/>
          </a:prstGeom>
          <a:ln w="31750"/>
        </p:spPr>
        <p:style>
          <a:lnRef idx="3">
            <a:schemeClr val="accent1"/>
          </a:lnRef>
          <a:fillRef idx="0">
            <a:schemeClr val="accent1"/>
          </a:fillRef>
          <a:effectRef idx="2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2458558025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2D8FCA8-E96D-1F41-985D-25A168D67D2E}" type="datetimeFigureOut">
              <a:rPr lang="en-US" smtClean="0"/>
              <a:t>10/20/25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A14BBD27-E19D-7342-BD66-40829D856D7D}" type="slidenum">
              <a:rPr lang="en-US" smtClean="0"/>
              <a:t>‹#›</a:t>
            </a:fld>
            <a:endParaRPr lang="en-US"/>
          </a:p>
        </p:txBody>
      </p:sp>
      <p:cxnSp>
        <p:nvCxnSpPr>
          <p:cNvPr id="26" name="Straight Connector 25"/>
          <p:cNvCxnSpPr/>
          <p:nvPr/>
        </p:nvCxnSpPr>
        <p:spPr>
          <a:xfrm>
            <a:off x="1453896" y="1847088"/>
            <a:ext cx="9607522" cy="0"/>
          </a:xfrm>
          <a:prstGeom prst="line">
            <a:avLst/>
          </a:prstGeom>
          <a:ln w="31750"/>
        </p:spPr>
        <p:style>
          <a:lnRef idx="3">
            <a:schemeClr val="accent1"/>
          </a:lnRef>
          <a:fillRef idx="0">
            <a:schemeClr val="accent1"/>
          </a:fillRef>
          <a:effectRef idx="2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3898594007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9439111" y="798973"/>
            <a:ext cx="1615742" cy="4659889"/>
          </a:xfrm>
        </p:spPr>
        <p:txBody>
          <a:bodyPr vert="eaVert"/>
          <a:lstStyle>
            <a:lvl1pPr algn="l">
              <a:defRPr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1444672" y="798973"/>
            <a:ext cx="7828830" cy="4659889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2D8FCA8-E96D-1F41-985D-25A168D67D2E}" type="datetimeFigureOut">
              <a:rPr lang="en-US" smtClean="0"/>
              <a:t>10/20/25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A14BBD27-E19D-7342-BD66-40829D856D7D}" type="slidenum">
              <a:rPr lang="en-US" smtClean="0"/>
              <a:t>‹#›</a:t>
            </a:fld>
            <a:endParaRPr lang="en-US"/>
          </a:p>
        </p:txBody>
      </p:sp>
      <p:cxnSp>
        <p:nvCxnSpPr>
          <p:cNvPr id="15" name="Straight Connector 14"/>
          <p:cNvCxnSpPr/>
          <p:nvPr/>
        </p:nvCxnSpPr>
        <p:spPr>
          <a:xfrm>
            <a:off x="9439111" y="798973"/>
            <a:ext cx="0" cy="4659889"/>
          </a:xfrm>
          <a:prstGeom prst="line">
            <a:avLst/>
          </a:prstGeom>
          <a:ln w="31750"/>
        </p:spPr>
        <p:style>
          <a:lnRef idx="3">
            <a:schemeClr val="accent1"/>
          </a:lnRef>
          <a:fillRef idx="0">
            <a:schemeClr val="accent1"/>
          </a:fillRef>
          <a:effectRef idx="2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638038155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13" Type="http://schemas.openxmlformats.org/officeDocument/2006/relationships/image" Target="../media/image1.jpg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3">
        <a:schemeClr val="bg2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Rectangle 7"/>
          <p:cNvSpPr/>
          <p:nvPr/>
        </p:nvSpPr>
        <p:spPr>
          <a:xfrm>
            <a:off x="0" y="2019476"/>
            <a:ext cx="12192000" cy="4105941"/>
          </a:xfrm>
          <a:prstGeom prst="rect">
            <a:avLst/>
          </a:prstGeom>
          <a:gradFill flip="none" rotWithShape="1">
            <a:gsLst>
              <a:gs pos="0">
                <a:schemeClr val="bg2">
                  <a:alpha val="0"/>
                </a:schemeClr>
              </a:gs>
              <a:gs pos="100000">
                <a:schemeClr val="bg2"/>
              </a:gs>
            </a:gsLst>
            <a:lin ang="5400000" scaled="0"/>
            <a:tileRect/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/>
          <a:lstStyle/>
          <a:p>
            <a:endParaRPr lang="en-US"/>
          </a:p>
        </p:txBody>
      </p:sp>
      <p:pic>
        <p:nvPicPr>
          <p:cNvPr id="7" name="Picture 6"/>
          <p:cNvPicPr>
            <a:picLocks noChangeAspect="1"/>
          </p:cNvPicPr>
          <p:nvPr/>
        </p:nvPicPr>
        <p:blipFill rotWithShape="1">
          <a:blip r:embed="rId1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t="1538" b="-1538"/>
          <a:stretch/>
        </p:blipFill>
        <p:spPr bwMode="black">
          <a:xfrm>
            <a:off x="0" y="6126480"/>
            <a:ext cx="12192000" cy="742950"/>
          </a:xfrm>
          <a:prstGeom prst="rect">
            <a:avLst/>
          </a:prstGeom>
        </p:spPr>
      </p:pic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1451579" y="804519"/>
            <a:ext cx="9603275" cy="1049235"/>
          </a:xfrm>
          <a:prstGeom prst="rect">
            <a:avLst/>
          </a:prstGeom>
        </p:spPr>
        <p:txBody>
          <a:bodyPr vert="horz" lIns="91440" tIns="45720" rIns="91440" bIns="45720" rtlCol="0" anchor="t">
            <a:normAutofit/>
          </a:bodyPr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1451579" y="2015732"/>
            <a:ext cx="9603275" cy="345061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7554138" y="330370"/>
            <a:ext cx="3500715" cy="309201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0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B2D8FCA8-E96D-1F41-985D-25A168D67D2E}" type="datetimeFigureOut">
              <a:rPr lang="en-US" smtClean="0"/>
              <a:t>10/20/25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1451579" y="329307"/>
            <a:ext cx="5938836" cy="309201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0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480060" y="798973"/>
            <a:ext cx="811019" cy="503578"/>
          </a:xfrm>
          <a:prstGeom prst="rect">
            <a:avLst/>
          </a:prstGeom>
        </p:spPr>
        <p:txBody>
          <a:bodyPr vert="horz" lIns="91440" tIns="45720" rIns="91440" bIns="45720" rtlCol="0" anchor="t"/>
          <a:lstStyle>
            <a:lvl1pPr algn="r">
              <a:defRPr sz="2800">
                <a:solidFill>
                  <a:schemeClr val="accent1"/>
                </a:solidFill>
              </a:defRPr>
            </a:lvl1pPr>
          </a:lstStyle>
          <a:p>
            <a:fld id="{A14BBD27-E19D-7342-BD66-40829D856D7D}" type="slidenum">
              <a:rPr lang="en-US" smtClean="0"/>
              <a:t>‹#›</a:t>
            </a:fld>
            <a:endParaRPr lang="en-US"/>
          </a:p>
        </p:txBody>
      </p:sp>
      <p:cxnSp>
        <p:nvCxnSpPr>
          <p:cNvPr id="10" name="Straight Connector 9"/>
          <p:cNvCxnSpPr/>
          <p:nvPr/>
        </p:nvCxnSpPr>
        <p:spPr>
          <a:xfrm>
            <a:off x="0" y="6128413"/>
            <a:ext cx="12192000" cy="0"/>
          </a:xfrm>
          <a:prstGeom prst="line">
            <a:avLst/>
          </a:prstGeom>
          <a:ln w="12700">
            <a:solidFill>
              <a:srgbClr val="000001">
                <a:alpha val="20000"/>
              </a:srgb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3615034652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61" r:id="rId1"/>
    <p:sldLayoutId id="2147483662" r:id="rId2"/>
    <p:sldLayoutId id="2147483663" r:id="rId3"/>
    <p:sldLayoutId id="2147483664" r:id="rId4"/>
    <p:sldLayoutId id="2147483665" r:id="rId5"/>
    <p:sldLayoutId id="2147483666" r:id="rId6"/>
    <p:sldLayoutId id="2147483667" r:id="rId7"/>
    <p:sldLayoutId id="2147483668" r:id="rId8"/>
    <p:sldLayoutId id="2147483669" r:id="rId9"/>
    <p:sldLayoutId id="2147483670" r:id="rId10"/>
    <p:sldLayoutId id="2147483671" r:id="rId11"/>
  </p:sldLayoutIdLst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3200" b="0" i="0" kern="1200" cap="all">
          <a:solidFill>
            <a:schemeClr val="tx1"/>
          </a:solidFill>
          <a:effectLst/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120000"/>
        </a:lnSpc>
        <a:spcBef>
          <a:spcPts val="1000"/>
        </a:spcBef>
        <a:buClr>
          <a:schemeClr val="accent1"/>
        </a:buClr>
        <a:buSzPct val="100000"/>
        <a:buFont typeface="Arial" panose="020B0604020202020204" pitchFamily="34" charset="0"/>
        <a:buChar char="•"/>
        <a:defRPr sz="2000" kern="1200">
          <a:solidFill>
            <a:schemeClr val="tx1"/>
          </a:solidFill>
          <a:effectLst/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120000"/>
        </a:lnSpc>
        <a:spcBef>
          <a:spcPts val="500"/>
        </a:spcBef>
        <a:buClr>
          <a:schemeClr val="accent1"/>
        </a:buClr>
        <a:buSzPct val="100000"/>
        <a:buFont typeface="Arial" panose="020B0604020202020204" pitchFamily="34" charset="0"/>
        <a:buChar char="•"/>
        <a:defRPr sz="1800" kern="1200" cap="none" baseline="0">
          <a:solidFill>
            <a:schemeClr val="tx1"/>
          </a:solidFill>
          <a:effectLst/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120000"/>
        </a:lnSpc>
        <a:spcBef>
          <a:spcPts val="500"/>
        </a:spcBef>
        <a:buClr>
          <a:schemeClr val="accent1"/>
        </a:buClr>
        <a:buSzPct val="100000"/>
        <a:buFont typeface="Arial" panose="020B0604020202020204" pitchFamily="34" charset="0"/>
        <a:buChar char="•"/>
        <a:defRPr sz="1600" kern="1200">
          <a:solidFill>
            <a:schemeClr val="tx1"/>
          </a:solidFill>
          <a:effectLst/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120000"/>
        </a:lnSpc>
        <a:spcBef>
          <a:spcPts val="500"/>
        </a:spcBef>
        <a:buClr>
          <a:schemeClr val="accent1"/>
        </a:buClr>
        <a:buSzPct val="100000"/>
        <a:buFont typeface="Arial" panose="020B0604020202020204" pitchFamily="34" charset="0"/>
        <a:buChar char="•"/>
        <a:defRPr sz="1400" kern="1200" cap="none" baseline="0">
          <a:solidFill>
            <a:schemeClr val="tx1"/>
          </a:solidFill>
          <a:effectLst/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120000"/>
        </a:lnSpc>
        <a:spcBef>
          <a:spcPts val="500"/>
        </a:spcBef>
        <a:buClr>
          <a:schemeClr val="accent1"/>
        </a:buClr>
        <a:buSzPct val="100000"/>
        <a:buFont typeface="Arial" panose="020B0604020202020204" pitchFamily="34" charset="0"/>
        <a:buChar char="•"/>
        <a:defRPr sz="1200" kern="1200">
          <a:solidFill>
            <a:schemeClr val="tx1"/>
          </a:solidFill>
          <a:effectLst/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120000"/>
        </a:lnSpc>
        <a:spcBef>
          <a:spcPts val="500"/>
        </a:spcBef>
        <a:buClr>
          <a:schemeClr val="accent1"/>
        </a:buClr>
        <a:buSzPct val="100000"/>
        <a:buFont typeface="Arial" panose="020B0604020202020204" pitchFamily="34" charset="0"/>
        <a:buChar char="•"/>
        <a:defRPr sz="1200" kern="1200">
          <a:solidFill>
            <a:schemeClr val="tx1"/>
          </a:solidFill>
          <a:effectLst/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120000"/>
        </a:lnSpc>
        <a:spcBef>
          <a:spcPts val="500"/>
        </a:spcBef>
        <a:buClr>
          <a:schemeClr val="accent1"/>
        </a:buClr>
        <a:buSzPct val="100000"/>
        <a:buFont typeface="Arial" panose="020B0604020202020204" pitchFamily="34" charset="0"/>
        <a:buChar char="•"/>
        <a:defRPr sz="1200" kern="1200">
          <a:solidFill>
            <a:schemeClr val="tx1"/>
          </a:solidFill>
          <a:effectLst/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120000"/>
        </a:lnSpc>
        <a:spcBef>
          <a:spcPts val="500"/>
        </a:spcBef>
        <a:buClr>
          <a:schemeClr val="accent1"/>
        </a:buClr>
        <a:buSzPct val="100000"/>
        <a:buFont typeface="Arial" panose="020B0604020202020204" pitchFamily="34" charset="0"/>
        <a:buChar char="•"/>
        <a:defRPr sz="1200" kern="1200" baseline="0">
          <a:solidFill>
            <a:schemeClr val="tx1"/>
          </a:solidFill>
          <a:effectLst/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120000"/>
        </a:lnSpc>
        <a:spcBef>
          <a:spcPts val="500"/>
        </a:spcBef>
        <a:buClr>
          <a:schemeClr val="accent1"/>
        </a:buClr>
        <a:buSzPct val="100000"/>
        <a:buFont typeface="Arial" panose="020B0604020202020204" pitchFamily="34" charset="0"/>
        <a:buChar char="•"/>
        <a:defRPr sz="1200" kern="1200" baseline="0">
          <a:solidFill>
            <a:schemeClr val="tx1"/>
          </a:solidFill>
          <a:effectLst/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.xml.rels><?xml version="1.0" encoding="UTF-8" standalone="yes"?>
<Relationships xmlns="http://schemas.openxmlformats.org/package/2006/relationships"><Relationship Id="rId2" Type="http://schemas.openxmlformats.org/officeDocument/2006/relationships/image" Target="../media/image2.png"/><Relationship Id="rId1" Type="http://schemas.openxmlformats.org/officeDocument/2006/relationships/slideLayout" Target="../slideLayouts/slideLayout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6.xml.rels><?xml version="1.0" encoding="UTF-8" standalone="yes"?>
<Relationships xmlns="http://schemas.openxmlformats.org/package/2006/relationships"><Relationship Id="rId2" Type="http://schemas.openxmlformats.org/officeDocument/2006/relationships/image" Target="../media/image3.png"/><Relationship Id="rId1" Type="http://schemas.openxmlformats.org/officeDocument/2006/relationships/slideLayout" Target="../slideLayouts/slideLayout2.xml"/></Relationships>
</file>

<file path=ppt/slides/_rels/slide7.xml.rels><?xml version="1.0" encoding="UTF-8" standalone="yes"?>
<Relationships xmlns="http://schemas.openxmlformats.org/package/2006/relationships"><Relationship Id="rId2" Type="http://schemas.openxmlformats.org/officeDocument/2006/relationships/image" Target="../media/image4.png"/><Relationship Id="rId1" Type="http://schemas.openxmlformats.org/officeDocument/2006/relationships/slideLayout" Target="../slideLayouts/slideLayout2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9.xml.rels><?xml version="1.0" encoding="UTF-8" standalone="yes"?>
<Relationships xmlns="http://schemas.openxmlformats.org/package/2006/relationships"><Relationship Id="rId2" Type="http://schemas.openxmlformats.org/officeDocument/2006/relationships/image" Target="../media/image5.tiff"/><Relationship Id="rId1" Type="http://schemas.openxmlformats.org/officeDocument/2006/relationships/slideLayout" Target="../slideLayouts/slideLayout2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8.xml.rels><?xml version="1.0" encoding="UTF-8" standalone="yes"?>
<Relationships xmlns="http://schemas.openxmlformats.org/package/2006/relationships"><Relationship Id="rId2" Type="http://schemas.openxmlformats.org/officeDocument/2006/relationships/image" Target="../media/image6.jpeg"/><Relationship Id="rId1" Type="http://schemas.openxmlformats.org/officeDocument/2006/relationships/slideLayout" Target="../slideLayouts/slideLayout2.xml"/></Relationships>
</file>

<file path=ppt/slides/_rels/slide1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3.xml.rels><?xml version="1.0" encoding="UTF-8" standalone="yes"?>
<Relationships xmlns="http://schemas.openxmlformats.org/package/2006/relationships"><Relationship Id="rId2" Type="http://schemas.openxmlformats.org/officeDocument/2006/relationships/image" Target="../media/image7.jpeg"/><Relationship Id="rId1" Type="http://schemas.openxmlformats.org/officeDocument/2006/relationships/slideLayout" Target="../slideLayouts/slideLayout2.xml"/></Relationships>
</file>

<file path=ppt/slides/_rels/slide2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0.xml.rels><?xml version="1.0" encoding="UTF-8" standalone="yes"?>
<Relationships xmlns="http://schemas.openxmlformats.org/package/2006/relationships"><Relationship Id="rId2" Type="http://schemas.openxmlformats.org/officeDocument/2006/relationships/image" Target="../media/image5.tiff"/><Relationship Id="rId1" Type="http://schemas.openxmlformats.org/officeDocument/2006/relationships/slideLayout" Target="../slideLayouts/slideLayout2.xml"/></Relationships>
</file>

<file path=ppt/slides/_rels/slide3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2.xml.rels><?xml version="1.0" encoding="UTF-8" standalone="yes"?>
<Relationships xmlns="http://schemas.openxmlformats.org/package/2006/relationships"><Relationship Id="rId2" Type="http://schemas.openxmlformats.org/officeDocument/2006/relationships/image" Target="../media/image8.png"/><Relationship Id="rId1" Type="http://schemas.openxmlformats.org/officeDocument/2006/relationships/slideLayout" Target="../slideLayouts/slideLayout2.xml"/></Relationships>
</file>

<file path=ppt/slides/_rels/slide33.xml.rels><?xml version="1.0" encoding="UTF-8" standalone="yes"?>
<Relationships xmlns="http://schemas.openxmlformats.org/package/2006/relationships"><Relationship Id="rId2" Type="http://schemas.openxmlformats.org/officeDocument/2006/relationships/image" Target="../media/image9.png"/><Relationship Id="rId1" Type="http://schemas.openxmlformats.org/officeDocument/2006/relationships/slideLayout" Target="../slideLayouts/slideLayout2.xml"/></Relationships>
</file>

<file path=ppt/slides/_rels/slide3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5.xml.rels><?xml version="1.0" encoding="UTF-8" standalone="yes"?>
<Relationships xmlns="http://schemas.openxmlformats.org/package/2006/relationships"><Relationship Id="rId3" Type="http://schemas.openxmlformats.org/officeDocument/2006/relationships/image" Target="../media/image11.png"/><Relationship Id="rId2" Type="http://schemas.openxmlformats.org/officeDocument/2006/relationships/image" Target="../media/image10.png"/><Relationship Id="rId1" Type="http://schemas.openxmlformats.org/officeDocument/2006/relationships/slideLayout" Target="../slideLayouts/slideLayout4.xml"/></Relationships>
</file>

<file path=ppt/slides/_rels/slide3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7.xml.rels><?xml version="1.0" encoding="UTF-8" standalone="yes"?>
<Relationships xmlns="http://schemas.openxmlformats.org/package/2006/relationships"><Relationship Id="rId3" Type="http://schemas.openxmlformats.org/officeDocument/2006/relationships/image" Target="../media/image12.png"/><Relationship Id="rId2" Type="http://schemas.openxmlformats.org/officeDocument/2006/relationships/image" Target="../media/image1.jpg"/><Relationship Id="rId1" Type="http://schemas.openxmlformats.org/officeDocument/2006/relationships/slideLayout" Target="../slideLayouts/slideLayout2.xml"/></Relationships>
</file>

<file path=ppt/slides/_rels/slide38.xml.rels><?xml version="1.0" encoding="UTF-8" standalone="yes"?>
<Relationships xmlns="http://schemas.openxmlformats.org/package/2006/relationships"><Relationship Id="rId2" Type="http://schemas.openxmlformats.org/officeDocument/2006/relationships/image" Target="../media/image13.png"/><Relationship Id="rId1" Type="http://schemas.openxmlformats.org/officeDocument/2006/relationships/slideLayout" Target="../slideLayouts/slideLayout2.xml"/></Relationships>
</file>

<file path=ppt/slides/_rels/slide39.xml.rels><?xml version="1.0" encoding="UTF-8" standalone="yes"?>
<Relationships xmlns="http://schemas.openxmlformats.org/package/2006/relationships"><Relationship Id="rId3" Type="http://schemas.openxmlformats.org/officeDocument/2006/relationships/image" Target="../media/image15.png"/><Relationship Id="rId2" Type="http://schemas.openxmlformats.org/officeDocument/2006/relationships/image" Target="../media/image14.png"/><Relationship Id="rId1" Type="http://schemas.openxmlformats.org/officeDocument/2006/relationships/slideLayout" Target="../slideLayouts/slideLayout2.xml"/></Relationships>
</file>

<file path=ppt/slides/_rels/slide4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4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42.xml.rels><?xml version="1.0" encoding="UTF-8" standalone="yes"?>
<Relationships xmlns="http://schemas.openxmlformats.org/package/2006/relationships"><Relationship Id="rId2" Type="http://schemas.openxmlformats.org/officeDocument/2006/relationships/image" Target="../media/image16.jpeg"/><Relationship Id="rId1" Type="http://schemas.openxmlformats.org/officeDocument/2006/relationships/slideLayout" Target="../slideLayouts/slideLayout2.xml"/></Relationships>
</file>

<file path=ppt/slides/_rels/slide43.xml.rels><?xml version="1.0" encoding="UTF-8" standalone="yes"?>
<Relationships xmlns="http://schemas.openxmlformats.org/package/2006/relationships"><Relationship Id="rId3" Type="http://schemas.openxmlformats.org/officeDocument/2006/relationships/image" Target="../media/image18.jpeg"/><Relationship Id="rId2" Type="http://schemas.openxmlformats.org/officeDocument/2006/relationships/image" Target="../media/image17.jpeg"/><Relationship Id="rId1" Type="http://schemas.openxmlformats.org/officeDocument/2006/relationships/slideLayout" Target="../slideLayouts/slideLayout2.xml"/></Relationships>
</file>

<file path=ppt/slides/_rels/slide44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2.xml"/></Relationships>
</file>

<file path=ppt/slides/_rels/slide45.xml.rels><?xml version="1.0" encoding="UTF-8" standalone="yes"?>
<Relationships xmlns="http://schemas.openxmlformats.org/package/2006/relationships"><Relationship Id="rId2" Type="http://schemas.openxmlformats.org/officeDocument/2006/relationships/image" Target="../media/image19.jpeg"/><Relationship Id="rId1" Type="http://schemas.openxmlformats.org/officeDocument/2006/relationships/slideLayout" Target="../slideLayouts/slideLayout2.xml"/></Relationships>
</file>

<file path=ppt/slides/_rels/slide4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4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AC3B9CDF-EFA5-1EEC-025C-66087F9C02F8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Housekeeping: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D13F83CA-0EE3-BB5B-E653-DC3E53702C1A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dirty="0"/>
              <a:t>Assignment – date extended to Monday, noon. </a:t>
            </a:r>
          </a:p>
          <a:p>
            <a:r>
              <a:rPr lang="en-US" dirty="0"/>
              <a:t>Quiz – We can do it on the 11</a:t>
            </a:r>
            <a:r>
              <a:rPr lang="en-US" baseline="30000" dirty="0"/>
              <a:t>th</a:t>
            </a:r>
            <a:r>
              <a:rPr lang="en-US" dirty="0"/>
              <a:t> , let me know if that poses a problem. </a:t>
            </a:r>
          </a:p>
          <a:p>
            <a:pPr lvl="1"/>
            <a:r>
              <a:rPr lang="en-US" dirty="0"/>
              <a:t>Estimating and testing. </a:t>
            </a:r>
          </a:p>
          <a:p>
            <a:r>
              <a:rPr lang="en-US" dirty="0"/>
              <a:t>Today:</a:t>
            </a:r>
          </a:p>
          <a:p>
            <a:pPr lvl="1"/>
            <a:r>
              <a:rPr lang="en-US"/>
              <a:t>Hypothesis testing. </a:t>
            </a:r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1578407356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7115F306-249F-4561-521B-14C45383C528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Some Stuff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6D36FC52-8F69-94EE-32EB-161E1AB831C5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1451579" y="1853755"/>
            <a:ext cx="9603275" cy="4199726"/>
          </a:xfrm>
        </p:spPr>
        <p:txBody>
          <a:bodyPr>
            <a:normAutofit lnSpcReduction="10000"/>
          </a:bodyPr>
          <a:lstStyle/>
          <a:p>
            <a:r>
              <a:rPr lang="en-US" dirty="0"/>
              <a:t>Question – in chapter 9 (e.g. 9.2) do the “class…” code parts make sense or no?</a:t>
            </a:r>
          </a:p>
          <a:p>
            <a:r>
              <a:rPr lang="en-US" dirty="0"/>
              <a:t>Today – recap simulation and (maybe) first part of hypothesis testing (&lt;=9.5). </a:t>
            </a:r>
          </a:p>
          <a:p>
            <a:pPr lvl="1"/>
            <a:r>
              <a:rPr lang="en-US" dirty="0"/>
              <a:t>Game 7. </a:t>
            </a:r>
          </a:p>
          <a:p>
            <a:pPr lvl="1"/>
            <a:r>
              <a:rPr lang="en-US" dirty="0"/>
              <a:t>More generalization, confidence, and election simulation. </a:t>
            </a:r>
          </a:p>
          <a:p>
            <a:pPr lvl="1"/>
            <a:r>
              <a:rPr lang="en-US" dirty="0"/>
              <a:t>Hypothesis testing from scratch. </a:t>
            </a:r>
          </a:p>
          <a:p>
            <a:pPr lvl="1"/>
            <a:r>
              <a:rPr lang="en-US" dirty="0"/>
              <a:t>Depending on what you all know, a bit about classes to make sense of book. </a:t>
            </a:r>
          </a:p>
          <a:p>
            <a:r>
              <a:rPr lang="en-US" dirty="0"/>
              <a:t>Note: we’ll look at the ‘from scratch’ stuff now and worry about t/z/p tests next time. </a:t>
            </a:r>
          </a:p>
          <a:p>
            <a:r>
              <a:rPr lang="en-US" dirty="0"/>
              <a:t>Exam, in a couple of weeks (31):</a:t>
            </a:r>
          </a:p>
          <a:p>
            <a:pPr lvl="1"/>
            <a:r>
              <a:rPr lang="en-US" dirty="0"/>
              <a:t>Set a cutoff on hypothesis testing (ch9 - we’ll be more specific at the end of the week). </a:t>
            </a:r>
          </a:p>
          <a:p>
            <a:pPr lvl="1"/>
            <a:r>
              <a:rPr lang="en-US" dirty="0"/>
              <a:t>It’ll involve answering some questions, and submitting some code bits. </a:t>
            </a:r>
          </a:p>
        </p:txBody>
      </p:sp>
      <p:pic>
        <p:nvPicPr>
          <p:cNvPr id="2050" name="Picture 2" descr="Toronto Blue Jays - Wikipedia">
            <a:extLst>
              <a:ext uri="{FF2B5EF4-FFF2-40B4-BE49-F238E27FC236}">
                <a16:creationId xmlns:a16="http://schemas.microsoft.com/office/drawing/2014/main" id="{906B6302-6014-1A0A-B459-FC61F9795AB8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9970474" y="0"/>
            <a:ext cx="2168759" cy="1870441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</p:spTree>
    <p:extLst>
      <p:ext uri="{BB962C8B-B14F-4D97-AF65-F5344CB8AC3E}">
        <p14:creationId xmlns:p14="http://schemas.microsoft.com/office/powerpoint/2010/main" val="3163518021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3FFFB92D-D5B7-5C46-859A-480D5C8782A5}"/>
              </a:ext>
            </a:extLst>
          </p:cNvPr>
          <p:cNvSpPr>
            <a:spLocks noGrp="1"/>
          </p:cNvSpPr>
          <p:nvPr>
            <p:ph type="ctrTitle"/>
          </p:nvPr>
        </p:nvSpPr>
        <p:spPr/>
        <p:txBody>
          <a:bodyPr/>
          <a:lstStyle/>
          <a:p>
            <a:r>
              <a:rPr lang="en-US" dirty="0"/>
              <a:t>Hypothesis Testing</a:t>
            </a:r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584CDFCE-A045-3745-9428-AAC7367486DC}"/>
              </a:ext>
            </a:extLst>
          </p:cNvPr>
          <p:cNvSpPr>
            <a:spLocks noGrp="1"/>
          </p:cNvSpPr>
          <p:nvPr>
            <p:ph type="subTitle" idx="1"/>
          </p:nvPr>
        </p:nvSpPr>
        <p:spPr/>
        <p:txBody>
          <a:bodyPr/>
          <a:lstStyle/>
          <a:p>
            <a:r>
              <a:rPr lang="en-US" dirty="0"/>
              <a:t>Does it Matter?</a:t>
            </a:r>
          </a:p>
        </p:txBody>
      </p:sp>
    </p:spTree>
    <p:extLst>
      <p:ext uri="{BB962C8B-B14F-4D97-AF65-F5344CB8AC3E}">
        <p14:creationId xmlns:p14="http://schemas.microsoft.com/office/powerpoint/2010/main" val="2997218721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3D63269E-AAC3-61F0-A2DB-867CAE780FF4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Hypothesis Test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A78F8A65-87BC-7150-5EF4-ED6622A95FE8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dirty="0"/>
              <a:t>Hypothesis testing is a reasonably large topic. </a:t>
            </a:r>
          </a:p>
        </p:txBody>
      </p:sp>
    </p:spTree>
    <p:extLst>
      <p:ext uri="{BB962C8B-B14F-4D97-AF65-F5344CB8AC3E}">
        <p14:creationId xmlns:p14="http://schemas.microsoft.com/office/powerpoint/2010/main" val="2539723738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722AA3E-BBBE-94A6-DAF1-85773DBEE918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Recall - Estimation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080A01FD-7DDA-A8D2-8DC7-479583D5F684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56623766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53C9C203-8EA9-7410-B8BA-9D9CB018ECB0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" y="804519"/>
            <a:ext cx="3549650" cy="1049235"/>
          </a:xfrm>
        </p:spPr>
        <p:txBody>
          <a:bodyPr/>
          <a:lstStyle/>
          <a:p>
            <a:r>
              <a:rPr lang="en-US" dirty="0"/>
              <a:t>Recall - Estimation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7684DE7B-31AB-063F-8BC5-23E4889972D6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0" y="2015732"/>
            <a:ext cx="3549651" cy="4037749"/>
          </a:xfrm>
        </p:spPr>
        <p:txBody>
          <a:bodyPr/>
          <a:lstStyle/>
          <a:p>
            <a:r>
              <a:rPr lang="en-US" dirty="0"/>
              <a:t>We looked at estimating for a population from a sample. </a:t>
            </a:r>
          </a:p>
          <a:p>
            <a:pPr lvl="1"/>
            <a:r>
              <a:rPr lang="en-US" dirty="0"/>
              <a:t>Take sample, calculate stats.</a:t>
            </a:r>
          </a:p>
          <a:p>
            <a:pPr lvl="1"/>
            <a:r>
              <a:rPr lang="en-US" dirty="0"/>
              <a:t>Make model, run trials.</a:t>
            </a:r>
          </a:p>
          <a:p>
            <a:r>
              <a:rPr lang="en-US" dirty="0"/>
              <a:t>Conclusions are probabilistic. </a:t>
            </a:r>
          </a:p>
          <a:p>
            <a:pPr lvl="1"/>
            <a:r>
              <a:rPr lang="en-US" dirty="0"/>
              <a:t>We have uncertainty. </a:t>
            </a:r>
          </a:p>
          <a:p>
            <a:r>
              <a:rPr lang="en-US" dirty="0"/>
              <a:t>Conclusions have confidence intervals. </a:t>
            </a:r>
          </a:p>
          <a:p>
            <a:pPr lvl="1"/>
            <a:r>
              <a:rPr lang="en-US" dirty="0"/>
              <a:t>Indication of prediction acc.</a:t>
            </a:r>
          </a:p>
          <a:p>
            <a:pPr lvl="1"/>
            <a:endParaRPr lang="en-US" dirty="0"/>
          </a:p>
        </p:txBody>
      </p:sp>
      <p:pic>
        <p:nvPicPr>
          <p:cNvPr id="3076" name="Picture 4" descr="Can't find the CLT? Fundamental Statistics for Machine Learning: Part 1 |  by Abhishek Divekar | Medium">
            <a:extLst>
              <a:ext uri="{FF2B5EF4-FFF2-40B4-BE49-F238E27FC236}">
                <a16:creationId xmlns:a16="http://schemas.microsoft.com/office/drawing/2014/main" id="{B0F902A8-0C2E-0F8C-1A06-AA40FDFF5048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3549650" y="0"/>
            <a:ext cx="8642350" cy="685800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</p:spTree>
    <p:extLst>
      <p:ext uri="{BB962C8B-B14F-4D97-AF65-F5344CB8AC3E}">
        <p14:creationId xmlns:p14="http://schemas.microsoft.com/office/powerpoint/2010/main" val="3637465867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8EB41484-7549-9AD6-8858-9D7B52369AE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Making Predictions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CF20F2D4-8597-0E59-306A-60B9146921D6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7714650" y="2015732"/>
            <a:ext cx="4066672" cy="4037749"/>
          </a:xfrm>
        </p:spPr>
        <p:txBody>
          <a:bodyPr/>
          <a:lstStyle/>
          <a:p>
            <a:r>
              <a:rPr lang="en-US" dirty="0"/>
              <a:t>When generalizing, we have a range and a likelihood. </a:t>
            </a:r>
          </a:p>
          <a:p>
            <a:r>
              <a:rPr lang="en-US" dirty="0"/>
              <a:t>Errors stem from:</a:t>
            </a:r>
          </a:p>
          <a:p>
            <a:pPr lvl="1"/>
            <a:r>
              <a:rPr lang="en-US" dirty="0"/>
              <a:t>Sampling. </a:t>
            </a:r>
          </a:p>
          <a:p>
            <a:pPr lvl="1"/>
            <a:r>
              <a:rPr lang="en-US" dirty="0"/>
              <a:t>Sampling bias. </a:t>
            </a:r>
          </a:p>
          <a:p>
            <a:pPr lvl="1"/>
            <a:r>
              <a:rPr lang="en-US" dirty="0"/>
              <a:t>Measurement error. </a:t>
            </a:r>
          </a:p>
          <a:p>
            <a:r>
              <a:rPr lang="en-US" dirty="0"/>
              <a:t>Some errors are beyond us. </a:t>
            </a:r>
          </a:p>
        </p:txBody>
      </p:sp>
      <p:pic>
        <p:nvPicPr>
          <p:cNvPr id="4" name="Picture 2" descr="Chapter 10 Confidence Intervals | Introduction to Statistics and Data  Science">
            <a:extLst>
              <a:ext uri="{FF2B5EF4-FFF2-40B4-BE49-F238E27FC236}">
                <a16:creationId xmlns:a16="http://schemas.microsoft.com/office/drawing/2014/main" id="{3FB6E4FC-E947-EA3D-3069-097DD3CC5739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0" y="1853754"/>
            <a:ext cx="7714650" cy="4408371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</p:spTree>
    <p:extLst>
      <p:ext uri="{BB962C8B-B14F-4D97-AF65-F5344CB8AC3E}">
        <p14:creationId xmlns:p14="http://schemas.microsoft.com/office/powerpoint/2010/main" val="3203570768"/>
      </p:ext>
    </p:extLst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A9BE8D9D-350C-FFC8-8E60-05F536113D4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Using Simulations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6F01357A-84A4-884F-00D0-13CDFD37E2A6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1451579" y="2015732"/>
            <a:ext cx="9603275" cy="3932681"/>
          </a:xfrm>
        </p:spPr>
        <p:txBody>
          <a:bodyPr/>
          <a:lstStyle/>
          <a:p>
            <a:r>
              <a:rPr lang="en-US" dirty="0"/>
              <a:t>We can do this with our simulation loops. </a:t>
            </a:r>
          </a:p>
          <a:p>
            <a:pPr lvl="1"/>
            <a:r>
              <a:rPr lang="en-US" dirty="0"/>
              <a:t>We have a model for data expectations (analytical distribution) made from sample. </a:t>
            </a:r>
          </a:p>
          <a:p>
            <a:pPr lvl="1"/>
            <a:r>
              <a:rPr lang="en-US" dirty="0"/>
              <a:t>We can generate many new samples from that distribution. </a:t>
            </a:r>
          </a:p>
          <a:p>
            <a:pPr lvl="1"/>
            <a:r>
              <a:rPr lang="en-US" dirty="0"/>
              <a:t>We can count where the results of those samples fall. </a:t>
            </a:r>
          </a:p>
          <a:p>
            <a:r>
              <a:rPr lang="en-US" dirty="0"/>
              <a:t>These counts are an estimate of what we can expect going forward. </a:t>
            </a:r>
          </a:p>
          <a:p>
            <a:pPr lvl="1"/>
            <a:r>
              <a:rPr lang="en-US" dirty="0"/>
              <a:t>The more clustered they are, the more confident we are in predictions. </a:t>
            </a:r>
          </a:p>
          <a:p>
            <a:pPr lvl="1"/>
            <a:r>
              <a:rPr lang="en-US" dirty="0"/>
              <a:t>The range that 90/95/99% fall into is our confidence interval. </a:t>
            </a:r>
          </a:p>
          <a:p>
            <a:r>
              <a:rPr lang="en-US" dirty="0"/>
              <a:t>As long as we have some model of the distribution, we can do the same thing. </a:t>
            </a:r>
          </a:p>
        </p:txBody>
      </p:sp>
    </p:spTree>
    <p:extLst>
      <p:ext uri="{BB962C8B-B14F-4D97-AF65-F5344CB8AC3E}">
        <p14:creationId xmlns:p14="http://schemas.microsoft.com/office/powerpoint/2010/main" val="3630232877"/>
      </p:ext>
    </p:extLst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1C237FF7-4E14-DB4F-0428-DA9C7B428F2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A4D52962-0069-5970-7E60-5D3767C89133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451579" y="804519"/>
            <a:ext cx="9603275" cy="1049235"/>
          </a:xfrm>
        </p:spPr>
        <p:txBody>
          <a:bodyPr>
            <a:normAutofit/>
          </a:bodyPr>
          <a:lstStyle/>
          <a:p>
            <a:r>
              <a:rPr lang="en-US" dirty="0"/>
              <a:t>Effects Flashback – Cohen’s Effect Size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1F71D939-A10B-21DB-D934-F4F7A82E8C42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1451579" y="2015734"/>
            <a:ext cx="7089668" cy="4037747"/>
          </a:xfrm>
        </p:spPr>
        <p:txBody>
          <a:bodyPr>
            <a:normAutofit/>
          </a:bodyPr>
          <a:lstStyle/>
          <a:p>
            <a:r>
              <a:rPr lang="en-US" dirty="0"/>
              <a:t>Effects are just differences between samples. </a:t>
            </a:r>
          </a:p>
          <a:p>
            <a:r>
              <a:rPr lang="en-US" dirty="0"/>
              <a:t>Effect size is very good for showing how big of a difference there is between groups.</a:t>
            </a:r>
          </a:p>
          <a:p>
            <a:pPr lvl="1"/>
            <a:r>
              <a:rPr lang="en-US" dirty="0"/>
              <a:t>How ”big” is the difference between A and B</a:t>
            </a:r>
          </a:p>
          <a:p>
            <a:r>
              <a:rPr lang="en-US" dirty="0"/>
              <a:t>Easy to calculate, symmetrical, comparable across studies. </a:t>
            </a:r>
          </a:p>
          <a:p>
            <a:r>
              <a:rPr lang="en-US" dirty="0"/>
              <a:t>Downside – the value doesn’t have obvious meaning. </a:t>
            </a:r>
          </a:p>
          <a:p>
            <a:r>
              <a:rPr lang="en-US" dirty="0"/>
              <a:t>Table is a list of approximate significance, by Cohen himself. </a:t>
            </a:r>
          </a:p>
          <a:p>
            <a:r>
              <a:rPr lang="en-US" dirty="0"/>
              <a:t>Book’s author a huge proponent of effect size!</a:t>
            </a:r>
          </a:p>
        </p:txBody>
      </p:sp>
      <p:pic>
        <p:nvPicPr>
          <p:cNvPr id="4" name="Picture 3">
            <a:extLst>
              <a:ext uri="{FF2B5EF4-FFF2-40B4-BE49-F238E27FC236}">
                <a16:creationId xmlns:a16="http://schemas.microsoft.com/office/drawing/2014/main" id="{EB62C5B9-5FA2-D563-844D-D905B8775149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541247" y="2015734"/>
            <a:ext cx="2727388" cy="4479127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455635162"/>
      </p:ext>
    </p:extLst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22F8F6B6-A700-23AE-D6C2-580B93E058C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Inferencing Effects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BEE2A5EC-D8B7-F419-D2BC-B1C3F32F2DF3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1451579" y="1853754"/>
            <a:ext cx="9603275" cy="4095101"/>
          </a:xfrm>
        </p:spPr>
        <p:txBody>
          <a:bodyPr>
            <a:normAutofit lnSpcReduction="10000"/>
          </a:bodyPr>
          <a:lstStyle/>
          <a:p>
            <a:r>
              <a:rPr lang="en-US" dirty="0"/>
              <a:t>One big thing we want to do in stats is project these effects to a population. </a:t>
            </a:r>
          </a:p>
          <a:p>
            <a:pPr lvl="1"/>
            <a:r>
              <a:rPr lang="en-US" dirty="0"/>
              <a:t>If people treated with drugs live longer than people in control group, is that difference real?</a:t>
            </a:r>
          </a:p>
          <a:p>
            <a:pPr lvl="1"/>
            <a:r>
              <a:rPr lang="en-US" dirty="0"/>
              <a:t>If we tutor one group of students extra, is their grade change due to randomness or learning? </a:t>
            </a:r>
          </a:p>
          <a:p>
            <a:r>
              <a:rPr lang="en-US" dirty="0"/>
              <a:t>Like with generalizing, this isn’t direct, it is probabilistic. </a:t>
            </a:r>
          </a:p>
          <a:p>
            <a:pPr lvl="1"/>
            <a:r>
              <a:rPr lang="en-US" dirty="0"/>
              <a:t>We have natural variance in data, and each sample may differ slightly normally. </a:t>
            </a:r>
          </a:p>
          <a:p>
            <a:pPr lvl="1"/>
            <a:r>
              <a:rPr lang="en-US" dirty="0"/>
              <a:t>Depending on sample size, we might see swings in means that are random. </a:t>
            </a:r>
          </a:p>
          <a:p>
            <a:pPr lvl="1"/>
            <a:r>
              <a:rPr lang="en-US" dirty="0"/>
              <a:t>Real life things are often limited in sample size, so variations can be big. </a:t>
            </a:r>
          </a:p>
          <a:p>
            <a:r>
              <a:rPr lang="en-US" dirty="0"/>
              <a:t>So… if we see some effect in our samples, can we trust that effect is in the population? </a:t>
            </a:r>
          </a:p>
          <a:p>
            <a:pPr lvl="1"/>
            <a:r>
              <a:rPr lang="en-US" dirty="0"/>
              <a:t>Is what we see in our samples real? </a:t>
            </a:r>
          </a:p>
          <a:p>
            <a:pPr lvl="1"/>
            <a:r>
              <a:rPr lang="en-US" dirty="0"/>
              <a:t>Our hypothesis test will give us a probability it was due to random variation. </a:t>
            </a:r>
          </a:p>
        </p:txBody>
      </p:sp>
    </p:spTree>
    <p:extLst>
      <p:ext uri="{BB962C8B-B14F-4D97-AF65-F5344CB8AC3E}">
        <p14:creationId xmlns:p14="http://schemas.microsoft.com/office/powerpoint/2010/main" val="2153975072"/>
      </p:ext>
    </p:extLst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F39E827A-F36A-E2CA-36D2-E27215414F24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40A6A509-3720-8CB2-D880-D93688039566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What’s a Hypothesis Test?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7897E578-0879-9E1F-8B10-E0832E0C7299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1451579" y="1933904"/>
            <a:ext cx="9603275" cy="4119578"/>
          </a:xfrm>
        </p:spPr>
        <p:txBody>
          <a:bodyPr/>
          <a:lstStyle/>
          <a:p>
            <a:r>
              <a:rPr lang="en-US" dirty="0"/>
              <a:t>A hypothesis test evaluates two mutually exclusive statements about a population to determine which statement the sample data best supports. </a:t>
            </a:r>
          </a:p>
          <a:p>
            <a:pPr lvl="1"/>
            <a:r>
              <a:rPr lang="en-US" dirty="0"/>
              <a:t>Null Hypothesis: The effect does not exist in the population.</a:t>
            </a:r>
          </a:p>
          <a:p>
            <a:pPr lvl="1"/>
            <a:r>
              <a:rPr lang="en-US" dirty="0"/>
              <a:t>Alternative Hypothesis: The effect does exist in the population.</a:t>
            </a:r>
          </a:p>
          <a:p>
            <a:pPr lvl="1"/>
            <a:r>
              <a:rPr lang="en-US" dirty="0"/>
              <a:t>Effect = difference. Specifically, here it is the difference we see between the samples. </a:t>
            </a:r>
          </a:p>
          <a:p>
            <a:r>
              <a:rPr lang="en-US" dirty="0"/>
              <a:t>Hypothesis testing lets us say that effects have statistical significance, indicating that an effect in sample data also likely exists in the population after accounting for:</a:t>
            </a:r>
          </a:p>
          <a:p>
            <a:pPr lvl="1"/>
            <a:r>
              <a:rPr lang="en-US" dirty="0"/>
              <a:t>Random sampling error.</a:t>
            </a:r>
          </a:p>
          <a:p>
            <a:pPr lvl="1"/>
            <a:r>
              <a:rPr lang="en-US" dirty="0"/>
              <a:t>Variability in the data. </a:t>
            </a:r>
          </a:p>
          <a:p>
            <a:pPr lvl="1"/>
            <a:r>
              <a:rPr lang="en-US" dirty="0"/>
              <a:t>Sample size. </a:t>
            </a:r>
          </a:p>
          <a:p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93985515"/>
      </p:ext>
    </p:extLst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A40493A-F1BC-7E49-1897-3A523807963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Don’t Get too Confident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29AD3248-E13C-1595-6D51-ED37B4A2964C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1451579" y="2015732"/>
            <a:ext cx="9603275" cy="4037749"/>
          </a:xfrm>
        </p:spPr>
        <p:txBody>
          <a:bodyPr/>
          <a:lstStyle/>
          <a:p>
            <a:r>
              <a:rPr lang="en-US" dirty="0"/>
              <a:t>Like with generalizing to a population, this is probabilistic. </a:t>
            </a:r>
          </a:p>
          <a:p>
            <a:r>
              <a:rPr lang="en-US" dirty="0"/>
              <a:t>Our findings here are evidence, not assertions. </a:t>
            </a:r>
          </a:p>
          <a:p>
            <a:pPr lvl="1"/>
            <a:r>
              <a:rPr lang="en-US" dirty="0"/>
              <a:t>E.g. if we do a hypothesis test that shows an effect is real, that’s only an indicator. </a:t>
            </a:r>
          </a:p>
          <a:p>
            <a:r>
              <a:rPr lang="en-US" dirty="0"/>
              <a:t>To make solid findings, we probably want several pieces of evidence. </a:t>
            </a:r>
          </a:p>
          <a:p>
            <a:pPr lvl="1"/>
            <a:r>
              <a:rPr lang="en-US" dirty="0"/>
              <a:t>More is better, as we’ll see…</a:t>
            </a:r>
          </a:p>
        </p:txBody>
      </p:sp>
    </p:spTree>
    <p:extLst>
      <p:ext uri="{BB962C8B-B14F-4D97-AF65-F5344CB8AC3E}">
        <p14:creationId xmlns:p14="http://schemas.microsoft.com/office/powerpoint/2010/main" val="1526678658"/>
      </p:ext>
    </p:extLst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AE07D908-A850-3560-95FD-8C539921A59D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Hypothesis Testing From Scratch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D2544162-9761-6E7C-99FE-70C4B3473F0B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1451579" y="1853754"/>
            <a:ext cx="9603275" cy="4199727"/>
          </a:xfrm>
        </p:spPr>
        <p:txBody>
          <a:bodyPr>
            <a:normAutofit/>
          </a:bodyPr>
          <a:lstStyle/>
          <a:p>
            <a:r>
              <a:rPr lang="en-US" dirty="0"/>
              <a:t>We can use fast computers and coding </a:t>
            </a:r>
            <a:r>
              <a:rPr lang="en-US" dirty="0" err="1"/>
              <a:t>skillz</a:t>
            </a:r>
            <a:r>
              <a:rPr lang="en-US" dirty="0"/>
              <a:t> to do some hypothesis testing from scratch. </a:t>
            </a:r>
          </a:p>
          <a:p>
            <a:r>
              <a:rPr lang="en-US" dirty="0"/>
              <a:t>To start, we see some effect – such as a difference in our samples. </a:t>
            </a:r>
          </a:p>
          <a:p>
            <a:r>
              <a:rPr lang="en-US" dirty="0"/>
              <a:t>We can do a sort of two-part check:</a:t>
            </a:r>
          </a:p>
          <a:p>
            <a:pPr lvl="1"/>
            <a:r>
              <a:rPr lang="en-US" dirty="0"/>
              <a:t>Comparison between two things (e.g. sample means). </a:t>
            </a:r>
          </a:p>
          <a:p>
            <a:pPr lvl="1"/>
            <a:r>
              <a:rPr lang="en-US" dirty="0"/>
              <a:t>Generalization to the population. </a:t>
            </a:r>
          </a:p>
          <a:p>
            <a:r>
              <a:rPr lang="en-US" dirty="0"/>
              <a:t>Our hypothesis test answers the question, “Given this effect we see in our sample, what is the probability of the same effect existing in the population by chance (randomly)?”. </a:t>
            </a:r>
          </a:p>
          <a:p>
            <a:pPr lvl="1"/>
            <a:r>
              <a:rPr lang="en-US" dirty="0"/>
              <a:t>We see X thing in the sample data (the effect). </a:t>
            </a:r>
          </a:p>
          <a:p>
            <a:pPr lvl="1"/>
            <a:r>
              <a:rPr lang="en-US" dirty="0"/>
              <a:t>Is effect ‘real’ in the population or could it just be randomness due to sample and variance?</a:t>
            </a:r>
          </a:p>
        </p:txBody>
      </p:sp>
    </p:spTree>
    <p:extLst>
      <p:ext uri="{BB962C8B-B14F-4D97-AF65-F5344CB8AC3E}">
        <p14:creationId xmlns:p14="http://schemas.microsoft.com/office/powerpoint/2010/main" val="3725665083"/>
      </p:ext>
    </p:extLst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42DBD3D8-17EC-4727-F753-F8A1F5E9A88E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Realistic Example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65A4BDE6-2576-A2D0-0903-C569C03FF09B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1451579" y="1933903"/>
            <a:ext cx="9603275" cy="4119577"/>
          </a:xfrm>
        </p:spPr>
        <p:txBody>
          <a:bodyPr/>
          <a:lstStyle/>
          <a:p>
            <a:r>
              <a:rPr lang="en-US" dirty="0"/>
              <a:t>We are conducting a drug trial and have two separate samples:</a:t>
            </a:r>
          </a:p>
          <a:p>
            <a:pPr lvl="1"/>
            <a:r>
              <a:rPr lang="en-US" dirty="0"/>
              <a:t>Treatment group – count 31, average life expectancy 12.5 years. </a:t>
            </a:r>
          </a:p>
          <a:p>
            <a:pPr lvl="1"/>
            <a:r>
              <a:rPr lang="en-US" dirty="0"/>
              <a:t>Control group – count 39, average life expectancy 11.1 years. </a:t>
            </a:r>
          </a:p>
          <a:p>
            <a:r>
              <a:rPr lang="en-US" dirty="0"/>
              <a:t>The treated people live longer, but is that difference significant? </a:t>
            </a:r>
          </a:p>
          <a:p>
            <a:pPr lvl="1"/>
            <a:r>
              <a:rPr lang="en-US" dirty="0"/>
              <a:t>Given the sample size and variance of data, could the observed sample effect be random? </a:t>
            </a:r>
          </a:p>
          <a:p>
            <a:r>
              <a:rPr lang="en-US" dirty="0"/>
              <a:t>This is a probabilistic decision. </a:t>
            </a:r>
          </a:p>
          <a:p>
            <a:pPr lvl="1"/>
            <a:r>
              <a:rPr lang="en-US" dirty="0"/>
              <a:t>The effect we see in the sample could be real, or could be just random variation. </a:t>
            </a:r>
          </a:p>
          <a:p>
            <a:pPr lvl="1"/>
            <a:r>
              <a:rPr lang="en-US" dirty="0"/>
              <a:t>The hypothesis test tests the likelihood it is random. </a:t>
            </a:r>
          </a:p>
          <a:p>
            <a:r>
              <a:rPr lang="en-US" dirty="0"/>
              <a:t>If the likelihood this effect is random is low enough, we judge it to be significant - real. </a:t>
            </a:r>
          </a:p>
        </p:txBody>
      </p:sp>
    </p:spTree>
    <p:extLst>
      <p:ext uri="{BB962C8B-B14F-4D97-AF65-F5344CB8AC3E}">
        <p14:creationId xmlns:p14="http://schemas.microsoft.com/office/powerpoint/2010/main" val="488682165"/>
      </p:ext>
    </p:extLst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E238217B-E04E-E5EE-ACB7-19C5A0E3622D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Build a Hypothesis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B7DD69C7-73D7-A47B-3140-75A889372834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1451579" y="1853755"/>
            <a:ext cx="9603275" cy="4199726"/>
          </a:xfrm>
        </p:spPr>
        <p:txBody>
          <a:bodyPr>
            <a:normAutofit lnSpcReduction="10000"/>
          </a:bodyPr>
          <a:lstStyle/>
          <a:p>
            <a:pPr marL="457200" indent="-457200">
              <a:buFont typeface="+mj-lt"/>
              <a:buAutoNum type="arabicPeriod"/>
            </a:pPr>
            <a:r>
              <a:rPr lang="en-US" dirty="0"/>
              <a:t>Select a test statistic – the thing calculated. </a:t>
            </a:r>
          </a:p>
          <a:p>
            <a:pPr marL="914400" lvl="1" indent="-457200">
              <a:buFont typeface="+mj-lt"/>
              <a:buAutoNum type="arabicPeriod"/>
            </a:pPr>
            <a:r>
              <a:rPr lang="en-US" dirty="0"/>
              <a:t>For the life expectancy this would be mean life expectancy of the samples. </a:t>
            </a:r>
          </a:p>
          <a:p>
            <a:pPr marL="457200" indent="-457200">
              <a:buFont typeface="+mj-lt"/>
              <a:buAutoNum type="arabicPeriod"/>
            </a:pPr>
            <a:r>
              <a:rPr lang="en-US" dirty="0"/>
              <a:t>Define null hypothesis – assertion that this thing is not true. </a:t>
            </a:r>
          </a:p>
          <a:p>
            <a:pPr marL="914400" lvl="1" indent="-457200">
              <a:buFont typeface="+mj-lt"/>
              <a:buAutoNum type="arabicPeriod"/>
            </a:pPr>
            <a:r>
              <a:rPr lang="en-US" dirty="0"/>
              <a:t>There is no difference between the population means of treatment and control. </a:t>
            </a:r>
          </a:p>
          <a:p>
            <a:pPr marL="457200" indent="-457200">
              <a:buFont typeface="+mj-lt"/>
              <a:buAutoNum type="arabicPeriod"/>
            </a:pPr>
            <a:r>
              <a:rPr lang="en-US" dirty="0"/>
              <a:t>Calculate the p-value – the likelihood the null hypothesis is true. </a:t>
            </a:r>
          </a:p>
          <a:p>
            <a:pPr marL="914400" lvl="1" indent="-457200">
              <a:buFont typeface="+mj-lt"/>
              <a:buAutoNum type="arabicPeriod"/>
            </a:pPr>
            <a:r>
              <a:rPr lang="en-US" dirty="0"/>
              <a:t>Probability treatment and control populations are the same and effect is random variation.</a:t>
            </a:r>
          </a:p>
          <a:p>
            <a:pPr marL="914400" lvl="1" indent="-457200">
              <a:buFont typeface="+mj-lt"/>
              <a:buAutoNum type="arabicPeriod"/>
            </a:pPr>
            <a:r>
              <a:rPr lang="en-US" dirty="0"/>
              <a:t>We can do simulating here, but we need to build the right model to generate tests. </a:t>
            </a:r>
          </a:p>
          <a:p>
            <a:pPr marL="457200" indent="-457200">
              <a:buFont typeface="+mj-lt"/>
              <a:buAutoNum type="arabicPeriod"/>
            </a:pPr>
            <a:r>
              <a:rPr lang="en-US" dirty="0"/>
              <a:t>Interpret the result – is the likelihood of it being random low enough? </a:t>
            </a:r>
          </a:p>
          <a:p>
            <a:pPr marL="914400" lvl="1" indent="-457200">
              <a:buFont typeface="+mj-lt"/>
              <a:buAutoNum type="arabicPeriod"/>
            </a:pPr>
            <a:r>
              <a:rPr lang="en-US" dirty="0"/>
              <a:t>If the probability of the treatment and control populations being the same is very low, we can conclude the drug actually made the two populations differ. </a:t>
            </a:r>
          </a:p>
        </p:txBody>
      </p:sp>
    </p:spTree>
    <p:extLst>
      <p:ext uri="{BB962C8B-B14F-4D97-AF65-F5344CB8AC3E}">
        <p14:creationId xmlns:p14="http://schemas.microsoft.com/office/powerpoint/2010/main" val="353130190"/>
      </p:ext>
    </p:extLst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CA6CB23A-5CF3-B067-AA4C-9714A220A757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Ok, so… Do it!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D669C50B-D96E-F8FE-9E8B-AAED4A2FB926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1451579" y="2015732"/>
            <a:ext cx="9603275" cy="4037749"/>
          </a:xfrm>
        </p:spPr>
        <p:txBody>
          <a:bodyPr/>
          <a:lstStyle/>
          <a:p>
            <a:r>
              <a:rPr lang="en-US" dirty="0"/>
              <a:t>This process is something that can extend on our simulations. </a:t>
            </a:r>
          </a:p>
          <a:p>
            <a:pPr lvl="1"/>
            <a:r>
              <a:rPr lang="en-US" dirty="0"/>
              <a:t>The test statistics are defined by some model, usually a normal distribution. </a:t>
            </a:r>
          </a:p>
          <a:p>
            <a:pPr lvl="1"/>
            <a:r>
              <a:rPr lang="en-US" dirty="0"/>
              <a:t>We can generate multiple samples can tabulate where they lie. </a:t>
            </a:r>
          </a:p>
          <a:p>
            <a:r>
              <a:rPr lang="en-US" dirty="0"/>
              <a:t>If the p-value is the probability of the effect being random, we can count that. </a:t>
            </a:r>
          </a:p>
          <a:p>
            <a:pPr lvl="1"/>
            <a:r>
              <a:rPr lang="en-US" dirty="0"/>
              <a:t>Generate many trials and count the number of times that randomness yielded a result. </a:t>
            </a:r>
          </a:p>
          <a:p>
            <a:r>
              <a:rPr lang="en-US" dirty="0"/>
              <a:t>This process is mostly generic – the process is the same, the details vary. </a:t>
            </a:r>
          </a:p>
          <a:p>
            <a:pPr lvl="1"/>
            <a:r>
              <a:rPr lang="en-US" dirty="0"/>
              <a:t>The textbook has an example of inheritance and classes that we can hopefully use. </a:t>
            </a:r>
          </a:p>
          <a:p>
            <a:pPr lvl="1"/>
            <a:r>
              <a:rPr lang="en-US" dirty="0"/>
              <a:t>We can rotate test statistics and models to test almost anything!</a:t>
            </a:r>
          </a:p>
          <a:p>
            <a:r>
              <a:rPr lang="en-US" dirty="0"/>
              <a:t>The important part is framing the problem correctly. </a:t>
            </a:r>
          </a:p>
        </p:txBody>
      </p:sp>
    </p:spTree>
    <p:extLst>
      <p:ext uri="{BB962C8B-B14F-4D97-AF65-F5344CB8AC3E}">
        <p14:creationId xmlns:p14="http://schemas.microsoft.com/office/powerpoint/2010/main" val="4262855181"/>
      </p:ext>
    </p:extLst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5024A5B8-7CFF-BB67-7707-243CC55E79FC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Specific Implementations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80EE99A2-3424-F371-D82A-D5709FF413A4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1451579" y="1853754"/>
            <a:ext cx="9603275" cy="4199727"/>
          </a:xfrm>
        </p:spPr>
        <p:txBody>
          <a:bodyPr/>
          <a:lstStyle/>
          <a:p>
            <a:r>
              <a:rPr lang="en-US" dirty="0"/>
              <a:t>There are several common-</a:t>
            </a:r>
            <a:r>
              <a:rPr lang="en-US" dirty="0" err="1"/>
              <a:t>ish</a:t>
            </a:r>
            <a:r>
              <a:rPr lang="en-US" dirty="0"/>
              <a:t> setups that we can test:</a:t>
            </a:r>
          </a:p>
          <a:p>
            <a:pPr lvl="1"/>
            <a:r>
              <a:rPr lang="en-US" dirty="0"/>
              <a:t>Things are different – permutation (in book</a:t>
            </a:r>
            <a:r>
              <a:rPr lang="en-US"/>
              <a:t>), shuffle randomly </a:t>
            </a:r>
            <a:r>
              <a:rPr lang="en-US" dirty="0"/>
              <a:t>data and </a:t>
            </a:r>
            <a:r>
              <a:rPr lang="en-US"/>
              <a:t>observe results. </a:t>
            </a:r>
            <a:endParaRPr lang="en-US" dirty="0"/>
          </a:p>
          <a:p>
            <a:pPr lvl="1"/>
            <a:r>
              <a:rPr lang="en-US" dirty="0"/>
              <a:t>Greater/less - permutation + greater/less than. </a:t>
            </a:r>
          </a:p>
          <a:p>
            <a:r>
              <a:rPr lang="en-US" dirty="0"/>
              <a:t>In general:</a:t>
            </a:r>
          </a:p>
          <a:p>
            <a:pPr lvl="1"/>
            <a:r>
              <a:rPr lang="en-US" dirty="0"/>
              <a:t>What is the opposite of the null hypothesis. (e.g. Means are equal). </a:t>
            </a:r>
          </a:p>
          <a:p>
            <a:pPr lvl="2"/>
            <a:r>
              <a:rPr lang="en-US" dirty="0"/>
              <a:t>This is the NH – mean1=mean2, mean1 &gt; mean2, std1 = std2, </a:t>
            </a:r>
            <a:r>
              <a:rPr lang="en-US" dirty="0" err="1"/>
              <a:t>etc</a:t>
            </a:r>
            <a:r>
              <a:rPr lang="en-US" dirty="0"/>
              <a:t>…</a:t>
            </a:r>
          </a:p>
          <a:p>
            <a:pPr lvl="1"/>
            <a:r>
              <a:rPr lang="en-US" dirty="0"/>
              <a:t>Create test that can try this – permutation, generate samples, </a:t>
            </a:r>
            <a:r>
              <a:rPr lang="en-US" dirty="0" err="1"/>
              <a:t>etc</a:t>
            </a:r>
            <a:r>
              <a:rPr lang="en-US" dirty="0"/>
              <a:t>….</a:t>
            </a:r>
          </a:p>
          <a:p>
            <a:pPr lvl="1"/>
            <a:r>
              <a:rPr lang="en-US" dirty="0"/>
              <a:t>Count how many times ‘it’ happens. </a:t>
            </a:r>
          </a:p>
        </p:txBody>
      </p:sp>
    </p:spTree>
    <p:extLst>
      <p:ext uri="{BB962C8B-B14F-4D97-AF65-F5344CB8AC3E}">
        <p14:creationId xmlns:p14="http://schemas.microsoft.com/office/powerpoint/2010/main" val="208701022"/>
      </p:ext>
    </p:extLst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gradFill rotWithShape="1">
          <a:gsLst>
            <a:gs pos="0">
              <a:schemeClr val="bg2">
                <a:tint val="94000"/>
                <a:satMod val="80000"/>
                <a:lumMod val="106000"/>
              </a:schemeClr>
            </a:gs>
            <a:gs pos="100000">
              <a:schemeClr val="bg2">
                <a:shade val="80000"/>
              </a:schemeClr>
            </a:gs>
          </a:gsLst>
          <a:path path="circle">
            <a:fillToRect l="43000" r="43000" b="100000"/>
          </a:path>
        </a:gra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E9FB4EAE-8C60-0F48-8E09-4DBF9EFA1A74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451579" y="804519"/>
            <a:ext cx="9603275" cy="1049235"/>
          </a:xfrm>
        </p:spPr>
        <p:txBody>
          <a:bodyPr>
            <a:normAutofit/>
          </a:bodyPr>
          <a:lstStyle/>
          <a:p>
            <a:r>
              <a:rPr lang="en-US" dirty="0"/>
              <a:t>It’s Science!!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D95C479D-1CC5-7947-B7C5-85D2EE5E1C65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94593" y="1887421"/>
            <a:ext cx="6936827" cy="4086659"/>
          </a:xfrm>
        </p:spPr>
        <p:txBody>
          <a:bodyPr>
            <a:normAutofit/>
          </a:bodyPr>
          <a:lstStyle/>
          <a:p>
            <a:r>
              <a:rPr lang="en-US" dirty="0"/>
              <a:t>Hypothesis testing uses samples to infer about populations. </a:t>
            </a:r>
          </a:p>
          <a:p>
            <a:r>
              <a:rPr lang="en-US" dirty="0"/>
              <a:t>What is the probability this effect is due to random variation?</a:t>
            </a:r>
          </a:p>
          <a:p>
            <a:pPr lvl="1"/>
            <a:r>
              <a:rPr lang="en-US" dirty="0"/>
              <a:t>We see some difference, the effect. </a:t>
            </a:r>
          </a:p>
          <a:p>
            <a:pPr lvl="1"/>
            <a:r>
              <a:rPr lang="en-US" dirty="0"/>
              <a:t>Is that difference ‘real’, or not just due to randomness?</a:t>
            </a:r>
          </a:p>
          <a:p>
            <a:pPr lvl="1"/>
            <a:r>
              <a:rPr lang="en-US" dirty="0"/>
              <a:t>Or can we expect this difference to be seen in the population? </a:t>
            </a:r>
          </a:p>
          <a:p>
            <a:r>
              <a:rPr lang="en-US" dirty="0"/>
              <a:t>For example, a new drug treatment and life expectancy. </a:t>
            </a:r>
          </a:p>
          <a:p>
            <a:pPr lvl="1"/>
            <a:r>
              <a:rPr lang="en-US" dirty="0"/>
              <a:t>The sample of drugged people live longer. </a:t>
            </a:r>
          </a:p>
          <a:p>
            <a:pPr lvl="1"/>
            <a:r>
              <a:rPr lang="en-US" dirty="0"/>
              <a:t>Is that difference likely real – big enough to mean the drug did it?</a:t>
            </a:r>
          </a:p>
          <a:p>
            <a:r>
              <a:rPr lang="en-US" dirty="0"/>
              <a:t>This is used all over in science and research. </a:t>
            </a:r>
          </a:p>
        </p:txBody>
      </p:sp>
      <p:pic>
        <p:nvPicPr>
          <p:cNvPr id="1026" name="Picture 2" descr="Hypothesis vs. Theory: The Difference Explained | Merriam-Webster">
            <a:extLst>
              <a:ext uri="{FF2B5EF4-FFF2-40B4-BE49-F238E27FC236}">
                <a16:creationId xmlns:a16="http://schemas.microsoft.com/office/drawing/2014/main" id="{CD8C1DE2-BD67-164B-B905-9C98DA89A777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 bwMode="auto">
          <a:xfrm>
            <a:off x="7031420" y="1887421"/>
            <a:ext cx="5160579" cy="3870433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</p:spTree>
    <p:extLst>
      <p:ext uri="{BB962C8B-B14F-4D97-AF65-F5344CB8AC3E}">
        <p14:creationId xmlns:p14="http://schemas.microsoft.com/office/powerpoint/2010/main" val="3552808515"/>
      </p:ext>
    </p:extLst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07E36D4B-F13F-C35A-5657-1C98F74F4CEE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The Results - Significance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B0E24597-E550-101E-E565-B0456F471800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1451579" y="2015732"/>
            <a:ext cx="9603275" cy="4037749"/>
          </a:xfrm>
        </p:spPr>
        <p:txBody>
          <a:bodyPr/>
          <a:lstStyle/>
          <a:p>
            <a:r>
              <a:rPr lang="en-US" dirty="0"/>
              <a:t>Hypothesis tests yield an estimate of some effect occurring by chance. </a:t>
            </a:r>
          </a:p>
          <a:p>
            <a:pPr lvl="1"/>
            <a:r>
              <a:rPr lang="en-US" dirty="0"/>
              <a:t>P value is the probability of this thing happening randomly. </a:t>
            </a:r>
          </a:p>
          <a:p>
            <a:r>
              <a:rPr lang="en-US" dirty="0"/>
              <a:t>The cutoff we set for “good enough” can vary depending on scenario. </a:t>
            </a:r>
          </a:p>
          <a:p>
            <a:pPr lvl="1"/>
            <a:r>
              <a:rPr lang="en-US" dirty="0"/>
              <a:t>.05, or 5% is a common cutoff. (This isn’t that unlikely…)</a:t>
            </a:r>
          </a:p>
          <a:p>
            <a:r>
              <a:rPr lang="en-US" dirty="0"/>
              <a:t>If the likelihood of randomness &lt; cutoff, the result is “statistically significant”. </a:t>
            </a:r>
          </a:p>
          <a:p>
            <a:pPr lvl="1"/>
            <a:r>
              <a:rPr lang="en-US" dirty="0"/>
              <a:t>This is irrespective of the size of the effect, it could be small but significant. </a:t>
            </a:r>
          </a:p>
          <a:p>
            <a:pPr lvl="1"/>
            <a:r>
              <a:rPr lang="en-US" dirty="0"/>
              <a:t>This doesn’t mean it is true, this is just one piece of evidence. </a:t>
            </a:r>
          </a:p>
        </p:txBody>
      </p:sp>
    </p:spTree>
    <p:extLst>
      <p:ext uri="{BB962C8B-B14F-4D97-AF65-F5344CB8AC3E}">
        <p14:creationId xmlns:p14="http://schemas.microsoft.com/office/powerpoint/2010/main" val="2787222080"/>
      </p:ext>
    </p:extLst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69A39623-527F-9870-5419-C8924A9434CA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Classes and Objects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D58B4E2A-B221-940D-A63F-C080495BCF3C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1451579" y="1921566"/>
            <a:ext cx="9603275" cy="4131916"/>
          </a:xfrm>
        </p:spPr>
        <p:txBody>
          <a:bodyPr/>
          <a:lstStyle/>
          <a:p>
            <a:r>
              <a:rPr lang="en-US" dirty="0"/>
              <a:t>Pretty much everything you use in Python is an object. </a:t>
            </a:r>
          </a:p>
          <a:p>
            <a:pPr lvl="1"/>
            <a:r>
              <a:rPr lang="en-US" dirty="0"/>
              <a:t>Strings, </a:t>
            </a:r>
            <a:r>
              <a:rPr lang="en-US" dirty="0" err="1"/>
              <a:t>dataframes</a:t>
            </a:r>
            <a:r>
              <a:rPr lang="en-US" dirty="0"/>
              <a:t>, integers, </a:t>
            </a:r>
            <a:r>
              <a:rPr lang="en-US" dirty="0" err="1"/>
              <a:t>etc</a:t>
            </a:r>
            <a:r>
              <a:rPr lang="en-US" dirty="0"/>
              <a:t>…</a:t>
            </a:r>
          </a:p>
          <a:p>
            <a:pPr lvl="1"/>
            <a:r>
              <a:rPr lang="en-US" dirty="0"/>
              <a:t>Each variable declaration is (usually) a creation of an object. </a:t>
            </a:r>
          </a:p>
          <a:p>
            <a:r>
              <a:rPr lang="en-US" dirty="0"/>
              <a:t>Objects can be made to do whatever we need, each object has:</a:t>
            </a:r>
          </a:p>
          <a:p>
            <a:pPr lvl="1"/>
            <a:r>
              <a:rPr lang="en-US" dirty="0"/>
              <a:t>Some things it knows – the data stored in the object. </a:t>
            </a:r>
          </a:p>
          <a:p>
            <a:pPr lvl="1"/>
            <a:r>
              <a:rPr lang="en-US" dirty="0"/>
              <a:t>Some things it can do – the methods (functions) that can take action. </a:t>
            </a:r>
          </a:p>
          <a:p>
            <a:r>
              <a:rPr lang="en-US" dirty="0"/>
              <a:t>Examples:</a:t>
            </a:r>
          </a:p>
          <a:p>
            <a:pPr lvl="1"/>
            <a:r>
              <a:rPr lang="en-US" dirty="0" err="1"/>
              <a:t>Dataframe</a:t>
            </a:r>
            <a:r>
              <a:rPr lang="en-US" dirty="0"/>
              <a:t>: ”things known” – data, “things done” – describe(), info(), </a:t>
            </a:r>
            <a:r>
              <a:rPr lang="en-US" dirty="0" err="1"/>
              <a:t>etc</a:t>
            </a:r>
            <a:r>
              <a:rPr lang="en-US" dirty="0"/>
              <a:t>…</a:t>
            </a:r>
          </a:p>
          <a:p>
            <a:pPr lvl="1"/>
            <a:r>
              <a:rPr lang="en-US" dirty="0"/>
              <a:t>Integer: “Thing known” – data, “things done” – all the operators, </a:t>
            </a:r>
            <a:r>
              <a:rPr lang="en-US" dirty="0" err="1"/>
              <a:t>etc</a:t>
            </a:r>
            <a:r>
              <a:rPr lang="en-US" dirty="0"/>
              <a:t>…</a:t>
            </a:r>
          </a:p>
        </p:txBody>
      </p:sp>
    </p:spTree>
    <p:extLst>
      <p:ext uri="{BB962C8B-B14F-4D97-AF65-F5344CB8AC3E}">
        <p14:creationId xmlns:p14="http://schemas.microsoft.com/office/powerpoint/2010/main" val="2727267912"/>
      </p:ext>
    </p:extLst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D21D85F9-7601-B74E-3FE9-8D41DF070F3C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Custom Objects (classes)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CCA1E9FE-7152-7C39-1B42-BF4A052B50E1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1451579" y="1956097"/>
            <a:ext cx="9603275" cy="3987503"/>
          </a:xfrm>
        </p:spPr>
        <p:txBody>
          <a:bodyPr/>
          <a:lstStyle/>
          <a:p>
            <a:r>
              <a:rPr lang="en-US" dirty="0"/>
              <a:t>We can create classes that let us use custom objects. </a:t>
            </a:r>
          </a:p>
          <a:p>
            <a:pPr lvl="1"/>
            <a:r>
              <a:rPr lang="en-US" dirty="0"/>
              <a:t>We can add any other objects to it to store data inside. </a:t>
            </a:r>
          </a:p>
          <a:p>
            <a:pPr lvl="1"/>
            <a:r>
              <a:rPr lang="en-US" dirty="0"/>
              <a:t>We can create methods (functions) to add functionality. </a:t>
            </a:r>
          </a:p>
          <a:p>
            <a:r>
              <a:rPr lang="en-US" dirty="0"/>
              <a:t>For example – a college registration record. </a:t>
            </a:r>
          </a:p>
          <a:p>
            <a:pPr lvl="1"/>
            <a:r>
              <a:rPr lang="en-US" dirty="0"/>
              <a:t>Data – student, class, date, grade, status, </a:t>
            </a:r>
            <a:r>
              <a:rPr lang="en-US" dirty="0" err="1"/>
              <a:t>etc</a:t>
            </a:r>
            <a:r>
              <a:rPr lang="en-US" dirty="0"/>
              <a:t>…</a:t>
            </a:r>
          </a:p>
          <a:p>
            <a:pPr lvl="1"/>
            <a:r>
              <a:rPr lang="en-US" dirty="0"/>
              <a:t>Methods – </a:t>
            </a:r>
            <a:r>
              <a:rPr lang="en-US" dirty="0" err="1"/>
              <a:t>cancelRegistration</a:t>
            </a:r>
            <a:r>
              <a:rPr lang="en-US" dirty="0"/>
              <a:t>(), print(), </a:t>
            </a:r>
            <a:r>
              <a:rPr lang="en-US" dirty="0" err="1"/>
              <a:t>changeGrade</a:t>
            </a:r>
            <a:r>
              <a:rPr lang="en-US" dirty="0"/>
              <a:t>(), </a:t>
            </a:r>
            <a:r>
              <a:rPr lang="en-US" dirty="0" err="1"/>
              <a:t>changeStatus</a:t>
            </a:r>
            <a:r>
              <a:rPr lang="en-US" dirty="0"/>
              <a:t>()…</a:t>
            </a:r>
          </a:p>
          <a:p>
            <a:r>
              <a:rPr lang="en-US" dirty="0"/>
              <a:t>Once created we can use them just like anything else. </a:t>
            </a:r>
          </a:p>
          <a:p>
            <a:pPr lvl="1"/>
            <a:r>
              <a:rPr lang="en-US" dirty="0"/>
              <a:t>Create by calling the constructor, usually in a variable declaration. </a:t>
            </a:r>
          </a:p>
          <a:p>
            <a:pPr lvl="1"/>
            <a:r>
              <a:rPr lang="en-US" dirty="0"/>
              <a:t>Interact by using functions on those objects – </a:t>
            </a:r>
            <a:r>
              <a:rPr lang="en-US" dirty="0" err="1"/>
              <a:t>newObject.theNewFunction</a:t>
            </a:r>
            <a:r>
              <a:rPr lang="en-US" dirty="0"/>
              <a:t>(parameter_1).</a:t>
            </a:r>
          </a:p>
          <a:p>
            <a:pPr lvl="1"/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2619415263"/>
      </p:ext>
    </p:extLst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10FA6B79-300D-ABDE-AAC4-F2C91BEE3E7E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Inheritance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E62B541F-B8F9-15D8-BE84-2FB50BA9FE98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1451579" y="1934817"/>
            <a:ext cx="9603275" cy="4118663"/>
          </a:xfrm>
        </p:spPr>
        <p:txBody>
          <a:bodyPr/>
          <a:lstStyle/>
          <a:p>
            <a:r>
              <a:rPr lang="en-US" dirty="0"/>
              <a:t>We have another feature, the one thing that matters in the modern economy, inheritance. </a:t>
            </a:r>
          </a:p>
          <a:p>
            <a:r>
              <a:rPr lang="en-US" dirty="0"/>
              <a:t>Inheritance is a hierarchy with an “is-a” relationship. </a:t>
            </a:r>
          </a:p>
          <a:p>
            <a:pPr lvl="1"/>
            <a:r>
              <a:rPr lang="en-US" dirty="0"/>
              <a:t>We can define types that share data/methods. </a:t>
            </a:r>
          </a:p>
          <a:p>
            <a:pPr lvl="1"/>
            <a:r>
              <a:rPr lang="en-US" dirty="0"/>
              <a:t>We can change the different parts as needed. </a:t>
            </a:r>
          </a:p>
          <a:p>
            <a:pPr lvl="1"/>
            <a:r>
              <a:rPr lang="en-US" dirty="0"/>
              <a:t>We can still access the common stuff directly. </a:t>
            </a:r>
          </a:p>
          <a:p>
            <a:r>
              <a:rPr lang="en-US" dirty="0"/>
              <a:t>Example – a large company with employees.</a:t>
            </a:r>
          </a:p>
          <a:p>
            <a:pPr lvl="1"/>
            <a:r>
              <a:rPr lang="en-US" dirty="0"/>
              <a:t>Parent class – “Worker”. Common stuff - wage, address, </a:t>
            </a:r>
            <a:r>
              <a:rPr lang="en-US" dirty="0" err="1"/>
              <a:t>changePay</a:t>
            </a:r>
            <a:r>
              <a:rPr lang="en-US" dirty="0"/>
              <a:t>, </a:t>
            </a:r>
            <a:r>
              <a:rPr lang="en-US" dirty="0" err="1"/>
              <a:t>etc</a:t>
            </a:r>
            <a:r>
              <a:rPr lang="en-US" dirty="0"/>
              <a:t>…</a:t>
            </a:r>
          </a:p>
          <a:p>
            <a:pPr lvl="1"/>
            <a:r>
              <a:rPr lang="en-US" dirty="0"/>
              <a:t>Children – Full time employee, part time, contractor, temporary. Pay/benefit things change. </a:t>
            </a:r>
          </a:p>
          <a:p>
            <a:pPr lvl="1"/>
            <a:r>
              <a:rPr lang="en-US" dirty="0"/>
              <a:t>We can leave common stuff in Worker and make specific versions for children. </a:t>
            </a:r>
          </a:p>
        </p:txBody>
      </p:sp>
    </p:spTree>
    <p:extLst>
      <p:ext uri="{BB962C8B-B14F-4D97-AF65-F5344CB8AC3E}">
        <p14:creationId xmlns:p14="http://schemas.microsoft.com/office/powerpoint/2010/main" val="2366003626"/>
      </p:ext>
    </p:extLst>
  </p:cSld>
  <p:clrMapOvr>
    <a:masterClrMapping/>
  </p:clrMapOvr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E7E59093-B8A2-939C-22E7-540BB26E387E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7356969" y="804519"/>
            <a:ext cx="3697885" cy="1049235"/>
          </a:xfrm>
        </p:spPr>
        <p:txBody>
          <a:bodyPr/>
          <a:lstStyle/>
          <a:p>
            <a:r>
              <a:rPr lang="en-US" dirty="0"/>
              <a:t>Simple example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14CD2078-7D52-E760-F8BA-FE9515667799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7356969" y="1914940"/>
            <a:ext cx="4662753" cy="4138542"/>
          </a:xfrm>
        </p:spPr>
        <p:txBody>
          <a:bodyPr/>
          <a:lstStyle/>
          <a:p>
            <a:r>
              <a:rPr lang="en-US" dirty="0"/>
              <a:t>This is s simple example. </a:t>
            </a:r>
          </a:p>
          <a:p>
            <a:pPr lvl="1"/>
            <a:r>
              <a:rPr lang="en-US" dirty="0"/>
              <a:t>Ignore the green part. </a:t>
            </a:r>
          </a:p>
          <a:p>
            <a:r>
              <a:rPr lang="en-US" dirty="0"/>
              <a:t>An employee is the parent. </a:t>
            </a:r>
          </a:p>
          <a:p>
            <a:pPr lvl="1"/>
            <a:r>
              <a:rPr lang="en-US" dirty="0"/>
              <a:t>Employees all have names and ID. </a:t>
            </a:r>
          </a:p>
          <a:p>
            <a:r>
              <a:rPr lang="en-US" dirty="0"/>
              <a:t>All employees need pay calculated. </a:t>
            </a:r>
          </a:p>
          <a:p>
            <a:pPr lvl="1"/>
            <a:r>
              <a:rPr lang="en-US" dirty="0"/>
              <a:t>Each child has a separate method. </a:t>
            </a:r>
          </a:p>
          <a:p>
            <a:pPr lvl="1"/>
            <a:r>
              <a:rPr lang="en-US" dirty="0"/>
              <a:t>When told to “calc pay” each does it. </a:t>
            </a:r>
          </a:p>
          <a:p>
            <a:pPr lvl="1"/>
            <a:r>
              <a:rPr lang="en-US" dirty="0"/>
              <a:t>A loop could “calc pay” for all employees, each ’knows’ how to do it.</a:t>
            </a:r>
          </a:p>
        </p:txBody>
      </p:sp>
      <p:pic>
        <p:nvPicPr>
          <p:cNvPr id="1026" name="Picture 2" descr="Inheritance and Composition: A Python OOP Guide – Real Python">
            <a:extLst>
              <a:ext uri="{FF2B5EF4-FFF2-40B4-BE49-F238E27FC236}">
                <a16:creationId xmlns:a16="http://schemas.microsoft.com/office/drawing/2014/main" id="{9804C9A4-330C-0C23-C912-27DAE6B005FF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121144" y="0"/>
            <a:ext cx="7235825" cy="685800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</p:spTree>
    <p:extLst>
      <p:ext uri="{BB962C8B-B14F-4D97-AF65-F5344CB8AC3E}">
        <p14:creationId xmlns:p14="http://schemas.microsoft.com/office/powerpoint/2010/main" val="1476462590"/>
      </p:ext>
    </p:extLst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966F776B-DB5A-D724-6587-80DDED57ACFE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In the Book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89B4D29D-B4C1-349F-E12B-5FFF24C75AAE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1451579" y="1853754"/>
            <a:ext cx="9603275" cy="4199727"/>
          </a:xfrm>
        </p:spPr>
        <p:txBody>
          <a:bodyPr/>
          <a:lstStyle/>
          <a:p>
            <a:r>
              <a:rPr lang="en-US" dirty="0"/>
              <a:t>The simulation mechanics are mostly identical. </a:t>
            </a:r>
          </a:p>
          <a:p>
            <a:r>
              <a:rPr lang="en-US" dirty="0"/>
              <a:t>The details of the probability of each round change. </a:t>
            </a:r>
          </a:p>
          <a:p>
            <a:r>
              <a:rPr lang="en-US" dirty="0"/>
              <a:t>The book example shows a simulation inheritance setup:</a:t>
            </a:r>
          </a:p>
          <a:p>
            <a:pPr lvl="1"/>
            <a:r>
              <a:rPr lang="en-US" dirty="0"/>
              <a:t>We need to redo the testing and tabulating each time. </a:t>
            </a:r>
          </a:p>
          <a:p>
            <a:pPr lvl="1"/>
            <a:r>
              <a:rPr lang="en-US" dirty="0"/>
              <a:t>The way ‘events’ (the values) are generated changes (different models). </a:t>
            </a:r>
          </a:p>
          <a:p>
            <a:pPr lvl="1"/>
            <a:r>
              <a:rPr lang="en-US" dirty="0"/>
              <a:t>As long as we can provide the probability part, the rest can happen without change. </a:t>
            </a:r>
          </a:p>
          <a:p>
            <a:r>
              <a:rPr lang="en-US" dirty="0"/>
              <a:t>The parent is a generic simulator harness. </a:t>
            </a:r>
          </a:p>
          <a:p>
            <a:r>
              <a:rPr lang="en-US" dirty="0"/>
              <a:t>The children change the specifics for that scenario. </a:t>
            </a:r>
          </a:p>
          <a:p>
            <a:r>
              <a:rPr lang="en-US" dirty="0"/>
              <a:t>This can be repurposed to almost any application. </a:t>
            </a:r>
          </a:p>
        </p:txBody>
      </p:sp>
    </p:spTree>
    <p:extLst>
      <p:ext uri="{BB962C8B-B14F-4D97-AF65-F5344CB8AC3E}">
        <p14:creationId xmlns:p14="http://schemas.microsoft.com/office/powerpoint/2010/main" val="1349325770"/>
      </p:ext>
    </p:extLst>
  </p:cSld>
  <p:clrMapOvr>
    <a:masterClrMapping/>
  </p:clrMapOvr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83A886D7-A2E6-F241-1E5D-C97F6B6CA403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Using the Classes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CB5ABC3B-DC40-A260-8E81-147B3D0A70FB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1451579" y="1853754"/>
            <a:ext cx="9603275" cy="4199727"/>
          </a:xfrm>
        </p:spPr>
        <p:txBody>
          <a:bodyPr/>
          <a:lstStyle/>
          <a:p>
            <a:r>
              <a:rPr lang="en-US" dirty="0"/>
              <a:t>We use and take advantage of this all the time. </a:t>
            </a:r>
          </a:p>
          <a:p>
            <a:pPr lvl="1"/>
            <a:r>
              <a:rPr lang="en-US" dirty="0"/>
              <a:t>Shared functionality – the parent can provide data/functions that are shared. </a:t>
            </a:r>
          </a:p>
          <a:p>
            <a:pPr lvl="1"/>
            <a:r>
              <a:rPr lang="en-US" dirty="0"/>
              <a:t>Different implementations – each child can implement the same functionality differently. </a:t>
            </a:r>
          </a:p>
          <a:p>
            <a:r>
              <a:rPr lang="en-US" dirty="0"/>
              <a:t>Interchangeability:</a:t>
            </a:r>
          </a:p>
          <a:p>
            <a:pPr lvl="1"/>
            <a:r>
              <a:rPr lang="en-US" dirty="0"/>
              <a:t>As long as one object can do what is asked of it, it works. </a:t>
            </a:r>
          </a:p>
          <a:p>
            <a:pPr lvl="1"/>
            <a:r>
              <a:rPr lang="en-US" dirty="0"/>
              <a:t>We can create new objects that work differently, as long as we don’t break other stuff.</a:t>
            </a:r>
          </a:p>
          <a:p>
            <a:r>
              <a:rPr lang="en-US" dirty="0"/>
              <a:t>When we do basic data processing, we can feed most functions data as:</a:t>
            </a:r>
          </a:p>
          <a:p>
            <a:pPr lvl="1"/>
            <a:r>
              <a:rPr lang="en-US" dirty="0" err="1"/>
              <a:t>Dataframe</a:t>
            </a:r>
            <a:r>
              <a:rPr lang="en-US" dirty="0"/>
              <a:t>, list, array, series, </a:t>
            </a:r>
            <a:r>
              <a:rPr lang="en-US" dirty="0" err="1"/>
              <a:t>etc</a:t>
            </a:r>
            <a:r>
              <a:rPr lang="en-US" dirty="0"/>
              <a:t>…</a:t>
            </a:r>
          </a:p>
          <a:p>
            <a:pPr lvl="1"/>
            <a:r>
              <a:rPr lang="en-US" dirty="0"/>
              <a:t>All of these can do “storage container” stuff, so we can usually swap them out for each other. </a:t>
            </a:r>
          </a:p>
        </p:txBody>
      </p:sp>
    </p:spTree>
    <p:extLst>
      <p:ext uri="{BB962C8B-B14F-4D97-AF65-F5344CB8AC3E}">
        <p14:creationId xmlns:p14="http://schemas.microsoft.com/office/powerpoint/2010/main" val="1354568557"/>
      </p:ext>
    </p:extLst>
  </p:cSld>
  <p:clrMapOvr>
    <a:masterClrMapping/>
  </p:clrMapOvr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A1E5E592-9385-36D1-F5FE-48A55C04A36E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Hypothesis Testing throwback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79F7E6CF-375C-F1A6-A28E-3B33B4F16390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dirty="0"/>
              <a:t>Our simulation based hypothesis testing is very flexible but requires a computer. </a:t>
            </a:r>
          </a:p>
          <a:p>
            <a:r>
              <a:rPr lang="en-US" dirty="0"/>
              <a:t>Hypothesis tests are older and can work computer free. </a:t>
            </a:r>
          </a:p>
          <a:p>
            <a:pPr lvl="1"/>
            <a:r>
              <a:rPr lang="en-US" dirty="0"/>
              <a:t>There isn’t the generic framework that the simulation offers, only specific tests. </a:t>
            </a:r>
          </a:p>
          <a:p>
            <a:pPr lvl="1"/>
            <a:r>
              <a:rPr lang="en-US" dirty="0"/>
              <a:t>Tests combine parametric assumptions with data to allow calculations. </a:t>
            </a:r>
          </a:p>
          <a:p>
            <a:pPr lvl="1"/>
            <a:r>
              <a:rPr lang="en-US" dirty="0"/>
              <a:t>In classical stats, you’d do this since you can’t simulate. </a:t>
            </a:r>
          </a:p>
          <a:p>
            <a:pPr lvl="1"/>
            <a:r>
              <a:rPr lang="en-US" dirty="0"/>
              <a:t>We’ll look at next time. </a:t>
            </a:r>
          </a:p>
        </p:txBody>
      </p:sp>
    </p:spTree>
    <p:extLst>
      <p:ext uri="{BB962C8B-B14F-4D97-AF65-F5344CB8AC3E}">
        <p14:creationId xmlns:p14="http://schemas.microsoft.com/office/powerpoint/2010/main" val="2886691532"/>
      </p:ext>
    </p:extLst>
  </p:cSld>
  <p:clrMapOvr>
    <a:masterClrMapping/>
  </p:clrMapOvr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0A8CA671-6D08-E2F0-B208-9F70708BCE28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 err="1"/>
              <a:t>Workin</a:t>
            </a:r>
            <a:r>
              <a:rPr lang="en-US" dirty="0"/>
              <a:t>’ on the ‘P’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E84FA36B-2D34-B394-C504-E6FC012C111A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1451579" y="2015732"/>
            <a:ext cx="9603275" cy="4037749"/>
          </a:xfrm>
        </p:spPr>
        <p:txBody>
          <a:bodyPr/>
          <a:lstStyle/>
          <a:p>
            <a:r>
              <a:rPr lang="en-US" dirty="0"/>
              <a:t>If you’ve ever seen/interacted with some sort of clinical trial you’ve seen this. </a:t>
            </a:r>
          </a:p>
          <a:p>
            <a:pPr lvl="1"/>
            <a:r>
              <a:rPr lang="en-US" dirty="0"/>
              <a:t>We have one group that got a medical treatment. </a:t>
            </a:r>
          </a:p>
          <a:p>
            <a:pPr lvl="1"/>
            <a:r>
              <a:rPr lang="en-US" dirty="0"/>
              <a:t>We have one group that got a placebo. </a:t>
            </a:r>
          </a:p>
          <a:p>
            <a:pPr lvl="1"/>
            <a:r>
              <a:rPr lang="en-US" dirty="0"/>
              <a:t>Is the improvement in life expectancy/quality/symptoms real?</a:t>
            </a:r>
          </a:p>
          <a:p>
            <a:r>
              <a:rPr lang="en-US" dirty="0"/>
              <a:t>Observing differences with samples (many values) isn’t straightforward. </a:t>
            </a:r>
          </a:p>
          <a:p>
            <a:pPr lvl="1"/>
            <a:r>
              <a:rPr lang="en-US" dirty="0"/>
              <a:t>We always have some variation in values, even between ‘equal’ groups. </a:t>
            </a:r>
          </a:p>
          <a:p>
            <a:r>
              <a:rPr lang="en-US" dirty="0"/>
              <a:t>This is why grad school students need stats. </a:t>
            </a:r>
          </a:p>
        </p:txBody>
      </p:sp>
    </p:spTree>
    <p:extLst>
      <p:ext uri="{BB962C8B-B14F-4D97-AF65-F5344CB8AC3E}">
        <p14:creationId xmlns:p14="http://schemas.microsoft.com/office/powerpoint/2010/main" val="2089667408"/>
      </p:ext>
    </p:extLst>
  </p:cSld>
  <p:clrMapOvr>
    <a:masterClrMapping/>
  </p:clrMapOvr>
</p:sld>
</file>

<file path=ppt/slides/slide2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C50F3542-1AAB-334C-906A-F8224315790B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Hypothesis Tests 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A73972D4-87BF-8740-8AD4-96E77B0CD030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1137146" y="1853754"/>
            <a:ext cx="10455413" cy="4303206"/>
          </a:xfrm>
        </p:spPr>
        <p:txBody>
          <a:bodyPr>
            <a:normAutofit/>
          </a:bodyPr>
          <a:lstStyle/>
          <a:p>
            <a:r>
              <a:rPr lang="en-US" dirty="0"/>
              <a:t>Notice a difference (effect) in data, test to see if is “real”, or due to variation. </a:t>
            </a:r>
          </a:p>
          <a:p>
            <a:pPr lvl="1"/>
            <a:r>
              <a:rPr lang="en-US" dirty="0"/>
              <a:t>E.g. these people live longer. </a:t>
            </a:r>
          </a:p>
          <a:p>
            <a:r>
              <a:rPr lang="en-US" dirty="0"/>
              <a:t>Real can be highly situation dependent:</a:t>
            </a:r>
          </a:p>
          <a:p>
            <a:pPr lvl="1"/>
            <a:r>
              <a:rPr lang="en-US" dirty="0"/>
              <a:t>Different situations yield different criteria. </a:t>
            </a:r>
          </a:p>
          <a:p>
            <a:r>
              <a:rPr lang="en-US" dirty="0"/>
              <a:t>Problem – there’s no definitive way to go from probabilities and results of samples to definitive declarations for an entire population. We are always making an inference, not showing a law. </a:t>
            </a:r>
          </a:p>
          <a:p>
            <a:r>
              <a:rPr lang="en-US" dirty="0"/>
              <a:t>Reliable conclusions will require domain knowledge, and likely more than one calc. </a:t>
            </a:r>
          </a:p>
          <a:p>
            <a:r>
              <a:rPr lang="en-US" dirty="0"/>
              <a:t>All of these things are “ways to demonstrate a difference”, not absolute rules. </a:t>
            </a:r>
          </a:p>
          <a:p>
            <a:r>
              <a:rPr lang="en-US" dirty="0"/>
              <a:t>Similar to predictions later – we are stating a conclusion, and offering evidence of its truth. </a:t>
            </a:r>
          </a:p>
        </p:txBody>
      </p:sp>
    </p:spTree>
    <p:extLst>
      <p:ext uri="{BB962C8B-B14F-4D97-AF65-F5344CB8AC3E}">
        <p14:creationId xmlns:p14="http://schemas.microsoft.com/office/powerpoint/2010/main" val="2641840238"/>
      </p:ext>
    </p:extLst>
  </p:cSld>
  <p:clrMapOvr>
    <a:masterClrMapping/>
  </p:clrMapOvr>
</p:sld>
</file>

<file path=ppt/slides/slide2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6EDE149D-D981-92AD-7C3A-6F44034098B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32AD2A40-A3C3-0DFE-168C-9972DD18451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What’s a Hypothesis Test?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34E62C23-0E14-5B47-D12E-DD63D929CF9F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1451579" y="1933904"/>
            <a:ext cx="9603275" cy="4119578"/>
          </a:xfrm>
        </p:spPr>
        <p:txBody>
          <a:bodyPr/>
          <a:lstStyle/>
          <a:p>
            <a:r>
              <a:rPr lang="en-US" dirty="0"/>
              <a:t>A hypothesis test evaluates two mutually exclusive statements about a population to determine which statement the sample data best supports. </a:t>
            </a:r>
          </a:p>
          <a:p>
            <a:pPr lvl="1"/>
            <a:r>
              <a:rPr lang="en-US" dirty="0"/>
              <a:t>Null Hypothesis: The effect does not exist in the population.</a:t>
            </a:r>
          </a:p>
          <a:p>
            <a:pPr lvl="1"/>
            <a:r>
              <a:rPr lang="en-US" dirty="0"/>
              <a:t>Alternative Hypothesis: The effect does exist in the population.</a:t>
            </a:r>
          </a:p>
          <a:p>
            <a:pPr lvl="1"/>
            <a:r>
              <a:rPr lang="en-US" dirty="0"/>
              <a:t>Effect = difference. Specifically, here it is the difference we see between the samples. </a:t>
            </a:r>
          </a:p>
          <a:p>
            <a:r>
              <a:rPr lang="en-US" dirty="0"/>
              <a:t>Hypothesis testing lets us say that effects have statistical significance, indicating that an effect in sample data also likely exists in the population after accounting for:</a:t>
            </a:r>
          </a:p>
          <a:p>
            <a:pPr lvl="1"/>
            <a:r>
              <a:rPr lang="en-US" dirty="0"/>
              <a:t>Random sampling error.</a:t>
            </a:r>
          </a:p>
          <a:p>
            <a:pPr lvl="1"/>
            <a:r>
              <a:rPr lang="en-US" dirty="0"/>
              <a:t>Variability in the data. </a:t>
            </a:r>
          </a:p>
          <a:p>
            <a:pPr lvl="1"/>
            <a:r>
              <a:rPr lang="en-US" dirty="0"/>
              <a:t>Sample size. </a:t>
            </a:r>
          </a:p>
          <a:p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2517431365"/>
      </p:ext>
    </p:extLst>
  </p:cSld>
  <p:clrMapOvr>
    <a:masterClrMapping/>
  </p:clrMapOvr>
</p:sld>
</file>

<file path=ppt/slides/slide30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bg>
      <p:bgPr>
        <a:gradFill rotWithShape="1">
          <a:gsLst>
            <a:gs pos="0">
              <a:schemeClr val="bg2">
                <a:tint val="94000"/>
                <a:satMod val="80000"/>
                <a:lumMod val="106000"/>
              </a:schemeClr>
            </a:gs>
            <a:gs pos="100000">
              <a:schemeClr val="bg2">
                <a:shade val="80000"/>
              </a:schemeClr>
            </a:gs>
          </a:gsLst>
          <a:path path="circle">
            <a:fillToRect l="43000" r="43000" b="100000"/>
          </a:path>
        </a:gra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1043841F-69FE-3249-BD4A-C67CCDF98C90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451579" y="804519"/>
            <a:ext cx="9603275" cy="1049235"/>
          </a:xfrm>
        </p:spPr>
        <p:txBody>
          <a:bodyPr>
            <a:normAutofit/>
          </a:bodyPr>
          <a:lstStyle/>
          <a:p>
            <a:r>
              <a:rPr lang="en-US" dirty="0"/>
              <a:t>Flashback – Cohen’s Effect Size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8B9A6E8C-6885-E34E-9D72-60BD727D40C5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1451579" y="2015734"/>
            <a:ext cx="7089668" cy="4037747"/>
          </a:xfrm>
        </p:spPr>
        <p:txBody>
          <a:bodyPr>
            <a:normAutofit/>
          </a:bodyPr>
          <a:lstStyle/>
          <a:p>
            <a:r>
              <a:rPr lang="en-US" dirty="0"/>
              <a:t>Effect size is very good for showing how big of a difference there is between groups.</a:t>
            </a:r>
          </a:p>
          <a:p>
            <a:pPr lvl="1"/>
            <a:r>
              <a:rPr lang="en-US" dirty="0"/>
              <a:t>How ”big” is the difference between A and B</a:t>
            </a:r>
          </a:p>
          <a:p>
            <a:r>
              <a:rPr lang="en-US" dirty="0"/>
              <a:t>Easy to calculate, symmetrical, comparable across studies. </a:t>
            </a:r>
          </a:p>
          <a:p>
            <a:r>
              <a:rPr lang="en-US" dirty="0"/>
              <a:t>Downside – the value doesn’t have obvious meaning. </a:t>
            </a:r>
          </a:p>
          <a:p>
            <a:r>
              <a:rPr lang="en-US" dirty="0"/>
              <a:t>Table is a list of approximate significance, by Cohen himself. </a:t>
            </a:r>
          </a:p>
          <a:p>
            <a:r>
              <a:rPr lang="en-US" dirty="0"/>
              <a:t>Book’s author a huge proponent of effect size!</a:t>
            </a:r>
          </a:p>
        </p:txBody>
      </p:sp>
      <p:pic>
        <p:nvPicPr>
          <p:cNvPr id="4" name="Picture 3">
            <a:extLst>
              <a:ext uri="{FF2B5EF4-FFF2-40B4-BE49-F238E27FC236}">
                <a16:creationId xmlns:a16="http://schemas.microsoft.com/office/drawing/2014/main" id="{B77DD00A-365A-7D43-BA89-E174F497726F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541247" y="2015734"/>
            <a:ext cx="2727388" cy="4479127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678335132"/>
      </p:ext>
    </p:extLst>
  </p:cSld>
  <p:clrMapOvr>
    <a:masterClrMapping/>
  </p:clrMapOvr>
</p:sld>
</file>

<file path=ppt/slides/slide3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C34EA8A0-5341-A341-9EA8-5EB58536E0D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Hypothesis Test process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0D496893-51F3-9D49-90F1-1D589AECE24D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1250577" y="1853754"/>
            <a:ext cx="10058400" cy="4336839"/>
          </a:xfrm>
        </p:spPr>
        <p:txBody>
          <a:bodyPr>
            <a:normAutofit/>
          </a:bodyPr>
          <a:lstStyle/>
          <a:p>
            <a:r>
              <a:rPr lang="en-US" dirty="0"/>
              <a:t>A hypothesis test will seek to answer if two samples that show a difference have that difference due to real effects, or random variation. </a:t>
            </a:r>
          </a:p>
          <a:p>
            <a:pPr lvl="1"/>
            <a:r>
              <a:rPr lang="en-US" dirty="0"/>
              <a:t>A.K.A. did these two samples come from the same population. </a:t>
            </a:r>
          </a:p>
          <a:p>
            <a:r>
              <a:rPr lang="en-US" dirty="0"/>
              <a:t>Define the test statistic – normally the mean.</a:t>
            </a:r>
          </a:p>
          <a:p>
            <a:r>
              <a:rPr lang="en-US" dirty="0"/>
              <a:t>Define a null hypothesis – “there is actually no difference in the means of the two groups.”</a:t>
            </a:r>
          </a:p>
          <a:p>
            <a:r>
              <a:rPr lang="en-US" dirty="0"/>
              <a:t>Compute the p-value – this is what the test does. The probability the NH is true.</a:t>
            </a:r>
          </a:p>
          <a:p>
            <a:r>
              <a:rPr lang="en-US" dirty="0"/>
              <a:t>Compare to the cutoff (alpha) – if the p-value is smaller, we can reject the NH, therefore the difference is statistically significant. </a:t>
            </a:r>
          </a:p>
          <a:p>
            <a:pPr lvl="1"/>
            <a:r>
              <a:rPr lang="en-US" dirty="0"/>
              <a:t>A.K.A. how likely is that that the two samples are from the same pop, and the difference in their means is just random variation. </a:t>
            </a:r>
          </a:p>
          <a:p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996436132"/>
      </p:ext>
    </p:extLst>
  </p:cSld>
  <p:clrMapOvr>
    <a:masterClrMapping/>
  </p:clrMapOvr>
</p:sld>
</file>

<file path=ppt/slides/slide3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D777C4F1-B4FA-D249-95A6-C649BBD426DF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D7BFCAE8-3D2D-2244-81A3-B63518158FAB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endParaRPr lang="en-US"/>
          </a:p>
        </p:txBody>
      </p:sp>
      <p:pic>
        <p:nvPicPr>
          <p:cNvPr id="7170" name="Picture 2">
            <a:extLst>
              <a:ext uri="{FF2B5EF4-FFF2-40B4-BE49-F238E27FC236}">
                <a16:creationId xmlns:a16="http://schemas.microsoft.com/office/drawing/2014/main" id="{05A565D6-6651-0444-BB8A-EA1D38731B7C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1219200" y="177800"/>
            <a:ext cx="9753600" cy="650240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</p:spTree>
    <p:extLst>
      <p:ext uri="{BB962C8B-B14F-4D97-AF65-F5344CB8AC3E}">
        <p14:creationId xmlns:p14="http://schemas.microsoft.com/office/powerpoint/2010/main" val="238663840"/>
      </p:ext>
    </p:extLst>
  </p:cSld>
  <p:clrMapOvr>
    <a:masterClrMapping/>
  </p:clrMapOvr>
</p:sld>
</file>

<file path=ppt/slides/slide33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454D611A-CF86-8746-97A4-33E74E2BFF77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D4977805-BE5D-D14C-BD46-5F20F369C2D2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endParaRPr lang="en-US"/>
          </a:p>
        </p:txBody>
      </p:sp>
      <p:pic>
        <p:nvPicPr>
          <p:cNvPr id="4098" name="Picture 2">
            <a:extLst>
              <a:ext uri="{FF2B5EF4-FFF2-40B4-BE49-F238E27FC236}">
                <a16:creationId xmlns:a16="http://schemas.microsoft.com/office/drawing/2014/main" id="{0A6DAAD8-638A-8643-B668-3E40462E19C4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-4863" y="389965"/>
            <a:ext cx="12201726" cy="607807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</p:spTree>
    <p:extLst>
      <p:ext uri="{BB962C8B-B14F-4D97-AF65-F5344CB8AC3E}">
        <p14:creationId xmlns:p14="http://schemas.microsoft.com/office/powerpoint/2010/main" val="278982855"/>
      </p:ext>
    </p:extLst>
  </p:cSld>
  <p:clrMapOvr>
    <a:masterClrMapping/>
  </p:clrMapOvr>
</p:sld>
</file>

<file path=ppt/slides/slide3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A80E8ED4-C6ED-754F-9599-EBCA2583D433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T-Tests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2C609283-AF97-CC4E-8FA2-931D43BA5317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746235" y="1853754"/>
            <a:ext cx="10699532" cy="4199727"/>
          </a:xfrm>
        </p:spPr>
        <p:txBody>
          <a:bodyPr>
            <a:normAutofit/>
          </a:bodyPr>
          <a:lstStyle/>
          <a:p>
            <a:r>
              <a:rPr lang="en-US" dirty="0"/>
              <a:t>T-tests allow us to make an estimate of, “is this difference likely real, or could it be due to chance?”</a:t>
            </a:r>
          </a:p>
          <a:p>
            <a:r>
              <a:rPr lang="en-US" dirty="0"/>
              <a:t>Extremely common in basic stats and scientific papers/reports. </a:t>
            </a:r>
          </a:p>
          <a:p>
            <a:r>
              <a:rPr lang="en-US" dirty="0"/>
              <a:t>Weakness – subject to manipulation, becoming less relied on over time. </a:t>
            </a:r>
          </a:p>
          <a:p>
            <a:r>
              <a:rPr lang="en-US" dirty="0"/>
              <a:t>One sample – tests mean against some value.</a:t>
            </a:r>
          </a:p>
          <a:p>
            <a:r>
              <a:rPr lang="en-US" dirty="0"/>
              <a:t>Two sample – tests two means against each other. </a:t>
            </a:r>
          </a:p>
          <a:p>
            <a:r>
              <a:rPr lang="en-US" dirty="0"/>
              <a:t>Sidedness:</a:t>
            </a:r>
          </a:p>
          <a:p>
            <a:pPr lvl="1"/>
            <a:r>
              <a:rPr lang="en-US" dirty="0"/>
              <a:t>One side tests if lesser/greater.</a:t>
            </a:r>
          </a:p>
          <a:p>
            <a:pPr lvl="1"/>
            <a:r>
              <a:rPr lang="en-US" dirty="0"/>
              <a:t>Two-sided tests if different at all. </a:t>
            </a:r>
          </a:p>
        </p:txBody>
      </p:sp>
    </p:spTree>
    <p:extLst>
      <p:ext uri="{BB962C8B-B14F-4D97-AF65-F5344CB8AC3E}">
        <p14:creationId xmlns:p14="http://schemas.microsoft.com/office/powerpoint/2010/main" val="201004784"/>
      </p:ext>
    </p:extLst>
  </p:cSld>
  <p:clrMapOvr>
    <a:masterClrMapping/>
  </p:clrMapOvr>
</p:sld>
</file>

<file path=ppt/slides/slide3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itle 3">
            <a:extLst>
              <a:ext uri="{FF2B5EF4-FFF2-40B4-BE49-F238E27FC236}">
                <a16:creationId xmlns:a16="http://schemas.microsoft.com/office/drawing/2014/main" id="{93D8206E-559D-CE45-85C5-85695AB37A13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Content Placeholder 4">
            <a:extLst>
              <a:ext uri="{FF2B5EF4-FFF2-40B4-BE49-F238E27FC236}">
                <a16:creationId xmlns:a16="http://schemas.microsoft.com/office/drawing/2014/main" id="{40E82067-9C80-8E4E-ABC3-85AB34A50B0A}"/>
              </a:ext>
            </a:extLst>
          </p:cNvPr>
          <p:cNvSpPr>
            <a:spLocks noGrp="1"/>
          </p:cNvSpPr>
          <p:nvPr>
            <p:ph sz="half" idx="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Content Placeholder 5">
            <a:extLst>
              <a:ext uri="{FF2B5EF4-FFF2-40B4-BE49-F238E27FC236}">
                <a16:creationId xmlns:a16="http://schemas.microsoft.com/office/drawing/2014/main" id="{9DFA7AFC-CBC7-3E4A-B817-222F190353DB}"/>
              </a:ext>
            </a:extLst>
          </p:cNvPr>
          <p:cNvSpPr>
            <a:spLocks noGrp="1"/>
          </p:cNvSpPr>
          <p:nvPr>
            <p:ph sz="half" idx="2"/>
          </p:nvPr>
        </p:nvSpPr>
        <p:spPr/>
        <p:txBody>
          <a:bodyPr/>
          <a:lstStyle/>
          <a:p>
            <a:endParaRPr lang="en-US"/>
          </a:p>
        </p:txBody>
      </p:sp>
      <p:pic>
        <p:nvPicPr>
          <p:cNvPr id="5122" name="Picture 2">
            <a:extLst>
              <a:ext uri="{FF2B5EF4-FFF2-40B4-BE49-F238E27FC236}">
                <a16:creationId xmlns:a16="http://schemas.microsoft.com/office/drawing/2014/main" id="{C87F644B-A903-D247-8667-BB7C3B8C95CA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0" y="-241300"/>
            <a:ext cx="7416800" cy="367030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5124" name="Picture 4">
            <a:extLst>
              <a:ext uri="{FF2B5EF4-FFF2-40B4-BE49-F238E27FC236}">
                <a16:creationId xmlns:a16="http://schemas.microsoft.com/office/drawing/2014/main" id="{97187806-CB83-874B-8736-4A0895D65308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4675740" y="3165007"/>
            <a:ext cx="7569200" cy="365760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</p:spTree>
    <p:extLst>
      <p:ext uri="{BB962C8B-B14F-4D97-AF65-F5344CB8AC3E}">
        <p14:creationId xmlns:p14="http://schemas.microsoft.com/office/powerpoint/2010/main" val="3073410795"/>
      </p:ext>
    </p:extLst>
  </p:cSld>
  <p:clrMapOvr>
    <a:masterClrMapping/>
  </p:clrMapOvr>
</p:sld>
</file>

<file path=ppt/slides/slide3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ED7B2C08-E1A8-C144-8E09-2D73345AD7C2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Z-tests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DDD1D357-DDDA-BE40-A4A5-256F756EE88E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dirty="0"/>
              <a:t>Z-tests do the same basic thing as t-tests, they can be used when:</a:t>
            </a:r>
          </a:p>
          <a:p>
            <a:pPr lvl="1"/>
            <a:r>
              <a:rPr lang="en-US" dirty="0"/>
              <a:t>Sample size is large. (50ish is a rule of thumb), or…</a:t>
            </a:r>
          </a:p>
          <a:p>
            <a:pPr lvl="1"/>
            <a:r>
              <a:rPr lang="en-US" dirty="0"/>
              <a:t>Population variance is known.</a:t>
            </a:r>
          </a:p>
          <a:p>
            <a:r>
              <a:rPr lang="en-US" dirty="0"/>
              <a:t>If that’s not true, use a t-test. (Results will converge with larger samples)</a:t>
            </a:r>
          </a:p>
          <a:p>
            <a:endParaRPr lang="en-US" dirty="0"/>
          </a:p>
          <a:p>
            <a:r>
              <a:rPr lang="en-US" dirty="0"/>
              <a:t>More simple if calculating by hand, we kind of don’t really need to care about it…</a:t>
            </a:r>
          </a:p>
        </p:txBody>
      </p:sp>
    </p:spTree>
    <p:extLst>
      <p:ext uri="{BB962C8B-B14F-4D97-AF65-F5344CB8AC3E}">
        <p14:creationId xmlns:p14="http://schemas.microsoft.com/office/powerpoint/2010/main" val="2318308049"/>
      </p:ext>
    </p:extLst>
  </p:cSld>
  <p:clrMapOvr>
    <a:masterClrMapping/>
  </p:clrMapOvr>
</p:sld>
</file>

<file path=ppt/slides/slide3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gradFill rotWithShape="1">
          <a:gsLst>
            <a:gs pos="0">
              <a:schemeClr val="bg2">
                <a:tint val="94000"/>
                <a:satMod val="80000"/>
                <a:lumMod val="106000"/>
              </a:schemeClr>
            </a:gs>
            <a:gs pos="100000">
              <a:schemeClr val="bg2">
                <a:shade val="80000"/>
              </a:schemeClr>
            </a:gs>
          </a:gsLst>
          <a:path path="circle">
            <a:fillToRect l="43000" r="43000" b="100000"/>
          </a:path>
        </a:gra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1" name="Rectangle 70">
            <a:extLst>
              <a:ext uri="{FF2B5EF4-FFF2-40B4-BE49-F238E27FC236}">
                <a16:creationId xmlns:a16="http://schemas.microsoft.com/office/drawing/2014/main" id="{CDDE5CDF-1512-4CDA-B956-23D223F8DE44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0" y="2019476"/>
            <a:ext cx="12192000" cy="4105941"/>
          </a:xfrm>
          <a:prstGeom prst="rect">
            <a:avLst/>
          </a:prstGeom>
          <a:gradFill flip="none" rotWithShape="1">
            <a:gsLst>
              <a:gs pos="0">
                <a:schemeClr val="bg2">
                  <a:alpha val="0"/>
                </a:schemeClr>
              </a:gs>
              <a:gs pos="100000">
                <a:schemeClr val="bg2"/>
              </a:gs>
            </a:gsLst>
            <a:lin ang="5400000" scaled="0"/>
            <a:tileRect/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/>
          <a:lstStyle/>
          <a:p>
            <a:endParaRPr lang="en-US"/>
          </a:p>
        </p:txBody>
      </p:sp>
      <p:pic>
        <p:nvPicPr>
          <p:cNvPr id="73" name="Picture 72">
            <a:extLst>
              <a:ext uri="{FF2B5EF4-FFF2-40B4-BE49-F238E27FC236}">
                <a16:creationId xmlns:a16="http://schemas.microsoft.com/office/drawing/2014/main" id="{B029D7D8-5A6B-4C76-94C8-15798C6C5ADB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PicPr>
            <a:picLocks noGrp="1" noRot="1" noChangeAspect="1" noMove="1" noResize="1" noEditPoints="1" noAdjustHandles="1" noChangeArrowheads="1" noChangeShapeType="1" noCrop="1"/>
          </p:cNvPic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PicPr>
        <p:blipFill rotWithShape="1"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t="1538" b="-1538"/>
          <a:stretch/>
        </p:blipFill>
        <p:spPr bwMode="black">
          <a:xfrm>
            <a:off x="0" y="6126480"/>
            <a:ext cx="12192000" cy="742950"/>
          </a:xfrm>
          <a:prstGeom prst="rect">
            <a:avLst/>
          </a:prstGeom>
        </p:spPr>
      </p:pic>
      <p:cxnSp>
        <p:nvCxnSpPr>
          <p:cNvPr id="75" name="Straight Connector 74">
            <a:extLst>
              <a:ext uri="{FF2B5EF4-FFF2-40B4-BE49-F238E27FC236}">
                <a16:creationId xmlns:a16="http://schemas.microsoft.com/office/drawing/2014/main" id="{A5C9319C-E20D-4884-952F-60B6A58C3E34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CxnSpPr>
            <a:cxnSpLocks noGrp="1" noRot="1" noChangeAspect="1" noMove="1" noResize="1" noEditPoints="1" noAdjustHandles="1" noChangeArrowheads="1" noChangeShapeType="1"/>
          </p:cNvCxn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CxnSpPr>
        <p:spPr>
          <a:xfrm>
            <a:off x="0" y="6128413"/>
            <a:ext cx="12192000" cy="0"/>
          </a:xfrm>
          <a:prstGeom prst="line">
            <a:avLst/>
          </a:prstGeom>
          <a:ln w="12700">
            <a:solidFill>
              <a:srgbClr val="000001">
                <a:alpha val="20000"/>
              </a:srgb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 useBgFill="1">
        <p:nvSpPr>
          <p:cNvPr id="77" name="Rectangle 76">
            <a:extLst>
              <a:ext uri="{FF2B5EF4-FFF2-40B4-BE49-F238E27FC236}">
                <a16:creationId xmlns:a16="http://schemas.microsoft.com/office/drawing/2014/main" id="{F1176DA6-4BBF-42A4-9C94-E6613CCD6B37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0" y="0"/>
            <a:ext cx="12192000" cy="6858000"/>
          </a:xfrm>
          <a:prstGeom prst="rect">
            <a:avLst/>
          </a:prstGeom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79" name="Rectangle 78">
            <a:extLst>
              <a:ext uri="{FF2B5EF4-FFF2-40B4-BE49-F238E27FC236}">
                <a16:creationId xmlns:a16="http://schemas.microsoft.com/office/drawing/2014/main" id="{99AAB0AE-172B-4FB4-80C2-86CD6B824220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477012" y="480060"/>
            <a:ext cx="11237976" cy="5897880"/>
          </a:xfrm>
          <a:prstGeom prst="rect">
            <a:avLst/>
          </a:prstGeom>
          <a:solidFill>
            <a:schemeClr val="bg1"/>
          </a:solidFill>
          <a:ln w="22225">
            <a:solidFill>
              <a:schemeClr val="tx1">
                <a:lumMod val="50000"/>
                <a:lumOff val="50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pic>
        <p:nvPicPr>
          <p:cNvPr id="6146" name="Picture 2">
            <a:extLst>
              <a:ext uri="{FF2B5EF4-FFF2-40B4-BE49-F238E27FC236}">
                <a16:creationId xmlns:a16="http://schemas.microsoft.com/office/drawing/2014/main" id="{8D98FC15-87F0-4843-B3F3-DD1B04498763}"/>
              </a:ext>
            </a:extLst>
          </p:cNvPr>
          <p:cNvPicPr>
            <a:picLocks noGrp="1" noChangeAspect="1" noChangeArrowheads="1"/>
          </p:cNvPicPr>
          <p:nvPr>
            <p:ph idx="1"/>
          </p:nvPr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 bwMode="auto">
          <a:xfrm>
            <a:off x="643467" y="975360"/>
            <a:ext cx="10905066" cy="4907279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</p:spTree>
    <p:extLst>
      <p:ext uri="{BB962C8B-B14F-4D97-AF65-F5344CB8AC3E}">
        <p14:creationId xmlns:p14="http://schemas.microsoft.com/office/powerpoint/2010/main" val="2654219470"/>
      </p:ext>
    </p:extLst>
  </p:cSld>
  <p:clrMapOvr>
    <a:masterClrMapping/>
  </p:clrMapOvr>
</p:sld>
</file>

<file path=ppt/slides/slide3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811F65A3-A0AA-C8BA-F107-02720C4387EC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738BF645-09AC-09C0-E33F-B83072CCE9B3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endParaRPr lang="en-US"/>
          </a:p>
        </p:txBody>
      </p:sp>
      <p:pic>
        <p:nvPicPr>
          <p:cNvPr id="2050" name="Picture 2" descr="Difference between Z-Test and T-Test - GeeksforGeeks">
            <a:extLst>
              <a:ext uri="{FF2B5EF4-FFF2-40B4-BE49-F238E27FC236}">
                <a16:creationId xmlns:a16="http://schemas.microsoft.com/office/drawing/2014/main" id="{9C9F8A59-48EA-7FC7-1944-08D77554B627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0" y="563563"/>
            <a:ext cx="12192000" cy="5730875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</p:spTree>
    <p:extLst>
      <p:ext uri="{BB962C8B-B14F-4D97-AF65-F5344CB8AC3E}">
        <p14:creationId xmlns:p14="http://schemas.microsoft.com/office/powerpoint/2010/main" val="1227351256"/>
      </p:ext>
    </p:extLst>
  </p:cSld>
  <p:clrMapOvr>
    <a:masterClrMapping/>
  </p:clrMapOvr>
</p:sld>
</file>

<file path=ppt/slides/slide39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5F22F6A2-1A31-8B79-3CFC-B3423C81D552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Calculating the tests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AC643535-FDC0-4308-035D-72BE61B95AE1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endParaRPr lang="en-US"/>
          </a:p>
        </p:txBody>
      </p:sp>
      <p:pic>
        <p:nvPicPr>
          <p:cNvPr id="1026" name="Picture 2" descr="Calculate t-value">
            <a:extLst>
              <a:ext uri="{FF2B5EF4-FFF2-40B4-BE49-F238E27FC236}">
                <a16:creationId xmlns:a16="http://schemas.microsoft.com/office/drawing/2014/main" id="{C6994AD9-7FFF-C14D-0713-EA35750445C5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5469781" y="747293"/>
            <a:ext cx="6451600" cy="237490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1028" name="Picture 4" descr="t-value in t-test independent samples">
            <a:extLst>
              <a:ext uri="{FF2B5EF4-FFF2-40B4-BE49-F238E27FC236}">
                <a16:creationId xmlns:a16="http://schemas.microsoft.com/office/drawing/2014/main" id="{5E70AE33-CBEB-4E17-FF8D-554B1F332B12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6854081" y="2899168"/>
            <a:ext cx="5067300" cy="388620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</p:spTree>
    <p:extLst>
      <p:ext uri="{BB962C8B-B14F-4D97-AF65-F5344CB8AC3E}">
        <p14:creationId xmlns:p14="http://schemas.microsoft.com/office/powerpoint/2010/main" val="2070858688"/>
      </p:ext>
    </p:extLst>
  </p:cSld>
  <p:clrMapOvr>
    <a:masterClrMapping/>
  </p:clrMapOvr>
</p:sld>
</file>

<file path=ppt/slides/slide4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5F240032-86EE-D042-A41F-F73A666B9CB7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Test Assumptions – Parametric </a:t>
            </a:r>
            <a:r>
              <a:rPr lang="en-US" dirty="0" err="1"/>
              <a:t>TEst</a:t>
            </a:r>
            <a:endParaRPr lang="en-US" dirty="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38AA6E6A-2A74-D642-A764-13B0702EDB9D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1451579" y="2015732"/>
            <a:ext cx="9603275" cy="4171708"/>
          </a:xfrm>
        </p:spPr>
        <p:txBody>
          <a:bodyPr>
            <a:normAutofit lnSpcReduction="10000"/>
          </a:bodyPr>
          <a:lstStyle/>
          <a:p>
            <a:r>
              <a:rPr lang="en-US" dirty="0"/>
              <a:t>Data is normally distributed. </a:t>
            </a:r>
          </a:p>
          <a:p>
            <a:pPr lvl="1"/>
            <a:r>
              <a:rPr lang="en-US" dirty="0"/>
              <a:t>Central limit theorem (more on this later) – as you get more data, samples of many things become more normal. </a:t>
            </a:r>
          </a:p>
          <a:p>
            <a:pPr lvl="1"/>
            <a:r>
              <a:rPr lang="en-US" dirty="0"/>
              <a:t>Non-normal data can sometimes be transformed (e.g. log income from last week)</a:t>
            </a:r>
          </a:p>
          <a:p>
            <a:r>
              <a:rPr lang="en-US" dirty="0"/>
              <a:t>Equal variance:</a:t>
            </a:r>
          </a:p>
          <a:p>
            <a:pPr lvl="1"/>
            <a:r>
              <a:rPr lang="en-US" dirty="0"/>
              <a:t>Argument in </a:t>
            </a:r>
            <a:r>
              <a:rPr lang="en-US" dirty="0" err="1"/>
              <a:t>scipy</a:t>
            </a:r>
            <a:r>
              <a:rPr lang="en-US" dirty="0"/>
              <a:t> t-test. </a:t>
            </a:r>
          </a:p>
          <a:p>
            <a:pPr lvl="1"/>
            <a:r>
              <a:rPr lang="en-US" dirty="0"/>
              <a:t>Normal t-test assumes true, Welch’s does not. </a:t>
            </a:r>
          </a:p>
          <a:p>
            <a:r>
              <a:rPr lang="en-US" dirty="0"/>
              <a:t>Observations are independent. </a:t>
            </a:r>
          </a:p>
          <a:p>
            <a:r>
              <a:rPr lang="en-US" dirty="0"/>
              <a:t>No/minimal outliers. </a:t>
            </a:r>
          </a:p>
          <a:p>
            <a:pPr lvl="1"/>
            <a:r>
              <a:rPr lang="en-US" dirty="0"/>
              <a:t>There’s a “trim” option to take out outliers in the </a:t>
            </a:r>
            <a:r>
              <a:rPr lang="en-US" dirty="0" err="1"/>
              <a:t>scipy</a:t>
            </a:r>
            <a:r>
              <a:rPr lang="en-US" dirty="0"/>
              <a:t> stuff. </a:t>
            </a:r>
          </a:p>
        </p:txBody>
      </p:sp>
    </p:spTree>
    <p:extLst>
      <p:ext uri="{BB962C8B-B14F-4D97-AF65-F5344CB8AC3E}">
        <p14:creationId xmlns:p14="http://schemas.microsoft.com/office/powerpoint/2010/main" val="3336447634"/>
      </p:ext>
    </p:extLst>
  </p:cSld>
  <p:clrMapOvr>
    <a:masterClrMapping/>
  </p:clrMapOvr>
</p:sld>
</file>

<file path=ppt/slides/slide4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C16DE78B-CAB7-B840-A8D2-2FF5E9523193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Other Tests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7F83A866-680A-0A46-BAC5-898B2DB87A2D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dirty="0"/>
              <a:t>There are many other statistical tests that can be useful in other scenarios. </a:t>
            </a:r>
          </a:p>
          <a:p>
            <a:r>
              <a:rPr lang="en-US" dirty="0"/>
              <a:t>We can look one up based on our scenario, if needed. Some common ones:</a:t>
            </a:r>
          </a:p>
          <a:p>
            <a:pPr lvl="1"/>
            <a:r>
              <a:rPr lang="en-US" dirty="0"/>
              <a:t>ANOVA (analysis of variance) – Test means of 3+ groups. </a:t>
            </a:r>
          </a:p>
          <a:p>
            <a:pPr lvl="1"/>
            <a:r>
              <a:rPr lang="en-US" dirty="0"/>
              <a:t>Mann-Whitney – T-test equivalent with no assumption of distributions. </a:t>
            </a:r>
          </a:p>
        </p:txBody>
      </p:sp>
    </p:spTree>
    <p:extLst>
      <p:ext uri="{BB962C8B-B14F-4D97-AF65-F5344CB8AC3E}">
        <p14:creationId xmlns:p14="http://schemas.microsoft.com/office/powerpoint/2010/main" val="1530674256"/>
      </p:ext>
    </p:extLst>
  </p:cSld>
  <p:clrMapOvr>
    <a:masterClrMapping/>
  </p:clrMapOvr>
</p:sld>
</file>

<file path=ppt/slides/slide4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gradFill rotWithShape="1">
          <a:gsLst>
            <a:gs pos="0">
              <a:schemeClr val="bg2">
                <a:tint val="94000"/>
                <a:satMod val="80000"/>
                <a:lumMod val="106000"/>
              </a:schemeClr>
            </a:gs>
            <a:gs pos="100000">
              <a:schemeClr val="bg2">
                <a:shade val="80000"/>
              </a:schemeClr>
            </a:gs>
          </a:gsLst>
          <a:path path="circle">
            <a:fillToRect l="43000" r="43000" b="100000"/>
          </a:path>
        </a:gra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D6A034D5-E952-294B-AC81-5584708DAFFB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451579" y="804519"/>
            <a:ext cx="9603275" cy="1049235"/>
          </a:xfrm>
        </p:spPr>
        <p:txBody>
          <a:bodyPr>
            <a:normAutofit/>
          </a:bodyPr>
          <a:lstStyle/>
          <a:p>
            <a:r>
              <a:rPr lang="en-US" dirty="0"/>
              <a:t>Demise of Hypothesis Testing</a:t>
            </a:r>
          </a:p>
        </p:txBody>
      </p:sp>
      <p:pic>
        <p:nvPicPr>
          <p:cNvPr id="8194" name="Picture 2" descr="Graphical user interface, text, application, email&#10;&#10;Description automatically generated">
            <a:extLst>
              <a:ext uri="{FF2B5EF4-FFF2-40B4-BE49-F238E27FC236}">
                <a16:creationId xmlns:a16="http://schemas.microsoft.com/office/drawing/2014/main" id="{843CC31A-A8D8-D94B-BE98-048586839791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 bwMode="auto">
          <a:xfrm>
            <a:off x="191739" y="2111065"/>
            <a:ext cx="6038708" cy="2979095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F7E53707-A64A-6E40-9F66-E23093385A9E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6230447" y="1853755"/>
            <a:ext cx="5769814" cy="4199726"/>
          </a:xfrm>
        </p:spPr>
        <p:txBody>
          <a:bodyPr>
            <a:normAutofit fontScale="92500"/>
          </a:bodyPr>
          <a:lstStyle/>
          <a:p>
            <a:pPr>
              <a:lnSpc>
                <a:spcPct val="110000"/>
              </a:lnSpc>
            </a:pPr>
            <a:r>
              <a:rPr lang="en-US" sz="1800" dirty="0"/>
              <a:t>P-values are (somewhat) on their way out. </a:t>
            </a:r>
          </a:p>
          <a:p>
            <a:pPr lvl="1">
              <a:lnSpc>
                <a:spcPct val="110000"/>
              </a:lnSpc>
            </a:pPr>
            <a:r>
              <a:rPr lang="en-US" dirty="0"/>
              <a:t>Banned from some medical journals as too easy to pass. </a:t>
            </a:r>
          </a:p>
          <a:p>
            <a:pPr lvl="1">
              <a:lnSpc>
                <a:spcPct val="110000"/>
              </a:lnSpc>
            </a:pPr>
            <a:r>
              <a:rPr lang="en-US" dirty="0"/>
              <a:t>NHST = null </a:t>
            </a:r>
            <a:r>
              <a:rPr lang="en-US" dirty="0" err="1"/>
              <a:t>hyp</a:t>
            </a:r>
            <a:r>
              <a:rPr lang="en-US" dirty="0"/>
              <a:t>. significance testing. </a:t>
            </a:r>
          </a:p>
          <a:p>
            <a:pPr>
              <a:lnSpc>
                <a:spcPct val="110000"/>
              </a:lnSpc>
            </a:pPr>
            <a:r>
              <a:rPr lang="en-US" sz="1800" dirty="0"/>
              <a:t>Unfortunately, and surprisingly, there’s no perfect alternative. </a:t>
            </a:r>
          </a:p>
          <a:p>
            <a:pPr>
              <a:lnSpc>
                <a:spcPct val="110000"/>
              </a:lnSpc>
            </a:pPr>
            <a:r>
              <a:rPr lang="en-US" sz="1800" dirty="0"/>
              <a:t>What do we do???</a:t>
            </a:r>
          </a:p>
          <a:p>
            <a:pPr lvl="1">
              <a:lnSpc>
                <a:spcPct val="110000"/>
              </a:lnSpc>
            </a:pPr>
            <a:r>
              <a:rPr lang="en-US" dirty="0"/>
              <a:t>Effect size. </a:t>
            </a:r>
          </a:p>
          <a:p>
            <a:pPr lvl="1">
              <a:lnSpc>
                <a:spcPct val="110000"/>
              </a:lnSpc>
            </a:pPr>
            <a:r>
              <a:rPr lang="en-US" dirty="0"/>
              <a:t>Estimate mean with standard error and confidence intervals. </a:t>
            </a:r>
          </a:p>
          <a:p>
            <a:pPr lvl="1">
              <a:lnSpc>
                <a:spcPct val="110000"/>
              </a:lnSpc>
            </a:pPr>
            <a:r>
              <a:rPr lang="en-US" dirty="0"/>
              <a:t>Bayesian estimation (we </a:t>
            </a:r>
            <a:r>
              <a:rPr lang="en-US" i="1" dirty="0"/>
              <a:t>might</a:t>
            </a:r>
            <a:r>
              <a:rPr lang="en-US" dirty="0"/>
              <a:t> touch on this later)</a:t>
            </a:r>
          </a:p>
          <a:p>
            <a:pPr>
              <a:lnSpc>
                <a:spcPct val="110000"/>
              </a:lnSpc>
            </a:pPr>
            <a:r>
              <a:rPr lang="en-US" dirty="0"/>
              <a:t>Real statisticians are actively debating this – we don’t have a firm answer. </a:t>
            </a:r>
          </a:p>
        </p:txBody>
      </p:sp>
    </p:spTree>
    <p:extLst>
      <p:ext uri="{BB962C8B-B14F-4D97-AF65-F5344CB8AC3E}">
        <p14:creationId xmlns:p14="http://schemas.microsoft.com/office/powerpoint/2010/main" val="2551124561"/>
      </p:ext>
    </p:extLst>
  </p:cSld>
  <p:clrMapOvr>
    <a:masterClrMapping/>
  </p:clrMapOvr>
</p:sld>
</file>

<file path=ppt/slides/slide4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gradFill rotWithShape="1">
          <a:gsLst>
            <a:gs pos="0">
              <a:schemeClr val="bg2">
                <a:tint val="94000"/>
                <a:satMod val="80000"/>
                <a:lumMod val="106000"/>
              </a:schemeClr>
            </a:gs>
            <a:gs pos="100000">
              <a:schemeClr val="bg2">
                <a:shade val="80000"/>
              </a:schemeClr>
            </a:gs>
          </a:gsLst>
          <a:path path="circle">
            <a:fillToRect l="43000" r="43000" b="100000"/>
          </a:path>
        </a:gra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AA861DA4-0DF2-D249-9DDF-0D62D36A5841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451579" y="804519"/>
            <a:ext cx="9603275" cy="1049235"/>
          </a:xfrm>
        </p:spPr>
        <p:txBody>
          <a:bodyPr>
            <a:normAutofit/>
          </a:bodyPr>
          <a:lstStyle/>
          <a:p>
            <a:r>
              <a:rPr lang="en-US" dirty="0"/>
              <a:t>P Hacking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05C14BC6-77F4-534E-A32E-70385FECA69B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1451579" y="2015734"/>
            <a:ext cx="5622284" cy="3450613"/>
          </a:xfrm>
        </p:spPr>
        <p:txBody>
          <a:bodyPr>
            <a:normAutofit/>
          </a:bodyPr>
          <a:lstStyle/>
          <a:p>
            <a:endParaRPr lang="en-US"/>
          </a:p>
        </p:txBody>
      </p:sp>
      <p:pic>
        <p:nvPicPr>
          <p:cNvPr id="2050" name="Picture 2" descr="A Useful Urinal Etiquette Guide For All Men, Everywhere - Mandatory">
            <a:extLst>
              <a:ext uri="{FF2B5EF4-FFF2-40B4-BE49-F238E27FC236}">
                <a16:creationId xmlns:a16="http://schemas.microsoft.com/office/drawing/2014/main" id="{28D2CAA2-1578-214A-8E05-B00489994910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 bwMode="auto">
          <a:xfrm>
            <a:off x="160637" y="2015734"/>
            <a:ext cx="6422388" cy="3612593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2052" name="Picture 4" descr="A Look into Computer Hacking - WORT 89.9 FM">
            <a:extLst>
              <a:ext uri="{FF2B5EF4-FFF2-40B4-BE49-F238E27FC236}">
                <a16:creationId xmlns:a16="http://schemas.microsoft.com/office/drawing/2014/main" id="{15F358B1-FC4A-244D-AA90-5BBAAA1F7F68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6789656" y="2107248"/>
            <a:ext cx="5241707" cy="4577757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</p:spTree>
    <p:extLst>
      <p:ext uri="{BB962C8B-B14F-4D97-AF65-F5344CB8AC3E}">
        <p14:creationId xmlns:p14="http://schemas.microsoft.com/office/powerpoint/2010/main" val="3269594207"/>
      </p:ext>
    </p:extLst>
  </p:cSld>
  <p:clrMapOvr>
    <a:masterClrMapping/>
  </p:clrMapOvr>
</p:sld>
</file>

<file path=ppt/slides/slide4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8D48E8B3-406C-794A-B1EF-BCB803974BCE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What is P-Hacking?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F9B6F98D-1784-EC4E-A263-DBC24CE4E93A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1451579" y="1853754"/>
            <a:ext cx="9603275" cy="4287273"/>
          </a:xfrm>
        </p:spPr>
        <p:txBody>
          <a:bodyPr>
            <a:normAutofit/>
          </a:bodyPr>
          <a:lstStyle/>
          <a:p>
            <a:r>
              <a:rPr lang="en-US" dirty="0"/>
              <a:t>Generally, we (the royal one) are looking to demonstrate significance:</a:t>
            </a:r>
          </a:p>
          <a:p>
            <a:pPr lvl="1"/>
            <a:r>
              <a:rPr lang="en-US" dirty="0"/>
              <a:t>This drug works – the people who took it live longer.</a:t>
            </a:r>
          </a:p>
          <a:p>
            <a:pPr lvl="1"/>
            <a:r>
              <a:rPr lang="en-US" dirty="0"/>
              <a:t>This thing I noticed in my thesis is real – some effect is due to a real thing, not randomness.</a:t>
            </a:r>
          </a:p>
          <a:p>
            <a:pPr lvl="1"/>
            <a:r>
              <a:rPr lang="en-US" dirty="0"/>
              <a:t>This difference matters – group A really is different from group B. </a:t>
            </a:r>
          </a:p>
          <a:p>
            <a:r>
              <a:rPr lang="en-US" dirty="0"/>
              <a:t>95% confidence is only 19 times out of 20. </a:t>
            </a:r>
          </a:p>
          <a:p>
            <a:r>
              <a:rPr lang="en-US" dirty="0"/>
              <a:t>If we just want to show something is significant:</a:t>
            </a:r>
          </a:p>
          <a:p>
            <a:pPr lvl="1"/>
            <a:r>
              <a:rPr lang="en-US" dirty="0"/>
              <a:t>Manipulate variables</a:t>
            </a:r>
          </a:p>
          <a:p>
            <a:pPr lvl="1"/>
            <a:r>
              <a:rPr lang="en-US" dirty="0"/>
              <a:t>Repeat testing with different details</a:t>
            </a:r>
          </a:p>
          <a:p>
            <a:pPr lvl="1"/>
            <a:r>
              <a:rPr lang="en-US" dirty="0"/>
              <a:t>Find a small p</a:t>
            </a:r>
          </a:p>
          <a:p>
            <a:pPr lvl="1"/>
            <a:r>
              <a:rPr lang="en-US" dirty="0"/>
              <a:t>Publish!!!!!!!</a:t>
            </a:r>
          </a:p>
        </p:txBody>
      </p:sp>
    </p:spTree>
    <p:extLst>
      <p:ext uri="{BB962C8B-B14F-4D97-AF65-F5344CB8AC3E}">
        <p14:creationId xmlns:p14="http://schemas.microsoft.com/office/powerpoint/2010/main" val="2930291580"/>
      </p:ext>
    </p:extLst>
  </p:cSld>
  <p:clrMapOvr>
    <a:masterClrMapping/>
  </p:clrMapOvr>
</p:sld>
</file>

<file path=ppt/slides/slide4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gradFill rotWithShape="1">
          <a:gsLst>
            <a:gs pos="0">
              <a:schemeClr val="bg2">
                <a:tint val="94000"/>
                <a:satMod val="80000"/>
                <a:lumMod val="106000"/>
              </a:schemeClr>
            </a:gs>
            <a:gs pos="100000">
              <a:schemeClr val="bg2">
                <a:shade val="80000"/>
              </a:schemeClr>
            </a:gs>
          </a:gsLst>
          <a:path path="circle">
            <a:fillToRect l="43000" r="43000" b="100000"/>
          </a:path>
        </a:gra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722F0982-DE8D-644B-8D71-399253321296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451579" y="804519"/>
            <a:ext cx="9603275" cy="1049235"/>
          </a:xfrm>
        </p:spPr>
        <p:txBody>
          <a:bodyPr>
            <a:normAutofit/>
          </a:bodyPr>
          <a:lstStyle/>
          <a:p>
            <a:r>
              <a:rPr lang="en-US" dirty="0"/>
              <a:t>Data Dredging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81BAD69F-CDE9-8746-8218-37FB9AD709BD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723662" y="1931651"/>
            <a:ext cx="6024381" cy="4037747"/>
          </a:xfrm>
        </p:spPr>
        <p:txBody>
          <a:bodyPr>
            <a:normAutofit/>
          </a:bodyPr>
          <a:lstStyle/>
          <a:p>
            <a:r>
              <a:rPr lang="en-US" sz="2400" dirty="0"/>
              <a:t>P Hacking is one example of Data Dredging:</a:t>
            </a:r>
          </a:p>
          <a:p>
            <a:pPr lvl="1"/>
            <a:r>
              <a:rPr lang="en-US" sz="2000" dirty="0"/>
              <a:t>Manipulating analysis to find justification for a predetermined result. </a:t>
            </a:r>
          </a:p>
          <a:p>
            <a:r>
              <a:rPr lang="en-US" sz="2400" dirty="0"/>
              <a:t>E.g. if I want to show correlation, predictive value, or similar for an example, I can:</a:t>
            </a:r>
          </a:p>
          <a:p>
            <a:pPr lvl="1"/>
            <a:r>
              <a:rPr lang="en-US" sz="2000" dirty="0"/>
              <a:t>Remove (or add) data arbitrarily to change results. </a:t>
            </a:r>
          </a:p>
          <a:p>
            <a:pPr lvl="1"/>
            <a:r>
              <a:rPr lang="en-US" sz="2000" dirty="0"/>
              <a:t>Transform data in some way.</a:t>
            </a:r>
          </a:p>
          <a:p>
            <a:pPr lvl="1"/>
            <a:r>
              <a:rPr lang="en-US" sz="2000" dirty="0"/>
              <a:t>Run a test, then change things to get what I want. </a:t>
            </a:r>
          </a:p>
        </p:txBody>
      </p:sp>
      <p:pic>
        <p:nvPicPr>
          <p:cNvPr id="3074" name="Picture 2" descr="Lies, Damn Lies, and Statistics: How the COVID-19 Crisis Highlights Our  Misuse of Data | Foley Hoag LLP - Environmental Law - JDSupra">
            <a:extLst>
              <a:ext uri="{FF2B5EF4-FFF2-40B4-BE49-F238E27FC236}">
                <a16:creationId xmlns:a16="http://schemas.microsoft.com/office/drawing/2014/main" id="{22FBCF00-8A1B-034C-BF4C-A4471315BE83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 bwMode="auto">
          <a:xfrm>
            <a:off x="6696227" y="1931651"/>
            <a:ext cx="5495774" cy="412183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</p:spTree>
    <p:extLst>
      <p:ext uri="{BB962C8B-B14F-4D97-AF65-F5344CB8AC3E}">
        <p14:creationId xmlns:p14="http://schemas.microsoft.com/office/powerpoint/2010/main" val="2893789664"/>
      </p:ext>
    </p:extLst>
  </p:cSld>
  <p:clrMapOvr>
    <a:masterClrMapping/>
  </p:clrMapOvr>
</p:sld>
</file>

<file path=ppt/slides/slide4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BE41156D-A56A-0842-B741-09E6D744E59F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Don’t be a P Hacker (Unless Maybe if grant Funding Depends on it)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09C2E57C-E69A-784E-B887-A6B8D10B924B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1451579" y="2015732"/>
            <a:ext cx="9603275" cy="4037749"/>
          </a:xfrm>
        </p:spPr>
        <p:txBody>
          <a:bodyPr/>
          <a:lstStyle/>
          <a:p>
            <a:r>
              <a:rPr lang="en-US" dirty="0"/>
              <a:t>Share process, not just results. </a:t>
            </a:r>
          </a:p>
          <a:p>
            <a:r>
              <a:rPr lang="en-US" dirty="0"/>
              <a:t>Look for multiple metrics of significance that agree with each other. </a:t>
            </a:r>
          </a:p>
          <a:p>
            <a:r>
              <a:rPr lang="en-US" dirty="0"/>
              <a:t>Just “don’t” – avoid searching for ways to force data to show what you want. </a:t>
            </a:r>
          </a:p>
          <a:p>
            <a:pPr lvl="1"/>
            <a:r>
              <a:rPr lang="en-US" dirty="0"/>
              <a:t>P hacking usually involves extra work – changing test statistics, filtering data, </a:t>
            </a:r>
            <a:r>
              <a:rPr lang="en-US" dirty="0" err="1"/>
              <a:t>etc</a:t>
            </a:r>
            <a:r>
              <a:rPr lang="en-US" dirty="0"/>
              <a:t>…</a:t>
            </a:r>
          </a:p>
          <a:p>
            <a:pPr lvl="1"/>
            <a:r>
              <a:rPr lang="en-US" dirty="0"/>
              <a:t>If an experiment is well designed, we live with the results. </a:t>
            </a:r>
          </a:p>
          <a:p>
            <a:r>
              <a:rPr lang="en-US" dirty="0"/>
              <a:t>This is a malicious application of stats – we should be offended!!!!!</a:t>
            </a:r>
          </a:p>
          <a:p>
            <a:pPr lvl="1"/>
            <a:r>
              <a:rPr lang="en-US" dirty="0"/>
              <a:t>Biologists, doctors, </a:t>
            </a:r>
            <a:r>
              <a:rPr lang="en-US" dirty="0" err="1"/>
              <a:t>etc</a:t>
            </a:r>
            <a:r>
              <a:rPr lang="en-US" dirty="0"/>
              <a:t>… misuse our precious math to make their crap sciences look legit. </a:t>
            </a:r>
          </a:p>
          <a:p>
            <a:r>
              <a:rPr lang="en-US" dirty="0"/>
              <a:t>If you need to show your research shows significance, then hack away at your p. </a:t>
            </a:r>
          </a:p>
        </p:txBody>
      </p:sp>
    </p:spTree>
    <p:extLst>
      <p:ext uri="{BB962C8B-B14F-4D97-AF65-F5344CB8AC3E}">
        <p14:creationId xmlns:p14="http://schemas.microsoft.com/office/powerpoint/2010/main" val="1179250358"/>
      </p:ext>
    </p:extLst>
  </p:cSld>
  <p:clrMapOvr>
    <a:masterClrMapping/>
  </p:clrMapOvr>
</p:sld>
</file>

<file path=ppt/slides/slide4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0335BE2D-F548-0127-319A-2B53F05C6ED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Hypothesis tests and you!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36EABB56-8944-BD49-D204-10BA7A987AED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1451579" y="1853755"/>
            <a:ext cx="9603275" cy="4199726"/>
          </a:xfrm>
        </p:spPr>
        <p:txBody>
          <a:bodyPr/>
          <a:lstStyle/>
          <a:p>
            <a:r>
              <a:rPr lang="en-US" dirty="0"/>
              <a:t>These hypothesis tests are specific parametric applications of our simulation loops. </a:t>
            </a:r>
          </a:p>
          <a:p>
            <a:pPr lvl="1"/>
            <a:r>
              <a:rPr lang="en-US" dirty="0"/>
              <a:t>Each hypothesis tests says, “out of N trials how many…”</a:t>
            </a:r>
          </a:p>
          <a:p>
            <a:pPr lvl="1"/>
            <a:r>
              <a:rPr lang="en-US" dirty="0"/>
              <a:t>E.g. out of 100 times, how many will randomly show a difference in life exp. </a:t>
            </a:r>
          </a:p>
          <a:p>
            <a:pPr lvl="1"/>
            <a:r>
              <a:rPr lang="en-US" dirty="0"/>
              <a:t>Or, what is the probability of this difference being due to random selection. </a:t>
            </a:r>
          </a:p>
          <a:p>
            <a:r>
              <a:rPr lang="en-US" dirty="0"/>
              <a:t>If we can create some function for one trial/round we can run this directly.  </a:t>
            </a:r>
          </a:p>
          <a:p>
            <a:pPr lvl="1"/>
            <a:r>
              <a:rPr lang="en-US" dirty="0"/>
              <a:t>Analytical distribution, probability function, </a:t>
            </a:r>
            <a:r>
              <a:rPr lang="en-US" dirty="0" err="1"/>
              <a:t>etc</a:t>
            </a:r>
            <a:r>
              <a:rPr lang="en-US" dirty="0"/>
              <a:t>…</a:t>
            </a:r>
          </a:p>
          <a:p>
            <a:pPr lvl="1"/>
            <a:r>
              <a:rPr lang="en-US" dirty="0"/>
              <a:t>Hypothesis tests rely on assumptions since they didn’t have computers. </a:t>
            </a:r>
          </a:p>
          <a:p>
            <a:r>
              <a:rPr lang="en-US" dirty="0"/>
              <a:t>Our loops are flexible, we can do hypothesis tests and more. </a:t>
            </a:r>
          </a:p>
          <a:p>
            <a:pPr lvl="1"/>
            <a:r>
              <a:rPr lang="en-US" dirty="0"/>
              <a:t>This is actually very cool and big, we can do much of inferential stats with these two things. </a:t>
            </a:r>
          </a:p>
        </p:txBody>
      </p:sp>
    </p:spTree>
    <p:extLst>
      <p:ext uri="{BB962C8B-B14F-4D97-AF65-F5344CB8AC3E}">
        <p14:creationId xmlns:p14="http://schemas.microsoft.com/office/powerpoint/2010/main" val="3089929506"/>
      </p:ext>
    </p:extLst>
  </p:cSld>
  <p:clrMapOvr>
    <a:masterClrMapping/>
  </p:clrMapOvr>
</p:sld>
</file>

<file path=ppt/theme/theme1.xml><?xml version="1.0" encoding="utf-8"?>
<a:theme xmlns:a="http://schemas.openxmlformats.org/drawingml/2006/main" name="Gallery">
  <a:themeElements>
    <a:clrScheme name="Gallery">
      <a:dk1>
        <a:sysClr val="windowText" lastClr="000000"/>
      </a:dk1>
      <a:lt1>
        <a:sysClr val="window" lastClr="FFFFFF"/>
      </a:lt1>
      <a:dk2>
        <a:srgbClr val="454545"/>
      </a:dk2>
      <a:lt2>
        <a:srgbClr val="DFDBD5"/>
      </a:lt2>
      <a:accent1>
        <a:srgbClr val="B71E42"/>
      </a:accent1>
      <a:accent2>
        <a:srgbClr val="DE478E"/>
      </a:accent2>
      <a:accent3>
        <a:srgbClr val="BC72F0"/>
      </a:accent3>
      <a:accent4>
        <a:srgbClr val="795FAF"/>
      </a:accent4>
      <a:accent5>
        <a:srgbClr val="586EA6"/>
      </a:accent5>
      <a:accent6>
        <a:srgbClr val="6892A0"/>
      </a:accent6>
      <a:hlink>
        <a:srgbClr val="FA2B5C"/>
      </a:hlink>
      <a:folHlink>
        <a:srgbClr val="BC658E"/>
      </a:folHlink>
    </a:clrScheme>
    <a:fontScheme name="Gallery">
      <a:majorFont>
        <a:latin typeface="Gill Sans MT" panose="020B0502020104020203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Gill Sans MT" panose="020B0502020104020203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Gallery">
      <a:fillStyleLst>
        <a:solidFill>
          <a:schemeClr val="phClr"/>
        </a:solidFill>
        <a:gradFill rotWithShape="1">
          <a:gsLst>
            <a:gs pos="0">
              <a:schemeClr val="phClr">
                <a:tint val="54000"/>
                <a:alpha val="100000"/>
                <a:satMod val="105000"/>
                <a:lumMod val="110000"/>
              </a:schemeClr>
            </a:gs>
            <a:gs pos="100000">
              <a:schemeClr val="phClr">
                <a:tint val="78000"/>
                <a:alpha val="92000"/>
                <a:satMod val="109000"/>
                <a:lumMod val="100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tint val="98000"/>
                <a:satMod val="110000"/>
                <a:lumMod val="104000"/>
              </a:schemeClr>
            </a:gs>
            <a:gs pos="69000">
              <a:schemeClr val="phClr">
                <a:shade val="88000"/>
                <a:satMod val="130000"/>
                <a:lumMod val="92000"/>
              </a:schemeClr>
            </a:gs>
            <a:gs pos="100000">
              <a:schemeClr val="phClr">
                <a:shade val="78000"/>
                <a:satMod val="130000"/>
                <a:lumMod val="92000"/>
              </a:schemeClr>
            </a:gs>
          </a:gsLst>
          <a:lin ang="5400000" scaled="0"/>
        </a:gradFill>
      </a:fillStyleLst>
      <a:lnStyleLst>
        <a:ln w="9525" cap="flat" cmpd="sng" algn="ctr">
          <a:solidFill>
            <a:schemeClr val="phClr"/>
          </a:solidFill>
          <a:prstDash val="solid"/>
        </a:ln>
        <a:ln w="15875" cap="flat" cmpd="sng" algn="ctr">
          <a:solidFill>
            <a:schemeClr val="phClr"/>
          </a:solidFill>
          <a:prstDash val="solid"/>
        </a:ln>
        <a:ln w="22225" cap="flat" cmpd="sng" algn="ctr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0800" dist="50800" dir="5400000" sx="96000" sy="96000" rotWithShape="0">
              <a:srgbClr val="000000">
                <a:alpha val="48000"/>
              </a:srgbClr>
            </a:outerShdw>
          </a:effectLst>
          <a:scene3d>
            <a:camera prst="orthographicFront">
              <a:rot lat="0" lon="0" rev="0"/>
            </a:camera>
            <a:lightRig rig="balanced" dir="t">
              <a:rot lat="0" lon="0" rev="1080000"/>
            </a:lightRig>
          </a:scene3d>
          <a:sp3d>
            <a:bevelT w="38100" h="12700" prst="softRound"/>
          </a:sp3d>
        </a:effectStyle>
      </a:effectStyleLst>
      <a:bgFillStyleLst>
        <a:solidFill>
          <a:schemeClr val="phClr"/>
        </a:solidFill>
        <a:solidFill>
          <a:schemeClr val="phClr"/>
        </a:solidFill>
        <a:gradFill rotWithShape="1">
          <a:gsLst>
            <a:gs pos="0">
              <a:schemeClr val="phClr">
                <a:tint val="94000"/>
                <a:satMod val="80000"/>
                <a:lumMod val="106000"/>
              </a:schemeClr>
            </a:gs>
            <a:gs pos="100000">
              <a:schemeClr val="phClr">
                <a:shade val="8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Gallery" id="{BBFCD31E-59A1-489D-B089-A3EAD7CAE12E}" vid="{F5E91637-A7B6-4E27-B710-77DA7014EE1E}"/>
    </a:ext>
  </a:extLst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emplate>{2C098A6B-0D6A-6740-AB07-6AAE29A34FE3}tf10001119</Template>
  <TotalTime>8111</TotalTime>
  <Words>3706</Words>
  <Application>Microsoft Macintosh PowerPoint</Application>
  <PresentationFormat>Widescreen</PresentationFormat>
  <Paragraphs>335</Paragraphs>
  <Slides>47</Slides>
  <Notes>1</Notes>
  <HiddenSlides>6</HiddenSlides>
  <MMClips>0</MMClips>
  <ScaleCrop>false</ScaleCrop>
  <HeadingPairs>
    <vt:vector size="6" baseType="variant">
      <vt:variant>
        <vt:lpstr>Fonts Used</vt:lpstr>
      </vt:variant>
      <vt:variant>
        <vt:i4>3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47</vt:i4>
      </vt:variant>
    </vt:vector>
  </HeadingPairs>
  <TitlesOfParts>
    <vt:vector size="51" baseType="lpstr">
      <vt:lpstr>Arial</vt:lpstr>
      <vt:lpstr>Calibri</vt:lpstr>
      <vt:lpstr>Gill Sans MT</vt:lpstr>
      <vt:lpstr>Gallery</vt:lpstr>
      <vt:lpstr>Housekeeping:</vt:lpstr>
      <vt:lpstr>Some Stuff</vt:lpstr>
      <vt:lpstr>Hypothesis Testing</vt:lpstr>
      <vt:lpstr>Hypothesis Test</vt:lpstr>
      <vt:lpstr>Recall - Estimation</vt:lpstr>
      <vt:lpstr>Recall - Estimation</vt:lpstr>
      <vt:lpstr>Making Predictions</vt:lpstr>
      <vt:lpstr>Using Simulations</vt:lpstr>
      <vt:lpstr>Effects Flashback – Cohen’s Effect Size</vt:lpstr>
      <vt:lpstr>Inferencing Effects</vt:lpstr>
      <vt:lpstr>What’s a Hypothesis Test?</vt:lpstr>
      <vt:lpstr>Don’t Get too Confident</vt:lpstr>
      <vt:lpstr>Hypothesis Testing From Scratch</vt:lpstr>
      <vt:lpstr>Realistic Example</vt:lpstr>
      <vt:lpstr>Build a Hypothesis</vt:lpstr>
      <vt:lpstr>Ok, so… Do it!</vt:lpstr>
      <vt:lpstr>Specific Implementations</vt:lpstr>
      <vt:lpstr>It’s Science!!</vt:lpstr>
      <vt:lpstr>The Results - Significance</vt:lpstr>
      <vt:lpstr>Classes and Objects</vt:lpstr>
      <vt:lpstr>Custom Objects (classes)</vt:lpstr>
      <vt:lpstr>Inheritance</vt:lpstr>
      <vt:lpstr>Simple example</vt:lpstr>
      <vt:lpstr>In the Book</vt:lpstr>
      <vt:lpstr>Using the Classes</vt:lpstr>
      <vt:lpstr>Hypothesis Testing throwback</vt:lpstr>
      <vt:lpstr>Workin’ on the ‘P’</vt:lpstr>
      <vt:lpstr>Hypothesis Tests </vt:lpstr>
      <vt:lpstr>What’s a Hypothesis Test?</vt:lpstr>
      <vt:lpstr>Flashback – Cohen’s Effect Size</vt:lpstr>
      <vt:lpstr>Hypothesis Test process</vt:lpstr>
      <vt:lpstr>PowerPoint Presentation</vt:lpstr>
      <vt:lpstr>PowerPoint Presentation</vt:lpstr>
      <vt:lpstr>T-Tests</vt:lpstr>
      <vt:lpstr>PowerPoint Presentation</vt:lpstr>
      <vt:lpstr>Z-tests</vt:lpstr>
      <vt:lpstr>PowerPoint Presentation</vt:lpstr>
      <vt:lpstr>PowerPoint Presentation</vt:lpstr>
      <vt:lpstr>Calculating the tests</vt:lpstr>
      <vt:lpstr>Test Assumptions – Parametric TEst</vt:lpstr>
      <vt:lpstr>Other Tests</vt:lpstr>
      <vt:lpstr>Demise of Hypothesis Testing</vt:lpstr>
      <vt:lpstr>P Hacking</vt:lpstr>
      <vt:lpstr>What is P-Hacking?</vt:lpstr>
      <vt:lpstr>Data Dredging</vt:lpstr>
      <vt:lpstr>Don’t be a P Hacker (Unless Maybe if grant Funding Depends on it)</vt:lpstr>
      <vt:lpstr>Hypothesis tests and you!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Hypothesis Testing</dc:title>
  <dc:creator>Akeem Semper</dc:creator>
  <cp:lastModifiedBy>Akeem Semper</cp:lastModifiedBy>
  <cp:revision>45</cp:revision>
  <dcterms:created xsi:type="dcterms:W3CDTF">2021-10-29T15:13:27Z</dcterms:created>
  <dcterms:modified xsi:type="dcterms:W3CDTF">2025-10-20T17:48:53Z</dcterms:modified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MSIP_Label_10877899-02b0-462c-b2a9-b7d15c4f96fe_Enabled">
    <vt:lpwstr>true</vt:lpwstr>
  </property>
  <property fmtid="{D5CDD505-2E9C-101B-9397-08002B2CF9AE}" pid="3" name="MSIP_Label_10877899-02b0-462c-b2a9-b7d15c4f96fe_SetDate">
    <vt:lpwstr>2025-10-19T16:09:35Z</vt:lpwstr>
  </property>
  <property fmtid="{D5CDD505-2E9C-101B-9397-08002B2CF9AE}" pid="4" name="MSIP_Label_10877899-02b0-462c-b2a9-b7d15c4f96fe_Method">
    <vt:lpwstr>Standard</vt:lpwstr>
  </property>
  <property fmtid="{D5CDD505-2E9C-101B-9397-08002B2CF9AE}" pid="5" name="MSIP_Label_10877899-02b0-462c-b2a9-b7d15c4f96fe_Name">
    <vt:lpwstr>Protected [Protected A]</vt:lpwstr>
  </property>
  <property fmtid="{D5CDD505-2E9C-101B-9397-08002B2CF9AE}" pid="6" name="MSIP_Label_10877899-02b0-462c-b2a9-b7d15c4f96fe_SiteId">
    <vt:lpwstr>5c98fb47-d3b9-4649-9d94-f88cbdd9729c</vt:lpwstr>
  </property>
  <property fmtid="{D5CDD505-2E9C-101B-9397-08002B2CF9AE}" pid="7" name="MSIP_Label_10877899-02b0-462c-b2a9-b7d15c4f96fe_ActionId">
    <vt:lpwstr>e0782931-1af2-47c5-91b0-fc3d944999fe</vt:lpwstr>
  </property>
  <property fmtid="{D5CDD505-2E9C-101B-9397-08002B2CF9AE}" pid="8" name="MSIP_Label_10877899-02b0-462c-b2a9-b7d15c4f96fe_ContentBits">
    <vt:lpwstr>0</vt:lpwstr>
  </property>
  <property fmtid="{D5CDD505-2E9C-101B-9397-08002B2CF9AE}" pid="9" name="MSIP_Label_10877899-02b0-462c-b2a9-b7d15c4f96fe_Tag">
    <vt:lpwstr>50, 3, 0, 1</vt:lpwstr>
  </property>
</Properties>
</file>
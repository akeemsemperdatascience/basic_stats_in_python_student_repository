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53"/>
  </p:notesMasterIdLst>
  <p:sldIdLst>
    <p:sldId id="303" r:id="rId2"/>
    <p:sldId id="305" r:id="rId3"/>
    <p:sldId id="304" r:id="rId4"/>
    <p:sldId id="306" r:id="rId5"/>
    <p:sldId id="307" r:id="rId6"/>
    <p:sldId id="308" r:id="rId7"/>
    <p:sldId id="309" r:id="rId8"/>
    <p:sldId id="274" r:id="rId9"/>
    <p:sldId id="295" r:id="rId10"/>
    <p:sldId id="256" r:id="rId11"/>
    <p:sldId id="280" r:id="rId12"/>
    <p:sldId id="298" r:id="rId13"/>
    <p:sldId id="299" r:id="rId14"/>
    <p:sldId id="300" r:id="rId15"/>
    <p:sldId id="301" r:id="rId16"/>
    <p:sldId id="286" r:id="rId17"/>
    <p:sldId id="287" r:id="rId18"/>
    <p:sldId id="297" r:id="rId19"/>
    <p:sldId id="288" r:id="rId20"/>
    <p:sldId id="281" r:id="rId21"/>
    <p:sldId id="282" r:id="rId22"/>
    <p:sldId id="283" r:id="rId23"/>
    <p:sldId id="284" r:id="rId24"/>
    <p:sldId id="302" r:id="rId25"/>
    <p:sldId id="257" r:id="rId26"/>
    <p:sldId id="296" r:id="rId27"/>
    <p:sldId id="285" r:id="rId28"/>
    <p:sldId id="275" r:id="rId29"/>
    <p:sldId id="264" r:id="rId30"/>
    <p:sldId id="279" r:id="rId31"/>
    <p:sldId id="262" r:id="rId32"/>
    <p:sldId id="270" r:id="rId33"/>
    <p:sldId id="272" r:id="rId34"/>
    <p:sldId id="268" r:id="rId35"/>
    <p:sldId id="263" r:id="rId36"/>
    <p:sldId id="269" r:id="rId37"/>
    <p:sldId id="265" r:id="rId38"/>
    <p:sldId id="271" r:id="rId39"/>
    <p:sldId id="278" r:id="rId40"/>
    <p:sldId id="277" r:id="rId41"/>
    <p:sldId id="266" r:id="rId42"/>
    <p:sldId id="267" r:id="rId43"/>
    <p:sldId id="273" r:id="rId44"/>
    <p:sldId id="258" r:id="rId45"/>
    <p:sldId id="259" r:id="rId46"/>
    <p:sldId id="260" r:id="rId47"/>
    <p:sldId id="261" r:id="rId48"/>
    <p:sldId id="312" r:id="rId49"/>
    <p:sldId id="310" r:id="rId50"/>
    <p:sldId id="276" r:id="rId51"/>
    <p:sldId id="311" r:id="rId5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563C269-5786-C244-B0B8-ECA227A0178C}">
          <p14:sldIdLst>
            <p14:sldId id="303"/>
            <p14:sldId id="305"/>
            <p14:sldId id="304"/>
            <p14:sldId id="306"/>
            <p14:sldId id="307"/>
            <p14:sldId id="308"/>
            <p14:sldId id="309"/>
            <p14:sldId id="274"/>
            <p14:sldId id="295"/>
            <p14:sldId id="256"/>
            <p14:sldId id="280"/>
          </p14:sldIdLst>
        </p14:section>
        <p14:section name="Recap - estimation" id="{D1136178-9B7A-8C41-BBDD-DEA1FA7E5CD0}">
          <p14:sldIdLst>
            <p14:sldId id="298"/>
            <p14:sldId id="299"/>
            <p14:sldId id="300"/>
            <p14:sldId id="301"/>
          </p14:sldIdLst>
        </p14:section>
        <p14:section name="Effect and intro" id="{4652116E-77C5-3D45-B6A2-2DDC6D3F1749}">
          <p14:sldIdLst>
            <p14:sldId id="286"/>
            <p14:sldId id="287"/>
            <p14:sldId id="297"/>
            <p14:sldId id="288"/>
          </p14:sldIdLst>
        </p14:section>
        <p14:section name="from scratch" id="{1C52BECE-D636-1E44-A3D1-AE1E1C24ADAC}">
          <p14:sldIdLst>
            <p14:sldId id="281"/>
            <p14:sldId id="282"/>
            <p14:sldId id="283"/>
            <p14:sldId id="284"/>
            <p14:sldId id="302"/>
            <p14:sldId id="257"/>
            <p14:sldId id="296"/>
          </p14:sldIdLst>
        </p14:section>
        <p14:section name="Classes" id="{141EB2E9-FC80-D441-9AE9-8E444C99A653}">
          <p14:sldIdLst/>
        </p14:section>
        <p14:section name="Old hyp tests" id="{587513C8-59F6-DC46-BC83-B980CDCEFA5E}">
          <p14:sldIdLst>
            <p14:sldId id="285"/>
            <p14:sldId id="275"/>
          </p14:sldIdLst>
        </p14:section>
        <p14:section name="math tests" id="{032D7B8D-A861-364B-9C61-C0D56F4E9F7A}">
          <p14:sldIdLst>
            <p14:sldId id="264"/>
            <p14:sldId id="279"/>
            <p14:sldId id="262"/>
            <p14:sldId id="270"/>
            <p14:sldId id="272"/>
            <p14:sldId id="268"/>
            <p14:sldId id="263"/>
            <p14:sldId id="269"/>
            <p14:sldId id="265"/>
            <p14:sldId id="271"/>
            <p14:sldId id="278"/>
            <p14:sldId id="277"/>
            <p14:sldId id="266"/>
          </p14:sldIdLst>
        </p14:section>
        <p14:section name="phacking" id="{E3EFF888-5E9A-6D48-81BC-09DD3E25EAEA}">
          <p14:sldIdLst>
            <p14:sldId id="267"/>
            <p14:sldId id="273"/>
            <p14:sldId id="258"/>
            <p14:sldId id="259"/>
            <p14:sldId id="260"/>
            <p14:sldId id="261"/>
            <p14:sldId id="312"/>
            <p14:sldId id="310"/>
          </p14:sldIdLst>
        </p14:section>
        <p14:section name="Conclusion" id="{5A1FA9C0-297A-1B49-BCB2-0547A886D778}">
          <p14:sldIdLst>
            <p14:sldId id="276"/>
            <p14:sldId id="31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EF1630-F646-BD47-BD88-24ECCB7B45E8}" v="2" dt="2021-10-29T15:41:36.6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7837"/>
    <p:restoredTop sz="94772"/>
  </p:normalViewPr>
  <p:slideViewPr>
    <p:cSldViewPr snapToGrid="0" snapToObjects="1">
      <p:cViewPr varScale="1">
        <p:scale>
          <a:sx n="132" d="100"/>
          <a:sy n="132" d="100"/>
        </p:scale>
        <p:origin x="192" y="5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8" Type="http://schemas.microsoft.com/office/2015/10/relationships/revisionInfo" Target="revisionInfo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CDC526-F730-724D-AA0D-326EFC56D561}" type="datetimeFigureOut">
              <a:rPr lang="en-US" smtClean="0"/>
              <a:t>10/20/25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6F3295-E463-C64D-A388-E45D36324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2943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fivethirtyeight.com</a:t>
            </a:r>
            <a:r>
              <a:rPr lang="en-US" dirty="0"/>
              <a:t>/features/science-</a:t>
            </a:r>
            <a:r>
              <a:rPr lang="en-US" dirty="0" err="1"/>
              <a:t>isnt</a:t>
            </a:r>
            <a:r>
              <a:rPr lang="en-US" dirty="0"/>
              <a:t>-broken/#part1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6F3295-E463-C64D-A388-E45D36324975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6614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8FCA8-E96D-1F41-985D-25A168D67D2E}" type="datetimeFigureOut">
              <a:rPr lang="en-US" smtClean="0"/>
              <a:t>10/20/25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A14BBD27-E19D-7342-BD66-40829D856D7D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4315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8FCA8-E96D-1F41-985D-25A168D67D2E}" type="datetimeFigureOut">
              <a:rPr lang="en-US" smtClean="0"/>
              <a:t>10/20/25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BBD27-E19D-7342-BD66-40829D856D7D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20477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8FCA8-E96D-1F41-985D-25A168D67D2E}" type="datetimeFigureOut">
              <a:rPr lang="en-US" smtClean="0"/>
              <a:t>10/20/25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BBD27-E19D-7342-BD66-40829D856D7D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1954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8FCA8-E96D-1F41-985D-25A168D67D2E}" type="datetimeFigureOut">
              <a:rPr lang="en-US" smtClean="0"/>
              <a:t>10/20/25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BBD27-E19D-7342-BD66-40829D856D7D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88511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8FCA8-E96D-1F41-985D-25A168D67D2E}" type="datetimeFigureOut">
              <a:rPr lang="en-US" smtClean="0"/>
              <a:t>10/20/25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BBD27-E19D-7342-BD66-40829D856D7D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06176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8FCA8-E96D-1F41-985D-25A168D67D2E}" type="datetimeFigureOut">
              <a:rPr lang="en-US" smtClean="0"/>
              <a:t>10/20/25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BBD27-E19D-7342-BD66-40829D856D7D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09603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8FCA8-E96D-1F41-985D-25A168D67D2E}" type="datetimeFigureOut">
              <a:rPr lang="en-US" smtClean="0"/>
              <a:t>10/20/25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BBD27-E19D-7342-BD66-40829D856D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5047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8FCA8-E96D-1F41-985D-25A168D67D2E}" type="datetimeFigureOut">
              <a:rPr lang="en-US" smtClean="0"/>
              <a:t>10/20/25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BBD27-E19D-7342-BD66-40829D856D7D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3528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B2D8FCA8-E96D-1F41-985D-25A168D67D2E}" type="datetimeFigureOut">
              <a:rPr lang="en-US" smtClean="0"/>
              <a:t>10/20/25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BBD27-E19D-7342-BD66-40829D856D7D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85580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8FCA8-E96D-1F41-985D-25A168D67D2E}" type="datetimeFigureOut">
              <a:rPr lang="en-US" smtClean="0"/>
              <a:t>10/20/25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BBD27-E19D-7342-BD66-40829D856D7D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85940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8FCA8-E96D-1F41-985D-25A168D67D2E}" type="datetimeFigureOut">
              <a:rPr lang="en-US" smtClean="0"/>
              <a:t>10/20/25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BBD27-E19D-7342-BD66-40829D856D7D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8038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D8FCA8-E96D-1F41-985D-25A168D67D2E}" type="datetimeFigureOut">
              <a:rPr lang="en-US" smtClean="0"/>
              <a:t>10/20/25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A14BBD27-E19D-7342-BD66-40829D856D7D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50346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if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iff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5BE75-F97C-03CC-FFF5-2800CF7C92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– Get </a:t>
            </a:r>
            <a:r>
              <a:rPr lang="en-US" dirty="0" err="1"/>
              <a:t>Hyp’d</a:t>
            </a:r>
            <a:r>
              <a:rPr lang="en-US" dirty="0"/>
              <a:t>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149904-630A-6BA8-8924-D7B2408AB4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199727"/>
          </a:xfrm>
        </p:spPr>
        <p:txBody>
          <a:bodyPr>
            <a:normAutofit/>
          </a:bodyPr>
          <a:lstStyle/>
          <a:p>
            <a:r>
              <a:rPr lang="en-US" dirty="0"/>
              <a:t>Last time we looked a bit at hypothesis tests. </a:t>
            </a:r>
          </a:p>
          <a:p>
            <a:pPr lvl="1"/>
            <a:r>
              <a:rPr lang="en-US" dirty="0"/>
              <a:t>Tests if effects seen in samples are ‘real’ – due to actual differences in population values. </a:t>
            </a:r>
          </a:p>
          <a:p>
            <a:r>
              <a:rPr lang="en-US" dirty="0"/>
              <a:t>We can construct a hypothesis test with some code:</a:t>
            </a:r>
          </a:p>
          <a:p>
            <a:pPr lvl="1"/>
            <a:r>
              <a:rPr lang="en-US" dirty="0"/>
              <a:t>Define test statistic – the effect we want to test. </a:t>
            </a:r>
          </a:p>
          <a:p>
            <a:pPr lvl="1"/>
            <a:r>
              <a:rPr lang="en-US" dirty="0"/>
              <a:t>Create null hypothesis – assertion negating what we have seen (e.g. samples from same pop). </a:t>
            </a:r>
          </a:p>
          <a:p>
            <a:pPr lvl="1"/>
            <a:r>
              <a:rPr lang="en-US" dirty="0"/>
              <a:t>Design a test – create a loop that runs a trial of the test stat ‘happening’. </a:t>
            </a:r>
          </a:p>
          <a:p>
            <a:pPr lvl="1"/>
            <a:r>
              <a:rPr lang="en-US" dirty="0"/>
              <a:t>Interpret – the number of times ‘it’ happens randomly is probability. </a:t>
            </a:r>
          </a:p>
          <a:p>
            <a:r>
              <a:rPr lang="en-US" dirty="0"/>
              <a:t>This process is generic as long as we can define:</a:t>
            </a:r>
          </a:p>
          <a:p>
            <a:pPr lvl="1"/>
            <a:r>
              <a:rPr lang="en-US" dirty="0"/>
              <a:t>Some test statistic that we are checking. </a:t>
            </a:r>
          </a:p>
          <a:p>
            <a:pPr lvl="1"/>
            <a:r>
              <a:rPr lang="en-US" dirty="0"/>
              <a:t>Some test that simulates likelihood. </a:t>
            </a:r>
          </a:p>
        </p:txBody>
      </p:sp>
    </p:spTree>
    <p:extLst>
      <p:ext uri="{BB962C8B-B14F-4D97-AF65-F5344CB8AC3E}">
        <p14:creationId xmlns:p14="http://schemas.microsoft.com/office/powerpoint/2010/main" val="22215036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D02C9-0C88-0BE4-1A88-940B67D11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Framework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5A1DC5-25F7-06F8-61A3-08440ACA80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199727"/>
          </a:xfrm>
        </p:spPr>
        <p:txBody>
          <a:bodyPr/>
          <a:lstStyle/>
          <a:p>
            <a:r>
              <a:rPr lang="en-US" dirty="0"/>
              <a:t>The structure of a hypothesis test is mostly the same each time. </a:t>
            </a:r>
          </a:p>
          <a:p>
            <a:pPr lvl="1"/>
            <a:r>
              <a:rPr lang="en-US" dirty="0"/>
              <a:t>We generally only need to change the test stat and the simulation process. </a:t>
            </a:r>
          </a:p>
          <a:p>
            <a:r>
              <a:rPr lang="en-US" dirty="0"/>
              <a:t>Test statistic – the effect that is observed in the sample. </a:t>
            </a:r>
          </a:p>
          <a:p>
            <a:pPr lvl="1"/>
            <a:r>
              <a:rPr lang="en-US" dirty="0"/>
              <a:t>We saw this happen; we want to check if there’s any change that randomness yielded it. </a:t>
            </a:r>
          </a:p>
          <a:p>
            <a:pPr lvl="1"/>
            <a:r>
              <a:rPr lang="en-US" dirty="0"/>
              <a:t>Usually something like a difference in means, but can be almost anything. </a:t>
            </a:r>
          </a:p>
          <a:p>
            <a:r>
              <a:rPr lang="en-US" dirty="0"/>
              <a:t>Simulation – we need to do many trial runs, to observe the results. </a:t>
            </a:r>
          </a:p>
          <a:p>
            <a:pPr lvl="1"/>
            <a:r>
              <a:rPr lang="en-US" dirty="0"/>
              <a:t>This will basically be a test of whatever check yielded the test statistic. </a:t>
            </a:r>
          </a:p>
          <a:p>
            <a:pPr lvl="1"/>
            <a:r>
              <a:rPr lang="en-US" dirty="0"/>
              <a:t>Permutation – for differences between group, reshuffle and see if effect happens. </a:t>
            </a:r>
          </a:p>
          <a:p>
            <a:pPr lvl="1"/>
            <a:r>
              <a:rPr lang="en-US" dirty="0"/>
              <a:t>For other things, we can just replace it – more later…. </a:t>
            </a:r>
          </a:p>
        </p:txBody>
      </p:sp>
    </p:spTree>
    <p:extLst>
      <p:ext uri="{BB962C8B-B14F-4D97-AF65-F5344CB8AC3E}">
        <p14:creationId xmlns:p14="http://schemas.microsoft.com/office/powerpoint/2010/main" val="40335478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CD1EA-1F2C-E1A3-5092-908F68CC6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usages for Hypothesis Tests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F1504D-31D2-9D31-C510-5A0B0FFE1D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199727"/>
          </a:xfrm>
        </p:spPr>
        <p:txBody>
          <a:bodyPr/>
          <a:lstStyle/>
          <a:p>
            <a:r>
              <a:rPr lang="en-US" dirty="0"/>
              <a:t>Is an improvement effect seen between two groups real or due to randomness. </a:t>
            </a:r>
          </a:p>
          <a:p>
            <a:pPr lvl="1"/>
            <a:r>
              <a:rPr lang="en-US" dirty="0"/>
              <a:t>E.g. treatment group lives longer in a drug trial, is that due to drug? </a:t>
            </a:r>
          </a:p>
          <a:p>
            <a:r>
              <a:rPr lang="en-US" dirty="0"/>
              <a:t>Do two samples differ in reality, or is it just due to sampling variation. </a:t>
            </a:r>
          </a:p>
          <a:p>
            <a:pPr lvl="1"/>
            <a:r>
              <a:rPr lang="en-US" dirty="0"/>
              <a:t>Checking BMI between 2 samples – are they different sizes, or just random? </a:t>
            </a:r>
          </a:p>
          <a:p>
            <a:r>
              <a:rPr lang="en-US" dirty="0"/>
              <a:t>Probabilistic outcomes. </a:t>
            </a:r>
          </a:p>
          <a:p>
            <a:pPr lvl="1"/>
            <a:r>
              <a:rPr lang="en-US" dirty="0"/>
              <a:t>We flipped a coin 100 times and got 60 heads, is that possible with a fair coin? </a:t>
            </a:r>
          </a:p>
          <a:p>
            <a:r>
              <a:rPr lang="en-US" dirty="0"/>
              <a:t>The test gives us an idea of how likely it is that these things happen random. </a:t>
            </a:r>
          </a:p>
          <a:p>
            <a:pPr lvl="1"/>
            <a:r>
              <a:rPr lang="en-US" dirty="0"/>
              <a:t>If it is very unlikely, we can call our result “statistically significant”. </a:t>
            </a:r>
          </a:p>
          <a:p>
            <a:pPr lvl="1"/>
            <a:r>
              <a:rPr lang="en-US" dirty="0"/>
              <a:t>E.g. Life expectancy increases by 7.8% with treatment, and that result is trustworthy.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38848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095F2-9DB1-52DE-7C5B-4CE15F40D8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Housekeeping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7197C-335A-ACAD-2CD4-FD1C4AA656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19972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Disclaimer – stuff on old housekeeping slides doesn’t apply. </a:t>
            </a:r>
          </a:p>
          <a:p>
            <a:pPr lvl="1"/>
            <a:r>
              <a:rPr lang="en-US" dirty="0"/>
              <a:t>Sometimes I save the new updates before updating. Pleases ignore the ones I don’t show. </a:t>
            </a:r>
          </a:p>
          <a:p>
            <a:r>
              <a:rPr lang="en-US" dirty="0"/>
              <a:t>Less stuff for you!</a:t>
            </a:r>
          </a:p>
          <a:p>
            <a:pPr lvl="1"/>
            <a:r>
              <a:rPr lang="en-US" dirty="0"/>
              <a:t>We’ll kill a quiz, not an assignment, that’s more sensible.</a:t>
            </a:r>
          </a:p>
          <a:p>
            <a:pPr lvl="1"/>
            <a:r>
              <a:rPr lang="en-US" dirty="0"/>
              <a:t>I need the day more than anything, we lose several to holidays.  </a:t>
            </a:r>
          </a:p>
          <a:p>
            <a:pPr lvl="1"/>
            <a:r>
              <a:rPr lang="en-US" dirty="0"/>
              <a:t>I believe the quiz marks are pretty good, so that helps you all. Tell me if you have an issue. </a:t>
            </a:r>
          </a:p>
          <a:p>
            <a:r>
              <a:rPr lang="en-US" dirty="0"/>
              <a:t>Moved stuff for you?</a:t>
            </a:r>
          </a:p>
          <a:p>
            <a:pPr lvl="1"/>
            <a:r>
              <a:rPr lang="en-US" dirty="0"/>
              <a:t>Is it ok if the test is moved from Friday 31 to Monday 3? </a:t>
            </a:r>
          </a:p>
          <a:p>
            <a:r>
              <a:rPr lang="en-US" dirty="0"/>
              <a:t>Other stuff for you, more hypothesis test simulation stuff. </a:t>
            </a:r>
          </a:p>
          <a:p>
            <a:pPr lvl="1"/>
            <a:r>
              <a:rPr lang="en-US" dirty="0"/>
              <a:t>Hypothesis test review, specific tests, usage, p-hacking, practice, practice, practice. </a:t>
            </a:r>
          </a:p>
        </p:txBody>
      </p:sp>
    </p:spTree>
    <p:extLst>
      <p:ext uri="{BB962C8B-B14F-4D97-AF65-F5344CB8AC3E}">
        <p14:creationId xmlns:p14="http://schemas.microsoft.com/office/powerpoint/2010/main" val="38456268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9C108-238D-1FEB-4C0B-7DFF21791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Don’t Get Scammed By my Exam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1C96AE-CE40-DB86-B929-A3476F5682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37749"/>
          </a:xfrm>
        </p:spPr>
        <p:txBody>
          <a:bodyPr/>
          <a:lstStyle/>
          <a:p>
            <a:r>
              <a:rPr lang="en-US" dirty="0"/>
              <a:t>Contents: chapters 1-9 (hypothesis testing). </a:t>
            </a:r>
          </a:p>
          <a:p>
            <a:pPr lvl="1"/>
            <a:r>
              <a:rPr lang="en-US" dirty="0"/>
              <a:t>Big things: basic stats, distributions, histogram/</a:t>
            </a:r>
            <a:r>
              <a:rPr lang="en-US" dirty="0" err="1"/>
              <a:t>pmf</a:t>
            </a:r>
            <a:r>
              <a:rPr lang="en-US" dirty="0"/>
              <a:t>/pdf/</a:t>
            </a:r>
            <a:r>
              <a:rPr lang="en-US" dirty="0" err="1"/>
              <a:t>cdf</a:t>
            </a:r>
            <a:r>
              <a:rPr lang="en-US" dirty="0"/>
              <a:t>, analytical distributions, error, models, correlation, estimation, hypothesis testing. </a:t>
            </a:r>
          </a:p>
          <a:p>
            <a:r>
              <a:rPr lang="en-US" dirty="0"/>
              <a:t>Types of stuff:</a:t>
            </a:r>
          </a:p>
          <a:p>
            <a:pPr lvl="1"/>
            <a:r>
              <a:rPr lang="en-US" dirty="0"/>
              <a:t>Multiple choice and short answer on theory. </a:t>
            </a:r>
          </a:p>
          <a:p>
            <a:pPr lvl="1"/>
            <a:r>
              <a:rPr lang="en-US" dirty="0"/>
              <a:t>‘Calculate this’ </a:t>
            </a:r>
          </a:p>
          <a:p>
            <a:pPr lvl="1"/>
            <a:r>
              <a:rPr lang="en-US" dirty="0"/>
              <a:t>Provide a function body. </a:t>
            </a:r>
          </a:p>
          <a:p>
            <a:r>
              <a:rPr lang="en-US" dirty="0"/>
              <a:t>I’ll write a slightly more detailed guide this weekend.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79067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A8813-E3D4-DF1E-4830-6613CBC22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Don’t get Scammed by my Exam, cont.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F49FE2-BEC6-4840-6C44-57DA9313FF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930400"/>
            <a:ext cx="9603275" cy="4123081"/>
          </a:xfrm>
        </p:spPr>
        <p:txBody>
          <a:bodyPr/>
          <a:lstStyle/>
          <a:p>
            <a:r>
              <a:rPr lang="en-US" dirty="0"/>
              <a:t>Know:</a:t>
            </a:r>
          </a:p>
          <a:p>
            <a:pPr lvl="1"/>
            <a:r>
              <a:rPr lang="en-US" dirty="0"/>
              <a:t>Major concepts. </a:t>
            </a:r>
          </a:p>
          <a:p>
            <a:pPr lvl="1"/>
            <a:r>
              <a:rPr lang="en-US" dirty="0"/>
              <a:t>How things relate to each other (e.g. pdf, histogram, </a:t>
            </a:r>
            <a:r>
              <a:rPr lang="en-US" dirty="0" err="1"/>
              <a:t>cdf</a:t>
            </a:r>
            <a:r>
              <a:rPr lang="en-US" dirty="0"/>
              <a:t>, relationship). </a:t>
            </a:r>
          </a:p>
          <a:p>
            <a:pPr lvl="1"/>
            <a:r>
              <a:rPr lang="en-US" dirty="0"/>
              <a:t>Usage (e.g. why would someone need this in real life). </a:t>
            </a:r>
          </a:p>
          <a:p>
            <a:pPr lvl="1"/>
            <a:r>
              <a:rPr lang="en-US" dirty="0"/>
              <a:t>Logistics of cloning and submitting. </a:t>
            </a:r>
          </a:p>
          <a:p>
            <a:r>
              <a:rPr lang="en-US" dirty="0"/>
              <a:t>Don’t need to know:</a:t>
            </a:r>
          </a:p>
          <a:p>
            <a:pPr lvl="1"/>
            <a:r>
              <a:rPr lang="en-US" dirty="0"/>
              <a:t>You don’t really need to memorize definitions or similar.  </a:t>
            </a:r>
          </a:p>
          <a:p>
            <a:pPr lvl="1"/>
            <a:r>
              <a:rPr lang="en-US" dirty="0"/>
              <a:t>You don’t need to manually calculate anything without using code. </a:t>
            </a:r>
          </a:p>
        </p:txBody>
      </p:sp>
    </p:spTree>
    <p:extLst>
      <p:ext uri="{BB962C8B-B14F-4D97-AF65-F5344CB8AC3E}">
        <p14:creationId xmlns:p14="http://schemas.microsoft.com/office/powerpoint/2010/main" val="11278073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D0F69-FF2D-0D56-CF59-ACACCF7D2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Don’t get Scammed by my Exam, cont.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3A913-A9BD-A460-A448-9EE7C57333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199727"/>
          </a:xfrm>
        </p:spPr>
        <p:txBody>
          <a:bodyPr/>
          <a:lstStyle/>
          <a:p>
            <a:r>
              <a:rPr lang="en-US" dirty="0"/>
              <a:t>Know how to do:</a:t>
            </a:r>
          </a:p>
          <a:p>
            <a:pPr lvl="1"/>
            <a:r>
              <a:rPr lang="en-US" dirty="0"/>
              <a:t>Utilize the major objects we touched on (</a:t>
            </a:r>
            <a:r>
              <a:rPr lang="en-US" dirty="0" err="1"/>
              <a:t>dataframes</a:t>
            </a:r>
            <a:r>
              <a:rPr lang="en-US" dirty="0"/>
              <a:t>, analytical </a:t>
            </a:r>
            <a:r>
              <a:rPr lang="en-US" dirty="0" err="1"/>
              <a:t>dists</a:t>
            </a:r>
            <a:r>
              <a:rPr lang="en-US" dirty="0"/>
              <a:t>, </a:t>
            </a:r>
            <a:r>
              <a:rPr lang="en-US" dirty="0" err="1"/>
              <a:t>thinkstats</a:t>
            </a:r>
            <a:r>
              <a:rPr lang="en-US" dirty="0"/>
              <a:t>, charts). </a:t>
            </a:r>
          </a:p>
          <a:p>
            <a:pPr lvl="2"/>
            <a:r>
              <a:rPr lang="en-US" dirty="0"/>
              <a:t>Including changing parameters, requiring looking at documentation. </a:t>
            </a:r>
          </a:p>
          <a:p>
            <a:pPr lvl="1"/>
            <a:r>
              <a:rPr lang="en-US" dirty="0"/>
              <a:t>Explore and describe data – you get some data, can you find ‘stuff’. </a:t>
            </a:r>
          </a:p>
          <a:p>
            <a:pPr lvl="2"/>
            <a:r>
              <a:rPr lang="en-US" dirty="0"/>
              <a:t>Outliers, range, distributions, </a:t>
            </a:r>
            <a:r>
              <a:rPr lang="en-US" dirty="0" err="1"/>
              <a:t>etc</a:t>
            </a:r>
            <a:r>
              <a:rPr lang="en-US" dirty="0"/>
              <a:t>…</a:t>
            </a:r>
          </a:p>
          <a:p>
            <a:pPr lvl="1"/>
            <a:r>
              <a:rPr lang="en-US" dirty="0"/>
              <a:t>Relate that to the meaning of the original data. (e.g. if # of customers is exponential, what does that mean?)</a:t>
            </a:r>
          </a:p>
          <a:p>
            <a:pPr lvl="1"/>
            <a:r>
              <a:rPr lang="en-US" dirty="0"/>
              <a:t>Make a function from spec – the input/outputs are provided, you need to make the innards. </a:t>
            </a:r>
          </a:p>
          <a:p>
            <a:r>
              <a:rPr lang="en-US" dirty="0"/>
              <a:t>If I give you a dataset can you tell (and show) me all about it? </a:t>
            </a:r>
          </a:p>
        </p:txBody>
      </p:sp>
    </p:spTree>
    <p:extLst>
      <p:ext uri="{BB962C8B-B14F-4D97-AF65-F5344CB8AC3E}">
        <p14:creationId xmlns:p14="http://schemas.microsoft.com/office/powerpoint/2010/main" val="13383555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B9CDF-EFA5-1EEC-025C-66087F9C0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Housekeeping: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3F83CA-0EE3-BB5B-E653-DC3E53702C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Assignment – date extended to Monday, noon. </a:t>
            </a:r>
          </a:p>
          <a:p>
            <a:r>
              <a:rPr lang="en-US" dirty="0"/>
              <a:t>Quiz – We can do it on the 11</a:t>
            </a:r>
            <a:r>
              <a:rPr lang="en-US" baseline="30000" dirty="0"/>
              <a:t>th</a:t>
            </a:r>
            <a:r>
              <a:rPr lang="en-US" dirty="0"/>
              <a:t> , let me know if that poses a problem. </a:t>
            </a:r>
          </a:p>
          <a:p>
            <a:pPr lvl="1"/>
            <a:r>
              <a:rPr lang="en-US" dirty="0"/>
              <a:t>Estimating and testing. </a:t>
            </a:r>
          </a:p>
          <a:p>
            <a:r>
              <a:rPr lang="en-US" dirty="0"/>
              <a:t>Today:</a:t>
            </a:r>
          </a:p>
          <a:p>
            <a:pPr lvl="1"/>
            <a:r>
              <a:rPr lang="en-US"/>
              <a:t>Hypothesis testing.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84073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5F306-249F-4561-521B-14C45383C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Stuff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36FC52-8F69-94EE-32EB-161E1AB831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5"/>
            <a:ext cx="9603275" cy="4199726"/>
          </a:xfrm>
        </p:spPr>
        <p:txBody>
          <a:bodyPr>
            <a:normAutofit lnSpcReduction="10000"/>
          </a:bodyPr>
          <a:lstStyle/>
          <a:p>
            <a:r>
              <a:rPr lang="en-US" dirty="0"/>
              <a:t>Question – in chapter 9 (e.g. 9.2) do the “class…” code parts make sense or no?</a:t>
            </a:r>
          </a:p>
          <a:p>
            <a:r>
              <a:rPr lang="en-US" dirty="0"/>
              <a:t>Today – recap simulation and (maybe) first part of hypothesis testing (&lt;=9.5). </a:t>
            </a:r>
          </a:p>
          <a:p>
            <a:pPr lvl="1"/>
            <a:r>
              <a:rPr lang="en-US" dirty="0"/>
              <a:t>Game 7. </a:t>
            </a:r>
          </a:p>
          <a:p>
            <a:pPr lvl="1"/>
            <a:r>
              <a:rPr lang="en-US" dirty="0"/>
              <a:t>More generalization, confidence, and election simulation. </a:t>
            </a:r>
          </a:p>
          <a:p>
            <a:pPr lvl="1"/>
            <a:r>
              <a:rPr lang="en-US" dirty="0"/>
              <a:t>Hypothesis testing from scratch. </a:t>
            </a:r>
          </a:p>
          <a:p>
            <a:pPr lvl="1"/>
            <a:r>
              <a:rPr lang="en-US" dirty="0"/>
              <a:t>Depending on what you all know, a bit about classes to make sense of book. </a:t>
            </a:r>
          </a:p>
          <a:p>
            <a:r>
              <a:rPr lang="en-US" dirty="0"/>
              <a:t>Note: we’ll look at the ‘from scratch’ stuff now and worry about t/z/p tests next time. </a:t>
            </a:r>
          </a:p>
          <a:p>
            <a:r>
              <a:rPr lang="en-US" dirty="0"/>
              <a:t>Exam, in a couple of weeks (31):</a:t>
            </a:r>
          </a:p>
          <a:p>
            <a:pPr lvl="1"/>
            <a:r>
              <a:rPr lang="en-US" dirty="0"/>
              <a:t>Set a cutoff on hypothesis testing (ch9 - we’ll be more specific at the end of the week). </a:t>
            </a:r>
          </a:p>
          <a:p>
            <a:pPr lvl="1"/>
            <a:r>
              <a:rPr lang="en-US" dirty="0"/>
              <a:t>It’ll involve answering some questions, and submitting some code bits. </a:t>
            </a:r>
          </a:p>
        </p:txBody>
      </p:sp>
      <p:pic>
        <p:nvPicPr>
          <p:cNvPr id="2050" name="Picture 2" descr="Toronto Blue Jays - Wikipedia">
            <a:extLst>
              <a:ext uri="{FF2B5EF4-FFF2-40B4-BE49-F238E27FC236}">
                <a16:creationId xmlns:a16="http://schemas.microsoft.com/office/drawing/2014/main" id="{906B6302-6014-1A0A-B459-FC61F9795A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70474" y="0"/>
            <a:ext cx="2168759" cy="1870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635180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FB92D-D5B7-5C46-859A-480D5C8782A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Hypothesis Testing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4CDFCE-A045-3745-9428-AAC7367486D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Does it Matter?</a:t>
            </a:r>
          </a:p>
        </p:txBody>
      </p:sp>
    </p:spTree>
    <p:extLst>
      <p:ext uri="{BB962C8B-B14F-4D97-AF65-F5344CB8AC3E}">
        <p14:creationId xmlns:p14="http://schemas.microsoft.com/office/powerpoint/2010/main" val="29972187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3269E-AAC3-61F0-A2DB-867CAE780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Hypothesis Test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8F8A65-87BC-7150-5EF4-ED6622A95F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Hypothesis testing is a reasonably large topic. </a:t>
            </a:r>
          </a:p>
        </p:txBody>
      </p:sp>
    </p:spTree>
    <p:extLst>
      <p:ext uri="{BB962C8B-B14F-4D97-AF65-F5344CB8AC3E}">
        <p14:creationId xmlns:p14="http://schemas.microsoft.com/office/powerpoint/2010/main" val="25397237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2AA3E-BBBE-94A6-DAF1-85773DBEE9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Recall - Estimation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0A01FD-7DDA-A8D2-8DC7-479583D5F6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6237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C9C203-8EA9-7410-B8BA-9D9CB018E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804519"/>
            <a:ext cx="3549650" cy="1049235"/>
          </a:xfrm>
        </p:spPr>
        <p:txBody>
          <a:bodyPr/>
          <a:lstStyle/>
          <a:p>
            <a:r>
              <a:rPr lang="en-US" dirty="0"/>
              <a:t>Recall - Estimation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84DE7B-31AB-063F-8BC5-23E4889972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15732"/>
            <a:ext cx="3549651" cy="4037749"/>
          </a:xfrm>
        </p:spPr>
        <p:txBody>
          <a:bodyPr/>
          <a:lstStyle/>
          <a:p>
            <a:r>
              <a:rPr lang="en-US" dirty="0"/>
              <a:t>We looked at estimating for a population from a sample. </a:t>
            </a:r>
          </a:p>
          <a:p>
            <a:pPr lvl="1"/>
            <a:r>
              <a:rPr lang="en-US" dirty="0"/>
              <a:t>Take sample, calculate stats.</a:t>
            </a:r>
          </a:p>
          <a:p>
            <a:pPr lvl="1"/>
            <a:r>
              <a:rPr lang="en-US" dirty="0"/>
              <a:t>Make model, run trials.</a:t>
            </a:r>
          </a:p>
          <a:p>
            <a:r>
              <a:rPr lang="en-US" dirty="0"/>
              <a:t>Conclusions are probabilistic. </a:t>
            </a:r>
          </a:p>
          <a:p>
            <a:pPr lvl="1"/>
            <a:r>
              <a:rPr lang="en-US" dirty="0"/>
              <a:t>We have uncertainty. </a:t>
            </a:r>
          </a:p>
          <a:p>
            <a:r>
              <a:rPr lang="en-US" dirty="0"/>
              <a:t>Conclusions have confidence intervals. </a:t>
            </a:r>
          </a:p>
          <a:p>
            <a:pPr lvl="1"/>
            <a:r>
              <a:rPr lang="en-US" dirty="0"/>
              <a:t>Indication of prediction acc.</a:t>
            </a:r>
          </a:p>
          <a:p>
            <a:pPr lvl="1"/>
            <a:endParaRPr lang="en-US" dirty="0"/>
          </a:p>
        </p:txBody>
      </p:sp>
      <p:pic>
        <p:nvPicPr>
          <p:cNvPr id="3076" name="Picture 4" descr="Can't find the CLT? Fundamental Statistics for Machine Learning: Part 1 |  by Abhishek Divekar | Medium">
            <a:extLst>
              <a:ext uri="{FF2B5EF4-FFF2-40B4-BE49-F238E27FC236}">
                <a16:creationId xmlns:a16="http://schemas.microsoft.com/office/drawing/2014/main" id="{B0F902A8-0C2E-0F8C-1A06-AA40FDFF50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50" y="0"/>
            <a:ext cx="864235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74658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41484-7549-9AD6-8858-9D7B52369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Making Predictions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20F2D4-8597-0E59-306A-60B9146921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14650" y="2015732"/>
            <a:ext cx="4066672" cy="4037749"/>
          </a:xfrm>
        </p:spPr>
        <p:txBody>
          <a:bodyPr/>
          <a:lstStyle/>
          <a:p>
            <a:r>
              <a:rPr lang="en-US" dirty="0"/>
              <a:t>When generalizing, we have a range and a likelihood. </a:t>
            </a:r>
          </a:p>
          <a:p>
            <a:r>
              <a:rPr lang="en-US" dirty="0"/>
              <a:t>Errors stem from:</a:t>
            </a:r>
          </a:p>
          <a:p>
            <a:pPr lvl="1"/>
            <a:r>
              <a:rPr lang="en-US" dirty="0"/>
              <a:t>Sampling. </a:t>
            </a:r>
          </a:p>
          <a:p>
            <a:pPr lvl="1"/>
            <a:r>
              <a:rPr lang="en-US" dirty="0"/>
              <a:t>Sampling bias. </a:t>
            </a:r>
          </a:p>
          <a:p>
            <a:pPr lvl="1"/>
            <a:r>
              <a:rPr lang="en-US" dirty="0"/>
              <a:t>Measurement error. </a:t>
            </a:r>
          </a:p>
          <a:p>
            <a:r>
              <a:rPr lang="en-US" dirty="0"/>
              <a:t>Some errors are beyond us. </a:t>
            </a:r>
          </a:p>
        </p:txBody>
      </p:sp>
      <p:pic>
        <p:nvPicPr>
          <p:cNvPr id="4" name="Picture 2" descr="Chapter 10 Confidence Intervals | Introduction to Statistics and Data  Science">
            <a:extLst>
              <a:ext uri="{FF2B5EF4-FFF2-40B4-BE49-F238E27FC236}">
                <a16:creationId xmlns:a16="http://schemas.microsoft.com/office/drawing/2014/main" id="{3FB6E4FC-E947-EA3D-3069-097DD3CC57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53754"/>
            <a:ext cx="7714650" cy="44083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35707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E8D9D-350C-FFC8-8E60-05F536113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Simulations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01357A-84A4-884F-00D0-13CDFD37E2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3932681"/>
          </a:xfrm>
        </p:spPr>
        <p:txBody>
          <a:bodyPr/>
          <a:lstStyle/>
          <a:p>
            <a:r>
              <a:rPr lang="en-US" dirty="0"/>
              <a:t>We can do this with our simulation loops. </a:t>
            </a:r>
          </a:p>
          <a:p>
            <a:pPr lvl="1"/>
            <a:r>
              <a:rPr lang="en-US" dirty="0"/>
              <a:t>We have a model for data expectations (analytical distribution) made from sample. </a:t>
            </a:r>
          </a:p>
          <a:p>
            <a:pPr lvl="1"/>
            <a:r>
              <a:rPr lang="en-US" dirty="0"/>
              <a:t>We can generate many new samples from that distribution. </a:t>
            </a:r>
          </a:p>
          <a:p>
            <a:pPr lvl="1"/>
            <a:r>
              <a:rPr lang="en-US" dirty="0"/>
              <a:t>We can count where the results of those samples fall. </a:t>
            </a:r>
          </a:p>
          <a:p>
            <a:r>
              <a:rPr lang="en-US" dirty="0"/>
              <a:t>These counts are an estimate of what we can expect going forward. </a:t>
            </a:r>
          </a:p>
          <a:p>
            <a:pPr lvl="1"/>
            <a:r>
              <a:rPr lang="en-US" dirty="0"/>
              <a:t>The more clustered they are, the more confident we are in predictions. </a:t>
            </a:r>
          </a:p>
          <a:p>
            <a:pPr lvl="1"/>
            <a:r>
              <a:rPr lang="en-US" dirty="0"/>
              <a:t>The range that 90/95/99% fall into is our confidence interval. </a:t>
            </a:r>
          </a:p>
          <a:p>
            <a:r>
              <a:rPr lang="en-US" dirty="0"/>
              <a:t>As long as we have some model of the distribution, we can do the same thing. </a:t>
            </a:r>
          </a:p>
        </p:txBody>
      </p:sp>
    </p:spTree>
    <p:extLst>
      <p:ext uri="{BB962C8B-B14F-4D97-AF65-F5344CB8AC3E}">
        <p14:creationId xmlns:p14="http://schemas.microsoft.com/office/powerpoint/2010/main" val="36302328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237FF7-4E14-DB4F-0428-DA9C7B428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52962-0069-5970-7E60-5D3767C891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en-US" dirty="0"/>
              <a:t>Effects Flashback – Cohen’s Effect Size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71D939-A10B-21DB-D934-F4F7A82E8C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4"/>
            <a:ext cx="7089668" cy="4037747"/>
          </a:xfrm>
        </p:spPr>
        <p:txBody>
          <a:bodyPr>
            <a:normAutofit/>
          </a:bodyPr>
          <a:lstStyle/>
          <a:p>
            <a:r>
              <a:rPr lang="en-US" dirty="0"/>
              <a:t>Effects are just differences between samples. </a:t>
            </a:r>
          </a:p>
          <a:p>
            <a:r>
              <a:rPr lang="en-US" dirty="0"/>
              <a:t>Effect size is very good for showing how big of a difference there is between groups.</a:t>
            </a:r>
          </a:p>
          <a:p>
            <a:pPr lvl="1"/>
            <a:r>
              <a:rPr lang="en-US" dirty="0"/>
              <a:t>How ”big” is the difference between A and B</a:t>
            </a:r>
          </a:p>
          <a:p>
            <a:r>
              <a:rPr lang="en-US" dirty="0"/>
              <a:t>Easy to calculate, symmetrical, comparable across studies. </a:t>
            </a:r>
          </a:p>
          <a:p>
            <a:r>
              <a:rPr lang="en-US" dirty="0"/>
              <a:t>Downside – the value doesn’t have obvious meaning. </a:t>
            </a:r>
          </a:p>
          <a:p>
            <a:r>
              <a:rPr lang="en-US" dirty="0"/>
              <a:t>Table is a list of approximate significance, by Cohen himself. </a:t>
            </a:r>
          </a:p>
          <a:p>
            <a:r>
              <a:rPr lang="en-US" dirty="0"/>
              <a:t>Book’s author a huge proponent of effect size!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B62C5B9-5FA2-D563-844D-D905B87751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1247" y="2015734"/>
            <a:ext cx="2727388" cy="4479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56351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8F6B6-A700-23AE-D6C2-580B93E058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Inferencing Effects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E2A5EC-D8B7-F419-D2BC-B1C3F32F2D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095101"/>
          </a:xfrm>
        </p:spPr>
        <p:txBody>
          <a:bodyPr>
            <a:normAutofit lnSpcReduction="10000"/>
          </a:bodyPr>
          <a:lstStyle/>
          <a:p>
            <a:r>
              <a:rPr lang="en-US" dirty="0"/>
              <a:t>One big thing we want to do in stats is project these effects to a population. </a:t>
            </a:r>
          </a:p>
          <a:p>
            <a:pPr lvl="1"/>
            <a:r>
              <a:rPr lang="en-US" dirty="0"/>
              <a:t>If people treated with drugs live longer than people in control group, is that difference real?</a:t>
            </a:r>
          </a:p>
          <a:p>
            <a:pPr lvl="1"/>
            <a:r>
              <a:rPr lang="en-US" dirty="0"/>
              <a:t>If we tutor one group of students extra, is their grade change due to randomness or learning? </a:t>
            </a:r>
          </a:p>
          <a:p>
            <a:r>
              <a:rPr lang="en-US" dirty="0"/>
              <a:t>Like with generalizing, this isn’t direct, it is probabilistic. </a:t>
            </a:r>
          </a:p>
          <a:p>
            <a:pPr lvl="1"/>
            <a:r>
              <a:rPr lang="en-US" dirty="0"/>
              <a:t>We have natural variance in data, and each sample may differ slightly normally. </a:t>
            </a:r>
          </a:p>
          <a:p>
            <a:pPr lvl="1"/>
            <a:r>
              <a:rPr lang="en-US" dirty="0"/>
              <a:t>Depending on sample size, we might see swings in means that are random. </a:t>
            </a:r>
          </a:p>
          <a:p>
            <a:pPr lvl="1"/>
            <a:r>
              <a:rPr lang="en-US" dirty="0"/>
              <a:t>Real life things are often limited in sample size, so variations can be big. </a:t>
            </a:r>
          </a:p>
          <a:p>
            <a:r>
              <a:rPr lang="en-US" dirty="0"/>
              <a:t>So… if we see some effect in our samples, can we trust that effect is in the population? </a:t>
            </a:r>
          </a:p>
          <a:p>
            <a:pPr lvl="1"/>
            <a:r>
              <a:rPr lang="en-US" dirty="0"/>
              <a:t>Is what we see in our samples real? </a:t>
            </a:r>
          </a:p>
          <a:p>
            <a:pPr lvl="1"/>
            <a:r>
              <a:rPr lang="en-US" dirty="0"/>
              <a:t>Our hypothesis test will give us a probability it was due to random variation. </a:t>
            </a:r>
          </a:p>
        </p:txBody>
      </p:sp>
    </p:spTree>
    <p:extLst>
      <p:ext uri="{BB962C8B-B14F-4D97-AF65-F5344CB8AC3E}">
        <p14:creationId xmlns:p14="http://schemas.microsoft.com/office/powerpoint/2010/main" val="21539750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9E827A-F36A-E2CA-36D2-E27215414F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6A509-3720-8CB2-D880-D93688039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What’s a Hypothesis Test?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97E578-0879-9E1F-8B10-E0832E0C72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933904"/>
            <a:ext cx="9603275" cy="4119578"/>
          </a:xfrm>
        </p:spPr>
        <p:txBody>
          <a:bodyPr/>
          <a:lstStyle/>
          <a:p>
            <a:r>
              <a:rPr lang="en-US" dirty="0"/>
              <a:t>A hypothesis test evaluates two mutually exclusive statements about a population to determine which statement the sample data best supports. </a:t>
            </a:r>
          </a:p>
          <a:p>
            <a:pPr lvl="1"/>
            <a:r>
              <a:rPr lang="en-US" dirty="0"/>
              <a:t>Null Hypothesis: The effect does not exist in the population.</a:t>
            </a:r>
          </a:p>
          <a:p>
            <a:pPr lvl="1"/>
            <a:r>
              <a:rPr lang="en-US" dirty="0"/>
              <a:t>Alternative Hypothesis: The effect does exist in the population.</a:t>
            </a:r>
          </a:p>
          <a:p>
            <a:pPr lvl="1"/>
            <a:r>
              <a:rPr lang="en-US" dirty="0"/>
              <a:t>Effect = difference. Specifically, here it is the difference we see between the samples. </a:t>
            </a:r>
          </a:p>
          <a:p>
            <a:r>
              <a:rPr lang="en-US" dirty="0"/>
              <a:t>Hypothesis testing lets us say that effects have statistical significance, indicating that an effect in sample data also likely exists in the population after accounting for:</a:t>
            </a:r>
          </a:p>
          <a:p>
            <a:pPr lvl="1"/>
            <a:r>
              <a:rPr lang="en-US" dirty="0"/>
              <a:t>Random sampling error.</a:t>
            </a:r>
          </a:p>
          <a:p>
            <a:pPr lvl="1"/>
            <a:r>
              <a:rPr lang="en-US" dirty="0"/>
              <a:t>Variability in the data. </a:t>
            </a:r>
          </a:p>
          <a:p>
            <a:pPr lvl="1"/>
            <a:r>
              <a:rPr lang="en-US" dirty="0"/>
              <a:t>Sample size.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9855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0493A-F1BC-7E49-1897-3A5238079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Don’t Get too Confident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AD3248-E13C-1595-6D51-ED37B4A296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37749"/>
          </a:xfrm>
        </p:spPr>
        <p:txBody>
          <a:bodyPr/>
          <a:lstStyle/>
          <a:p>
            <a:r>
              <a:rPr lang="en-US" dirty="0"/>
              <a:t>Like with generalizing to a population, this is probabilistic. </a:t>
            </a:r>
          </a:p>
          <a:p>
            <a:r>
              <a:rPr lang="en-US" dirty="0"/>
              <a:t>Our findings here are evidence, not assertions. </a:t>
            </a:r>
          </a:p>
          <a:p>
            <a:pPr lvl="1"/>
            <a:r>
              <a:rPr lang="en-US" dirty="0"/>
              <a:t>E.g. if we do a hypothesis test that shows an effect is real, that’s only an indicator. </a:t>
            </a:r>
          </a:p>
          <a:p>
            <a:r>
              <a:rPr lang="en-US" dirty="0"/>
              <a:t>To make solid findings, we probably want several pieces of evidence. </a:t>
            </a:r>
          </a:p>
          <a:p>
            <a:pPr lvl="1"/>
            <a:r>
              <a:rPr lang="en-US" dirty="0"/>
              <a:t>More is better, as we’ll see…</a:t>
            </a:r>
          </a:p>
        </p:txBody>
      </p:sp>
    </p:spTree>
    <p:extLst>
      <p:ext uri="{BB962C8B-B14F-4D97-AF65-F5344CB8AC3E}">
        <p14:creationId xmlns:p14="http://schemas.microsoft.com/office/powerpoint/2010/main" val="15266786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7D908-A850-3560-95FD-8C539921A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Hypothesis Testing From Scratch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544162-9761-6E7C-99FE-70C4B3473F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199727"/>
          </a:xfrm>
        </p:spPr>
        <p:txBody>
          <a:bodyPr>
            <a:normAutofit/>
          </a:bodyPr>
          <a:lstStyle/>
          <a:p>
            <a:r>
              <a:rPr lang="en-US" dirty="0"/>
              <a:t>We can use fast computers and coding </a:t>
            </a:r>
            <a:r>
              <a:rPr lang="en-US" dirty="0" err="1"/>
              <a:t>skillz</a:t>
            </a:r>
            <a:r>
              <a:rPr lang="en-US" dirty="0"/>
              <a:t> to do some hypothesis testing from scratch. </a:t>
            </a:r>
          </a:p>
          <a:p>
            <a:r>
              <a:rPr lang="en-US" dirty="0"/>
              <a:t>To start, we see some effect – such as a difference in our samples. </a:t>
            </a:r>
          </a:p>
          <a:p>
            <a:r>
              <a:rPr lang="en-US" dirty="0"/>
              <a:t>We can do a sort of two-part check:</a:t>
            </a:r>
          </a:p>
          <a:p>
            <a:pPr lvl="1"/>
            <a:r>
              <a:rPr lang="en-US" dirty="0"/>
              <a:t>Comparison between two things (e.g. sample means). </a:t>
            </a:r>
          </a:p>
          <a:p>
            <a:pPr lvl="1"/>
            <a:r>
              <a:rPr lang="en-US" dirty="0"/>
              <a:t>Generalization to the population. </a:t>
            </a:r>
          </a:p>
          <a:p>
            <a:r>
              <a:rPr lang="en-US" dirty="0"/>
              <a:t>Our hypothesis test answers the question, “Given this effect we see in our sample, what is the probability of the same effect existing in the population by chance (randomly)?”. </a:t>
            </a:r>
          </a:p>
          <a:p>
            <a:pPr lvl="1"/>
            <a:r>
              <a:rPr lang="en-US" dirty="0"/>
              <a:t>We see X thing in the sample data (the effect). </a:t>
            </a:r>
          </a:p>
          <a:p>
            <a:pPr lvl="1"/>
            <a:r>
              <a:rPr lang="en-US" dirty="0"/>
              <a:t>Is effect ‘real’ in the population or could it just be randomness due to sample and variance?</a:t>
            </a:r>
          </a:p>
        </p:txBody>
      </p:sp>
    </p:spTree>
    <p:extLst>
      <p:ext uri="{BB962C8B-B14F-4D97-AF65-F5344CB8AC3E}">
        <p14:creationId xmlns:p14="http://schemas.microsoft.com/office/powerpoint/2010/main" val="37256650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BD3D8-17EC-4727-F753-F8A1F5E9A8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Realistic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A4BDE6-2576-A2D0-0903-C569C03FF0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933903"/>
            <a:ext cx="9603275" cy="4119577"/>
          </a:xfrm>
        </p:spPr>
        <p:txBody>
          <a:bodyPr/>
          <a:lstStyle/>
          <a:p>
            <a:r>
              <a:rPr lang="en-US" dirty="0"/>
              <a:t>We are conducting a drug trial and have two separate samples:</a:t>
            </a:r>
          </a:p>
          <a:p>
            <a:pPr lvl="1"/>
            <a:r>
              <a:rPr lang="en-US" dirty="0"/>
              <a:t>Treatment group – count 31, average life expectancy 12.5 years. </a:t>
            </a:r>
          </a:p>
          <a:p>
            <a:pPr lvl="1"/>
            <a:r>
              <a:rPr lang="en-US" dirty="0"/>
              <a:t>Control group – count 39, average life expectancy 11.1 years. </a:t>
            </a:r>
          </a:p>
          <a:p>
            <a:r>
              <a:rPr lang="en-US" dirty="0"/>
              <a:t>The treated people live longer, but is that difference significant? </a:t>
            </a:r>
          </a:p>
          <a:p>
            <a:pPr lvl="1"/>
            <a:r>
              <a:rPr lang="en-US" dirty="0"/>
              <a:t>Given the sample size and variance of data, could the observed sample effect be random? </a:t>
            </a:r>
          </a:p>
          <a:p>
            <a:r>
              <a:rPr lang="en-US" dirty="0"/>
              <a:t>This is a probabilistic decision. </a:t>
            </a:r>
          </a:p>
          <a:p>
            <a:pPr lvl="1"/>
            <a:r>
              <a:rPr lang="en-US" dirty="0"/>
              <a:t>The effect we see in the sample could be real, or could be just random variation. </a:t>
            </a:r>
          </a:p>
          <a:p>
            <a:pPr lvl="1"/>
            <a:r>
              <a:rPr lang="en-US" dirty="0"/>
              <a:t>The hypothesis test tests the likelihood it is random. </a:t>
            </a:r>
          </a:p>
          <a:p>
            <a:r>
              <a:rPr lang="en-US" dirty="0"/>
              <a:t>If the likelihood this effect is random is low enough, we judge it to be significant - real. </a:t>
            </a:r>
          </a:p>
        </p:txBody>
      </p:sp>
    </p:spTree>
    <p:extLst>
      <p:ext uri="{BB962C8B-B14F-4D97-AF65-F5344CB8AC3E}">
        <p14:creationId xmlns:p14="http://schemas.microsoft.com/office/powerpoint/2010/main" val="4886821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8217B-E04E-E5EE-ACB7-19C5A0E362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 a Hypothesis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DD69C7-73D7-A47B-3140-75A8893728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5"/>
            <a:ext cx="9603275" cy="4199726"/>
          </a:xfrm>
        </p:spPr>
        <p:txBody>
          <a:bodyPr>
            <a:normAutofit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Select a test statistic – the thing calculated.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For the life expectancy this would be mean life expectancy of the samples.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Define null hypothesis – assertion that this thing is not true.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There is no difference between the population means of treatment and control.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Calculate the p-value – the likelihood the null hypothesis is true.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Probability treatment and control populations are the same and effect is random variation.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We can do simulating here, but we need to build the right model to generate tests.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Interpret the result – is the likelihood of it being random low enough?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If the probability of the treatment and control populations being the same is very low, we can conclude the drug actually made the two populations differ. </a:t>
            </a:r>
          </a:p>
        </p:txBody>
      </p:sp>
    </p:spTree>
    <p:extLst>
      <p:ext uri="{BB962C8B-B14F-4D97-AF65-F5344CB8AC3E}">
        <p14:creationId xmlns:p14="http://schemas.microsoft.com/office/powerpoint/2010/main" val="3531301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CB23A-5CF3-B067-AA4C-9714A220A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Ok, so… Do it!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69C50B-D96E-F8FE-9E8B-AAED4A2FB9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37749"/>
          </a:xfrm>
        </p:spPr>
        <p:txBody>
          <a:bodyPr/>
          <a:lstStyle/>
          <a:p>
            <a:r>
              <a:rPr lang="en-US" dirty="0"/>
              <a:t>This process is something that can extend on our simulations. </a:t>
            </a:r>
          </a:p>
          <a:p>
            <a:pPr lvl="1"/>
            <a:r>
              <a:rPr lang="en-US" dirty="0"/>
              <a:t>The test statistics are defined by some model, usually a normal distribution. </a:t>
            </a:r>
          </a:p>
          <a:p>
            <a:pPr lvl="1"/>
            <a:r>
              <a:rPr lang="en-US" dirty="0"/>
              <a:t>We can generate multiple samples can tabulate where they lie. </a:t>
            </a:r>
          </a:p>
          <a:p>
            <a:r>
              <a:rPr lang="en-US" dirty="0"/>
              <a:t>If the p-value is the probability of the effect being random, we can count that. </a:t>
            </a:r>
          </a:p>
          <a:p>
            <a:pPr lvl="1"/>
            <a:r>
              <a:rPr lang="en-US" dirty="0"/>
              <a:t>Generate many trials and count the number of times that randomness yielded a result. </a:t>
            </a:r>
          </a:p>
          <a:p>
            <a:r>
              <a:rPr lang="en-US" dirty="0"/>
              <a:t>This process is mostly generic – the process is the same, the details vary. </a:t>
            </a:r>
          </a:p>
          <a:p>
            <a:pPr lvl="1"/>
            <a:r>
              <a:rPr lang="en-US" dirty="0"/>
              <a:t>The textbook has an example of inheritance and classes that we can hopefully use. </a:t>
            </a:r>
          </a:p>
          <a:p>
            <a:pPr lvl="1"/>
            <a:r>
              <a:rPr lang="en-US" dirty="0"/>
              <a:t>We can rotate test statistics and models to test almost anything!</a:t>
            </a:r>
          </a:p>
          <a:p>
            <a:r>
              <a:rPr lang="en-US" dirty="0"/>
              <a:t>The important part is framing the problem correctly. </a:t>
            </a:r>
          </a:p>
        </p:txBody>
      </p:sp>
    </p:spTree>
    <p:extLst>
      <p:ext uri="{BB962C8B-B14F-4D97-AF65-F5344CB8AC3E}">
        <p14:creationId xmlns:p14="http://schemas.microsoft.com/office/powerpoint/2010/main" val="42628551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4A5B8-7CFF-BB67-7707-243CC55E79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Specific Implementations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EE99A2-3424-F371-D82A-D5709FF413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199727"/>
          </a:xfrm>
        </p:spPr>
        <p:txBody>
          <a:bodyPr/>
          <a:lstStyle/>
          <a:p>
            <a:r>
              <a:rPr lang="en-US" dirty="0"/>
              <a:t>There are several common-</a:t>
            </a:r>
            <a:r>
              <a:rPr lang="en-US" dirty="0" err="1"/>
              <a:t>ish</a:t>
            </a:r>
            <a:r>
              <a:rPr lang="en-US" dirty="0"/>
              <a:t> setups that we can test:</a:t>
            </a:r>
          </a:p>
          <a:p>
            <a:pPr lvl="1"/>
            <a:r>
              <a:rPr lang="en-US" dirty="0"/>
              <a:t>Things are different – permutation (in book), shuffle randomly data and observe results. </a:t>
            </a:r>
          </a:p>
          <a:p>
            <a:pPr lvl="1"/>
            <a:r>
              <a:rPr lang="en-US" dirty="0"/>
              <a:t>Greater/less - permutation + greater/less than. </a:t>
            </a:r>
          </a:p>
          <a:p>
            <a:r>
              <a:rPr lang="en-US" dirty="0"/>
              <a:t>In general:</a:t>
            </a:r>
          </a:p>
          <a:p>
            <a:pPr lvl="1"/>
            <a:r>
              <a:rPr lang="en-US" dirty="0"/>
              <a:t>What is the opposite of the null hypothesis. (e.g. Means are equal). </a:t>
            </a:r>
          </a:p>
          <a:p>
            <a:pPr lvl="2"/>
            <a:r>
              <a:rPr lang="en-US" dirty="0"/>
              <a:t>This is the NH – mean1=mean2, mean1 &gt; mean2, std1 = std2, </a:t>
            </a:r>
            <a:r>
              <a:rPr lang="en-US" dirty="0" err="1"/>
              <a:t>etc</a:t>
            </a:r>
            <a:r>
              <a:rPr lang="en-US" dirty="0"/>
              <a:t>…</a:t>
            </a:r>
          </a:p>
          <a:p>
            <a:pPr lvl="1"/>
            <a:r>
              <a:rPr lang="en-US" dirty="0"/>
              <a:t>Create test that can try this – permutation, generate samples, </a:t>
            </a:r>
            <a:r>
              <a:rPr lang="en-US" dirty="0" err="1"/>
              <a:t>etc</a:t>
            </a:r>
            <a:r>
              <a:rPr lang="en-US" dirty="0"/>
              <a:t>….</a:t>
            </a:r>
          </a:p>
          <a:p>
            <a:pPr lvl="1"/>
            <a:r>
              <a:rPr lang="en-US" dirty="0"/>
              <a:t>Count how many times ‘it’ happens. </a:t>
            </a:r>
          </a:p>
        </p:txBody>
      </p:sp>
    </p:spTree>
    <p:extLst>
      <p:ext uri="{BB962C8B-B14F-4D97-AF65-F5344CB8AC3E}">
        <p14:creationId xmlns:p14="http://schemas.microsoft.com/office/powerpoint/2010/main" val="2087010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B4EAE-8C60-0F48-8E09-4DBF9EFA1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en-US" dirty="0"/>
              <a:t>It’s Science!!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5C479D-1CC5-7947-B7C5-85D2EE5E1C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593" y="1887421"/>
            <a:ext cx="6936827" cy="4086659"/>
          </a:xfrm>
        </p:spPr>
        <p:txBody>
          <a:bodyPr>
            <a:normAutofit/>
          </a:bodyPr>
          <a:lstStyle/>
          <a:p>
            <a:r>
              <a:rPr lang="en-US" dirty="0"/>
              <a:t>Hypothesis testing uses samples to infer about populations. </a:t>
            </a:r>
          </a:p>
          <a:p>
            <a:r>
              <a:rPr lang="en-US" dirty="0"/>
              <a:t>What is the probability this effect is due to random variation?</a:t>
            </a:r>
          </a:p>
          <a:p>
            <a:pPr lvl="1"/>
            <a:r>
              <a:rPr lang="en-US" dirty="0"/>
              <a:t>We see some difference, the effect. </a:t>
            </a:r>
          </a:p>
          <a:p>
            <a:pPr lvl="1"/>
            <a:r>
              <a:rPr lang="en-US" dirty="0"/>
              <a:t>Is that difference ‘real’, or not just due to randomness?</a:t>
            </a:r>
          </a:p>
          <a:p>
            <a:pPr lvl="1"/>
            <a:r>
              <a:rPr lang="en-US" dirty="0"/>
              <a:t>Or can we expect this difference to be seen in the population? </a:t>
            </a:r>
          </a:p>
          <a:p>
            <a:r>
              <a:rPr lang="en-US" dirty="0"/>
              <a:t>For example, a new drug treatment and life expectancy. </a:t>
            </a:r>
          </a:p>
          <a:p>
            <a:pPr lvl="1"/>
            <a:r>
              <a:rPr lang="en-US" dirty="0"/>
              <a:t>The sample of drugged people live longer. </a:t>
            </a:r>
          </a:p>
          <a:p>
            <a:pPr lvl="1"/>
            <a:r>
              <a:rPr lang="en-US" dirty="0"/>
              <a:t>Is that difference likely real – big enough to mean the drug did it?</a:t>
            </a:r>
          </a:p>
          <a:p>
            <a:r>
              <a:rPr lang="en-US" dirty="0"/>
              <a:t>This is used all over in science and research. </a:t>
            </a:r>
          </a:p>
        </p:txBody>
      </p:sp>
      <p:pic>
        <p:nvPicPr>
          <p:cNvPr id="1026" name="Picture 2" descr="Hypothesis vs. Theory: The Difference Explained | Merriam-Webster">
            <a:extLst>
              <a:ext uri="{FF2B5EF4-FFF2-40B4-BE49-F238E27FC236}">
                <a16:creationId xmlns:a16="http://schemas.microsoft.com/office/drawing/2014/main" id="{CD8C1DE2-BD67-164B-B905-9C98DA89A7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031420" y="1887421"/>
            <a:ext cx="5160579" cy="38704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28085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36D4B-F13F-C35A-5657-1C98F74F4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Results - Significance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E24597-E550-101E-E565-B0456F4718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37749"/>
          </a:xfrm>
        </p:spPr>
        <p:txBody>
          <a:bodyPr/>
          <a:lstStyle/>
          <a:p>
            <a:r>
              <a:rPr lang="en-US" dirty="0"/>
              <a:t>Hypothesis tests yield an estimate of some effect occurring by chance. </a:t>
            </a:r>
          </a:p>
          <a:p>
            <a:pPr lvl="1"/>
            <a:r>
              <a:rPr lang="en-US" dirty="0"/>
              <a:t>P value is the probability of this thing happening randomly. </a:t>
            </a:r>
          </a:p>
          <a:p>
            <a:r>
              <a:rPr lang="en-US" dirty="0"/>
              <a:t>The cutoff we set for “good enough” can vary depending on scenario. </a:t>
            </a:r>
          </a:p>
          <a:p>
            <a:pPr lvl="1"/>
            <a:r>
              <a:rPr lang="en-US" dirty="0"/>
              <a:t>.05, or 5% is a common cutoff. (This isn’t that unlikely…)</a:t>
            </a:r>
          </a:p>
          <a:p>
            <a:r>
              <a:rPr lang="en-US" dirty="0"/>
              <a:t>If the likelihood of randomness &lt; cutoff, the result is “statistically significant”. </a:t>
            </a:r>
          </a:p>
          <a:p>
            <a:pPr lvl="1"/>
            <a:r>
              <a:rPr lang="en-US" dirty="0"/>
              <a:t>This is irrespective of the size of the effect, it could be small but significant. </a:t>
            </a:r>
          </a:p>
          <a:p>
            <a:pPr lvl="1"/>
            <a:r>
              <a:rPr lang="en-US" dirty="0"/>
              <a:t>This doesn’t mean it is true, this is just one piece of evidence. </a:t>
            </a:r>
          </a:p>
        </p:txBody>
      </p:sp>
    </p:spTree>
    <p:extLst>
      <p:ext uri="{BB962C8B-B14F-4D97-AF65-F5344CB8AC3E}">
        <p14:creationId xmlns:p14="http://schemas.microsoft.com/office/powerpoint/2010/main" val="278722208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5E592-9385-36D1-F5FE-48A55C04A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Hypothesis Testing throwback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F7E6CF-375C-F1A6-A28E-3B33B4F163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Our simulation based hypothesis testing is very flexible but requires a computer. </a:t>
            </a:r>
          </a:p>
          <a:p>
            <a:r>
              <a:rPr lang="en-US" dirty="0"/>
              <a:t>Hypothesis tests are older and can work computer free. </a:t>
            </a:r>
          </a:p>
          <a:p>
            <a:pPr lvl="1"/>
            <a:r>
              <a:rPr lang="en-US" dirty="0"/>
              <a:t>There isn’t the generic framework that the simulation offers, only specific tests. </a:t>
            </a:r>
          </a:p>
          <a:p>
            <a:pPr lvl="1"/>
            <a:r>
              <a:rPr lang="en-US" dirty="0"/>
              <a:t>Tests combine parametric assumptions with data to allow calculations. </a:t>
            </a:r>
          </a:p>
          <a:p>
            <a:pPr lvl="1"/>
            <a:r>
              <a:rPr lang="en-US" dirty="0"/>
              <a:t>In classical stats, you’d do this since you can’t simulate. </a:t>
            </a:r>
          </a:p>
          <a:p>
            <a:pPr lvl="1"/>
            <a:r>
              <a:rPr lang="en-US" dirty="0"/>
              <a:t>We’ll look at next time. </a:t>
            </a:r>
          </a:p>
        </p:txBody>
      </p:sp>
    </p:spTree>
    <p:extLst>
      <p:ext uri="{BB962C8B-B14F-4D97-AF65-F5344CB8AC3E}">
        <p14:creationId xmlns:p14="http://schemas.microsoft.com/office/powerpoint/2010/main" val="28866915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CA671-6D08-E2F0-B208-9F70708BC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Workin</a:t>
            </a:r>
            <a:r>
              <a:rPr lang="en-US" dirty="0"/>
              <a:t>’ on the ‘P’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4FA36B-2D34-B394-C504-E6FC012C11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37749"/>
          </a:xfrm>
        </p:spPr>
        <p:txBody>
          <a:bodyPr/>
          <a:lstStyle/>
          <a:p>
            <a:r>
              <a:rPr lang="en-US" dirty="0"/>
              <a:t>If you’ve ever seen/interacted with some sort of clinical trial you’ve seen this. </a:t>
            </a:r>
          </a:p>
          <a:p>
            <a:pPr lvl="1"/>
            <a:r>
              <a:rPr lang="en-US" dirty="0"/>
              <a:t>We have one group that got a medical treatment. </a:t>
            </a:r>
          </a:p>
          <a:p>
            <a:pPr lvl="1"/>
            <a:r>
              <a:rPr lang="en-US" dirty="0"/>
              <a:t>We have one group that got a placebo. </a:t>
            </a:r>
          </a:p>
          <a:p>
            <a:pPr lvl="1"/>
            <a:r>
              <a:rPr lang="en-US" dirty="0"/>
              <a:t>Is the improvement in life expectancy/quality/symptoms real?</a:t>
            </a:r>
          </a:p>
          <a:p>
            <a:r>
              <a:rPr lang="en-US" dirty="0"/>
              <a:t>Observing differences with samples (many values) isn’t straightforward. </a:t>
            </a:r>
          </a:p>
          <a:p>
            <a:pPr lvl="1"/>
            <a:r>
              <a:rPr lang="en-US" dirty="0"/>
              <a:t>We always have some variation in values, even between ‘equal’ groups. </a:t>
            </a:r>
          </a:p>
          <a:p>
            <a:r>
              <a:rPr lang="en-US" dirty="0"/>
              <a:t>This is why grad school students need stats. </a:t>
            </a:r>
          </a:p>
        </p:txBody>
      </p:sp>
    </p:spTree>
    <p:extLst>
      <p:ext uri="{BB962C8B-B14F-4D97-AF65-F5344CB8AC3E}">
        <p14:creationId xmlns:p14="http://schemas.microsoft.com/office/powerpoint/2010/main" val="20896674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F3542-1AAB-334C-906A-F82243157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Hypothesis Tests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3972D4-87BF-8740-8AD4-96E77B0CD0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146" y="1853754"/>
            <a:ext cx="10455413" cy="4303206"/>
          </a:xfrm>
        </p:spPr>
        <p:txBody>
          <a:bodyPr>
            <a:normAutofit/>
          </a:bodyPr>
          <a:lstStyle/>
          <a:p>
            <a:r>
              <a:rPr lang="en-US" dirty="0"/>
              <a:t>Notice a difference (effect) in data, test to see if is “real”, or due to variation. </a:t>
            </a:r>
          </a:p>
          <a:p>
            <a:pPr lvl="1"/>
            <a:r>
              <a:rPr lang="en-US" dirty="0"/>
              <a:t>E.g. these people live longer. </a:t>
            </a:r>
          </a:p>
          <a:p>
            <a:r>
              <a:rPr lang="en-US" dirty="0"/>
              <a:t>Real can be highly situation dependent:</a:t>
            </a:r>
          </a:p>
          <a:p>
            <a:pPr lvl="1"/>
            <a:r>
              <a:rPr lang="en-US" dirty="0"/>
              <a:t>Different situations yield different criteria. </a:t>
            </a:r>
          </a:p>
          <a:p>
            <a:r>
              <a:rPr lang="en-US" dirty="0"/>
              <a:t>Problem – there’s no definitive way to go from probabilities and results of samples to definitive declarations for an entire population. We are always making an inference, not showing a law. </a:t>
            </a:r>
          </a:p>
          <a:p>
            <a:r>
              <a:rPr lang="en-US" dirty="0"/>
              <a:t>Reliable conclusions will require domain knowledge, and likely more than one calc. </a:t>
            </a:r>
          </a:p>
          <a:p>
            <a:r>
              <a:rPr lang="en-US" dirty="0"/>
              <a:t>All of these things are “ways to demonstrate a difference”, not absolute rules. </a:t>
            </a:r>
          </a:p>
          <a:p>
            <a:r>
              <a:rPr lang="en-US" dirty="0"/>
              <a:t>Similar to predictions later – we are stating a conclusion, and offering evidence of its truth. </a:t>
            </a:r>
          </a:p>
        </p:txBody>
      </p:sp>
    </p:spTree>
    <p:extLst>
      <p:ext uri="{BB962C8B-B14F-4D97-AF65-F5344CB8AC3E}">
        <p14:creationId xmlns:p14="http://schemas.microsoft.com/office/powerpoint/2010/main" val="264184023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DE149D-D981-92AD-7C3A-6F4403409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D2A40-A3C3-0DFE-168C-9972DD184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What’s a Hypothesis Test?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E62C23-0E14-5B47-D12E-DD63D929CF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933904"/>
            <a:ext cx="9603275" cy="4119578"/>
          </a:xfrm>
        </p:spPr>
        <p:txBody>
          <a:bodyPr/>
          <a:lstStyle/>
          <a:p>
            <a:r>
              <a:rPr lang="en-US" dirty="0"/>
              <a:t>A hypothesis test evaluates two mutually exclusive statements about a population to determine which statement the sample data best supports. </a:t>
            </a:r>
          </a:p>
          <a:p>
            <a:pPr lvl="1"/>
            <a:r>
              <a:rPr lang="en-US" dirty="0"/>
              <a:t>Null Hypothesis: The effect does not exist in the population.</a:t>
            </a:r>
          </a:p>
          <a:p>
            <a:pPr lvl="1"/>
            <a:r>
              <a:rPr lang="en-US" dirty="0"/>
              <a:t>Alternative Hypothesis: The effect does exist in the population.</a:t>
            </a:r>
          </a:p>
          <a:p>
            <a:pPr lvl="1"/>
            <a:r>
              <a:rPr lang="en-US" dirty="0"/>
              <a:t>Effect = difference. Specifically, here it is the difference we see between the samples. </a:t>
            </a:r>
          </a:p>
          <a:p>
            <a:r>
              <a:rPr lang="en-US" dirty="0"/>
              <a:t>Hypothesis testing lets us say that effects have statistical significance, indicating that an effect in sample data also likely exists in the population after accounting for:</a:t>
            </a:r>
          </a:p>
          <a:p>
            <a:pPr lvl="1"/>
            <a:r>
              <a:rPr lang="en-US" dirty="0"/>
              <a:t>Random sampling error.</a:t>
            </a:r>
          </a:p>
          <a:p>
            <a:pPr lvl="1"/>
            <a:r>
              <a:rPr lang="en-US" dirty="0"/>
              <a:t>Variability in the data. </a:t>
            </a:r>
          </a:p>
          <a:p>
            <a:pPr lvl="1"/>
            <a:r>
              <a:rPr lang="en-US" dirty="0"/>
              <a:t>Sample size.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743136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3841F-69FE-3249-BD4A-C67CCDF98C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en-US" dirty="0"/>
              <a:t>Flashback – Cohen’s Effect Size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9A6E8C-6885-E34E-9D72-60BD727D40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4"/>
            <a:ext cx="7089668" cy="4037747"/>
          </a:xfrm>
        </p:spPr>
        <p:txBody>
          <a:bodyPr>
            <a:normAutofit/>
          </a:bodyPr>
          <a:lstStyle/>
          <a:p>
            <a:r>
              <a:rPr lang="en-US" dirty="0"/>
              <a:t>Effect size is very good for showing how big of a difference there is between groups.</a:t>
            </a:r>
          </a:p>
          <a:p>
            <a:pPr lvl="1"/>
            <a:r>
              <a:rPr lang="en-US" dirty="0"/>
              <a:t>How ”big” is the difference between A and B</a:t>
            </a:r>
          </a:p>
          <a:p>
            <a:r>
              <a:rPr lang="en-US" dirty="0"/>
              <a:t>Easy to calculate, symmetrical, comparable across studies. </a:t>
            </a:r>
          </a:p>
          <a:p>
            <a:r>
              <a:rPr lang="en-US" dirty="0"/>
              <a:t>Downside – the value doesn’t have obvious meaning. </a:t>
            </a:r>
          </a:p>
          <a:p>
            <a:r>
              <a:rPr lang="en-US" dirty="0"/>
              <a:t>Table is a list of approximate significance, by Cohen himself. </a:t>
            </a:r>
          </a:p>
          <a:p>
            <a:r>
              <a:rPr lang="en-US" dirty="0"/>
              <a:t>Book’s author a huge proponent of effect size!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7DD00A-365A-7D43-BA89-E174F49772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1247" y="2015734"/>
            <a:ext cx="2727388" cy="4479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833513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4EA8A0-5341-A341-9EA8-5EB58536E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Hypothesis Test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496893-51F3-9D49-90F1-1D589AECE2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0577" y="1853754"/>
            <a:ext cx="10058400" cy="4336839"/>
          </a:xfrm>
        </p:spPr>
        <p:txBody>
          <a:bodyPr>
            <a:normAutofit/>
          </a:bodyPr>
          <a:lstStyle/>
          <a:p>
            <a:r>
              <a:rPr lang="en-US" dirty="0"/>
              <a:t>A hypothesis test will seek to answer if two samples that show a difference have that difference due to real effects, or random variation. </a:t>
            </a:r>
          </a:p>
          <a:p>
            <a:pPr lvl="1"/>
            <a:r>
              <a:rPr lang="en-US" dirty="0"/>
              <a:t>A.K.A. did these two samples come from the same population. </a:t>
            </a:r>
          </a:p>
          <a:p>
            <a:r>
              <a:rPr lang="en-US" dirty="0"/>
              <a:t>Define the test statistic – normally the mean.</a:t>
            </a:r>
          </a:p>
          <a:p>
            <a:r>
              <a:rPr lang="en-US" dirty="0"/>
              <a:t>Define a null hypothesis – “there is actually no difference in the means of the two groups.”</a:t>
            </a:r>
          </a:p>
          <a:p>
            <a:r>
              <a:rPr lang="en-US" dirty="0"/>
              <a:t>Compute the p-value – this is what the test does. The probability the NH is true.</a:t>
            </a:r>
          </a:p>
          <a:p>
            <a:r>
              <a:rPr lang="en-US" dirty="0"/>
              <a:t>Compare to the cutoff (alpha) – if the p-value is smaller, we can reject the NH, therefore the difference is statistically significant. </a:t>
            </a:r>
          </a:p>
          <a:p>
            <a:pPr lvl="1"/>
            <a:r>
              <a:rPr lang="en-US" dirty="0"/>
              <a:t>A.K.A. how likely is that that the two samples are from the same pop, and the difference in their means is just random variation.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643613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77C4F1-B4FA-D249-95A6-C649BBD42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BFCAE8-3D2D-2244-81A3-B63518158F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05A565D6-6651-0444-BB8A-EA1D38731B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177800"/>
            <a:ext cx="9753600" cy="650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866384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D611A-CF86-8746-97A4-33E74E2BFF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977805-BE5D-D14C-BD46-5F20F369C2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0A6DAAD8-638A-8643-B668-3E40462E19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863" y="389965"/>
            <a:ext cx="12201726" cy="60780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898285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E8ED4-C6ED-754F-9599-EBCA2583D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T-Tests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609283-AF97-CC4E-8FA2-931D43BA53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6235" y="1853754"/>
            <a:ext cx="10699532" cy="4199727"/>
          </a:xfrm>
        </p:spPr>
        <p:txBody>
          <a:bodyPr>
            <a:normAutofit/>
          </a:bodyPr>
          <a:lstStyle/>
          <a:p>
            <a:r>
              <a:rPr lang="en-US" dirty="0"/>
              <a:t>T-tests allow us to make an estimate of, “is this difference likely real, or could it be due to chance?”</a:t>
            </a:r>
          </a:p>
          <a:p>
            <a:r>
              <a:rPr lang="en-US" dirty="0"/>
              <a:t>Extremely common in basic stats and scientific papers/reports. </a:t>
            </a:r>
          </a:p>
          <a:p>
            <a:r>
              <a:rPr lang="en-US" dirty="0"/>
              <a:t>Weakness – subject to manipulation, becoming less relied on over time. </a:t>
            </a:r>
          </a:p>
          <a:p>
            <a:r>
              <a:rPr lang="en-US" dirty="0"/>
              <a:t>One sample – tests mean against some value.</a:t>
            </a:r>
          </a:p>
          <a:p>
            <a:r>
              <a:rPr lang="en-US" dirty="0"/>
              <a:t>Two sample – tests two means against each other. </a:t>
            </a:r>
          </a:p>
          <a:p>
            <a:r>
              <a:rPr lang="en-US" dirty="0"/>
              <a:t>Sidedness:</a:t>
            </a:r>
          </a:p>
          <a:p>
            <a:pPr lvl="1"/>
            <a:r>
              <a:rPr lang="en-US" dirty="0"/>
              <a:t>One side tests if lesser/greater.</a:t>
            </a:r>
          </a:p>
          <a:p>
            <a:pPr lvl="1"/>
            <a:r>
              <a:rPr lang="en-US" dirty="0"/>
              <a:t>Two-sided tests if different at all. </a:t>
            </a:r>
          </a:p>
        </p:txBody>
      </p:sp>
    </p:spTree>
    <p:extLst>
      <p:ext uri="{BB962C8B-B14F-4D97-AF65-F5344CB8AC3E}">
        <p14:creationId xmlns:p14="http://schemas.microsoft.com/office/powerpoint/2010/main" val="20100478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3D8206E-559D-CE45-85C5-85695AB37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030" y="3536846"/>
            <a:ext cx="1467237" cy="1059305"/>
          </a:xfrm>
        </p:spPr>
        <p:txBody>
          <a:bodyPr/>
          <a:lstStyle/>
          <a:p>
            <a:r>
              <a:rPr lang="en-US" dirty="0"/>
              <a:t>Sides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0E82067-9C80-8E4E-ABC3-85AB34A50B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7002" y="3955982"/>
            <a:ext cx="4598738" cy="2021305"/>
          </a:xfrm>
        </p:spPr>
        <p:txBody>
          <a:bodyPr/>
          <a:lstStyle/>
          <a:p>
            <a:r>
              <a:rPr lang="en-US" dirty="0"/>
              <a:t>Check the examples in 9.3 and 9.4, they show this in the simulation. </a:t>
            </a:r>
          </a:p>
          <a:p>
            <a:r>
              <a:rPr lang="en-US" dirty="0"/>
              <a:t>We need a different test depending on what difference we need.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FA7AFC-CBC7-3E4A-B817-222F190353D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C87F644B-A903-D247-8667-BB7C3B8C95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41300"/>
            <a:ext cx="7416800" cy="3670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>
            <a:extLst>
              <a:ext uri="{FF2B5EF4-FFF2-40B4-BE49-F238E27FC236}">
                <a16:creationId xmlns:a16="http://schemas.microsoft.com/office/drawing/2014/main" id="{97187806-CB83-874B-8736-4A0895D653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740" y="3165007"/>
            <a:ext cx="7569200" cy="365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7341079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B2C08-E1A8-C144-8E09-2D73345AD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Z-tests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1D357-DDDA-BE40-A4A5-256F756EE8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Z-tests do the same basic thing as t-tests, they can be used when:</a:t>
            </a:r>
          </a:p>
          <a:p>
            <a:pPr lvl="1"/>
            <a:r>
              <a:rPr lang="en-US" dirty="0"/>
              <a:t>Sample size is large. (50ish is a rule of thumb), or…</a:t>
            </a:r>
          </a:p>
          <a:p>
            <a:pPr lvl="1"/>
            <a:r>
              <a:rPr lang="en-US" dirty="0"/>
              <a:t>Population variance is known.</a:t>
            </a:r>
          </a:p>
          <a:p>
            <a:r>
              <a:rPr lang="en-US" dirty="0"/>
              <a:t>If that’s not true, use a t-test. (Results will converge with larger samples)</a:t>
            </a:r>
          </a:p>
          <a:p>
            <a:r>
              <a:rPr lang="en-US" dirty="0"/>
              <a:t>Test has more assumptions, so if our data follows that, it is a good option. </a:t>
            </a:r>
          </a:p>
          <a:p>
            <a:endParaRPr lang="en-US" dirty="0"/>
          </a:p>
          <a:p>
            <a:r>
              <a:rPr lang="en-US" dirty="0"/>
              <a:t>More simple if calculating by hand, we kind of don’t really need to care about it…</a:t>
            </a:r>
          </a:p>
        </p:txBody>
      </p:sp>
    </p:spTree>
    <p:extLst>
      <p:ext uri="{BB962C8B-B14F-4D97-AF65-F5344CB8AC3E}">
        <p14:creationId xmlns:p14="http://schemas.microsoft.com/office/powerpoint/2010/main" val="231830804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70">
            <a:extLst>
              <a:ext uri="{FF2B5EF4-FFF2-40B4-BE49-F238E27FC236}">
                <a16:creationId xmlns:a16="http://schemas.microsoft.com/office/drawing/2014/main" id="{CDDE5CDF-1512-4CDA-B956-23D223F8DE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73" name="Picture 72">
            <a:extLst>
              <a:ext uri="{FF2B5EF4-FFF2-40B4-BE49-F238E27FC236}">
                <a16:creationId xmlns:a16="http://schemas.microsoft.com/office/drawing/2014/main" id="{B029D7D8-5A6B-4C76-94C8-15798C6C5A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A5C9319C-E20D-4884-952F-60B6A58C3E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77" name="Rectangle 76">
            <a:extLst>
              <a:ext uri="{FF2B5EF4-FFF2-40B4-BE49-F238E27FC236}">
                <a16:creationId xmlns:a16="http://schemas.microsoft.com/office/drawing/2014/main" id="{F1176DA6-4BBF-42A4-9C94-E6613CCD6B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99AAB0AE-172B-4FB4-80C2-86CD6B8242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chemeClr val="bg1"/>
          </a:solidFill>
          <a:ln w="222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8D98FC15-87F0-4843-B3F3-DD1B0449876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3467" y="975360"/>
            <a:ext cx="10905066" cy="49072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421947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F65A3-A0AA-C8BA-F107-02720C438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8BF645-09AC-09C0-E33F-B83072CCE9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 descr="Difference between Z-Test and T-Test - GeeksforGeeks">
            <a:extLst>
              <a:ext uri="{FF2B5EF4-FFF2-40B4-BE49-F238E27FC236}">
                <a16:creationId xmlns:a16="http://schemas.microsoft.com/office/drawing/2014/main" id="{9C9F8A59-48EA-7FC7-1944-08D77554B6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63563"/>
            <a:ext cx="12192000" cy="5730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2735125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F6A2-1A31-8B79-3CFC-B3423C81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Calculating the tests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643535-FDC0-4308-035D-72BE61B95A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Calculate t-value">
            <a:extLst>
              <a:ext uri="{FF2B5EF4-FFF2-40B4-BE49-F238E27FC236}">
                <a16:creationId xmlns:a16="http://schemas.microsoft.com/office/drawing/2014/main" id="{C6994AD9-7FFF-C14D-0713-EA35750445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9781" y="747293"/>
            <a:ext cx="6451600" cy="2374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t-value in t-test independent samples">
            <a:extLst>
              <a:ext uri="{FF2B5EF4-FFF2-40B4-BE49-F238E27FC236}">
                <a16:creationId xmlns:a16="http://schemas.microsoft.com/office/drawing/2014/main" id="{5E70AE33-CBEB-4E17-FF8D-554B1F332B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4081" y="2899168"/>
            <a:ext cx="5067300" cy="3886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7085868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40032-86EE-D042-A41F-F73A666B9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Assumptions – Parametric </a:t>
            </a:r>
            <a:r>
              <a:rPr lang="en-US" dirty="0" err="1"/>
              <a:t>TEst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AA6E6A-2A74-D642-A764-13B0702EDB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17170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Data is normally distributed. </a:t>
            </a:r>
          </a:p>
          <a:p>
            <a:pPr lvl="1"/>
            <a:r>
              <a:rPr lang="en-US" dirty="0"/>
              <a:t>Central limit theorem (more on this later) – as you get more data, samples of many things become more normal. </a:t>
            </a:r>
          </a:p>
          <a:p>
            <a:pPr lvl="1"/>
            <a:r>
              <a:rPr lang="en-US" dirty="0"/>
              <a:t>Non-normal data can sometimes be transformed (e.g. log income from last week)</a:t>
            </a:r>
          </a:p>
          <a:p>
            <a:r>
              <a:rPr lang="en-US" dirty="0"/>
              <a:t>Equal variance:</a:t>
            </a:r>
          </a:p>
          <a:p>
            <a:pPr lvl="1"/>
            <a:r>
              <a:rPr lang="en-US" dirty="0"/>
              <a:t>Argument in </a:t>
            </a:r>
            <a:r>
              <a:rPr lang="en-US" dirty="0" err="1"/>
              <a:t>scipy</a:t>
            </a:r>
            <a:r>
              <a:rPr lang="en-US" dirty="0"/>
              <a:t> t-test. </a:t>
            </a:r>
          </a:p>
          <a:p>
            <a:pPr lvl="1"/>
            <a:r>
              <a:rPr lang="en-US" dirty="0"/>
              <a:t>Normal t-test assumes true, Welch’s does not. </a:t>
            </a:r>
          </a:p>
          <a:p>
            <a:r>
              <a:rPr lang="en-US" dirty="0"/>
              <a:t>Observations are independent. </a:t>
            </a:r>
          </a:p>
          <a:p>
            <a:r>
              <a:rPr lang="en-US" dirty="0"/>
              <a:t>No/minimal outliers. </a:t>
            </a:r>
          </a:p>
          <a:p>
            <a:pPr lvl="1"/>
            <a:r>
              <a:rPr lang="en-US" dirty="0"/>
              <a:t>There’s a “trim” option to take out outliers in the </a:t>
            </a:r>
            <a:r>
              <a:rPr lang="en-US" dirty="0" err="1"/>
              <a:t>scipy</a:t>
            </a:r>
            <a:r>
              <a:rPr lang="en-US" dirty="0"/>
              <a:t> stuff. </a:t>
            </a:r>
          </a:p>
        </p:txBody>
      </p:sp>
    </p:spTree>
    <p:extLst>
      <p:ext uri="{BB962C8B-B14F-4D97-AF65-F5344CB8AC3E}">
        <p14:creationId xmlns:p14="http://schemas.microsoft.com/office/powerpoint/2010/main" val="333644763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DE78B-CAB7-B840-A8D2-2FF5E9523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Tests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83A866-680A-0A46-BAC5-898B2DB87A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3"/>
            <a:ext cx="9603275" cy="419972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There are many other statistical tests that can be useful in other scenarios. </a:t>
            </a:r>
          </a:p>
          <a:p>
            <a:pPr lvl="1"/>
            <a:r>
              <a:rPr lang="en-US" dirty="0"/>
              <a:t>We’ll look at a couple next week in more detail. </a:t>
            </a:r>
          </a:p>
          <a:p>
            <a:r>
              <a:rPr lang="en-US" dirty="0"/>
              <a:t>We can look one up based on our scenario, if needed. Some common ones:</a:t>
            </a:r>
          </a:p>
          <a:p>
            <a:pPr lvl="1"/>
            <a:r>
              <a:rPr lang="en-US" dirty="0"/>
              <a:t>ANOVA (analysis of variance) – Test means of 3+ groups. </a:t>
            </a:r>
          </a:p>
          <a:p>
            <a:pPr lvl="1"/>
            <a:r>
              <a:rPr lang="en-US" dirty="0"/>
              <a:t>Chi2 – dealing with discreet data expectations. </a:t>
            </a:r>
          </a:p>
          <a:p>
            <a:pPr lvl="1"/>
            <a:r>
              <a:rPr lang="en-US" dirty="0"/>
              <a:t>Mann-Whitney – T-test equivalent with no assumption of distributions. </a:t>
            </a:r>
          </a:p>
          <a:p>
            <a:r>
              <a:rPr lang="en-US" dirty="0"/>
              <a:t>For most of these we can call their function directly in </a:t>
            </a:r>
            <a:r>
              <a:rPr lang="en-US" dirty="0" err="1"/>
              <a:t>scipy</a:t>
            </a:r>
            <a:r>
              <a:rPr lang="en-US" dirty="0"/>
              <a:t>. </a:t>
            </a:r>
          </a:p>
          <a:p>
            <a:pPr lvl="1"/>
            <a:r>
              <a:rPr lang="en-US" dirty="0"/>
              <a:t>Will run the test based on the calculations, with assumptions inbuilt.</a:t>
            </a:r>
          </a:p>
          <a:p>
            <a:r>
              <a:rPr lang="en-US" dirty="0"/>
              <a:t>Our simulation loops are generic versions of this – we can build anything. </a:t>
            </a:r>
          </a:p>
          <a:p>
            <a:pPr lvl="1"/>
            <a:r>
              <a:rPr lang="en-US" dirty="0"/>
              <a:t>We don’t need to know the test theory as long as we have the probability model. </a:t>
            </a:r>
          </a:p>
        </p:txBody>
      </p:sp>
    </p:spTree>
    <p:extLst>
      <p:ext uri="{BB962C8B-B14F-4D97-AF65-F5344CB8AC3E}">
        <p14:creationId xmlns:p14="http://schemas.microsoft.com/office/powerpoint/2010/main" val="153067425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034D5-E952-294B-AC81-5584708DA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en-US" dirty="0"/>
              <a:t>Demise of Hypothesis Testing</a:t>
            </a:r>
          </a:p>
        </p:txBody>
      </p:sp>
      <p:pic>
        <p:nvPicPr>
          <p:cNvPr id="8194" name="Picture 2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843CC31A-A8D8-D94B-BE98-0485868397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91739" y="2111065"/>
            <a:ext cx="6038708" cy="2979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E53707-A64A-6E40-9F66-E23093385A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0447" y="1853755"/>
            <a:ext cx="5769814" cy="4199726"/>
          </a:xfrm>
        </p:spPr>
        <p:txBody>
          <a:bodyPr>
            <a:normAutofit fontScale="92500"/>
          </a:bodyPr>
          <a:lstStyle/>
          <a:p>
            <a:pPr>
              <a:lnSpc>
                <a:spcPct val="110000"/>
              </a:lnSpc>
            </a:pPr>
            <a:r>
              <a:rPr lang="en-US" sz="1800" dirty="0"/>
              <a:t>P-values are (somewhat) on their way out. 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Banned from some medical journals as too easy to pass. 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NHST = null </a:t>
            </a:r>
            <a:r>
              <a:rPr lang="en-US" dirty="0" err="1"/>
              <a:t>hyp</a:t>
            </a:r>
            <a:r>
              <a:rPr lang="en-US" dirty="0"/>
              <a:t>. significance testing. </a:t>
            </a:r>
          </a:p>
          <a:p>
            <a:pPr>
              <a:lnSpc>
                <a:spcPct val="110000"/>
              </a:lnSpc>
            </a:pPr>
            <a:r>
              <a:rPr lang="en-US" sz="1800" dirty="0"/>
              <a:t>Unfortunately, and surprisingly, there’s no perfect alternative. </a:t>
            </a:r>
          </a:p>
          <a:p>
            <a:pPr>
              <a:lnSpc>
                <a:spcPct val="110000"/>
              </a:lnSpc>
            </a:pPr>
            <a:r>
              <a:rPr lang="en-US" sz="1800" dirty="0"/>
              <a:t>What do we do???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Effect size. 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Estimate mean with standard error and confidence intervals. 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Bayesian estimation (we </a:t>
            </a:r>
            <a:r>
              <a:rPr lang="en-US" i="1" dirty="0"/>
              <a:t>might</a:t>
            </a:r>
            <a:r>
              <a:rPr lang="en-US" dirty="0"/>
              <a:t> touch on this later)</a:t>
            </a:r>
          </a:p>
          <a:p>
            <a:pPr>
              <a:lnSpc>
                <a:spcPct val="110000"/>
              </a:lnSpc>
            </a:pPr>
            <a:r>
              <a:rPr lang="en-US" dirty="0"/>
              <a:t>Real statisticians are actively debating this – we don’t have a firm answer. </a:t>
            </a:r>
          </a:p>
        </p:txBody>
      </p:sp>
    </p:spTree>
    <p:extLst>
      <p:ext uri="{BB962C8B-B14F-4D97-AF65-F5344CB8AC3E}">
        <p14:creationId xmlns:p14="http://schemas.microsoft.com/office/powerpoint/2010/main" val="255112456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61DA4-0DF2-D249-9DDF-0D62D36A5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en-US" dirty="0"/>
              <a:t>P Hacking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C14BC6-77F4-534E-A32E-70385FECA6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4"/>
            <a:ext cx="5622284" cy="3450613"/>
          </a:xfrm>
        </p:spPr>
        <p:txBody>
          <a:bodyPr>
            <a:normAutofit/>
          </a:bodyPr>
          <a:lstStyle/>
          <a:p>
            <a:endParaRPr lang="en-US"/>
          </a:p>
        </p:txBody>
      </p:sp>
      <p:pic>
        <p:nvPicPr>
          <p:cNvPr id="2050" name="Picture 2" descr="A Useful Urinal Etiquette Guide For All Men, Everywhere - Mandatory">
            <a:extLst>
              <a:ext uri="{FF2B5EF4-FFF2-40B4-BE49-F238E27FC236}">
                <a16:creationId xmlns:a16="http://schemas.microsoft.com/office/drawing/2014/main" id="{28D2CAA2-1578-214A-8E05-B004899949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60637" y="2015734"/>
            <a:ext cx="6422388" cy="36125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A Look into Computer Hacking - WORT 89.9 FM">
            <a:extLst>
              <a:ext uri="{FF2B5EF4-FFF2-40B4-BE49-F238E27FC236}">
                <a16:creationId xmlns:a16="http://schemas.microsoft.com/office/drawing/2014/main" id="{15F358B1-FC4A-244D-AA90-5BBAAA1F7F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9656" y="2107248"/>
            <a:ext cx="5241707" cy="45777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6959420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8E8B3-406C-794A-B1EF-BCB803974B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P-Hacking?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B6F98D-1784-EC4E-A263-DBC24CE4E9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287273"/>
          </a:xfrm>
        </p:spPr>
        <p:txBody>
          <a:bodyPr>
            <a:normAutofit/>
          </a:bodyPr>
          <a:lstStyle/>
          <a:p>
            <a:r>
              <a:rPr lang="en-US" dirty="0"/>
              <a:t>Generally, we (the royal one) are looking to demonstrate significance:</a:t>
            </a:r>
          </a:p>
          <a:p>
            <a:pPr lvl="1"/>
            <a:r>
              <a:rPr lang="en-US" dirty="0"/>
              <a:t>This drug works – the people who took it live longer.</a:t>
            </a:r>
          </a:p>
          <a:p>
            <a:pPr lvl="1"/>
            <a:r>
              <a:rPr lang="en-US" dirty="0"/>
              <a:t>This thing I noticed in my thesis is real – some effect is due to a real thing, not randomness.</a:t>
            </a:r>
          </a:p>
          <a:p>
            <a:pPr lvl="1"/>
            <a:r>
              <a:rPr lang="en-US" dirty="0"/>
              <a:t>This difference matters – group A really is different from group B. </a:t>
            </a:r>
          </a:p>
          <a:p>
            <a:r>
              <a:rPr lang="en-US" dirty="0"/>
              <a:t>95% confidence is only 19 times out of 20. </a:t>
            </a:r>
          </a:p>
          <a:p>
            <a:r>
              <a:rPr lang="en-US" dirty="0"/>
              <a:t>If we just want to show something is significant:</a:t>
            </a:r>
          </a:p>
          <a:p>
            <a:pPr lvl="1"/>
            <a:r>
              <a:rPr lang="en-US" dirty="0"/>
              <a:t>Manipulate variables</a:t>
            </a:r>
          </a:p>
          <a:p>
            <a:pPr lvl="1"/>
            <a:r>
              <a:rPr lang="en-US" dirty="0"/>
              <a:t>Repeat testing with different details (test stats, sample size, </a:t>
            </a:r>
            <a:r>
              <a:rPr lang="en-US" dirty="0" err="1"/>
              <a:t>etc</a:t>
            </a:r>
            <a:r>
              <a:rPr lang="en-US" dirty="0"/>
              <a:t>…) </a:t>
            </a:r>
          </a:p>
          <a:p>
            <a:pPr lvl="1"/>
            <a:r>
              <a:rPr lang="en-US" dirty="0"/>
              <a:t>Find a small p</a:t>
            </a:r>
          </a:p>
          <a:p>
            <a:pPr lvl="1"/>
            <a:r>
              <a:rPr lang="en-US" dirty="0"/>
              <a:t>Publish!!!!!!!</a:t>
            </a:r>
          </a:p>
        </p:txBody>
      </p:sp>
    </p:spTree>
    <p:extLst>
      <p:ext uri="{BB962C8B-B14F-4D97-AF65-F5344CB8AC3E}">
        <p14:creationId xmlns:p14="http://schemas.microsoft.com/office/powerpoint/2010/main" val="293029158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F0982-DE8D-644B-8D71-3992533212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en-US" dirty="0"/>
              <a:t>Data Dredging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BAD69F-CDE9-8746-8218-37FB9AD709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6" y="1931651"/>
            <a:ext cx="6334157" cy="4199642"/>
          </a:xfrm>
        </p:spPr>
        <p:txBody>
          <a:bodyPr>
            <a:normAutofit/>
          </a:bodyPr>
          <a:lstStyle/>
          <a:p>
            <a:r>
              <a:rPr lang="en-US" sz="2400" dirty="0"/>
              <a:t>P Hacking is one example of Data Dredging:</a:t>
            </a:r>
          </a:p>
          <a:p>
            <a:pPr lvl="1"/>
            <a:r>
              <a:rPr lang="en-US" sz="2000" dirty="0"/>
              <a:t>Manipulating analysis to find justification for a predetermined result. </a:t>
            </a:r>
          </a:p>
          <a:p>
            <a:r>
              <a:rPr lang="en-US" sz="2400" dirty="0"/>
              <a:t>E.g. if I want to show correlation, predictive value, or similar for an example, I can:</a:t>
            </a:r>
          </a:p>
          <a:p>
            <a:pPr lvl="1"/>
            <a:r>
              <a:rPr lang="en-US" sz="2000" dirty="0"/>
              <a:t>Remove (or add) data arbitrarily to change results. </a:t>
            </a:r>
          </a:p>
          <a:p>
            <a:pPr lvl="1"/>
            <a:r>
              <a:rPr lang="en-US" sz="2000" dirty="0"/>
              <a:t>Transform data in some way.</a:t>
            </a:r>
          </a:p>
          <a:p>
            <a:pPr lvl="1"/>
            <a:r>
              <a:rPr lang="en-US" sz="2000" dirty="0"/>
              <a:t>Run a test, then change things to get what I want. </a:t>
            </a:r>
          </a:p>
        </p:txBody>
      </p:sp>
      <p:pic>
        <p:nvPicPr>
          <p:cNvPr id="3074" name="Picture 2" descr="Lies, Damn Lies, and Statistics: How the COVID-19 Crisis Highlights Our  Misuse of Data | Foley Hoag LLP - Environmental Law - JDSupra">
            <a:extLst>
              <a:ext uri="{FF2B5EF4-FFF2-40B4-BE49-F238E27FC236}">
                <a16:creationId xmlns:a16="http://schemas.microsoft.com/office/drawing/2014/main" id="{22FBCF00-8A1B-034C-BF4C-A4471315BE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696227" y="1931651"/>
            <a:ext cx="5495774" cy="4121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9378966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1156D-A56A-0842-B741-09E6D744E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Don’t be a P Hacker (Unless Maybe if grant Funding Depends on it)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C2E57C-E69A-784E-B887-A6B8D10B92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37749"/>
          </a:xfrm>
        </p:spPr>
        <p:txBody>
          <a:bodyPr/>
          <a:lstStyle/>
          <a:p>
            <a:r>
              <a:rPr lang="en-US" dirty="0"/>
              <a:t>Share process, not just results. </a:t>
            </a:r>
          </a:p>
          <a:p>
            <a:r>
              <a:rPr lang="en-US" dirty="0"/>
              <a:t>Look for multiple metrics of significance that agree with each other. </a:t>
            </a:r>
          </a:p>
          <a:p>
            <a:r>
              <a:rPr lang="en-US" dirty="0"/>
              <a:t>Just “don’t” – avoid searching for ways to force data to show what you want. </a:t>
            </a:r>
          </a:p>
          <a:p>
            <a:pPr lvl="1"/>
            <a:r>
              <a:rPr lang="en-US" dirty="0"/>
              <a:t>P hacking usually involves extra work – changing test statistics, filtering data, </a:t>
            </a:r>
            <a:r>
              <a:rPr lang="en-US" dirty="0" err="1"/>
              <a:t>etc</a:t>
            </a:r>
            <a:r>
              <a:rPr lang="en-US" dirty="0"/>
              <a:t>…</a:t>
            </a:r>
          </a:p>
          <a:p>
            <a:pPr lvl="1"/>
            <a:r>
              <a:rPr lang="en-US" dirty="0"/>
              <a:t>If an experiment is well designed, we live with the results. </a:t>
            </a:r>
          </a:p>
          <a:p>
            <a:r>
              <a:rPr lang="en-US" dirty="0"/>
              <a:t>This is a malicious application of stats – we should be offended!!!!!</a:t>
            </a:r>
          </a:p>
          <a:p>
            <a:pPr lvl="1"/>
            <a:r>
              <a:rPr lang="en-US" dirty="0"/>
              <a:t>Biologists, doctors, </a:t>
            </a:r>
            <a:r>
              <a:rPr lang="en-US" dirty="0" err="1"/>
              <a:t>etc</a:t>
            </a:r>
            <a:r>
              <a:rPr lang="en-US" dirty="0"/>
              <a:t>… misuse our precious math to make their crap sciences look legit. </a:t>
            </a:r>
          </a:p>
          <a:p>
            <a:r>
              <a:rPr lang="en-US" dirty="0"/>
              <a:t>If you need to show your research shows significance, then hack away at your p. </a:t>
            </a:r>
          </a:p>
        </p:txBody>
      </p:sp>
    </p:spTree>
    <p:extLst>
      <p:ext uri="{BB962C8B-B14F-4D97-AF65-F5344CB8AC3E}">
        <p14:creationId xmlns:p14="http://schemas.microsoft.com/office/powerpoint/2010/main" val="117925035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A09831-7E84-56B1-A8CD-FAD283E9C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.05 is Arbitrary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D6DA83-67FA-CB88-7DBE-95788FFFB0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3"/>
            <a:ext cx="9603275" cy="4199727"/>
          </a:xfrm>
        </p:spPr>
        <p:txBody>
          <a:bodyPr/>
          <a:lstStyle/>
          <a:p>
            <a:r>
              <a:rPr lang="en-US" dirty="0"/>
              <a:t>.05 is the ‘standard’ p value that is almost always taken as a default. </a:t>
            </a:r>
          </a:p>
          <a:p>
            <a:pPr lvl="1"/>
            <a:r>
              <a:rPr lang="en-US" dirty="0"/>
              <a:t>When I learned science stuff in jr. high this was an unexplained rule. </a:t>
            </a:r>
          </a:p>
          <a:p>
            <a:r>
              <a:rPr lang="en-US" dirty="0"/>
              <a:t>.05 means that there is a 5% chance that the effect could occur randomly. </a:t>
            </a:r>
          </a:p>
          <a:p>
            <a:pPr lvl="1"/>
            <a:r>
              <a:rPr lang="en-US" dirty="0"/>
              <a:t>That’s not really very unlikely in many situations. </a:t>
            </a:r>
          </a:p>
          <a:p>
            <a:r>
              <a:rPr lang="en-US" dirty="0"/>
              <a:t>Depending on what we are dealing with, other cutoffs may make sense. </a:t>
            </a:r>
          </a:p>
          <a:p>
            <a:r>
              <a:rPr lang="en-US" dirty="0"/>
              <a:t>Book gives a good order-of-magnitude based rule of thumb:</a:t>
            </a:r>
          </a:p>
          <a:p>
            <a:pPr lvl="1"/>
            <a:r>
              <a:rPr lang="en-US" dirty="0"/>
              <a:t>&lt; 1% is very unlikely to occur by chance. </a:t>
            </a:r>
          </a:p>
          <a:p>
            <a:pPr lvl="1"/>
            <a:r>
              <a:rPr lang="en-US" dirty="0"/>
              <a:t>&gt; 10% is likely to occur by chance. </a:t>
            </a:r>
          </a:p>
          <a:p>
            <a:pPr lvl="1"/>
            <a:r>
              <a:rPr lang="en-US" dirty="0"/>
              <a:t>1% to 10% are plausible to occur by chance, and require more detailed examination. </a:t>
            </a:r>
          </a:p>
        </p:txBody>
      </p:sp>
    </p:spTree>
    <p:extLst>
      <p:ext uri="{BB962C8B-B14F-4D97-AF65-F5344CB8AC3E}">
        <p14:creationId xmlns:p14="http://schemas.microsoft.com/office/powerpoint/2010/main" val="153218989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997495-5BBD-FBAA-72DB-9E98F2E8A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does P Really mean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F8EA6A-16CA-A4ED-727E-348D1853BF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 value shows us one important source of error. </a:t>
            </a:r>
          </a:p>
          <a:p>
            <a:pPr lvl="1"/>
            <a:r>
              <a:rPr lang="en-US" dirty="0"/>
              <a:t>Probability that the effect seen appears real but is fake (doesn’t hold in population). </a:t>
            </a:r>
          </a:p>
          <a:p>
            <a:r>
              <a:rPr lang="en-US" dirty="0"/>
              <a:t>Is there any other way that we could be wrong?...</a:t>
            </a:r>
          </a:p>
          <a:p>
            <a:pPr lvl="1"/>
            <a:r>
              <a:rPr lang="en-US" dirty="0"/>
              <a:t>What if a drug works but we observe in a sample that it doesn’t?</a:t>
            </a:r>
          </a:p>
        </p:txBody>
      </p:sp>
    </p:spTree>
    <p:extLst>
      <p:ext uri="{BB962C8B-B14F-4D97-AF65-F5344CB8AC3E}">
        <p14:creationId xmlns:p14="http://schemas.microsoft.com/office/powerpoint/2010/main" val="123148687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35BE2D-F548-0127-319A-2B53F05C6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Hypothesis tests and you!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EABB56-8944-BD49-D204-10BA7A987A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5"/>
            <a:ext cx="9603275" cy="4199726"/>
          </a:xfrm>
        </p:spPr>
        <p:txBody>
          <a:bodyPr/>
          <a:lstStyle/>
          <a:p>
            <a:r>
              <a:rPr lang="en-US" dirty="0"/>
              <a:t>These hypothesis tests are specific parametric applications of our simulation loops. </a:t>
            </a:r>
          </a:p>
          <a:p>
            <a:pPr lvl="1"/>
            <a:r>
              <a:rPr lang="en-US" dirty="0"/>
              <a:t>Each hypothesis tests says, “out of N trials how many…”</a:t>
            </a:r>
          </a:p>
          <a:p>
            <a:pPr lvl="1"/>
            <a:r>
              <a:rPr lang="en-US" dirty="0"/>
              <a:t>E.g. out of 100 times, how many will randomly show a difference in life exp. </a:t>
            </a:r>
          </a:p>
          <a:p>
            <a:pPr lvl="1"/>
            <a:r>
              <a:rPr lang="en-US" dirty="0"/>
              <a:t>Or, what is the probability of this difference being due to random selection. </a:t>
            </a:r>
          </a:p>
          <a:p>
            <a:r>
              <a:rPr lang="en-US" dirty="0"/>
              <a:t>If we can create some function for one trial/round we can run this directly.  </a:t>
            </a:r>
          </a:p>
          <a:p>
            <a:pPr lvl="1"/>
            <a:r>
              <a:rPr lang="en-US" dirty="0"/>
              <a:t>Analytical distribution, probability function, </a:t>
            </a:r>
            <a:r>
              <a:rPr lang="en-US" dirty="0" err="1"/>
              <a:t>etc</a:t>
            </a:r>
            <a:r>
              <a:rPr lang="en-US" dirty="0"/>
              <a:t>…</a:t>
            </a:r>
          </a:p>
          <a:p>
            <a:pPr lvl="1"/>
            <a:r>
              <a:rPr lang="en-US" dirty="0"/>
              <a:t>Hypothesis test formulas rely on assumptions since they didn’t have computers. </a:t>
            </a:r>
          </a:p>
          <a:p>
            <a:r>
              <a:rPr lang="en-US" dirty="0"/>
              <a:t>Our loops are flexible, we can do hypothesis tests and more. </a:t>
            </a:r>
          </a:p>
          <a:p>
            <a:pPr lvl="1"/>
            <a:r>
              <a:rPr lang="en-US" dirty="0"/>
              <a:t>This is actually very cool and big, we can do much of inferential stats with these two things. </a:t>
            </a:r>
          </a:p>
        </p:txBody>
      </p:sp>
    </p:spTree>
    <p:extLst>
      <p:ext uri="{BB962C8B-B14F-4D97-AF65-F5344CB8AC3E}">
        <p14:creationId xmlns:p14="http://schemas.microsoft.com/office/powerpoint/2010/main" val="308992950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F4EF1-D8B6-7402-0B52-AD514C759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Model Bits…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7B347B-78E9-C7B0-1AFC-E5F83D3A02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199727"/>
          </a:xfrm>
        </p:spPr>
        <p:txBody>
          <a:bodyPr/>
          <a:lstStyle/>
          <a:p>
            <a:r>
              <a:rPr lang="en-US" dirty="0"/>
              <a:t>Some parts of the model idea are really important as we move to ML. </a:t>
            </a:r>
          </a:p>
          <a:p>
            <a:r>
              <a:rPr lang="en-US" dirty="0"/>
              <a:t>Create a model – the analytical model is our expectation of what this data will look like. </a:t>
            </a:r>
          </a:p>
          <a:p>
            <a:pPr lvl="1"/>
            <a:r>
              <a:rPr lang="en-US" dirty="0"/>
              <a:t>We create it from the patterns of the old data. </a:t>
            </a:r>
          </a:p>
          <a:p>
            <a:r>
              <a:rPr lang="en-US" dirty="0"/>
              <a:t>Once a model exists, we can use it to make predictions for future data. </a:t>
            </a:r>
          </a:p>
          <a:p>
            <a:r>
              <a:rPr lang="en-US" dirty="0"/>
              <a:t>Our predictions can be used to figure stuff out, probabilistically: </a:t>
            </a:r>
          </a:p>
          <a:p>
            <a:pPr lvl="1"/>
            <a:r>
              <a:rPr lang="en-US" dirty="0"/>
              <a:t>Generalizing from a sample to a population. </a:t>
            </a:r>
          </a:p>
          <a:p>
            <a:pPr lvl="1"/>
            <a:r>
              <a:rPr lang="en-US" dirty="0"/>
              <a:t>Comparing distributions/values in a hypothesis test. </a:t>
            </a:r>
          </a:p>
          <a:p>
            <a:r>
              <a:rPr lang="en-US" dirty="0"/>
              <a:t>Our predictions will be better with a better fit between model and reality. </a:t>
            </a:r>
          </a:p>
          <a:p>
            <a:pPr lvl="1"/>
            <a:r>
              <a:rPr lang="en-US" dirty="0"/>
              <a:t>The closer our data follows the pattern we assign, the better (less error, more conf.). </a:t>
            </a:r>
          </a:p>
        </p:txBody>
      </p:sp>
    </p:spTree>
    <p:extLst>
      <p:ext uri="{BB962C8B-B14F-4D97-AF65-F5344CB8AC3E}">
        <p14:creationId xmlns:p14="http://schemas.microsoft.com/office/powerpoint/2010/main" val="4142961316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{2C098A6B-0D6A-6740-AB07-6AAE29A34FE3}tf10001119</Template>
  <TotalTime>18235</TotalTime>
  <Words>4330</Words>
  <Application>Microsoft Macintosh PowerPoint</Application>
  <PresentationFormat>Widescreen</PresentationFormat>
  <Paragraphs>379</Paragraphs>
  <Slides>51</Slides>
  <Notes>1</Notes>
  <HiddenSlides>9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5" baseType="lpstr">
      <vt:lpstr>Arial</vt:lpstr>
      <vt:lpstr>Calibri</vt:lpstr>
      <vt:lpstr>Gill Sans MT</vt:lpstr>
      <vt:lpstr>Gallery</vt:lpstr>
      <vt:lpstr>Review – Get Hyp’d!</vt:lpstr>
      <vt:lpstr>Test Framework</vt:lpstr>
      <vt:lpstr>Common usages for Hypothesis Tests</vt:lpstr>
      <vt:lpstr>Housekeeping</vt:lpstr>
      <vt:lpstr>Don’t Get Scammed By my Exam</vt:lpstr>
      <vt:lpstr>Don’t get Scammed by my Exam, cont.</vt:lpstr>
      <vt:lpstr>Don’t get Scammed by my Exam, cont.</vt:lpstr>
      <vt:lpstr>Housekeeping:</vt:lpstr>
      <vt:lpstr>Some Stuff</vt:lpstr>
      <vt:lpstr>Hypothesis Testing</vt:lpstr>
      <vt:lpstr>Hypothesis Test</vt:lpstr>
      <vt:lpstr>Recall - Estimation</vt:lpstr>
      <vt:lpstr>Recall - Estimation</vt:lpstr>
      <vt:lpstr>Making Predictions</vt:lpstr>
      <vt:lpstr>Using Simulations</vt:lpstr>
      <vt:lpstr>Effects Flashback – Cohen’s Effect Size</vt:lpstr>
      <vt:lpstr>Inferencing Effects</vt:lpstr>
      <vt:lpstr>What’s a Hypothesis Test?</vt:lpstr>
      <vt:lpstr>Don’t Get too Confident</vt:lpstr>
      <vt:lpstr>Hypothesis Testing From Scratch</vt:lpstr>
      <vt:lpstr>Realistic Example</vt:lpstr>
      <vt:lpstr>Build a Hypothesis</vt:lpstr>
      <vt:lpstr>Ok, so… Do it!</vt:lpstr>
      <vt:lpstr>Specific Implementations</vt:lpstr>
      <vt:lpstr>It’s Science!!</vt:lpstr>
      <vt:lpstr>The Results - Significance</vt:lpstr>
      <vt:lpstr>Hypothesis Testing throwback</vt:lpstr>
      <vt:lpstr>Workin’ on the ‘P’</vt:lpstr>
      <vt:lpstr>Hypothesis Tests </vt:lpstr>
      <vt:lpstr>What’s a Hypothesis Test?</vt:lpstr>
      <vt:lpstr>Flashback – Cohen’s Effect Size</vt:lpstr>
      <vt:lpstr>Hypothesis Test process</vt:lpstr>
      <vt:lpstr>PowerPoint Presentation</vt:lpstr>
      <vt:lpstr>PowerPoint Presentation</vt:lpstr>
      <vt:lpstr>T-Tests</vt:lpstr>
      <vt:lpstr>Sides</vt:lpstr>
      <vt:lpstr>Z-tests</vt:lpstr>
      <vt:lpstr>PowerPoint Presentation</vt:lpstr>
      <vt:lpstr>PowerPoint Presentation</vt:lpstr>
      <vt:lpstr>Calculating the tests</vt:lpstr>
      <vt:lpstr>Test Assumptions – Parametric TEst</vt:lpstr>
      <vt:lpstr>Other Tests</vt:lpstr>
      <vt:lpstr>Demise of Hypothesis Testing</vt:lpstr>
      <vt:lpstr>P Hacking</vt:lpstr>
      <vt:lpstr>What is P-Hacking?</vt:lpstr>
      <vt:lpstr>Data Dredging</vt:lpstr>
      <vt:lpstr>Don’t be a P Hacker (Unless Maybe if grant Funding Depends on it)</vt:lpstr>
      <vt:lpstr>.05 is Arbitrary</vt:lpstr>
      <vt:lpstr>What does P Really mean</vt:lpstr>
      <vt:lpstr>Hypothesis tests and you!</vt:lpstr>
      <vt:lpstr>Key Model Bits…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Hypothesis Testing</dc:title>
  <dc:creator>Akeem Semper</dc:creator>
  <cp:lastModifiedBy>Akeem Semper</cp:lastModifiedBy>
  <cp:revision>54</cp:revision>
  <dcterms:created xsi:type="dcterms:W3CDTF">2021-10-29T15:13:27Z</dcterms:created>
  <dcterms:modified xsi:type="dcterms:W3CDTF">2025-10-27T18:32:49Z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0877899-02b0-462c-b2a9-b7d15c4f96fe_Enabled">
    <vt:lpwstr>true</vt:lpwstr>
  </property>
  <property fmtid="{D5CDD505-2E9C-101B-9397-08002B2CF9AE}" pid="3" name="MSIP_Label_10877899-02b0-462c-b2a9-b7d15c4f96fe_SetDate">
    <vt:lpwstr>2025-10-19T16:09:35Z</vt:lpwstr>
  </property>
  <property fmtid="{D5CDD505-2E9C-101B-9397-08002B2CF9AE}" pid="4" name="MSIP_Label_10877899-02b0-462c-b2a9-b7d15c4f96fe_Method">
    <vt:lpwstr>Standard</vt:lpwstr>
  </property>
  <property fmtid="{D5CDD505-2E9C-101B-9397-08002B2CF9AE}" pid="5" name="MSIP_Label_10877899-02b0-462c-b2a9-b7d15c4f96fe_Name">
    <vt:lpwstr>Protected [Protected A]</vt:lpwstr>
  </property>
  <property fmtid="{D5CDD505-2E9C-101B-9397-08002B2CF9AE}" pid="6" name="MSIP_Label_10877899-02b0-462c-b2a9-b7d15c4f96fe_SiteId">
    <vt:lpwstr>5c98fb47-d3b9-4649-9d94-f88cbdd9729c</vt:lpwstr>
  </property>
  <property fmtid="{D5CDD505-2E9C-101B-9397-08002B2CF9AE}" pid="7" name="MSIP_Label_10877899-02b0-462c-b2a9-b7d15c4f96fe_ActionId">
    <vt:lpwstr>e0782931-1af2-47c5-91b0-fc3d944999fe</vt:lpwstr>
  </property>
  <property fmtid="{D5CDD505-2E9C-101B-9397-08002B2CF9AE}" pid="8" name="MSIP_Label_10877899-02b0-462c-b2a9-b7d15c4f96fe_ContentBits">
    <vt:lpwstr>0</vt:lpwstr>
  </property>
  <property fmtid="{D5CDD505-2E9C-101B-9397-08002B2CF9AE}" pid="9" name="MSIP_Label_10877899-02b0-462c-b2a9-b7d15c4f96fe_Tag">
    <vt:lpwstr>50, 3, 0, 1</vt:lpwstr>
  </property>
</Properties>
</file>
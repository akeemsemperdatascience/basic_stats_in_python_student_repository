
<file path=[Content_Types].xml><?xml version="1.0" encoding="utf-8"?>
<Types xmlns="http://schemas.openxmlformats.org/package/2006/content-types">
  <Default Extension="fna&amp;_nc_gid=Es4JIdCDF3WDhXC2VsS1kQ&amp;_nc_ss=7b2a8&amp;oh=00_AQI3qqXjhZIN-ISzEulvx0Ag3LKqrTcIb1zHmnPLJhYGtw&amp;oe=6AB34AC3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  <p:sldId id="266" r:id="rId9"/>
    <p:sldId id="265" r:id="rId10"/>
    <p:sldId id="264" r:id="rId11"/>
    <p:sldId id="267" r:id="rId12"/>
    <p:sldId id="268" r:id="rId13"/>
    <p:sldId id="269" r:id="rId14"/>
    <p:sldId id="271" r:id="rId15"/>
    <p:sldId id="270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9"/>
  </p:normalViewPr>
  <p:slideViewPr>
    <p:cSldViewPr snapToGrid="0">
      <p:cViewPr varScale="1">
        <p:scale>
          <a:sx n="104" d="100"/>
          <a:sy n="104" d="100"/>
        </p:scale>
        <p:origin x="23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9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57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52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37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53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07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8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02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12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33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04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EA758-9496-214F-A167-78EC48715B8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0BD95CD-DEF2-414D-9D35-9301E379E63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86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fna&amp;_nc_gid=Es4JIdCDF3WDhXC2VsS1kQ&amp;_nc_ss=7b2a8&amp;oh=00_AQI3qqXjhZIN-ISzEulvx0Ag3LKqrTcIb1zHmnPLJhYGtw&amp;oe=6AB34AC3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4231-31FF-0297-6441-B8A04F7C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9A6F-005B-F130-C7D6-E3CB2297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74705"/>
          </a:xfrm>
        </p:spPr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Analytical distributions – normal and lognormal, using analytical distributions. </a:t>
            </a:r>
          </a:p>
          <a:p>
            <a:pPr lvl="2"/>
            <a:r>
              <a:rPr lang="en-US" dirty="0"/>
              <a:t>Revised/simplified workbook (009) on some of the </a:t>
            </a:r>
            <a:r>
              <a:rPr lang="en-US" dirty="0" err="1"/>
              <a:t>scipy</a:t>
            </a:r>
            <a:r>
              <a:rPr lang="en-US" dirty="0"/>
              <a:t> stuff. Pull </a:t>
            </a:r>
            <a:r>
              <a:rPr lang="en-US"/>
              <a:t>for update. </a:t>
            </a:r>
            <a:endParaRPr lang="en-US" dirty="0"/>
          </a:p>
          <a:p>
            <a:pPr lvl="1"/>
            <a:r>
              <a:rPr lang="en-US" dirty="0"/>
              <a:t>Normal testing and plots. </a:t>
            </a:r>
          </a:p>
          <a:p>
            <a:r>
              <a:rPr lang="en-US" dirty="0"/>
              <a:t>There’s a quiz in a week!</a:t>
            </a:r>
          </a:p>
          <a:p>
            <a:pPr lvl="1"/>
            <a:r>
              <a:rPr lang="en-US" dirty="0"/>
              <a:t>It isn’t really all that hard, exceedingly complex, or super long. </a:t>
            </a:r>
          </a:p>
          <a:p>
            <a:pPr lvl="1"/>
            <a:r>
              <a:rPr lang="en-US" dirty="0"/>
              <a:t>Some mc/short answer on theory + you’ll get data and calculate answers. </a:t>
            </a:r>
          </a:p>
          <a:p>
            <a:pPr lvl="1"/>
            <a:r>
              <a:rPr lang="en-US" dirty="0"/>
              <a:t>Responses only in Brightspace, no code submissions, </a:t>
            </a:r>
            <a:r>
              <a:rPr lang="en-US" dirty="0" err="1"/>
              <a:t>github</a:t>
            </a:r>
            <a:r>
              <a:rPr lang="en-US" dirty="0"/>
              <a:t> stuff,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Cutoff for content today, analytical </a:t>
            </a:r>
            <a:r>
              <a:rPr lang="en-US" dirty="0" err="1"/>
              <a:t>dists</a:t>
            </a:r>
            <a:r>
              <a:rPr lang="en-US" dirty="0"/>
              <a:t>. I’ll write the quiz and a small guide this weekend.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56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65CC-C1AF-51F9-27BB-E6640E3937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Analytical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5F7DE-2DAD-9214-7BA9-5D8D887A3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19A2-CC88-C5DA-3C97-120C203C8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you Normal?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8F72-999E-EA8A-1913-A5146FDF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generally identify matching distribution patterns visually with either:</a:t>
            </a:r>
          </a:p>
          <a:p>
            <a:pPr lvl="1"/>
            <a:r>
              <a:rPr lang="en-US" dirty="0"/>
              <a:t>Histogram, </a:t>
            </a:r>
            <a:r>
              <a:rPr lang="en-US" dirty="0" err="1"/>
              <a:t>pmf</a:t>
            </a:r>
            <a:r>
              <a:rPr lang="en-US" dirty="0"/>
              <a:t>, pdf</a:t>
            </a:r>
          </a:p>
          <a:p>
            <a:pPr lvl="1"/>
            <a:r>
              <a:rPr lang="en-US" dirty="0" err="1"/>
              <a:t>Cdf</a:t>
            </a:r>
            <a:endParaRPr lang="en-US" dirty="0"/>
          </a:p>
          <a:p>
            <a:r>
              <a:rPr lang="en-US" dirty="0"/>
              <a:t>Match the shape!</a:t>
            </a:r>
          </a:p>
          <a:p>
            <a:endParaRPr lang="en-US" dirty="0"/>
          </a:p>
        </p:txBody>
      </p:sp>
      <p:pic>
        <p:nvPicPr>
          <p:cNvPr id="1026" name="Picture 2" descr="Do my data follow a normal distribution? A note on the most widely used  distribution and how to test for normality in R - Stats and R">
            <a:extLst>
              <a:ext uri="{FF2B5EF4-FFF2-40B4-BE49-F238E27FC236}">
                <a16:creationId xmlns:a16="http://schemas.microsoft.com/office/drawing/2014/main" id="{68800743-772F-E909-D503-422FE0419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157" y="2635226"/>
            <a:ext cx="5932436" cy="423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mpirical Cumulative Distribution Function (CDF) Plots - Statistics By Jim">
            <a:extLst>
              <a:ext uri="{FF2B5EF4-FFF2-40B4-BE49-F238E27FC236}">
                <a16:creationId xmlns:a16="http://schemas.microsoft.com/office/drawing/2014/main" id="{77CC4EFA-D2A7-5395-8500-A4FABF9CD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00795"/>
            <a:ext cx="4585808" cy="305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47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4C33-6605-B463-EAF8-98008710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2768-17F3-907E-FE7E-AA5BD7BEB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78292"/>
          </a:xfrm>
        </p:spPr>
        <p:txBody>
          <a:bodyPr/>
          <a:lstStyle/>
          <a:p>
            <a:r>
              <a:rPr lang="en-US" dirty="0"/>
              <a:t>Normal data is the most common and we have lots of tools for dealing with it. </a:t>
            </a:r>
          </a:p>
          <a:p>
            <a:pPr lvl="1"/>
            <a:r>
              <a:rPr lang="en-US" dirty="0"/>
              <a:t>Including make-normal transformations to make data normal. </a:t>
            </a:r>
          </a:p>
          <a:p>
            <a:r>
              <a:rPr lang="en-US" dirty="0"/>
              <a:t>There are other methods of evaluating “is this normal”.</a:t>
            </a:r>
          </a:p>
          <a:p>
            <a:pPr lvl="1"/>
            <a:r>
              <a:rPr lang="en-US" dirty="0"/>
              <a:t>Alternate graphs.</a:t>
            </a:r>
          </a:p>
          <a:p>
            <a:pPr lvl="1"/>
            <a:r>
              <a:rPr lang="en-US" dirty="0"/>
              <a:t>Calculations. </a:t>
            </a:r>
          </a:p>
        </p:txBody>
      </p:sp>
    </p:spTree>
    <p:extLst>
      <p:ext uri="{BB962C8B-B14F-4D97-AF65-F5344CB8AC3E}">
        <p14:creationId xmlns:p14="http://schemas.microsoft.com/office/powerpoint/2010/main" val="2215225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6A97-1EFC-5B32-AF51-2EA6B0A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Normality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83360-33BE-5947-2882-478F7B0C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4892009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normal plot compares data to expected normal distribution. </a:t>
            </a:r>
          </a:p>
          <a:p>
            <a:pPr lvl="1"/>
            <a:r>
              <a:rPr lang="en-US" dirty="0"/>
              <a:t>The line is a generated dataset with same mean, std, and count as data. Sorted.</a:t>
            </a:r>
          </a:p>
          <a:p>
            <a:pPr lvl="1"/>
            <a:r>
              <a:rPr lang="en-US" dirty="0"/>
              <a:t>Dots are our data. Sorted. </a:t>
            </a:r>
          </a:p>
          <a:p>
            <a:r>
              <a:rPr lang="en-US" dirty="0"/>
              <a:t>Each point is the n</a:t>
            </a:r>
            <a:r>
              <a:rPr lang="en-US" baseline="30000" dirty="0"/>
              <a:t>th</a:t>
            </a:r>
            <a:r>
              <a:rPr lang="en-US" dirty="0"/>
              <a:t> point in a series:</a:t>
            </a:r>
          </a:p>
          <a:p>
            <a:pPr lvl="1"/>
            <a:r>
              <a:rPr lang="en-US" dirty="0"/>
              <a:t>X = theoretical value. </a:t>
            </a:r>
          </a:p>
          <a:p>
            <a:pPr lvl="1"/>
            <a:r>
              <a:rPr lang="en-US" dirty="0"/>
              <a:t>Y = actual value. </a:t>
            </a:r>
          </a:p>
          <a:p>
            <a:r>
              <a:rPr lang="en-US" dirty="0"/>
              <a:t>Chart shows discrepancies. </a:t>
            </a:r>
          </a:p>
          <a:p>
            <a:pPr lvl="1"/>
            <a:r>
              <a:rPr lang="en-US" dirty="0"/>
              <a:t>Above line – values higher than exp.</a:t>
            </a:r>
          </a:p>
          <a:p>
            <a:pPr lvl="1"/>
            <a:r>
              <a:rPr lang="en-US" dirty="0"/>
              <a:t>Below line – values lower than exp. </a:t>
            </a:r>
          </a:p>
        </p:txBody>
      </p:sp>
      <p:pic>
        <p:nvPicPr>
          <p:cNvPr id="2050" name="Picture 2" descr="Crash Course in Data — Seeing is Believing: Exploring Data Distributions  with Q-Q Plots | by Cibaca Khandelwal | AI Skunks | Medium">
            <a:extLst>
              <a:ext uri="{FF2B5EF4-FFF2-40B4-BE49-F238E27FC236}">
                <a16:creationId xmlns:a16="http://schemas.microsoft.com/office/drawing/2014/main" id="{8920EC13-CEEC-C16C-3EB2-6B0C1060B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008" y="0"/>
            <a:ext cx="72999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83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8DA3-6880-E427-9C4C-DBFEBDC9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E191-9AF1-5563-3947-4F4B701FD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770" y="1853754"/>
            <a:ext cx="6123616" cy="4199727"/>
          </a:xfrm>
        </p:spPr>
        <p:txBody>
          <a:bodyPr>
            <a:normAutofit/>
          </a:bodyPr>
          <a:lstStyle/>
          <a:p>
            <a:r>
              <a:rPr lang="en-US" dirty="0"/>
              <a:t>We can also do a mathematical test for normality. </a:t>
            </a:r>
          </a:p>
          <a:p>
            <a:r>
              <a:rPr lang="en-US" dirty="0"/>
              <a:t>Version of a hypothesis test (that we’ll do later). </a:t>
            </a:r>
          </a:p>
          <a:p>
            <a:r>
              <a:rPr lang="en-US" dirty="0"/>
              <a:t>Null hypothesis – the data is normal. </a:t>
            </a:r>
          </a:p>
          <a:p>
            <a:pPr lvl="1"/>
            <a:r>
              <a:rPr lang="en-US" dirty="0"/>
              <a:t>If p value (confidence) is than .05 (generally), reject it. </a:t>
            </a:r>
          </a:p>
          <a:p>
            <a:pPr lvl="1"/>
            <a:r>
              <a:rPr lang="en-US" dirty="0"/>
              <a:t>I.e. Data is not normal. </a:t>
            </a:r>
          </a:p>
          <a:p>
            <a:pPr lvl="1"/>
            <a:r>
              <a:rPr lang="en-US" dirty="0"/>
              <a:t>What are the odds the differences are due to randomness? </a:t>
            </a:r>
          </a:p>
          <a:p>
            <a:r>
              <a:rPr lang="en-US" dirty="0"/>
              <a:t>This isn’t necessarily better, but it is automatable. </a:t>
            </a:r>
          </a:p>
        </p:txBody>
      </p:sp>
      <p:pic>
        <p:nvPicPr>
          <p:cNvPr id="4" name="Picture 3" descr="How to do The Shapiro-Wilk Normality Test for Biomedical Research">
            <a:extLst>
              <a:ext uri="{FF2B5EF4-FFF2-40B4-BE49-F238E27FC236}">
                <a16:creationId xmlns:a16="http://schemas.microsoft.com/office/drawing/2014/main" id="{0E4CF884-B175-2D83-B780-33584E50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754"/>
            <a:ext cx="5884769" cy="394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15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20FD-C8DC-4755-D81B-CE3C7599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 and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AB78B-DA76-5D27-5B1F-066B0396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same concept as comparing exponential data to a line on log scale. </a:t>
            </a:r>
          </a:p>
          <a:p>
            <a:pPr lvl="1"/>
            <a:r>
              <a:rPr lang="en-US" dirty="0"/>
              <a:t>The line is the expectation. </a:t>
            </a:r>
          </a:p>
          <a:p>
            <a:pPr lvl="1"/>
            <a:r>
              <a:rPr lang="en-US" dirty="0"/>
              <a:t>The dots are data. </a:t>
            </a:r>
          </a:p>
          <a:p>
            <a:r>
              <a:rPr lang="en-US" dirty="0"/>
              <a:t>We can use the normal version on data that can become normal. </a:t>
            </a:r>
          </a:p>
          <a:p>
            <a:pPr lvl="1"/>
            <a:r>
              <a:rPr lang="en-US" dirty="0"/>
              <a:t>Most common lognormal to normal. </a:t>
            </a:r>
          </a:p>
        </p:txBody>
      </p:sp>
      <p:pic>
        <p:nvPicPr>
          <p:cNvPr id="4098" name="Picture 2" descr="Lognormal Distribution - Definition, Uses, How To Use It">
            <a:extLst>
              <a:ext uri="{FF2B5EF4-FFF2-40B4-BE49-F238E27FC236}">
                <a16:creationId xmlns:a16="http://schemas.microsoft.com/office/drawing/2014/main" id="{D9D34D39-3031-CC43-7F13-A3DEE043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663" y="3957087"/>
            <a:ext cx="6096000" cy="255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95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39E9-7D2A-7F09-D6AF-F61EF2A9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Distributions in (Some)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B484D-00F7-0B21-3ED8-883C77CF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No photo description available.">
            <a:extLst>
              <a:ext uri="{FF2B5EF4-FFF2-40B4-BE49-F238E27FC236}">
                <a16:creationId xmlns:a16="http://schemas.microsoft.com/office/drawing/2014/main" id="{3BD9F3EF-96C4-3309-5547-E3EFE9FA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626" y="1391655"/>
            <a:ext cx="4121180" cy="51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4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8FA8-0FFF-819D-B435-8D871214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LogNormal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62391-87F7-9690-3269-08991A78A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5011" y="1853754"/>
            <a:ext cx="7856989" cy="4199727"/>
          </a:xfrm>
        </p:spPr>
        <p:txBody>
          <a:bodyPr/>
          <a:lstStyle/>
          <a:p>
            <a:r>
              <a:rPr lang="en-US" dirty="0"/>
              <a:t>Lognormal distributions are defined as having a normal log. </a:t>
            </a:r>
          </a:p>
          <a:p>
            <a:pPr lvl="1"/>
            <a:r>
              <a:rPr lang="en-CA" dirty="0"/>
              <a:t>Y = ln(X) is normally distributed</a:t>
            </a:r>
          </a:p>
          <a:p>
            <a:pPr lvl="1"/>
            <a:r>
              <a:rPr lang="en-CA" dirty="0"/>
              <a:t>We need to do transformations to get normal-denominated data. </a:t>
            </a:r>
          </a:p>
          <a:p>
            <a:r>
              <a:rPr lang="en-CA" dirty="0"/>
              <a:t>Defined by:</a:t>
            </a:r>
          </a:p>
          <a:p>
            <a:pPr lvl="1"/>
            <a:r>
              <a:rPr lang="en-CA" dirty="0"/>
              <a:t>Mean of underlying normal data. </a:t>
            </a:r>
          </a:p>
          <a:p>
            <a:pPr lvl="1"/>
            <a:r>
              <a:rPr lang="en-CA" dirty="0"/>
              <a:t>Standard deviation of underlying normal data. </a:t>
            </a:r>
          </a:p>
          <a:p>
            <a:r>
              <a:rPr lang="en-CA" dirty="0" err="1"/>
              <a:t>Scipy</a:t>
            </a:r>
            <a:r>
              <a:rPr lang="en-CA" dirty="0"/>
              <a:t> variables:</a:t>
            </a:r>
          </a:p>
          <a:p>
            <a:pPr lvl="1"/>
            <a:r>
              <a:rPr lang="en-CA" dirty="0"/>
              <a:t>Loc = mean( log(DATA) )</a:t>
            </a:r>
          </a:p>
          <a:p>
            <a:pPr lvl="1"/>
            <a:r>
              <a:rPr lang="en-CA" dirty="0"/>
              <a:t>Scale = std( log(DATA))</a:t>
            </a:r>
          </a:p>
          <a:p>
            <a:pPr lvl="1"/>
            <a:endParaRPr lang="en-US" dirty="0"/>
          </a:p>
        </p:txBody>
      </p:sp>
      <p:pic>
        <p:nvPicPr>
          <p:cNvPr id="4" name="Picture 3" descr="numpy.random.lognormal — NumPy v2.2 Manual">
            <a:extLst>
              <a:ext uri="{FF2B5EF4-FFF2-40B4-BE49-F238E27FC236}">
                <a16:creationId xmlns:a16="http://schemas.microsoft.com/office/drawing/2014/main" id="{3E9B117A-FF0C-C374-62DB-BCF4EEA73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105" y="2528926"/>
            <a:ext cx="44323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0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E806-837F-034C-B16B-3FC7878B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F8EE-F2BD-A338-0590-8B0FA567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5454371" cy="4199727"/>
          </a:xfrm>
        </p:spPr>
        <p:txBody>
          <a:bodyPr/>
          <a:lstStyle/>
          <a:p>
            <a:r>
              <a:rPr lang="en-US" dirty="0"/>
              <a:t>Defined by:</a:t>
            </a:r>
          </a:p>
          <a:p>
            <a:pPr lvl="1"/>
            <a:r>
              <a:rPr lang="en-US" dirty="0"/>
              <a:t>Lambda: rate of things happening. </a:t>
            </a:r>
          </a:p>
          <a:p>
            <a:pPr lvl="1"/>
            <a:r>
              <a:rPr lang="en-US" dirty="0"/>
              <a:t>Threshold: lowest possible value. </a:t>
            </a:r>
          </a:p>
          <a:p>
            <a:r>
              <a:rPr lang="en-US" dirty="0" err="1"/>
              <a:t>Scipy</a:t>
            </a:r>
            <a:r>
              <a:rPr lang="en-US" dirty="0"/>
              <a:t> variables:</a:t>
            </a:r>
          </a:p>
          <a:p>
            <a:pPr lvl="1"/>
            <a:r>
              <a:rPr lang="en-US" dirty="0"/>
              <a:t>Scale = mean. </a:t>
            </a:r>
          </a:p>
          <a:p>
            <a:pPr lvl="1"/>
            <a:r>
              <a:rPr lang="en-US" dirty="0"/>
              <a:t>Loc = minimum. </a:t>
            </a:r>
          </a:p>
          <a:p>
            <a:r>
              <a:rPr lang="en-US" dirty="0"/>
              <a:t>Frequent in viral spread, rare occurrences. </a:t>
            </a:r>
          </a:p>
          <a:p>
            <a:r>
              <a:rPr lang="en-US" dirty="0"/>
              <a:t>Can do log plots to check fit.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7B160-CC48-893B-DE8B-17B9991C9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00" y="305052"/>
            <a:ext cx="5156200" cy="3886200"/>
          </a:xfrm>
          <a:prstGeom prst="rect">
            <a:avLst/>
          </a:prstGeom>
        </p:spPr>
      </p:pic>
      <p:pic>
        <p:nvPicPr>
          <p:cNvPr id="5" name="Picture 4" descr="Semi-Log and Log-Log Graphs | nool">
            <a:extLst>
              <a:ext uri="{FF2B5EF4-FFF2-40B4-BE49-F238E27FC236}">
                <a16:creationId xmlns:a16="http://schemas.microsoft.com/office/drawing/2014/main" id="{4F1B2239-67E1-7D6F-CE7F-3C2BD2DD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4116856"/>
            <a:ext cx="5080720" cy="27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4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9C16-A9FA-DE69-A0DE-6ECF48B2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0A084-C1A5-5CC9-C3F6-B61FDC6E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2300" y="1988288"/>
            <a:ext cx="7759700" cy="4065193"/>
          </a:xfrm>
        </p:spPr>
        <p:txBody>
          <a:bodyPr/>
          <a:lstStyle/>
          <a:p>
            <a:r>
              <a:rPr lang="en-US" dirty="0"/>
              <a:t>Poisson distributions discreet distributions, commonly used for things like number of customers or goals in a game. </a:t>
            </a:r>
          </a:p>
          <a:p>
            <a:pPr lvl="1"/>
            <a:r>
              <a:rPr lang="en-US" dirty="0"/>
              <a:t>Only takes on discreet values.</a:t>
            </a:r>
          </a:p>
          <a:p>
            <a:pPr lvl="1"/>
            <a:r>
              <a:rPr lang="en-US" dirty="0"/>
              <a:t>No fit function, we have to do it by hand. </a:t>
            </a:r>
          </a:p>
          <a:p>
            <a:r>
              <a:rPr lang="en-US" dirty="0"/>
              <a:t>Defined by:</a:t>
            </a:r>
          </a:p>
          <a:p>
            <a:pPr lvl="1"/>
            <a:r>
              <a:rPr lang="en-US" dirty="0"/>
              <a:t>Mean: mu. </a:t>
            </a:r>
          </a:p>
          <a:p>
            <a:r>
              <a:rPr lang="en-US" dirty="0" err="1"/>
              <a:t>Scipy</a:t>
            </a:r>
            <a:r>
              <a:rPr lang="en-US" dirty="0"/>
              <a:t> Parameters:</a:t>
            </a:r>
          </a:p>
          <a:p>
            <a:pPr lvl="1"/>
            <a:r>
              <a:rPr lang="en-US" dirty="0"/>
              <a:t>Mu. </a:t>
            </a:r>
          </a:p>
        </p:txBody>
      </p:sp>
      <p:pic>
        <p:nvPicPr>
          <p:cNvPr id="4" name="Picture 3" descr="numpy.random.Generator.poisson — NumPy v2.1 Manual">
            <a:extLst>
              <a:ext uri="{FF2B5EF4-FFF2-40B4-BE49-F238E27FC236}">
                <a16:creationId xmlns:a16="http://schemas.microsoft.com/office/drawing/2014/main" id="{91E67948-5DF4-AAB8-D5A8-D3FEBDDD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9438"/>
            <a:ext cx="44323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04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C9A1-338D-EBD3-DD10-42AE617B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F96B1-DD96-78E0-AA4D-3406E150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001604" cy="3450613"/>
          </a:xfrm>
        </p:spPr>
        <p:txBody>
          <a:bodyPr/>
          <a:lstStyle/>
          <a:p>
            <a:r>
              <a:rPr lang="en-US" dirty="0"/>
              <a:t>Beta distributions are continuous distributions that can take on many shapes. </a:t>
            </a:r>
          </a:p>
          <a:p>
            <a:pPr lvl="1"/>
            <a:r>
              <a:rPr lang="en-US" dirty="0"/>
              <a:t>We need to fit it to get good results. </a:t>
            </a:r>
          </a:p>
          <a:p>
            <a:r>
              <a:rPr lang="en-US" dirty="0"/>
              <a:t>Defined by:</a:t>
            </a:r>
          </a:p>
          <a:p>
            <a:pPr lvl="1"/>
            <a:r>
              <a:rPr lang="en-US" dirty="0" err="1"/>
              <a:t>A,b</a:t>
            </a:r>
            <a:r>
              <a:rPr lang="en-US" dirty="0"/>
              <a:t>: shape parameters. </a:t>
            </a:r>
          </a:p>
          <a:p>
            <a:r>
              <a:rPr lang="en-US" dirty="0" err="1"/>
              <a:t>Scipy</a:t>
            </a:r>
            <a:r>
              <a:rPr lang="en-US" dirty="0"/>
              <a:t> parameters:</a:t>
            </a:r>
          </a:p>
          <a:p>
            <a:pPr lvl="1"/>
            <a:r>
              <a:rPr lang="en-US" dirty="0"/>
              <a:t>Use fit, we can’t calculate them practically. </a:t>
            </a:r>
          </a:p>
        </p:txBody>
      </p:sp>
      <p:pic>
        <p:nvPicPr>
          <p:cNvPr id="4" name="Picture 3" descr="Persuasive Python - 6 Plausibility, The Beta Distribution, and Its Visualization">
            <a:extLst>
              <a:ext uri="{FF2B5EF4-FFF2-40B4-BE49-F238E27FC236}">
                <a16:creationId xmlns:a16="http://schemas.microsoft.com/office/drawing/2014/main" id="{40F9D71C-4C90-E199-960C-8F35B8F0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99" r="26045"/>
          <a:stretch>
            <a:fillRect/>
          </a:stretch>
        </p:blipFill>
        <p:spPr>
          <a:xfrm>
            <a:off x="7453183" y="0"/>
            <a:ext cx="4738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7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8A13-952A-9CB2-E744-78592AD9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1E6A8-9CCC-2259-9A5A-621ACEE60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2300" y="2015732"/>
            <a:ext cx="6622554" cy="3450613"/>
          </a:xfrm>
        </p:spPr>
        <p:txBody>
          <a:bodyPr/>
          <a:lstStyle/>
          <a:p>
            <a:r>
              <a:rPr lang="en-US" dirty="0"/>
              <a:t>Gamma is a continuous model commonly used for things like wait times or customer counts. </a:t>
            </a:r>
          </a:p>
          <a:p>
            <a:r>
              <a:rPr lang="en-US" dirty="0"/>
              <a:t>Defined by:</a:t>
            </a:r>
          </a:p>
          <a:p>
            <a:pPr lvl="1"/>
            <a:r>
              <a:rPr lang="en-US" dirty="0"/>
              <a:t>A: shape parameter. </a:t>
            </a:r>
          </a:p>
          <a:p>
            <a:r>
              <a:rPr lang="en-US" dirty="0" err="1"/>
              <a:t>Scipy</a:t>
            </a:r>
            <a:r>
              <a:rPr lang="en-US" dirty="0"/>
              <a:t> parameters:</a:t>
            </a:r>
          </a:p>
          <a:p>
            <a:pPr lvl="1"/>
            <a:r>
              <a:rPr lang="en-US" dirty="0"/>
              <a:t>Use fit, unrealistic to calculate. </a:t>
            </a:r>
          </a:p>
        </p:txBody>
      </p:sp>
      <p:pic>
        <p:nvPicPr>
          <p:cNvPr id="4" name="Picture 3" descr="numpy.random.gamma — NumPy v2.1 Manual">
            <a:extLst>
              <a:ext uri="{FF2B5EF4-FFF2-40B4-BE49-F238E27FC236}">
                <a16:creationId xmlns:a16="http://schemas.microsoft.com/office/drawing/2014/main" id="{07FCD79E-E17E-E525-9977-12A906289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9438"/>
            <a:ext cx="44323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4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8750C-96E2-0C48-8873-0B789072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Scipy</a:t>
            </a:r>
            <a:r>
              <a:rPr lang="en-US" dirty="0"/>
              <a:t>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FD357-7C98-A62F-C844-459B7A82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calculate almost any distribution related stuff once one exists:</a:t>
            </a:r>
          </a:p>
          <a:p>
            <a:pPr lvl="1"/>
            <a:r>
              <a:rPr lang="en-US" dirty="0" err="1"/>
              <a:t>Rvs</a:t>
            </a:r>
            <a:r>
              <a:rPr lang="en-US" dirty="0"/>
              <a:t> – generate a sample following this distribution. We’ll use this lots soon. </a:t>
            </a:r>
          </a:p>
          <a:p>
            <a:pPr lvl="1"/>
            <a:r>
              <a:rPr lang="en-US" dirty="0" err="1"/>
              <a:t>Cdf</a:t>
            </a:r>
            <a:r>
              <a:rPr lang="en-US" dirty="0"/>
              <a:t> – cumulative calculation for percentile rank.  </a:t>
            </a:r>
          </a:p>
          <a:p>
            <a:pPr lvl="1"/>
            <a:r>
              <a:rPr lang="en-US" dirty="0" err="1"/>
              <a:t>Ppf</a:t>
            </a:r>
            <a:r>
              <a:rPr lang="en-US" dirty="0"/>
              <a:t> – cumulative calculation for percentile. </a:t>
            </a:r>
          </a:p>
          <a:p>
            <a:pPr lvl="1"/>
            <a:r>
              <a:rPr lang="en-US" dirty="0"/>
              <a:t>Pdf/</a:t>
            </a:r>
            <a:r>
              <a:rPr lang="en-US" dirty="0" err="1"/>
              <a:t>pmf</a:t>
            </a:r>
            <a:r>
              <a:rPr lang="en-US" dirty="0"/>
              <a:t> – probability of having *this* value. </a:t>
            </a:r>
          </a:p>
          <a:p>
            <a:r>
              <a:rPr lang="en-US" dirty="0"/>
              <a:t>Model is representation of empirical distribution. </a:t>
            </a:r>
          </a:p>
          <a:p>
            <a:pPr lvl="1"/>
            <a:r>
              <a:rPr lang="en-US" dirty="0"/>
              <a:t>Anything we do should respond like real data. </a:t>
            </a:r>
          </a:p>
          <a:p>
            <a:pPr lvl="1"/>
            <a:endParaRPr lang="en-US" dirty="0"/>
          </a:p>
        </p:txBody>
      </p:sp>
      <p:pic>
        <p:nvPicPr>
          <p:cNvPr id="4" name="Picture 3" descr="Complete Guide to Python SciPy Norm for Data Science and Statistics">
            <a:extLst>
              <a:ext uri="{FF2B5EF4-FFF2-40B4-BE49-F238E27FC236}">
                <a16:creationId xmlns:a16="http://schemas.microsoft.com/office/drawing/2014/main" id="{7FC131FD-7DC8-5C89-D5B8-166762681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476" y="2899692"/>
            <a:ext cx="4555524" cy="38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6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325C-EE39-B877-634F-A492E743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to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71B4-0CC6-C674-C9D5-BDF97E76C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models are all </a:t>
            </a:r>
          </a:p>
        </p:txBody>
      </p:sp>
    </p:spTree>
    <p:extLst>
      <p:ext uri="{BB962C8B-B14F-4D97-AF65-F5344CB8AC3E}">
        <p14:creationId xmlns:p14="http://schemas.microsoft.com/office/powerpoint/2010/main" val="158994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59A9-5AE7-DACB-29F8-7E5457C8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0B900-F549-EE0D-D983-71D4390F4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can match empirical to analytical with charts and/or calculations. </a:t>
            </a:r>
          </a:p>
          <a:p>
            <a:r>
              <a:rPr lang="en-US" dirty="0"/>
              <a:t>Once the analytical is established, we know the expected shape of population data. </a:t>
            </a:r>
          </a:p>
          <a:p>
            <a:pPr lvl="1"/>
            <a:r>
              <a:rPr lang="en-US" dirty="0"/>
              <a:t>We can calculate the mean and std (or other values) that define the shape. </a:t>
            </a:r>
          </a:p>
          <a:p>
            <a:r>
              <a:rPr lang="en-US" dirty="0"/>
              <a:t>We are making an assertion, with error – this distribution models this data well enough. </a:t>
            </a:r>
          </a:p>
          <a:p>
            <a:pPr lvl="1"/>
            <a:r>
              <a:rPr lang="en-US" dirty="0"/>
              <a:t>Well enough varies, depending on application. </a:t>
            </a:r>
          </a:p>
          <a:p>
            <a:pPr lvl="1"/>
            <a:r>
              <a:rPr lang="en-US" dirty="0"/>
              <a:t>More representative and larger samples mean less error introduced. </a:t>
            </a:r>
          </a:p>
          <a:p>
            <a:r>
              <a:rPr lang="en-US" dirty="0"/>
              <a:t>In practice, in code, the analytical distribution is a source of new values. </a:t>
            </a:r>
          </a:p>
          <a:p>
            <a:pPr lvl="1"/>
            <a:r>
              <a:rPr lang="en-US" dirty="0"/>
              <a:t>We can generate samples that match the distribution. </a:t>
            </a:r>
          </a:p>
          <a:p>
            <a:pPr lvl="1"/>
            <a:r>
              <a:rPr lang="en-US" dirty="0"/>
              <a:t>We can use these to test or generalize. </a:t>
            </a:r>
          </a:p>
        </p:txBody>
      </p:sp>
    </p:spTree>
    <p:extLst>
      <p:ext uri="{BB962C8B-B14F-4D97-AF65-F5344CB8AC3E}">
        <p14:creationId xmlns:p14="http://schemas.microsoft.com/office/powerpoint/2010/main" val="22875426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84</TotalTime>
  <Words>826</Words>
  <Application>Microsoft Macintosh PowerPoint</Application>
  <PresentationFormat>Widescreen</PresentationFormat>
  <Paragraphs>107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Housekeeping</vt:lpstr>
      <vt:lpstr>Using Analytical #1</vt:lpstr>
      <vt:lpstr>Are you Normal?</vt:lpstr>
      <vt:lpstr>Calculating Normality</vt:lpstr>
      <vt:lpstr>Normality Plot</vt:lpstr>
      <vt:lpstr>Normality Testing</vt:lpstr>
      <vt:lpstr>Adaptation and Transformations</vt:lpstr>
      <vt:lpstr>Other Distributions in (Some) Detail</vt:lpstr>
      <vt:lpstr>LogNormal</vt:lpstr>
      <vt:lpstr>Exponential. </vt:lpstr>
      <vt:lpstr>Poisson</vt:lpstr>
      <vt:lpstr>Beta</vt:lpstr>
      <vt:lpstr>Gamma</vt:lpstr>
      <vt:lpstr>Using Scipy Distributions</vt:lpstr>
      <vt:lpstr>Distributions to Models</vt:lpstr>
      <vt:lpstr>Key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12</cp:revision>
  <dcterms:created xsi:type="dcterms:W3CDTF">2025-09-25T15:54:20Z</dcterms:created>
  <dcterms:modified xsi:type="dcterms:W3CDTF">2026-09-18T17:30:09Z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2025-09-26T16:24:57Z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a792d947-5514-4ece-9582-1b324e16b627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
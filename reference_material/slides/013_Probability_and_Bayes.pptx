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0" r:id="rId2"/>
    <p:sldId id="278" r:id="rId3"/>
    <p:sldId id="256" r:id="rId4"/>
    <p:sldId id="264" r:id="rId5"/>
    <p:sldId id="265" r:id="rId6"/>
    <p:sldId id="271" r:id="rId7"/>
    <p:sldId id="293" r:id="rId8"/>
    <p:sldId id="287" r:id="rId9"/>
    <p:sldId id="288" r:id="rId10"/>
    <p:sldId id="258" r:id="rId11"/>
    <p:sldId id="257" r:id="rId12"/>
    <p:sldId id="279" r:id="rId13"/>
    <p:sldId id="283" r:id="rId14"/>
    <p:sldId id="259" r:id="rId15"/>
    <p:sldId id="294" r:id="rId16"/>
    <p:sldId id="260" r:id="rId17"/>
    <p:sldId id="261" r:id="rId18"/>
    <p:sldId id="284" r:id="rId19"/>
    <p:sldId id="262" r:id="rId20"/>
    <p:sldId id="295" r:id="rId21"/>
    <p:sldId id="285" r:id="rId22"/>
    <p:sldId id="289" r:id="rId23"/>
    <p:sldId id="274" r:id="rId24"/>
    <p:sldId id="281" r:id="rId25"/>
    <p:sldId id="291" r:id="rId26"/>
    <p:sldId id="267" r:id="rId27"/>
    <p:sldId id="272" r:id="rId28"/>
    <p:sldId id="273" r:id="rId29"/>
    <p:sldId id="290" r:id="rId30"/>
    <p:sldId id="275" r:id="rId31"/>
    <p:sldId id="282" r:id="rId32"/>
    <p:sldId id="292" r:id="rId33"/>
    <p:sldId id="276" r:id="rId34"/>
    <p:sldId id="266" r:id="rId35"/>
    <p:sldId id="277" r:id="rId36"/>
    <p:sldId id="268" r:id="rId37"/>
    <p:sldId id="286" r:id="rId38"/>
    <p:sldId id="263" r:id="rId39"/>
    <p:sldId id="26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8"/>
    <p:restoredTop sz="96327"/>
  </p:normalViewPr>
  <p:slideViewPr>
    <p:cSldViewPr snapToGrid="0" snapToObjects="1">
      <p:cViewPr>
        <p:scale>
          <a:sx n="104" d="100"/>
          <a:sy n="104" d="100"/>
        </p:scale>
        <p:origin x="2536" y="3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262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023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20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74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91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95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31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81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3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60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42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BEB88-524C-934C-AA67-A5128709C9CE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740CED2-3580-C04A-8932-52400E6F6B9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71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rpsychologist.com/cohend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D4DD-BB03-314F-285F-0B3F21C0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9A87-2B8B-09A4-C837-05E67FBA4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Some basic probability concepts. (This part is pretty simple). </a:t>
            </a:r>
          </a:p>
          <a:p>
            <a:pPr lvl="1"/>
            <a:r>
              <a:rPr lang="en-US" dirty="0"/>
              <a:t>We need a bit now, but this will largely be background. </a:t>
            </a:r>
          </a:p>
          <a:p>
            <a:pPr lvl="1"/>
            <a:r>
              <a:rPr lang="en-US" dirty="0"/>
              <a:t>Discreet distributions. </a:t>
            </a:r>
          </a:p>
          <a:p>
            <a:pPr lvl="1"/>
            <a:r>
              <a:rPr lang="en-US" dirty="0"/>
              <a:t>Odds and logits. </a:t>
            </a:r>
          </a:p>
        </p:txBody>
      </p:sp>
    </p:spTree>
    <p:extLst>
      <p:ext uri="{BB962C8B-B14F-4D97-AF65-F5344CB8AC3E}">
        <p14:creationId xmlns:p14="http://schemas.microsoft.com/office/powerpoint/2010/main" val="97718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AA3E-E2C6-BC7C-58BF-F9A3C729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40DCF-0AD5-6E6E-0A43-1132C635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Some of the ideas here are really important to understand for future. </a:t>
            </a:r>
          </a:p>
          <a:p>
            <a:pPr lvl="1"/>
            <a:r>
              <a:rPr lang="en-US" dirty="0"/>
              <a:t>Probability, odds, logit, models, estimation…</a:t>
            </a:r>
          </a:p>
          <a:p>
            <a:pPr lvl="1"/>
            <a:r>
              <a:rPr lang="en-US" dirty="0"/>
              <a:t>The next 3-4ish days will cover the basics, they are somewhat </a:t>
            </a:r>
            <a:r>
              <a:rPr lang="en-US"/>
              <a:t>all connected. </a:t>
            </a:r>
            <a:endParaRPr lang="en-US" dirty="0"/>
          </a:p>
          <a:p>
            <a:r>
              <a:rPr lang="en-US" dirty="0"/>
              <a:t>Especially on the simulation stuff, you really need to try to do some unguided. </a:t>
            </a:r>
          </a:p>
          <a:p>
            <a:pPr lvl="1"/>
            <a:r>
              <a:rPr lang="en-US" dirty="0"/>
              <a:t>We are going to be dealing with many sets of data, and need to stay organized. </a:t>
            </a:r>
          </a:p>
          <a:p>
            <a:pPr lvl="1"/>
            <a:r>
              <a:rPr lang="en-US" dirty="0"/>
              <a:t>We’ll have some loops and need to tabulate data each run. </a:t>
            </a:r>
          </a:p>
          <a:p>
            <a:pPr lvl="1"/>
            <a:r>
              <a:rPr lang="en-US" dirty="0"/>
              <a:t>Several things have partially overlapping terms and definitions. </a:t>
            </a:r>
          </a:p>
          <a:p>
            <a:r>
              <a:rPr lang="en-US" dirty="0"/>
              <a:t>Make sure the examples make sense and exercises are doable – ask if issue. </a:t>
            </a:r>
          </a:p>
          <a:p>
            <a:pPr lvl="1"/>
            <a:r>
              <a:rPr lang="en-US" dirty="0"/>
              <a:t>Exercises in workbooks and book, can also reproduce examples with tweaks. </a:t>
            </a:r>
          </a:p>
          <a:p>
            <a:pPr lvl="1"/>
            <a:r>
              <a:rPr lang="en-US" dirty="0"/>
              <a:t>Generalizing any distribution also works pretty similarly. </a:t>
            </a:r>
          </a:p>
        </p:txBody>
      </p:sp>
    </p:spTree>
    <p:extLst>
      <p:ext uri="{BB962C8B-B14F-4D97-AF65-F5344CB8AC3E}">
        <p14:creationId xmlns:p14="http://schemas.microsoft.com/office/powerpoint/2010/main" val="52887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EF34-2FE0-9247-A153-6964C526E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06542-2F47-C249-8FEC-E1F579C975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7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D541-FF24-883C-5322-EB30CE7E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 - Discreet vs 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3857F-D266-905B-765C-484582DCF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Most things we’ve dealt with thus far have been continuous. </a:t>
            </a:r>
          </a:p>
          <a:p>
            <a:r>
              <a:rPr lang="en-US" dirty="0"/>
              <a:t>We also regularly deal with discreet data:</a:t>
            </a:r>
          </a:p>
          <a:p>
            <a:pPr lvl="1"/>
            <a:r>
              <a:rPr lang="en-US" dirty="0"/>
              <a:t>Votes. </a:t>
            </a:r>
          </a:p>
          <a:p>
            <a:pPr lvl="1"/>
            <a:r>
              <a:rPr lang="en-US" dirty="0"/>
              <a:t>Purchases. </a:t>
            </a:r>
          </a:p>
          <a:p>
            <a:r>
              <a:rPr lang="en-US" dirty="0"/>
              <a:t>Discreet data has similar distribution patterns. </a:t>
            </a:r>
          </a:p>
          <a:p>
            <a:r>
              <a:rPr lang="en-US" dirty="0"/>
              <a:t>We usually think of discreet things in terms of probability – likelihood that value X occurs. </a:t>
            </a:r>
          </a:p>
        </p:txBody>
      </p:sp>
    </p:spTree>
    <p:extLst>
      <p:ext uri="{BB962C8B-B14F-4D97-AF65-F5344CB8AC3E}">
        <p14:creationId xmlns:p14="http://schemas.microsoft.com/office/powerpoint/2010/main" val="57707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rstanding Different Kinds of Distributions in Statistics | by  Sachinsoni | Towards AI">
            <a:extLst>
              <a:ext uri="{FF2B5EF4-FFF2-40B4-BE49-F238E27FC236}">
                <a16:creationId xmlns:a16="http://schemas.microsoft.com/office/drawing/2014/main" id="{1B11277F-A5F9-1DAB-7FAE-AE1A348CC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98" y="0"/>
            <a:ext cx="9873204" cy="687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868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8EBD-7D5C-6AAD-AD8C-C1A6E2BB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Discreet vs 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1AB9-376A-2B26-20A3-7AB1D1B21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91" y="1853753"/>
            <a:ext cx="4787425" cy="4199727"/>
          </a:xfrm>
        </p:spPr>
        <p:txBody>
          <a:bodyPr/>
          <a:lstStyle/>
          <a:p>
            <a:r>
              <a:rPr lang="en-US" dirty="0"/>
              <a:t>Continuous variables express density as a % likeliness in a bin range.</a:t>
            </a:r>
          </a:p>
          <a:p>
            <a:r>
              <a:rPr lang="en-US" dirty="0"/>
              <a:t>Discreet expresses density as a % of a specific value. </a:t>
            </a:r>
          </a:p>
          <a:p>
            <a:r>
              <a:rPr lang="en-US" dirty="0"/>
              <a:t>Bonus – spot any errors? </a:t>
            </a:r>
          </a:p>
        </p:txBody>
      </p:sp>
      <p:pic>
        <p:nvPicPr>
          <p:cNvPr id="1026" name="Picture 2" descr="OC] Body Height Reported by U.S. Men : r/dataisbeautiful">
            <a:extLst>
              <a:ext uri="{FF2B5EF4-FFF2-40B4-BE49-F238E27FC236}">
                <a16:creationId xmlns:a16="http://schemas.microsoft.com/office/drawing/2014/main" id="{0A234BE5-67AF-85FA-16E9-DC38B7B28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216" y="1329136"/>
            <a:ext cx="6972351" cy="500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92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6D77-0099-CF1B-B823-47F09724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– Fit reality as Best You 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A57C-6231-CFD5-82EF-3856628BA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53754"/>
            <a:ext cx="6096000" cy="4324624"/>
          </a:xfrm>
        </p:spPr>
        <p:txBody>
          <a:bodyPr/>
          <a:lstStyle/>
          <a:p>
            <a:r>
              <a:rPr lang="en-US" dirty="0"/>
              <a:t>Some things can be reasonably modeled with either discreet or continuous. </a:t>
            </a:r>
          </a:p>
          <a:p>
            <a:pPr lvl="1"/>
            <a:r>
              <a:rPr lang="en-US" dirty="0"/>
              <a:t>Domain knowledge decision. </a:t>
            </a:r>
          </a:p>
          <a:p>
            <a:r>
              <a:rPr lang="en-US" dirty="0"/>
              <a:t>E.g. foot size:</a:t>
            </a:r>
          </a:p>
          <a:p>
            <a:pPr lvl="1"/>
            <a:r>
              <a:rPr lang="en-US" dirty="0"/>
              <a:t>Continuous – cm measurements for medical data. </a:t>
            </a:r>
          </a:p>
          <a:p>
            <a:pPr lvl="1"/>
            <a:r>
              <a:rPr lang="en-US" dirty="0"/>
              <a:t>Discreet – size measurements for shoe production. </a:t>
            </a:r>
          </a:p>
          <a:p>
            <a:r>
              <a:rPr lang="en-US" dirty="0"/>
              <a:t>We want (in all respects) to model reality best. </a:t>
            </a:r>
          </a:p>
          <a:p>
            <a:pPr lvl="1"/>
            <a:r>
              <a:rPr lang="en-US" dirty="0"/>
              <a:t>The goal is to simulate the real thing for predictions. </a:t>
            </a:r>
          </a:p>
          <a:p>
            <a:pPr lvl="1"/>
            <a:r>
              <a:rPr lang="en-US" dirty="0"/>
              <a:t>“Math” rules are practical/logistical. </a:t>
            </a:r>
          </a:p>
          <a:p>
            <a:pPr lvl="1"/>
            <a:endParaRPr lang="en-US" dirty="0"/>
          </a:p>
        </p:txBody>
      </p:sp>
      <p:pic>
        <p:nvPicPr>
          <p:cNvPr id="4" name="Picture 3" descr="Discrete and Continuous Data">
            <a:extLst>
              <a:ext uri="{FF2B5EF4-FFF2-40B4-BE49-F238E27FC236}">
                <a16:creationId xmlns:a16="http://schemas.microsoft.com/office/drawing/2014/main" id="{3392B5FF-B19B-3BC2-458A-CA79B3C78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015731"/>
            <a:ext cx="6154785" cy="361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92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BA4B9-B9F1-A01E-872A-B5D460BF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Discreet Example - Poisson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2A48-76D1-6429-0C8C-818D1C609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5860716" cy="3612591"/>
          </a:xfrm>
        </p:spPr>
        <p:txBody>
          <a:bodyPr/>
          <a:lstStyle/>
          <a:p>
            <a:r>
              <a:rPr lang="en-US" dirty="0"/>
              <a:t>Poisson distributions are discreet, often used for things like goals, customers per hour, or other things that happen regularly but unpredictably. </a:t>
            </a:r>
          </a:p>
          <a:p>
            <a:r>
              <a:rPr lang="en-US" dirty="0"/>
              <a:t>Estimator is the mean – expected events per time.</a:t>
            </a:r>
          </a:p>
          <a:p>
            <a:pPr lvl="1"/>
            <a:r>
              <a:rPr lang="en-US" dirty="0"/>
              <a:t>Ensure time steps are consistent. </a:t>
            </a:r>
          </a:p>
        </p:txBody>
      </p:sp>
      <p:pic>
        <p:nvPicPr>
          <p:cNvPr id="4" name="Picture 3" descr="Poisson Distribution">
            <a:extLst>
              <a:ext uri="{FF2B5EF4-FFF2-40B4-BE49-F238E27FC236}">
                <a16:creationId xmlns:a16="http://schemas.microsoft.com/office/drawing/2014/main" id="{73B9BFA5-45E2-04D4-B17F-46F8AD030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16" y="2186667"/>
            <a:ext cx="6331284" cy="3376685"/>
          </a:xfrm>
          <a:prstGeom prst="rect">
            <a:avLst/>
          </a:prstGeom>
        </p:spPr>
      </p:pic>
      <p:pic>
        <p:nvPicPr>
          <p:cNvPr id="5" name="Picture 4" descr="Poisson Distribution (video lessons, examples and solutions)">
            <a:extLst>
              <a:ext uri="{FF2B5EF4-FFF2-40B4-BE49-F238E27FC236}">
                <a16:creationId xmlns:a16="http://schemas.microsoft.com/office/drawing/2014/main" id="{136B4BFA-C595-16D5-F2AF-56367CE4F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89" y="4023966"/>
            <a:ext cx="5146538" cy="266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4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BC0AD-0ECB-9479-AA20-339F1646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303" y="804519"/>
            <a:ext cx="7026551" cy="1049235"/>
          </a:xfrm>
        </p:spPr>
        <p:txBody>
          <a:bodyPr/>
          <a:lstStyle/>
          <a:p>
            <a:r>
              <a:rPr lang="en-US" dirty="0"/>
              <a:t>Binomial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3523-42B7-D560-AEE5-BB23BBDD3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884" y="1853754"/>
            <a:ext cx="6145970" cy="4199727"/>
          </a:xfrm>
        </p:spPr>
        <p:txBody>
          <a:bodyPr/>
          <a:lstStyle/>
          <a:p>
            <a:r>
              <a:rPr lang="en-US" dirty="0"/>
              <a:t>Binomial distributions model </a:t>
            </a:r>
            <a:r>
              <a:rPr lang="en-US" i="1" dirty="0"/>
              <a:t>multiple attempts </a:t>
            </a:r>
            <a:r>
              <a:rPr lang="en-US" dirty="0"/>
              <a:t>of a two-outcome process. </a:t>
            </a:r>
          </a:p>
          <a:p>
            <a:pPr lvl="1"/>
            <a:r>
              <a:rPr lang="en-US" dirty="0"/>
              <a:t>E.g. coin flip, T/F. </a:t>
            </a:r>
          </a:p>
          <a:p>
            <a:pPr lvl="1"/>
            <a:r>
              <a:rPr lang="en-US" dirty="0"/>
              <a:t>10 flips, # heads – many 5s, fewer 4/6, 7/3, 8/2, 9/1, 10/0 is exceedingly rare. </a:t>
            </a:r>
          </a:p>
          <a:p>
            <a:r>
              <a:rPr lang="en-US" dirty="0"/>
              <a:t>Histogram shows (for many flips):</a:t>
            </a:r>
          </a:p>
          <a:p>
            <a:pPr lvl="1"/>
            <a:r>
              <a:rPr lang="en-US" dirty="0"/>
              <a:t>X = # of successes. </a:t>
            </a:r>
          </a:p>
          <a:p>
            <a:pPr lvl="1"/>
            <a:r>
              <a:rPr lang="en-US" dirty="0"/>
              <a:t>Y = count or density. </a:t>
            </a:r>
          </a:p>
          <a:p>
            <a:r>
              <a:rPr lang="en-US" dirty="0"/>
              <a:t>Estimator is the probability of one event. </a:t>
            </a:r>
          </a:p>
        </p:txBody>
      </p:sp>
      <p:pic>
        <p:nvPicPr>
          <p:cNvPr id="4" name="Picture 3" descr="Binomial distribution – probability of number of successes | Mathivo">
            <a:extLst>
              <a:ext uri="{FF2B5EF4-FFF2-40B4-BE49-F238E27FC236}">
                <a16:creationId xmlns:a16="http://schemas.microsoft.com/office/drawing/2014/main" id="{B27D00DA-7376-6048-92EF-E0BD32B32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2579"/>
            <a:ext cx="5486400" cy="3657600"/>
          </a:xfrm>
          <a:prstGeom prst="rect">
            <a:avLst/>
          </a:prstGeom>
        </p:spPr>
      </p:pic>
      <p:pic>
        <p:nvPicPr>
          <p:cNvPr id="5" name="Picture 4" descr="Binomial Distribution (examples, solutions, formulas, videos)">
            <a:extLst>
              <a:ext uri="{FF2B5EF4-FFF2-40B4-BE49-F238E27FC236}">
                <a16:creationId xmlns:a16="http://schemas.microsoft.com/office/drawing/2014/main" id="{BC41A49C-A925-C9D1-4FF5-9F11FE0B2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4028302" cy="27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7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6B20-D5EC-CF4F-8C37-924A9298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Probability?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17E6-EC70-C540-B629-F6D3990AB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08507"/>
          </a:xfrm>
        </p:spPr>
        <p:txBody>
          <a:bodyPr>
            <a:normAutofit/>
          </a:bodyPr>
          <a:lstStyle/>
          <a:p>
            <a:r>
              <a:rPr lang="en-US" sz="2400" dirty="0"/>
              <a:t>Probability = the chances something happens.</a:t>
            </a:r>
          </a:p>
          <a:p>
            <a:pPr lvl="1"/>
            <a:r>
              <a:rPr lang="en-US" sz="2000" dirty="0"/>
              <a:t>Or: The fraction of a total possibilities. </a:t>
            </a:r>
          </a:p>
          <a:p>
            <a:pPr lvl="1"/>
            <a:r>
              <a:rPr lang="en-US" sz="2000" dirty="0"/>
              <a:t>E.g. the chances you roll a die and get a 5 = 1/6</a:t>
            </a:r>
          </a:p>
          <a:p>
            <a:r>
              <a:rPr lang="en-US" sz="2400" dirty="0"/>
              <a:t>What does probability matter to us?</a:t>
            </a:r>
          </a:p>
          <a:p>
            <a:pPr lvl="1"/>
            <a:r>
              <a:rPr lang="en-US" sz="2000" dirty="0"/>
              <a:t>They matter – a little. </a:t>
            </a:r>
          </a:p>
          <a:p>
            <a:pPr lvl="1"/>
            <a:r>
              <a:rPr lang="en-US" sz="2000" dirty="0"/>
              <a:t>Probabilities are common – e.g. gambling. </a:t>
            </a:r>
          </a:p>
          <a:p>
            <a:pPr lvl="1"/>
            <a:r>
              <a:rPr lang="en-US" sz="2000" dirty="0"/>
              <a:t>Probability is often misunderstood. </a:t>
            </a:r>
          </a:p>
          <a:p>
            <a:pPr lvl="1"/>
            <a:r>
              <a:rPr lang="en-US" sz="2000" dirty="0"/>
              <a:t>Probability provides an alternate view of what we are looking at. </a:t>
            </a:r>
          </a:p>
          <a:p>
            <a:pPr lvl="2"/>
            <a:r>
              <a:rPr lang="en-US" sz="1800" dirty="0"/>
              <a:t>Can reach things like distributions, by looking at probability, instead of data.</a:t>
            </a:r>
          </a:p>
        </p:txBody>
      </p:sp>
      <p:pic>
        <p:nvPicPr>
          <p:cNvPr id="4" name="Picture 3" descr="Probability: The Basics EXPLAINED with Examples">
            <a:extLst>
              <a:ext uri="{FF2B5EF4-FFF2-40B4-BE49-F238E27FC236}">
                <a16:creationId xmlns:a16="http://schemas.microsoft.com/office/drawing/2014/main" id="{F2F4CB81-378A-F1FD-E0B6-5C302ABA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22" r="8285"/>
          <a:stretch>
            <a:fillRect/>
          </a:stretch>
        </p:blipFill>
        <p:spPr>
          <a:xfrm>
            <a:off x="7587048" y="1326243"/>
            <a:ext cx="4510217" cy="333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4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EF03-8FEA-2C42-A25D-1BF98613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34D7C-4418-D44A-9722-960449F3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5156200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P(A) = Probability that A is true. </a:t>
            </a:r>
          </a:p>
          <a:p>
            <a:r>
              <a:rPr lang="en-US" dirty="0"/>
              <a:t>P(A and B) = P(A) * P(B). Probability that A and B are true. </a:t>
            </a:r>
          </a:p>
          <a:p>
            <a:r>
              <a:rPr lang="en-US" dirty="0"/>
              <a:t>P(A or B) = P(A) + P(B). Probability that A or B are true. </a:t>
            </a:r>
          </a:p>
          <a:p>
            <a:r>
              <a:rPr lang="en-US" dirty="0"/>
              <a:t>P(A</a:t>
            </a:r>
            <a:r>
              <a:rPr lang="en-US" baseline="30000" dirty="0"/>
              <a:t>c</a:t>
            </a:r>
            <a:r>
              <a:rPr lang="en-US" dirty="0"/>
              <a:t>) = 1-P(A) = P(not A). Probability that is is false. </a:t>
            </a:r>
          </a:p>
          <a:p>
            <a:r>
              <a:rPr lang="en-US" dirty="0"/>
              <a:t>Simple probability assumes mutual exclusivity (only one is true), and one thing is true. </a:t>
            </a:r>
          </a:p>
          <a:p>
            <a:pPr lvl="1"/>
            <a:r>
              <a:rPr lang="en-US" dirty="0"/>
              <a:t>P(A and B) = 0, P(A or B) = 1. </a:t>
            </a:r>
          </a:p>
        </p:txBody>
      </p:sp>
      <p:pic>
        <p:nvPicPr>
          <p:cNvPr id="4" name="Picture 3" descr="Probability Notation - Math Steps, Examples &amp; Questions">
            <a:extLst>
              <a:ext uri="{FF2B5EF4-FFF2-40B4-BE49-F238E27FC236}">
                <a16:creationId xmlns:a16="http://schemas.microsoft.com/office/drawing/2014/main" id="{7FC4EC12-8C9B-8972-D728-94C5EF754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29" y="2413001"/>
            <a:ext cx="6973971" cy="259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4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F4AB-0184-BAC1-DEFE-CAD595CC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9DAE-7237-DEE6-98EB-6A64F4CDA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8298" y="2015732"/>
            <a:ext cx="7413702" cy="4037749"/>
          </a:xfrm>
        </p:spPr>
        <p:txBody>
          <a:bodyPr/>
          <a:lstStyle/>
          <a:p>
            <a:r>
              <a:rPr lang="en-US" dirty="0"/>
              <a:t>With our datasets, we often look at density – the percentage that falls in M range. </a:t>
            </a:r>
          </a:p>
          <a:p>
            <a:pPr lvl="1"/>
            <a:r>
              <a:rPr lang="en-US" dirty="0"/>
              <a:t>Looking backwards, this is a percentage. </a:t>
            </a:r>
          </a:p>
          <a:p>
            <a:pPr lvl="1"/>
            <a:r>
              <a:rPr lang="en-US" dirty="0"/>
              <a:t>Looking forwards, this is a likelihood a thing will happen. </a:t>
            </a:r>
          </a:p>
          <a:p>
            <a:r>
              <a:rPr lang="en-US" dirty="0"/>
              <a:t>Our distribution defines the probability that a new item on that distribution will be X. </a:t>
            </a:r>
          </a:p>
          <a:p>
            <a:r>
              <a:rPr lang="en-US" dirty="0"/>
              <a:t>If we’ve chosen a model that actually matches the data, all new occurrences should follow the defined pattern. </a:t>
            </a:r>
          </a:p>
        </p:txBody>
      </p:sp>
      <p:pic>
        <p:nvPicPr>
          <p:cNvPr id="7170" name="Picture 2" descr="Intro to Statistics: Part 6: Probability Density Functions — L0ng  C0nnect10ns">
            <a:extLst>
              <a:ext uri="{FF2B5EF4-FFF2-40B4-BE49-F238E27FC236}">
                <a16:creationId xmlns:a16="http://schemas.microsoft.com/office/drawing/2014/main" id="{A7279E28-37EA-932D-E446-5798D2F76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0741"/>
            <a:ext cx="4778298" cy="477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545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D2A44-53F1-7C87-B89E-A1FE0836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View on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1A130-C9ED-B53B-3E15-FE3080854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801637" cy="3450613"/>
          </a:xfrm>
        </p:spPr>
        <p:txBody>
          <a:bodyPr/>
          <a:lstStyle/>
          <a:p>
            <a:r>
              <a:rPr lang="en-US" dirty="0"/>
              <a:t>Stats and probability (especially inferential) are two sides of a coin. </a:t>
            </a:r>
          </a:p>
        </p:txBody>
      </p:sp>
      <p:pic>
        <p:nvPicPr>
          <p:cNvPr id="4" name="Picture 3" descr="Understanding frequentist vs. Bayesian inference — » Douglas Yao">
            <a:extLst>
              <a:ext uri="{FF2B5EF4-FFF2-40B4-BE49-F238E27FC236}">
                <a16:creationId xmlns:a16="http://schemas.microsoft.com/office/drawing/2014/main" id="{4A5F48F1-2B94-A162-ED31-CD4CE6D5D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1818391"/>
            <a:ext cx="5901353" cy="364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69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9E84-2B20-554F-96AC-21F5038B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Using Probability – Will We live?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80AA9-13F5-EB4B-AF07-8A8547074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2015734"/>
            <a:ext cx="4969614" cy="3450613"/>
          </a:xfrm>
        </p:spPr>
        <p:txBody>
          <a:bodyPr>
            <a:normAutofit/>
          </a:bodyPr>
          <a:lstStyle/>
          <a:p>
            <a:r>
              <a:rPr lang="en-US" dirty="0"/>
              <a:t>We need to win at 5 simple games. </a:t>
            </a:r>
          </a:p>
          <a:p>
            <a:r>
              <a:rPr lang="en-US" dirty="0"/>
              <a:t>We are really, really good at games, we win 90% of the time.</a:t>
            </a:r>
          </a:p>
          <a:p>
            <a:r>
              <a:rPr lang="en-US" dirty="0"/>
              <a:t>Are we dead?</a:t>
            </a:r>
          </a:p>
        </p:txBody>
      </p:sp>
      <p:pic>
        <p:nvPicPr>
          <p:cNvPr id="1026" name="Picture 2" descr="All the best &amp;#39;Squid Game&amp;#39; memes on the internet">
            <a:extLst>
              <a:ext uri="{FF2B5EF4-FFF2-40B4-BE49-F238E27FC236}">
                <a16:creationId xmlns:a16="http://schemas.microsoft.com/office/drawing/2014/main" id="{D878DA7F-B129-2143-BA4F-5B9657670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1115" y="1932358"/>
            <a:ext cx="6650885" cy="332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645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E9CC-6314-B98F-68A1-7C55A449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154" y="804519"/>
            <a:ext cx="3325700" cy="1049235"/>
          </a:xfrm>
        </p:spPr>
        <p:txBody>
          <a:bodyPr/>
          <a:lstStyle/>
          <a:p>
            <a:r>
              <a:rPr lang="en-US" dirty="0"/>
              <a:t>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61F0F-0A17-89DD-B7BC-400C65D7E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9154" y="2015732"/>
            <a:ext cx="4462846" cy="4037749"/>
          </a:xfrm>
        </p:spPr>
        <p:txBody>
          <a:bodyPr/>
          <a:lstStyle/>
          <a:p>
            <a:r>
              <a:rPr lang="en-US" dirty="0"/>
              <a:t>We must be ok with basic calculations. </a:t>
            </a:r>
          </a:p>
          <a:p>
            <a:pPr lvl="1"/>
            <a:r>
              <a:rPr lang="en-US" dirty="0"/>
              <a:t>Generally, assume independence. </a:t>
            </a:r>
          </a:p>
          <a:p>
            <a:r>
              <a:rPr lang="en-US" dirty="0"/>
              <a:t>Most notably:</a:t>
            </a:r>
          </a:p>
          <a:p>
            <a:pPr lvl="1"/>
            <a:r>
              <a:rPr lang="en-US" dirty="0"/>
              <a:t>Joint probability. (Multiply)</a:t>
            </a:r>
          </a:p>
          <a:p>
            <a:pPr lvl="1"/>
            <a:r>
              <a:rPr lang="en-US" dirty="0"/>
              <a:t>Union. (Add)</a:t>
            </a:r>
          </a:p>
          <a:p>
            <a:r>
              <a:rPr lang="en-US" dirty="0"/>
              <a:t>The hardest part can be translating things to consistent probability notation. </a:t>
            </a:r>
          </a:p>
        </p:txBody>
      </p:sp>
      <p:pic>
        <p:nvPicPr>
          <p:cNvPr id="4" name="Picture 3" descr="Probability Concepts - Aced (formerly Exponent)">
            <a:extLst>
              <a:ext uri="{FF2B5EF4-FFF2-40B4-BE49-F238E27FC236}">
                <a16:creationId xmlns:a16="http://schemas.microsoft.com/office/drawing/2014/main" id="{67AA013D-E4A3-CE9B-BA28-DEF4A75C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4653"/>
            <a:ext cx="7729154" cy="515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81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E4AA8-B3D4-284A-B0CD-C0DA2209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we Live?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F6146-186E-0C4A-8057-81778B70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P(Win) = .9</a:t>
            </a:r>
          </a:p>
          <a:p>
            <a:r>
              <a:rPr lang="en-US" dirty="0"/>
              <a:t>Odds we are alive after:</a:t>
            </a:r>
          </a:p>
          <a:p>
            <a:pPr lvl="1"/>
            <a:r>
              <a:rPr lang="en-US" dirty="0"/>
              <a:t>1 Game – 90%</a:t>
            </a:r>
          </a:p>
          <a:p>
            <a:pPr lvl="1"/>
            <a:r>
              <a:rPr lang="en-US" dirty="0"/>
              <a:t>2 Games: P(W1 and W2) = .9 * .9 = .81 = 81%</a:t>
            </a:r>
          </a:p>
          <a:p>
            <a:pPr lvl="1"/>
            <a:r>
              <a:rPr lang="en-US" dirty="0"/>
              <a:t>3 Games P(W1&amp;W2&amp;W3) = .9^3 = .729 = 73%</a:t>
            </a:r>
          </a:p>
          <a:p>
            <a:pPr lvl="1"/>
            <a:r>
              <a:rPr lang="en-US" dirty="0"/>
              <a:t>4 Games P(W1&amp;W2&amp;W3&amp;W4) = .9^4 = .66 = 66%</a:t>
            </a:r>
          </a:p>
          <a:p>
            <a:pPr lvl="1"/>
            <a:r>
              <a:rPr lang="en-US" dirty="0"/>
              <a:t>5 Games P(W1&amp;W2&amp;W3&amp;W4&amp;W5) = .9^5 = 59%</a:t>
            </a:r>
          </a:p>
          <a:p>
            <a:r>
              <a:rPr lang="en-US" dirty="0"/>
              <a:t>Damn it. </a:t>
            </a:r>
          </a:p>
          <a:p>
            <a:r>
              <a:rPr lang="en-US" dirty="0"/>
              <a:t>Even if we are better – 95% win rate, we only survive 77% of the time.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442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807B-0003-3849-AAF4-1D499787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Choose Carefully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62E4C-0B60-9F41-92C1-84326E614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7422989" cy="4287402"/>
          </a:xfrm>
        </p:spPr>
        <p:txBody>
          <a:bodyPr>
            <a:normAutofit/>
          </a:bodyPr>
          <a:lstStyle/>
          <a:p>
            <a:r>
              <a:rPr lang="en-US" dirty="0"/>
              <a:t>Probabilities, especially when there’s more than one involved, are not always intuitive (i.e. don’t buy parlays). </a:t>
            </a:r>
          </a:p>
          <a:p>
            <a:r>
              <a:rPr lang="en-US" dirty="0"/>
              <a:t>E.g. Jackpot odds for 6/49 lottery are roughly 1 in 14 million.</a:t>
            </a:r>
          </a:p>
          <a:p>
            <a:r>
              <a:rPr lang="en-US" dirty="0"/>
              <a:t>If your work buys 10 tickets every week, for 30 years. </a:t>
            </a:r>
          </a:p>
          <a:p>
            <a:pPr lvl="1"/>
            <a:r>
              <a:rPr lang="en-US" dirty="0"/>
              <a:t>10*52*30 = 15,600 chances to win. </a:t>
            </a:r>
          </a:p>
          <a:p>
            <a:pPr lvl="1"/>
            <a:r>
              <a:rPr lang="en-US" dirty="0"/>
              <a:t>Expected value:</a:t>
            </a:r>
          </a:p>
          <a:p>
            <a:pPr lvl="2"/>
            <a:r>
              <a:rPr lang="en-US" dirty="0"/>
              <a:t>Cost: 15,600*$5 = $78,000.</a:t>
            </a:r>
          </a:p>
          <a:p>
            <a:pPr lvl="2"/>
            <a:r>
              <a:rPr lang="en-US" dirty="0"/>
              <a:t>Income: $10 million avg jackpot. </a:t>
            </a:r>
          </a:p>
          <a:p>
            <a:pPr lvl="2"/>
            <a:r>
              <a:rPr lang="en-US" dirty="0"/>
              <a:t>P(win) = (1/14mill) * 15600</a:t>
            </a:r>
          </a:p>
          <a:p>
            <a:pPr lvl="1"/>
            <a:r>
              <a:rPr lang="en-US" dirty="0"/>
              <a:t>Even so, some people in my old job won ~$3.5m each. </a:t>
            </a:r>
          </a:p>
        </p:txBody>
      </p:sp>
      <p:pic>
        <p:nvPicPr>
          <p:cNvPr id="2050" name="Picture 2" descr="Squid Game - choosing and push a button [1920x2880]: MemeTemplatesOfficial">
            <a:extLst>
              <a:ext uri="{FF2B5EF4-FFF2-40B4-BE49-F238E27FC236}">
                <a16:creationId xmlns:a16="http://schemas.microsoft.com/office/drawing/2014/main" id="{215B05DE-9FC6-FE46-8A78-F7C6A038F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2989" y="-17694"/>
            <a:ext cx="4535649" cy="679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244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0D53-C53E-0CA9-ECA8-5259942E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672AD-E113-A552-68B4-3E885C6E6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We can frame any (discreet*) thing we’ve collected a sample on as probabilistic. </a:t>
            </a:r>
          </a:p>
          <a:p>
            <a:pPr lvl="1"/>
            <a:r>
              <a:rPr lang="en-US" dirty="0"/>
              <a:t>The samples tells us the # of times it occurred vs not. </a:t>
            </a:r>
          </a:p>
          <a:p>
            <a:pPr lvl="1"/>
            <a:r>
              <a:rPr lang="en-US" dirty="0"/>
              <a:t>If we have a model of the distribution, that gives us an expectation of what will happen. </a:t>
            </a:r>
          </a:p>
          <a:p>
            <a:pPr lvl="1"/>
            <a:r>
              <a:rPr lang="en-US" dirty="0"/>
              <a:t>Looking forward, that percentage is the expected probability. </a:t>
            </a:r>
          </a:p>
          <a:p>
            <a:pPr lvl="1"/>
            <a:r>
              <a:rPr lang="en-US" dirty="0"/>
              <a:t>*with continuous data this usually equates to &lt;&gt;, or similar. </a:t>
            </a:r>
          </a:p>
          <a:p>
            <a:r>
              <a:rPr lang="en-US" dirty="0"/>
              <a:t>This depends on how well the model matches reality. </a:t>
            </a:r>
          </a:p>
        </p:txBody>
      </p:sp>
    </p:spTree>
    <p:extLst>
      <p:ext uri="{BB962C8B-B14F-4D97-AF65-F5344CB8AC3E}">
        <p14:creationId xmlns:p14="http://schemas.microsoft.com/office/powerpoint/2010/main" val="39305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239F-9A82-DF45-AA6F-25B28BD4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13740-0231-894D-9658-BE40BCA0C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593" y="1853754"/>
            <a:ext cx="6743035" cy="4199727"/>
          </a:xfrm>
        </p:spPr>
        <p:txBody>
          <a:bodyPr>
            <a:normAutofit/>
          </a:bodyPr>
          <a:lstStyle/>
          <a:p>
            <a:r>
              <a:rPr lang="en-US" dirty="0"/>
              <a:t>P(A | B) = probability that A is true, given that B is true.</a:t>
            </a:r>
          </a:p>
          <a:p>
            <a:r>
              <a:rPr lang="en-US" dirty="0"/>
              <a:t>Conditional probability is allows us to say “how likely is X if something happens?”</a:t>
            </a:r>
          </a:p>
          <a:p>
            <a:pPr lvl="1"/>
            <a:r>
              <a:rPr lang="en-US" dirty="0"/>
              <a:t>E.g. If we are over 7’0” how </a:t>
            </a:r>
            <a:r>
              <a:rPr lang="en-US" dirty="0" err="1"/>
              <a:t>likley</a:t>
            </a:r>
            <a:r>
              <a:rPr lang="en-US" dirty="0"/>
              <a:t> are we to make the NBA?</a:t>
            </a:r>
          </a:p>
          <a:p>
            <a:pPr lvl="1"/>
            <a:r>
              <a:rPr lang="en-US" dirty="0"/>
              <a:t>In the 90s someone calculated that at about 14%</a:t>
            </a:r>
          </a:p>
          <a:p>
            <a:r>
              <a:rPr lang="en-US" dirty="0"/>
              <a:t>Some quick covid tests have reported about a 20% false negative rate. </a:t>
            </a:r>
          </a:p>
          <a:p>
            <a:pPr lvl="1"/>
            <a:r>
              <a:rPr lang="en-US" dirty="0"/>
              <a:t>P(Test Positive | Have Covid) = 80%</a:t>
            </a:r>
          </a:p>
        </p:txBody>
      </p:sp>
      <p:pic>
        <p:nvPicPr>
          <p:cNvPr id="4" name="Picture 3" descr="Statistics: Ch 4 Probability in Statistics (46 of 74) Conditional  Probability">
            <a:extLst>
              <a:ext uri="{FF2B5EF4-FFF2-40B4-BE49-F238E27FC236}">
                <a16:creationId xmlns:a16="http://schemas.microsoft.com/office/drawing/2014/main" id="{356701C1-8AFE-743C-56FF-BB8E78FE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86" b="10247"/>
          <a:stretch>
            <a:fillRect/>
          </a:stretch>
        </p:blipFill>
        <p:spPr>
          <a:xfrm>
            <a:off x="1" y="2349499"/>
            <a:ext cx="5313592" cy="31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50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A070-01E8-F3C0-9C66-5F89A608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1E76-D977-0924-94F9-DB0593499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onditional Probability - Math Steps, Examples &amp; Questions">
            <a:extLst>
              <a:ext uri="{FF2B5EF4-FFF2-40B4-BE49-F238E27FC236}">
                <a16:creationId xmlns:a16="http://schemas.microsoft.com/office/drawing/2014/main" id="{799F6C06-00C5-4A78-E1CC-090925B92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043"/>
            <a:ext cx="12192000" cy="689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99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739A-EA3E-0AA7-29C6-2EF044B4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2B345-73B9-6B2C-3AA1-CB4C48BD7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9284"/>
            <a:ext cx="9603275" cy="4124197"/>
          </a:xfrm>
        </p:spPr>
        <p:txBody>
          <a:bodyPr/>
          <a:lstStyle/>
          <a:p>
            <a:r>
              <a:rPr lang="en-US" dirty="0"/>
              <a:t>Conditional probabilities allow us to learn more details from data. </a:t>
            </a:r>
          </a:p>
          <a:p>
            <a:r>
              <a:rPr lang="en-US" dirty="0"/>
              <a:t>E.g. the risk of getting cancer at all is something like 45%. </a:t>
            </a:r>
          </a:p>
          <a:p>
            <a:pPr lvl="1"/>
            <a:r>
              <a:rPr lang="en-US" dirty="0"/>
              <a:t>That risk doesn’t apply the same to all people in Canada. </a:t>
            </a:r>
          </a:p>
          <a:p>
            <a:pPr lvl="1"/>
            <a:r>
              <a:rPr lang="en-US" dirty="0"/>
              <a:t>The risk for white-collar, clean eating, exercise enthusiasts is comparatively low. </a:t>
            </a:r>
          </a:p>
          <a:p>
            <a:pPr lvl="1"/>
            <a:r>
              <a:rPr lang="en-US" dirty="0"/>
              <a:t>The risk for chronic smoking, tanning addicts is high. </a:t>
            </a:r>
          </a:p>
          <a:p>
            <a:pPr lvl="1"/>
            <a:r>
              <a:rPr lang="en-US" dirty="0"/>
              <a:t>If we need to plan for future cancer clinic capacity, this can matter. </a:t>
            </a:r>
          </a:p>
          <a:p>
            <a:r>
              <a:rPr lang="en-US" dirty="0"/>
              <a:t>Framed differently, we can also imagine this as our expectation getting </a:t>
            </a:r>
            <a:r>
              <a:rPr lang="en-US" i="1" dirty="0"/>
              <a:t>updated</a:t>
            </a:r>
            <a:r>
              <a:rPr lang="en-US" dirty="0"/>
              <a:t> each time we ‘learn something’, or get information from a ‘new’ variable. </a:t>
            </a:r>
          </a:p>
          <a:p>
            <a:pPr lvl="1"/>
            <a:r>
              <a:rPr lang="en-US" dirty="0"/>
              <a:t>This idea will come up again soon…</a:t>
            </a:r>
          </a:p>
        </p:txBody>
      </p:sp>
    </p:spTree>
    <p:extLst>
      <p:ext uri="{BB962C8B-B14F-4D97-AF65-F5344CB8AC3E}">
        <p14:creationId xmlns:p14="http://schemas.microsoft.com/office/powerpoint/2010/main" val="3334995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C65A-5AA4-42A5-4E22-DAF3D1F0E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159BA-9ADF-55C3-1522-CF2272534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2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1D0B-BFC8-C12F-F807-53E20790C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446" y="804519"/>
            <a:ext cx="10370915" cy="1049235"/>
          </a:xfrm>
        </p:spPr>
        <p:txBody>
          <a:bodyPr/>
          <a:lstStyle/>
          <a:p>
            <a:r>
              <a:rPr lang="en-US" dirty="0"/>
              <a:t>Probability at work – Comparing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4C7E8-23F5-DE2A-79B8-909246B2F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394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DAFD-0666-669A-7138-2CCA97AC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C3283-F2EB-0A1F-9B93-8BC3D76D0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129" y="1853754"/>
            <a:ext cx="5764871" cy="4199727"/>
          </a:xfrm>
        </p:spPr>
        <p:txBody>
          <a:bodyPr/>
          <a:lstStyle/>
          <a:p>
            <a:r>
              <a:rPr lang="en-US" dirty="0"/>
              <a:t>A difference between distributions is an effect.</a:t>
            </a:r>
          </a:p>
          <a:p>
            <a:pPr lvl="1"/>
            <a:r>
              <a:rPr lang="en-US" dirty="0"/>
              <a:t>Can’t just calculate one value like mean to compare. </a:t>
            </a:r>
          </a:p>
          <a:p>
            <a:pPr lvl="1"/>
            <a:r>
              <a:rPr lang="en-US" dirty="0"/>
              <a:t>We need some concept of ‘different enough’ to compare all items in the set. </a:t>
            </a:r>
          </a:p>
          <a:p>
            <a:pPr lvl="1"/>
            <a:r>
              <a:rPr lang="en-US" dirty="0"/>
              <a:t>The overall shape of the distribution matters, not just stats like mean. </a:t>
            </a:r>
          </a:p>
          <a:p>
            <a:r>
              <a:rPr lang="en-US" dirty="0"/>
              <a:t>Therefore, we don’t really have an answer like ‘regular’ equality/inequality. </a:t>
            </a:r>
          </a:p>
          <a:p>
            <a:r>
              <a:rPr lang="en-US" dirty="0"/>
              <a:t>We saw one way to compare, effect sizes. </a:t>
            </a:r>
          </a:p>
          <a:p>
            <a:r>
              <a:rPr lang="en-US" dirty="0"/>
              <a:t>Let’s look deeper at how we can compare…</a:t>
            </a:r>
          </a:p>
          <a:p>
            <a:endParaRPr lang="en-US" dirty="0"/>
          </a:p>
        </p:txBody>
      </p:sp>
      <p:pic>
        <p:nvPicPr>
          <p:cNvPr id="8194" name="Picture 2" descr="Distributions of treatment responses for placebo and an FDA approved... |  Download Scientific Diagram">
            <a:extLst>
              <a:ext uri="{FF2B5EF4-FFF2-40B4-BE49-F238E27FC236}">
                <a16:creationId xmlns:a16="http://schemas.microsoft.com/office/drawing/2014/main" id="{63AF78F2-D6F1-68EC-7033-69F2B989F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3754"/>
            <a:ext cx="6427129" cy="403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552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CFB6-8494-157C-6045-692EA0B7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33458-D74A-1327-A263-5FFB73431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7554"/>
          </a:xfrm>
        </p:spPr>
        <p:txBody>
          <a:bodyPr/>
          <a:lstStyle/>
          <a:p>
            <a:r>
              <a:rPr lang="en-US" dirty="0"/>
              <a:t>We can think of comparing distributions in 3 ways. </a:t>
            </a:r>
          </a:p>
          <a:p>
            <a:r>
              <a:rPr lang="en-US" dirty="0"/>
              <a:t>How large is the effect?</a:t>
            </a:r>
          </a:p>
          <a:p>
            <a:pPr lvl="1"/>
            <a:r>
              <a:rPr lang="en-US" dirty="0"/>
              <a:t>What is the difference between distributions A and B?</a:t>
            </a:r>
          </a:p>
          <a:p>
            <a:pPr lvl="1"/>
            <a:r>
              <a:rPr lang="en-US" dirty="0"/>
              <a:t>This is what effect size measures. </a:t>
            </a:r>
          </a:p>
          <a:p>
            <a:r>
              <a:rPr lang="en-US" dirty="0"/>
              <a:t>Is the effect significant?</a:t>
            </a:r>
          </a:p>
          <a:p>
            <a:pPr lvl="1"/>
            <a:r>
              <a:rPr lang="en-US" dirty="0"/>
              <a:t>Is the effect something that would not occur randomly? </a:t>
            </a:r>
          </a:p>
          <a:p>
            <a:pPr lvl="1"/>
            <a:r>
              <a:rPr lang="en-US" dirty="0"/>
              <a:t>Hypothesis testing, next week. </a:t>
            </a:r>
          </a:p>
          <a:p>
            <a:r>
              <a:rPr lang="en-US" dirty="0"/>
              <a:t>Does this difference matter? </a:t>
            </a:r>
          </a:p>
          <a:p>
            <a:pPr lvl="1"/>
            <a:r>
              <a:rPr lang="en-US" dirty="0"/>
              <a:t>This requires domain knowledge and context. </a:t>
            </a:r>
          </a:p>
          <a:p>
            <a:pPr lvl="1"/>
            <a:r>
              <a:rPr lang="en-US" dirty="0"/>
              <a:t>A judgement call. </a:t>
            </a:r>
          </a:p>
        </p:txBody>
      </p:sp>
    </p:spTree>
    <p:extLst>
      <p:ext uri="{BB962C8B-B14F-4D97-AF65-F5344CB8AC3E}">
        <p14:creationId xmlns:p14="http://schemas.microsoft.com/office/powerpoint/2010/main" val="153718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B2D7-A503-B515-44A2-AD8F388A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Odds and Effect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57BBE-5EB0-A7A4-E217-B236AD739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We’ve seen one way to compare distributions – effect sizes. </a:t>
            </a:r>
          </a:p>
          <a:p>
            <a:pPr lvl="1"/>
            <a:r>
              <a:rPr lang="en-US" dirty="0"/>
              <a:t>The effect size measures, in context of the variance, how different two distributions are. </a:t>
            </a:r>
          </a:p>
          <a:p>
            <a:pPr lvl="1"/>
            <a:r>
              <a:rPr lang="en-US" dirty="0"/>
              <a:t>I.e. is the difference between groups significant compared to differences within groups. </a:t>
            </a:r>
          </a:p>
          <a:p>
            <a:r>
              <a:rPr lang="en-US" dirty="0"/>
              <a:t>We can also think of this in terms of probability. </a:t>
            </a:r>
          </a:p>
          <a:p>
            <a:pPr lvl="1"/>
            <a:r>
              <a:rPr lang="en-US" dirty="0"/>
              <a:t>Are these two samples likely from the same population – hypothesis tests. </a:t>
            </a:r>
          </a:p>
          <a:p>
            <a:pPr lvl="1"/>
            <a:r>
              <a:rPr lang="en-US" dirty="0"/>
              <a:t>Does this data come from a normal population – normality test. </a:t>
            </a:r>
          </a:p>
          <a:p>
            <a:r>
              <a:rPr lang="en-US" dirty="0"/>
              <a:t>More generically – superiority. </a:t>
            </a:r>
          </a:p>
          <a:p>
            <a:pPr lvl="1"/>
            <a:r>
              <a:rPr lang="en-US" dirty="0"/>
              <a:t>Two distributions that are totally different will not/barely overlap. </a:t>
            </a:r>
          </a:p>
          <a:p>
            <a:pPr lvl="1"/>
            <a:r>
              <a:rPr lang="en-US" dirty="0"/>
              <a:t>Two distributions that are from the same population will overlap a lot. </a:t>
            </a:r>
          </a:p>
        </p:txBody>
      </p:sp>
    </p:spTree>
    <p:extLst>
      <p:ext uri="{BB962C8B-B14F-4D97-AF65-F5344CB8AC3E}">
        <p14:creationId xmlns:p14="http://schemas.microsoft.com/office/powerpoint/2010/main" val="3956611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047E-DBBC-3D04-CD14-D93E739F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Thresholds on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3E4B6-F690-C8B3-76EE-CF219A11E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438396" cy="4199727"/>
          </a:xfrm>
        </p:spPr>
        <p:txBody>
          <a:bodyPr>
            <a:normAutofit/>
          </a:bodyPr>
          <a:lstStyle/>
          <a:p>
            <a:r>
              <a:rPr lang="en-US" dirty="0"/>
              <a:t>The most simple way to compare </a:t>
            </a:r>
            <a:r>
              <a:rPr lang="en-US" dirty="0" err="1"/>
              <a:t>dists</a:t>
            </a:r>
            <a:r>
              <a:rPr lang="en-US" dirty="0"/>
              <a:t> is to a threshold. </a:t>
            </a:r>
          </a:p>
          <a:p>
            <a:pPr lvl="1"/>
            <a:r>
              <a:rPr lang="en-US" dirty="0"/>
              <a:t>The threshold is a cutoff point that we can use to separate classes (distributions). </a:t>
            </a:r>
          </a:p>
          <a:p>
            <a:r>
              <a:rPr lang="en-US" dirty="0"/>
              <a:t>There are a couple of threshold calculations:</a:t>
            </a:r>
          </a:p>
          <a:p>
            <a:pPr lvl="1"/>
            <a:r>
              <a:rPr lang="en-US" dirty="0"/>
              <a:t>Simple – average of the means. </a:t>
            </a:r>
          </a:p>
          <a:p>
            <a:pPr lvl="1"/>
            <a:r>
              <a:rPr lang="en-US" dirty="0"/>
              <a:t>Complex – calculation with means and standard deviations. </a:t>
            </a:r>
          </a:p>
          <a:p>
            <a:r>
              <a:rPr lang="en-US" dirty="0"/>
              <a:t>Can be cutoff – over is a distribution, under is the other. </a:t>
            </a:r>
          </a:p>
          <a:p>
            <a:pPr lvl="1"/>
            <a:r>
              <a:rPr lang="en-US" dirty="0"/>
              <a:t>The purity of the two groups is the quality of the threshold. </a:t>
            </a:r>
          </a:p>
          <a:p>
            <a:pPr lvl="1"/>
            <a:r>
              <a:rPr lang="en-US" dirty="0"/>
              <a:t>A perfect cutoff means that we can use one value to separate the groups with no errors.</a:t>
            </a:r>
          </a:p>
        </p:txBody>
      </p:sp>
      <p:pic>
        <p:nvPicPr>
          <p:cNvPr id="5124" name="Picture 4" descr="Risk distributions and area under the ROC curve (AUC) (adapted from... |  Download Scientific Diagram">
            <a:extLst>
              <a:ext uri="{FF2B5EF4-FFF2-40B4-BE49-F238E27FC236}">
                <a16:creationId xmlns:a16="http://schemas.microsoft.com/office/drawing/2014/main" id="{09D8CC62-F962-9F2E-5D29-241523E7B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80"/>
          <a:stretch>
            <a:fillRect/>
          </a:stretch>
        </p:blipFill>
        <p:spPr bwMode="auto">
          <a:xfrm>
            <a:off x="6438396" y="2610754"/>
            <a:ext cx="5753604" cy="207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33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5CC1-C337-5213-81D8-E4E36A6B8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3272821" cy="1049235"/>
          </a:xfrm>
        </p:spPr>
        <p:txBody>
          <a:bodyPr/>
          <a:lstStyle/>
          <a:p>
            <a:r>
              <a:rPr lang="en-US" dirty="0"/>
              <a:t>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7EAB-A663-F42F-BAED-DD52E6A9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5273944" cy="4199727"/>
          </a:xfrm>
        </p:spPr>
        <p:txBody>
          <a:bodyPr/>
          <a:lstStyle/>
          <a:p>
            <a:r>
              <a:rPr lang="en-US" dirty="0"/>
              <a:t>If the two </a:t>
            </a:r>
            <a:r>
              <a:rPr lang="en-US" dirty="0" err="1"/>
              <a:t>dists</a:t>
            </a:r>
            <a:r>
              <a:rPr lang="en-US" dirty="0"/>
              <a:t> don’t overlap much at all, we can clearly classify into group A or B. </a:t>
            </a:r>
          </a:p>
          <a:p>
            <a:pPr lvl="1"/>
            <a:r>
              <a:rPr lang="en-US" dirty="0"/>
              <a:t>The overlap area is where we might make mistakes. </a:t>
            </a:r>
          </a:p>
          <a:p>
            <a:pPr lvl="1"/>
            <a:r>
              <a:rPr lang="en-US" dirty="0"/>
              <a:t>On either side of the overlap, we know exactly what class a value belongs to. </a:t>
            </a:r>
          </a:p>
          <a:p>
            <a:r>
              <a:rPr lang="en-US" dirty="0"/>
              <a:t>E.g. a value of .5 could be in either group. </a:t>
            </a:r>
          </a:p>
          <a:p>
            <a:pPr lvl="1"/>
            <a:r>
              <a:rPr lang="en-US" dirty="0"/>
              <a:t>A value of 8 can only be blue. </a:t>
            </a:r>
          </a:p>
          <a:p>
            <a:r>
              <a:rPr lang="en-US" dirty="0"/>
              <a:t>More different distributions have less overlap. </a:t>
            </a:r>
          </a:p>
        </p:txBody>
      </p:sp>
      <p:pic>
        <p:nvPicPr>
          <p:cNvPr id="4098" name="Picture 2" descr="machine learning - How to find the threshold between two histograms at  fixed false positive rate? - Cross Validated">
            <a:extLst>
              <a:ext uri="{FF2B5EF4-FFF2-40B4-BE49-F238E27FC236}">
                <a16:creationId xmlns:a16="http://schemas.microsoft.com/office/drawing/2014/main" id="{EA2D23F6-BED9-55DB-56BB-A84CFD6F14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4"/>
          <a:stretch>
            <a:fillRect/>
          </a:stretch>
        </p:blipFill>
        <p:spPr bwMode="auto">
          <a:xfrm>
            <a:off x="5273944" y="1423851"/>
            <a:ext cx="6918056" cy="502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809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15952-7972-3DF6-4A04-E3546CDF0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47B11-0B57-9D2E-39B1-158C376A1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3120" y="2015732"/>
            <a:ext cx="4440880" cy="4037749"/>
          </a:xfrm>
        </p:spPr>
        <p:txBody>
          <a:bodyPr/>
          <a:lstStyle/>
          <a:p>
            <a:r>
              <a:rPr lang="en-US" dirty="0"/>
              <a:t>Effect size shows us differences. </a:t>
            </a:r>
          </a:p>
          <a:p>
            <a:pPr lvl="1"/>
            <a:r>
              <a:rPr lang="en-US" dirty="0"/>
              <a:t>Compares the means, with consideration of the variance. </a:t>
            </a:r>
          </a:p>
          <a:p>
            <a:r>
              <a:rPr lang="en-US" dirty="0"/>
              <a:t>If data varies little, small differences matter more. </a:t>
            </a:r>
          </a:p>
          <a:p>
            <a:r>
              <a:rPr lang="en-US" dirty="0"/>
              <a:t>If data varies a lot, differences between groups matters less. </a:t>
            </a:r>
          </a:p>
          <a:p>
            <a:r>
              <a:rPr lang="en-US" dirty="0"/>
              <a:t>”Difference within groups vs differences between groups.” </a:t>
            </a:r>
          </a:p>
        </p:txBody>
      </p:sp>
      <p:pic>
        <p:nvPicPr>
          <p:cNvPr id="4" name="Picture 3" descr="Research Design: Interpreting and Calculating Effect Sizes | Lauren  Margulieux">
            <a:extLst>
              <a:ext uri="{FF2B5EF4-FFF2-40B4-BE49-F238E27FC236}">
                <a16:creationId xmlns:a16="http://schemas.microsoft.com/office/drawing/2014/main" id="{531C909F-44C6-8108-6A82-D7A8C99E4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0" y="2323070"/>
            <a:ext cx="4318000" cy="2590800"/>
          </a:xfrm>
          <a:prstGeom prst="rect">
            <a:avLst/>
          </a:prstGeom>
        </p:spPr>
      </p:pic>
      <p:pic>
        <p:nvPicPr>
          <p:cNvPr id="5" name="Picture 4" descr="Cohens d: Definition, Calculation, and Interpretation of Effect Size">
            <a:extLst>
              <a:ext uri="{FF2B5EF4-FFF2-40B4-BE49-F238E27FC236}">
                <a16:creationId xmlns:a16="http://schemas.microsoft.com/office/drawing/2014/main" id="{D6F6DE78-CEFC-41F6-BBA0-1CEE1FABD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2565"/>
            <a:ext cx="3435179" cy="515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62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9733-3D0E-E3ED-AB04-A5715761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of Superiority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61EE7-8686-94A9-824B-A5D5FCE50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9" y="1853754"/>
            <a:ext cx="6037437" cy="430171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overlap and threshold ideas can be formed into the Probability of Superiority. </a:t>
            </a:r>
          </a:p>
          <a:p>
            <a:pPr lvl="1"/>
            <a:r>
              <a:rPr lang="en-US" dirty="0"/>
              <a:t>If we pick a random value from the higher group what is the probability it is larger than a random value from the lower group. </a:t>
            </a:r>
          </a:p>
          <a:p>
            <a:pPr lvl="1"/>
            <a:r>
              <a:rPr lang="en-US" dirty="0"/>
              <a:t>E.g. does a random treatment person live longer than a random placebo person? </a:t>
            </a:r>
          </a:p>
          <a:p>
            <a:pPr lvl="1"/>
            <a:r>
              <a:rPr lang="en-US" dirty="0"/>
              <a:t>This is in line with the overlap is we plot the PDFs. </a:t>
            </a:r>
          </a:p>
          <a:p>
            <a:r>
              <a:rPr lang="en-US" dirty="0">
                <a:hlinkClick r:id="rId2"/>
              </a:rPr>
              <a:t>https://rpsychologist.com/cohend/</a:t>
            </a:r>
            <a:endParaRPr lang="en-US" dirty="0"/>
          </a:p>
          <a:p>
            <a:r>
              <a:rPr lang="en-US" dirty="0"/>
              <a:t>If there’s a big diff, samples from high groups should almost always be higher than lower one. If not a diff than we’d see lots of the opposite occurring. </a:t>
            </a:r>
          </a:p>
        </p:txBody>
      </p:sp>
      <p:pic>
        <p:nvPicPr>
          <p:cNvPr id="6146" name="Picture 2" descr="因果推理方法— 全栈DS/DA养成手册">
            <a:extLst>
              <a:ext uri="{FF2B5EF4-FFF2-40B4-BE49-F238E27FC236}">
                <a16:creationId xmlns:a16="http://schemas.microsoft.com/office/drawing/2014/main" id="{4030EC37-F6AA-B971-1402-E7052B7B0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2" r="5149"/>
          <a:stretch>
            <a:fillRect/>
          </a:stretch>
        </p:blipFill>
        <p:spPr bwMode="auto">
          <a:xfrm>
            <a:off x="6054201" y="2061802"/>
            <a:ext cx="6037438" cy="342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0763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7B74-29CE-E500-AAF6-BAE7098B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89D88-9AC9-1850-D5BF-65E65362F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299911"/>
          </a:xfrm>
        </p:spPr>
        <p:txBody>
          <a:bodyPr>
            <a:normAutofit/>
          </a:bodyPr>
          <a:lstStyle/>
          <a:p>
            <a:r>
              <a:rPr lang="en-US" dirty="0"/>
              <a:t>All of these things allow us to do a comparison of distributions. </a:t>
            </a:r>
          </a:p>
          <a:p>
            <a:pPr lvl="1"/>
            <a:r>
              <a:rPr lang="en-US" dirty="0"/>
              <a:t>Effect size, overlap, superiority. None give a definitive result. </a:t>
            </a:r>
          </a:p>
          <a:p>
            <a:pPr lvl="1"/>
            <a:r>
              <a:rPr lang="en-US" dirty="0"/>
              <a:t>We’ll soon add another, hypothesis tests. </a:t>
            </a:r>
          </a:p>
          <a:p>
            <a:r>
              <a:rPr lang="en-US" dirty="0"/>
              <a:t>Each leaves us with some uncertainty. </a:t>
            </a:r>
          </a:p>
          <a:p>
            <a:pPr lvl="1"/>
            <a:r>
              <a:rPr lang="en-US" dirty="0"/>
              <a:t>Each thing is evidence of difference/similarity. </a:t>
            </a:r>
          </a:p>
          <a:p>
            <a:r>
              <a:rPr lang="en-US" dirty="0"/>
              <a:t>This is a less simple question than it appears here, and often </a:t>
            </a:r>
            <a:r>
              <a:rPr lang="en-US" i="1" dirty="0"/>
              <a:t>really</a:t>
            </a:r>
            <a:r>
              <a:rPr lang="en-US" dirty="0"/>
              <a:t> matters. </a:t>
            </a:r>
          </a:p>
          <a:p>
            <a:pPr lvl="1"/>
            <a:r>
              <a:rPr lang="en-US" dirty="0"/>
              <a:t>We have large-</a:t>
            </a:r>
            <a:r>
              <a:rPr lang="en-US" dirty="0" err="1"/>
              <a:t>ish</a:t>
            </a:r>
            <a:r>
              <a:rPr lang="en-US" dirty="0"/>
              <a:t> sample sizes, so comparisons look simple. </a:t>
            </a:r>
          </a:p>
          <a:p>
            <a:pPr lvl="1"/>
            <a:r>
              <a:rPr lang="en-US" dirty="0"/>
              <a:t>Picture a drug trial, big decisions on small datasets. </a:t>
            </a:r>
          </a:p>
          <a:p>
            <a:pPr lvl="1"/>
            <a:r>
              <a:rPr lang="en-US" dirty="0"/>
              <a:t>Outcomes of public vs catholic school – high variance by nature, many confounding factors. </a:t>
            </a:r>
          </a:p>
        </p:txBody>
      </p:sp>
    </p:spTree>
    <p:extLst>
      <p:ext uri="{BB962C8B-B14F-4D97-AF65-F5344CB8AC3E}">
        <p14:creationId xmlns:p14="http://schemas.microsoft.com/office/powerpoint/2010/main" val="300796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2C1B-AB5A-2215-6C77-879C2257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Cohen’s 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D2B34-F291-BB51-7CE2-BF05F5FC5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36981"/>
          </a:xfrm>
        </p:spPr>
        <p:txBody>
          <a:bodyPr>
            <a:normAutofit/>
          </a:bodyPr>
          <a:lstStyle/>
          <a:p>
            <a:r>
              <a:rPr lang="en-CA" b="1" dirty="0"/>
              <a:t>Is d precisely estimated?</a:t>
            </a:r>
          </a:p>
          <a:p>
            <a:pPr lvl="1"/>
            <a:r>
              <a:rPr lang="en-CA" dirty="0"/>
              <a:t>Do we have enough of a sample? Is it likely representative? </a:t>
            </a:r>
          </a:p>
          <a:p>
            <a:r>
              <a:rPr lang="en-CA" b="1" dirty="0"/>
              <a:t>What is the field norm?</a:t>
            </a:r>
          </a:p>
          <a:p>
            <a:pPr lvl="1"/>
            <a:r>
              <a:rPr lang="en-CA" dirty="0"/>
              <a:t>Depending on what exactly you’re dealing with, the expected d differs. </a:t>
            </a:r>
          </a:p>
          <a:p>
            <a:r>
              <a:rPr lang="en-CA" b="1" dirty="0"/>
              <a:t>What are the stakes? What does the outcome variable mean?</a:t>
            </a:r>
          </a:p>
          <a:p>
            <a:pPr lvl="1"/>
            <a:r>
              <a:rPr lang="en-CA" dirty="0"/>
              <a:t>In real life, what is the impact of the difference?</a:t>
            </a:r>
          </a:p>
          <a:p>
            <a:r>
              <a:rPr lang="en-CA" b="1" dirty="0"/>
              <a:t>The difference and the significance are independent. </a:t>
            </a:r>
          </a:p>
          <a:p>
            <a:pPr lvl="1"/>
            <a:r>
              <a:rPr lang="en-CA" dirty="0"/>
              <a:t>We can have a small difference that is statistically significant, or a large one that isn’t. </a:t>
            </a:r>
          </a:p>
          <a:p>
            <a:pPr lvl="1"/>
            <a:r>
              <a:rPr lang="en-CA" dirty="0"/>
              <a:t>We can have a small difference that matters, or a large one that doesn’t. </a:t>
            </a:r>
          </a:p>
          <a:p>
            <a:pPr lvl="1"/>
            <a:r>
              <a:rPr lang="en-CA" dirty="0"/>
              <a:t>More than one value* is needed to draw conclusions. </a:t>
            </a:r>
          </a:p>
        </p:txBody>
      </p:sp>
    </p:spTree>
    <p:extLst>
      <p:ext uri="{BB962C8B-B14F-4D97-AF65-F5344CB8AC3E}">
        <p14:creationId xmlns:p14="http://schemas.microsoft.com/office/powerpoint/2010/main" val="1512768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B4AF-E945-3564-AE2C-8D101A28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9A075-03D3-CE2C-2556-1E467F68C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this probability talk leads us to one of the most important ML concepts – odds. </a:t>
            </a:r>
          </a:p>
          <a:p>
            <a:r>
              <a:rPr lang="en-US" dirty="0"/>
              <a:t>Odds are an alternate expression of probability. </a:t>
            </a:r>
          </a:p>
        </p:txBody>
      </p:sp>
    </p:spTree>
    <p:extLst>
      <p:ext uri="{BB962C8B-B14F-4D97-AF65-F5344CB8AC3E}">
        <p14:creationId xmlns:p14="http://schemas.microsoft.com/office/powerpoint/2010/main" val="429911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0F09-B44A-CB77-DFE0-6E063223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4E83-DAA2-5F11-C3F2-FD8C920A5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4" y="1853754"/>
            <a:ext cx="4569891" cy="4199727"/>
          </a:xfrm>
        </p:spPr>
        <p:txBody>
          <a:bodyPr>
            <a:normAutofit/>
          </a:bodyPr>
          <a:lstStyle/>
          <a:p>
            <a:r>
              <a:rPr lang="en-US" sz="2400" dirty="0"/>
              <a:t>Odds are ratio to 1 to 0.</a:t>
            </a:r>
          </a:p>
          <a:p>
            <a:pPr lvl="1"/>
            <a:r>
              <a:rPr lang="en-US" dirty="0"/>
              <a:t>Binary – ‘true’ can be either. </a:t>
            </a:r>
          </a:p>
          <a:p>
            <a:pPr lvl="1"/>
            <a:r>
              <a:rPr lang="en-US" dirty="0"/>
              <a:t>We can translate at will. </a:t>
            </a:r>
          </a:p>
          <a:p>
            <a:r>
              <a:rPr lang="en-US" sz="2400" dirty="0"/>
              <a:t>Example - 80% chance of winning. </a:t>
            </a:r>
          </a:p>
          <a:p>
            <a:pPr lvl="1"/>
            <a:r>
              <a:rPr lang="en-US" sz="2200" dirty="0"/>
              <a:t>P(win) = .8 = 80%</a:t>
            </a:r>
          </a:p>
          <a:p>
            <a:pPr lvl="1"/>
            <a:r>
              <a:rPr lang="en-US" sz="2000" dirty="0"/>
              <a:t>.8 / .2 = 4. 4 to 1 odds of winning. </a:t>
            </a:r>
          </a:p>
          <a:p>
            <a:pPr lvl="1"/>
            <a:r>
              <a:rPr lang="en-US" sz="2000" dirty="0"/>
              <a:t>.2 / .8 = .25. 1 to 4 odds of losing. </a:t>
            </a:r>
          </a:p>
          <a:p>
            <a:r>
              <a:rPr lang="en-US" sz="2200" dirty="0"/>
              <a:t>Translating probability to odds is needed in some places…</a:t>
            </a:r>
          </a:p>
        </p:txBody>
      </p:sp>
      <p:pic>
        <p:nvPicPr>
          <p:cNvPr id="3074" name="Picture 2" descr="WHAT ARE THE ODDS? | Stats With Cats Blog">
            <a:extLst>
              <a:ext uri="{FF2B5EF4-FFF2-40B4-BE49-F238E27FC236}">
                <a16:creationId xmlns:a16="http://schemas.microsoft.com/office/drawing/2014/main" id="{749D1FBF-A66F-6103-FE5B-671112D68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998" y="1120775"/>
            <a:ext cx="7487001" cy="444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7023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E946-B9B1-7098-30FB-63E737FC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897" y="804519"/>
            <a:ext cx="4465957" cy="1049235"/>
          </a:xfrm>
        </p:spPr>
        <p:txBody>
          <a:bodyPr/>
          <a:lstStyle/>
          <a:p>
            <a:r>
              <a:rPr lang="en-US" dirty="0"/>
              <a:t>Gambling 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D726-2503-34A2-A378-F0F3B97F6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9504" y="2015732"/>
            <a:ext cx="5502496" cy="3972692"/>
          </a:xfrm>
        </p:spPr>
        <p:txBody>
          <a:bodyPr/>
          <a:lstStyle/>
          <a:p>
            <a:r>
              <a:rPr lang="en-US" dirty="0"/>
              <a:t>If you like gambling, odds are your old best friend. </a:t>
            </a:r>
          </a:p>
          <a:p>
            <a:r>
              <a:rPr lang="en-US" dirty="0"/>
              <a:t>In gambling we see both ratios and +/- (American) odds, as well as European odds. </a:t>
            </a:r>
          </a:p>
          <a:p>
            <a:r>
              <a:rPr lang="en-US" dirty="0"/>
              <a:t>All of these odds, and probability, can be translated to each other with a little algebra. </a:t>
            </a:r>
          </a:p>
          <a:p>
            <a:pPr lvl="1"/>
            <a:r>
              <a:rPr lang="en-US" dirty="0"/>
              <a:t>Note: sports betting odds aren’t </a:t>
            </a:r>
            <a:r>
              <a:rPr lang="en-US" i="1" dirty="0"/>
              <a:t>actually</a:t>
            </a:r>
            <a:r>
              <a:rPr lang="en-US" dirty="0"/>
              <a:t> set based on probability of winning, they are largely set to balance amounts bet on each side. </a:t>
            </a:r>
          </a:p>
        </p:txBody>
      </p:sp>
      <p:pic>
        <p:nvPicPr>
          <p:cNvPr id="5" name="Picture 4" descr="Betting odds explained: Fractional, decimal &amp; American">
            <a:extLst>
              <a:ext uri="{FF2B5EF4-FFF2-40B4-BE49-F238E27FC236}">
                <a16:creationId xmlns:a16="http://schemas.microsoft.com/office/drawing/2014/main" id="{015A29CA-5A12-DF5E-C436-34B52C246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02400" cy="3632200"/>
          </a:xfrm>
          <a:prstGeom prst="rect">
            <a:avLst/>
          </a:prstGeom>
        </p:spPr>
      </p:pic>
      <p:pic>
        <p:nvPicPr>
          <p:cNvPr id="7" name="Picture 6" descr="How to Calculate Odds: 11 Steps (with Pictures) - wikiHow">
            <a:extLst>
              <a:ext uri="{FF2B5EF4-FFF2-40B4-BE49-F238E27FC236}">
                <a16:creationId xmlns:a16="http://schemas.microsoft.com/office/drawing/2014/main" id="{43B10180-4F26-1FD1-66BB-8485B6479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2200"/>
            <a:ext cx="4278093" cy="318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36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75AC-B6AC-2B2A-EBAB-D6EDA961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D082F-37FD-EDCB-33E4-44300595A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90568"/>
          </a:xfrm>
        </p:spPr>
        <p:txBody>
          <a:bodyPr>
            <a:normAutofit/>
          </a:bodyPr>
          <a:lstStyle/>
          <a:p>
            <a:r>
              <a:rPr lang="en-US" dirty="0"/>
              <a:t>Probabilities have one problem (that will matter soon) – changes in each direction. </a:t>
            </a:r>
          </a:p>
          <a:p>
            <a:pPr lvl="1"/>
            <a:r>
              <a:rPr lang="en-US" dirty="0"/>
              <a:t>Going from 100 to 10 is a 90% reduction. </a:t>
            </a:r>
          </a:p>
          <a:p>
            <a:pPr lvl="1"/>
            <a:r>
              <a:rPr lang="en-US" dirty="0"/>
              <a:t>Going from 10 to 100 is a 900% increase. </a:t>
            </a:r>
          </a:p>
          <a:p>
            <a:r>
              <a:rPr lang="en-US" dirty="0"/>
              <a:t>Odds are useful in comparing probabilities in combination with logs. </a:t>
            </a:r>
          </a:p>
          <a:p>
            <a:r>
              <a:rPr lang="en-US" dirty="0"/>
              <a:t>By taking the log of the odds, the value becomes symmetrical. </a:t>
            </a:r>
          </a:p>
          <a:p>
            <a:r>
              <a:rPr lang="en-US" dirty="0"/>
              <a:t>This is called the </a:t>
            </a:r>
            <a:r>
              <a:rPr lang="en-US" b="1" dirty="0"/>
              <a:t>logit</a:t>
            </a:r>
            <a:r>
              <a:rPr lang="en-US" dirty="0"/>
              <a:t> – important later in ML. </a:t>
            </a:r>
          </a:p>
          <a:p>
            <a:r>
              <a:rPr lang="en-US" dirty="0"/>
              <a:t>Allows for comparisons of probabilities that is comparable. </a:t>
            </a:r>
          </a:p>
          <a:p>
            <a:r>
              <a:rPr lang="en-US" dirty="0"/>
              <a:t>*intercept bit of the formula can be ignored for now.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1C5F9-E4A2-7DF4-9E10-F4EB438C2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961" y="0"/>
            <a:ext cx="5026158" cy="185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61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14D7-CDEB-EC09-CE3A-576E29A7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- More log 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FCB06-553F-A43B-36CA-D9FD62965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log odds, or logit will become important later. </a:t>
            </a:r>
          </a:p>
          <a:p>
            <a:r>
              <a:rPr lang="en-US" dirty="0"/>
              <a:t>The symmetry of the math allows for logistic regression to work. </a:t>
            </a:r>
          </a:p>
        </p:txBody>
      </p:sp>
      <p:pic>
        <p:nvPicPr>
          <p:cNvPr id="4" name="Picture 3" descr="FAQ: How do I interpret odds ratios in logistic regression?">
            <a:extLst>
              <a:ext uri="{FF2B5EF4-FFF2-40B4-BE49-F238E27FC236}">
                <a16:creationId xmlns:a16="http://schemas.microsoft.com/office/drawing/2014/main" id="{507779CE-0AC1-FCD5-6D74-3C3DC190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46" y="3233837"/>
            <a:ext cx="4887694" cy="3290098"/>
          </a:xfrm>
          <a:prstGeom prst="rect">
            <a:avLst/>
          </a:prstGeom>
        </p:spPr>
      </p:pic>
      <p:pic>
        <p:nvPicPr>
          <p:cNvPr id="5" name="Picture 4" descr="More - From Logarithms to Logistic Sigmoid">
            <a:extLst>
              <a:ext uri="{FF2B5EF4-FFF2-40B4-BE49-F238E27FC236}">
                <a16:creationId xmlns:a16="http://schemas.microsoft.com/office/drawing/2014/main" id="{7A51D792-D024-6FF8-C58C-D2AC8AF02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759" y="3233837"/>
            <a:ext cx="4809350" cy="329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52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847A-1163-5E49-A407-9CEA36D1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A5AB-70E3-5942-8353-02D7E65E9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 theorem expands on the idea of conditional probability. </a:t>
            </a:r>
          </a:p>
          <a:p>
            <a:r>
              <a:rPr lang="en-US" dirty="0"/>
              <a:t>We can derive it pretty easily, by looking at examples. </a:t>
            </a:r>
          </a:p>
          <a:p>
            <a:r>
              <a:rPr lang="en-US" dirty="0"/>
              <a:t>It is the basis of Bayesian statistics, which we will touch on a little, but not do in great depth. </a:t>
            </a:r>
          </a:p>
        </p:txBody>
      </p:sp>
    </p:spTree>
    <p:extLst>
      <p:ext uri="{BB962C8B-B14F-4D97-AF65-F5344CB8AC3E}">
        <p14:creationId xmlns:p14="http://schemas.microsoft.com/office/powerpoint/2010/main" val="1442097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14190-7D92-DEC6-84E4-D1D940F2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and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BFAB-1E58-E3F3-96EB-F722C988A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idea of probability underlies much of the analysis we want to do. </a:t>
            </a:r>
          </a:p>
          <a:p>
            <a:pPr lvl="1"/>
            <a:r>
              <a:rPr lang="en-US" dirty="0"/>
              <a:t>When dealing with samples, we rarely know ’the’ answer, we have uncertainty. </a:t>
            </a:r>
          </a:p>
          <a:p>
            <a:r>
              <a:rPr lang="en-US" dirty="0"/>
              <a:t>Core idea – based on this expectation, does the reality match that. </a:t>
            </a:r>
          </a:p>
          <a:p>
            <a:pPr lvl="1"/>
            <a:r>
              <a:rPr lang="en-US" dirty="0"/>
              <a:t>I.e. Hypothesis testing – what are the odds these two things are different? </a:t>
            </a:r>
          </a:p>
          <a:p>
            <a:pPr lvl="1"/>
            <a:r>
              <a:rPr lang="en-US" dirty="0"/>
              <a:t>Generalization – if we expand from a sample to population, how confident are we? </a:t>
            </a:r>
          </a:p>
          <a:p>
            <a:r>
              <a:rPr lang="en-US" dirty="0"/>
              <a:t>Answering a question is (usually) not a yes/no thing:</a:t>
            </a:r>
          </a:p>
          <a:p>
            <a:pPr lvl="1"/>
            <a:r>
              <a:rPr lang="en-US" dirty="0"/>
              <a:t>Are the life expectancies of treatment/placebo different after a drug trial?</a:t>
            </a:r>
          </a:p>
          <a:p>
            <a:pPr lvl="1"/>
            <a:r>
              <a:rPr lang="en-US" dirty="0"/>
              <a:t>Some treated people will die quick, some placebo people will live a long time. </a:t>
            </a:r>
          </a:p>
          <a:p>
            <a:pPr lvl="1"/>
            <a:r>
              <a:rPr lang="en-US" dirty="0"/>
              <a:t>What is the likelihood that drug people outlive placebo people? </a:t>
            </a:r>
          </a:p>
          <a:p>
            <a:r>
              <a:rPr lang="en-US" dirty="0"/>
              <a:t>There’s an alternative branch of stats, Bayesian, that does all basic stats via probability. </a:t>
            </a:r>
          </a:p>
        </p:txBody>
      </p:sp>
    </p:spTree>
    <p:extLst>
      <p:ext uri="{BB962C8B-B14F-4D97-AF65-F5344CB8AC3E}">
        <p14:creationId xmlns:p14="http://schemas.microsoft.com/office/powerpoint/2010/main" val="337147054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32097</TotalTime>
  <Words>2702</Words>
  <Application>Microsoft Macintosh PowerPoint</Application>
  <PresentationFormat>Widescreen</PresentationFormat>
  <Paragraphs>252</Paragraphs>
  <Slides>39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Gill Sans MT</vt:lpstr>
      <vt:lpstr>Gallery</vt:lpstr>
      <vt:lpstr>Housekeeping</vt:lpstr>
      <vt:lpstr>More Housekeeping</vt:lpstr>
      <vt:lpstr>Probability</vt:lpstr>
      <vt:lpstr>Side Note - Discreet vs Continuous</vt:lpstr>
      <vt:lpstr>PowerPoint Presentation</vt:lpstr>
      <vt:lpstr>Discreet vs Continuous</vt:lpstr>
      <vt:lpstr>Remember – Fit reality as Best You can</vt:lpstr>
      <vt:lpstr>Discreet Example - Poisson</vt:lpstr>
      <vt:lpstr>Binomial</vt:lpstr>
      <vt:lpstr>What’s the Probability? </vt:lpstr>
      <vt:lpstr>Probability Notation</vt:lpstr>
      <vt:lpstr>Probabilistic Statistics</vt:lpstr>
      <vt:lpstr>Different View on Statistics</vt:lpstr>
      <vt:lpstr>Using Probability – Will We live?</vt:lpstr>
      <vt:lpstr>Calculations</vt:lpstr>
      <vt:lpstr>Will we Live?</vt:lpstr>
      <vt:lpstr>Choose Carefully</vt:lpstr>
      <vt:lpstr>So…</vt:lpstr>
      <vt:lpstr>Conditional Probability</vt:lpstr>
      <vt:lpstr>PowerPoint Presentation</vt:lpstr>
      <vt:lpstr>Conditional Probabilities</vt:lpstr>
      <vt:lpstr>PowerPoint Presentation</vt:lpstr>
      <vt:lpstr>Probability at work – Comparing Distributions</vt:lpstr>
      <vt:lpstr>Distribution Comparison</vt:lpstr>
      <vt:lpstr>Distribution Comparisons</vt:lpstr>
      <vt:lpstr>Odds and Effect Sizes</vt:lpstr>
      <vt:lpstr>Thresholds on Overlap</vt:lpstr>
      <vt:lpstr>Overlap</vt:lpstr>
      <vt:lpstr>Effect Size Review</vt:lpstr>
      <vt:lpstr>Probability of Superiority</vt:lpstr>
      <vt:lpstr>Comparison Tools</vt:lpstr>
      <vt:lpstr>Understanding Cohen’s D</vt:lpstr>
      <vt:lpstr>Odds</vt:lpstr>
      <vt:lpstr>Odds</vt:lpstr>
      <vt:lpstr>Gambling Odds</vt:lpstr>
      <vt:lpstr>Log Odds</vt:lpstr>
      <vt:lpstr>Preview - More log Odds</vt:lpstr>
      <vt:lpstr>Bayes</vt:lpstr>
      <vt:lpstr>Probability and Estimation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Akeem Semper</dc:creator>
  <cp:lastModifiedBy>Akeem Semper</cp:lastModifiedBy>
  <cp:revision>43</cp:revision>
  <dcterms:created xsi:type="dcterms:W3CDTF">2021-10-11T17:35:08Z</dcterms:created>
  <dcterms:modified xsi:type="dcterms:W3CDTF">2026-10-02T15:40:45Z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2025-10-04T18:01:57Z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41b50940-8848-4d0c-8a51-0dad59c8ba85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
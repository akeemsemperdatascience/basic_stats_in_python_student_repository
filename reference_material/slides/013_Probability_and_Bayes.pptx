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78" r:id="rId3"/>
    <p:sldId id="256" r:id="rId4"/>
    <p:sldId id="264" r:id="rId5"/>
    <p:sldId id="265" r:id="rId6"/>
    <p:sldId id="271" r:id="rId7"/>
    <p:sldId id="258" r:id="rId8"/>
    <p:sldId id="257" r:id="rId9"/>
    <p:sldId id="279" r:id="rId10"/>
    <p:sldId id="259" r:id="rId11"/>
    <p:sldId id="260" r:id="rId12"/>
    <p:sldId id="261" r:id="rId13"/>
    <p:sldId id="262" r:id="rId14"/>
    <p:sldId id="274" r:id="rId15"/>
    <p:sldId id="281" r:id="rId16"/>
    <p:sldId id="267" r:id="rId17"/>
    <p:sldId id="272" r:id="rId18"/>
    <p:sldId id="280" r:id="rId19"/>
    <p:sldId id="273" r:id="rId20"/>
    <p:sldId id="275" r:id="rId21"/>
    <p:sldId id="282" r:id="rId22"/>
    <p:sldId id="276" r:id="rId23"/>
    <p:sldId id="266" r:id="rId24"/>
    <p:sldId id="277" r:id="rId25"/>
    <p:sldId id="268" r:id="rId26"/>
    <p:sldId id="263" r:id="rId27"/>
    <p:sldId id="269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 varScale="1">
        <p:scale>
          <a:sx n="111" d="100"/>
          <a:sy n="111" d="100"/>
        </p:scale>
        <p:origin x="232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4262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023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20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742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291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958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531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817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083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601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425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EBEB88-524C-934C-AA67-A5128709C9CE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716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D4DD-BB03-314F-285F-0B3F21C05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49A87-2B8B-09A4-C837-05E67FBA4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Some basic probability concepts. (This part is pretty simple). </a:t>
            </a:r>
          </a:p>
          <a:p>
            <a:pPr lvl="1"/>
            <a:r>
              <a:rPr lang="en-US" dirty="0"/>
              <a:t>We need a bit now, but this will largely be background. </a:t>
            </a:r>
          </a:p>
          <a:p>
            <a:pPr lvl="1"/>
            <a:r>
              <a:rPr lang="en-US" dirty="0"/>
              <a:t>Discreet distributions. </a:t>
            </a:r>
          </a:p>
          <a:p>
            <a:pPr lvl="1"/>
            <a:r>
              <a:rPr lang="en-US" dirty="0"/>
              <a:t>Odds and logits. </a:t>
            </a:r>
          </a:p>
          <a:p>
            <a:r>
              <a:rPr lang="en-US" dirty="0"/>
              <a:t>Sampling and estimation. (Chapter 8 now, read ch9 soon-</a:t>
            </a:r>
            <a:r>
              <a:rPr lang="en-US" dirty="0" err="1"/>
              <a:t>ish</a:t>
            </a:r>
            <a:r>
              <a:rPr lang="en-US" dirty="0"/>
              <a:t> as well)</a:t>
            </a:r>
          </a:p>
          <a:p>
            <a:pPr lvl="1"/>
            <a:r>
              <a:rPr lang="en-US" dirty="0"/>
              <a:t>Population vs sample, confidence. </a:t>
            </a:r>
          </a:p>
          <a:p>
            <a:pPr lvl="1"/>
            <a:r>
              <a:rPr lang="en-US" dirty="0"/>
              <a:t>Simulation and trial coding and tabulation. </a:t>
            </a:r>
          </a:p>
          <a:p>
            <a:pPr lvl="1"/>
            <a:r>
              <a:rPr lang="en-US" dirty="0"/>
              <a:t>Generalizing from a sample, yay inferential stats! </a:t>
            </a:r>
          </a:p>
          <a:p>
            <a:r>
              <a:rPr lang="en-US" dirty="0"/>
              <a:t>Next – comparing distributions (similar, slightly more complex). </a:t>
            </a:r>
          </a:p>
        </p:txBody>
      </p:sp>
    </p:spTree>
    <p:extLst>
      <p:ext uri="{BB962C8B-B14F-4D97-AF65-F5344CB8AC3E}">
        <p14:creationId xmlns:p14="http://schemas.microsoft.com/office/powerpoint/2010/main" val="977182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AAA3E-E2C6-BC7C-58BF-F9A3C729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40DCF-0AD5-6E6E-0A43-1132C635B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Some of the ideas here are really important to understand for future. </a:t>
            </a:r>
          </a:p>
          <a:p>
            <a:pPr lvl="1"/>
            <a:r>
              <a:rPr lang="en-US" dirty="0"/>
              <a:t>Probability, odds, logit, models, estimation…</a:t>
            </a:r>
          </a:p>
          <a:p>
            <a:pPr lvl="1"/>
            <a:r>
              <a:rPr lang="en-US" dirty="0"/>
              <a:t>The next 3-4ish days will cover the basics, they are somewhat </a:t>
            </a:r>
            <a:r>
              <a:rPr lang="en-US"/>
              <a:t>all connected. </a:t>
            </a:r>
            <a:endParaRPr lang="en-US" dirty="0"/>
          </a:p>
          <a:p>
            <a:r>
              <a:rPr lang="en-US" dirty="0"/>
              <a:t>Especially on the simulation stuff, you really need to try to do some unguided. </a:t>
            </a:r>
          </a:p>
          <a:p>
            <a:pPr lvl="1"/>
            <a:r>
              <a:rPr lang="en-US" dirty="0"/>
              <a:t>We are going to be dealing with many sets of data, and need to stay organized. </a:t>
            </a:r>
          </a:p>
          <a:p>
            <a:pPr lvl="1"/>
            <a:r>
              <a:rPr lang="en-US" dirty="0"/>
              <a:t>We’ll have some loops and need to tabulate data each run. </a:t>
            </a:r>
          </a:p>
          <a:p>
            <a:pPr lvl="1"/>
            <a:r>
              <a:rPr lang="en-US" dirty="0"/>
              <a:t>Several things have partially overlapping terms and definitions. </a:t>
            </a:r>
          </a:p>
          <a:p>
            <a:r>
              <a:rPr lang="en-US" dirty="0"/>
              <a:t>Make sure the examples make sense and exercises are doable – ask if issue. </a:t>
            </a:r>
          </a:p>
          <a:p>
            <a:pPr lvl="1"/>
            <a:r>
              <a:rPr lang="en-US" dirty="0"/>
              <a:t>Exercises in workbooks and book, can also reproduce examples with tweaks. </a:t>
            </a:r>
          </a:p>
          <a:p>
            <a:pPr lvl="1"/>
            <a:r>
              <a:rPr lang="en-US" dirty="0"/>
              <a:t>Generalizing any distribution also works pretty similarly. </a:t>
            </a:r>
          </a:p>
        </p:txBody>
      </p:sp>
    </p:spTree>
    <p:extLst>
      <p:ext uri="{BB962C8B-B14F-4D97-AF65-F5344CB8AC3E}">
        <p14:creationId xmlns:p14="http://schemas.microsoft.com/office/powerpoint/2010/main" val="528870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2EF34-2FE0-9247-A153-6964C526EA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706542-2F47-C249-8FEC-E1F579C975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872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D541-FF24-883C-5322-EB30CE7E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 - 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857F-D266-905B-765C-484582DCF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Most things we’ve dealt with thus far have been continuous. </a:t>
            </a:r>
          </a:p>
          <a:p>
            <a:r>
              <a:rPr lang="en-US" dirty="0"/>
              <a:t>We also regularly deal with discreet data:</a:t>
            </a:r>
          </a:p>
          <a:p>
            <a:pPr lvl="1"/>
            <a:r>
              <a:rPr lang="en-US" dirty="0"/>
              <a:t>Votes. </a:t>
            </a:r>
          </a:p>
          <a:p>
            <a:pPr lvl="1"/>
            <a:r>
              <a:rPr lang="en-US" dirty="0"/>
              <a:t>Purchases. </a:t>
            </a:r>
          </a:p>
          <a:p>
            <a:r>
              <a:rPr lang="en-US" dirty="0"/>
              <a:t>Discreet data has similar distribution patterns. </a:t>
            </a:r>
          </a:p>
          <a:p>
            <a:r>
              <a:rPr lang="en-US" dirty="0"/>
              <a:t>We usually think of discreet things in terms of probability – likelihood that value X occurs. </a:t>
            </a:r>
          </a:p>
        </p:txBody>
      </p:sp>
    </p:spTree>
    <p:extLst>
      <p:ext uri="{BB962C8B-B14F-4D97-AF65-F5344CB8AC3E}">
        <p14:creationId xmlns:p14="http://schemas.microsoft.com/office/powerpoint/2010/main" val="577072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rstanding Different Kinds of Distributions in Statistics | by  Sachinsoni | Towards AI">
            <a:extLst>
              <a:ext uri="{FF2B5EF4-FFF2-40B4-BE49-F238E27FC236}">
                <a16:creationId xmlns:a16="http://schemas.microsoft.com/office/drawing/2014/main" id="{1B11277F-A5F9-1DAB-7FAE-AE1A348CC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398" y="0"/>
            <a:ext cx="9873204" cy="6875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868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38EBD-7D5C-6AAD-AD8C-C1A6E2BBD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31AB9-376A-2B26-20A3-7AB1D1B21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791" y="1853753"/>
            <a:ext cx="4787425" cy="4199727"/>
          </a:xfrm>
        </p:spPr>
        <p:txBody>
          <a:bodyPr/>
          <a:lstStyle/>
          <a:p>
            <a:r>
              <a:rPr lang="en-US" dirty="0"/>
              <a:t>Continuous variables express density as a % likeliness in a range.</a:t>
            </a:r>
          </a:p>
          <a:p>
            <a:r>
              <a:rPr lang="en-US" dirty="0"/>
              <a:t>Discreet expresses density as a % of a specific value. </a:t>
            </a:r>
          </a:p>
          <a:p>
            <a:r>
              <a:rPr lang="en-US" dirty="0"/>
              <a:t>There can be some questionable ones:</a:t>
            </a:r>
          </a:p>
          <a:p>
            <a:pPr lvl="1"/>
            <a:r>
              <a:rPr lang="en-US" dirty="0"/>
              <a:t>Does the midpoint make sense? </a:t>
            </a:r>
          </a:p>
          <a:p>
            <a:pPr lvl="1"/>
            <a:r>
              <a:rPr lang="en-US" dirty="0"/>
              <a:t>What matters for your scenario?</a:t>
            </a:r>
          </a:p>
          <a:p>
            <a:r>
              <a:rPr lang="en-US" dirty="0"/>
              <a:t>Bonus </a:t>
            </a:r>
            <a:r>
              <a:rPr lang="en-US"/>
              <a:t>– spot any errors? </a:t>
            </a:r>
            <a:endParaRPr lang="en-US" dirty="0"/>
          </a:p>
        </p:txBody>
      </p:sp>
      <p:pic>
        <p:nvPicPr>
          <p:cNvPr id="1026" name="Picture 2" descr="OC] Body Height Reported by U.S. Men : r/dataisbeautiful">
            <a:extLst>
              <a:ext uri="{FF2B5EF4-FFF2-40B4-BE49-F238E27FC236}">
                <a16:creationId xmlns:a16="http://schemas.microsoft.com/office/drawing/2014/main" id="{0A234BE5-67AF-85FA-16E9-DC38B7B28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4216" y="1329136"/>
            <a:ext cx="6972351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924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86B20-D5EC-CF4F-8C37-924A9298E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Probability?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17E6-EC70-C540-B629-F6D3990AB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46529"/>
          </a:xfrm>
        </p:spPr>
        <p:txBody>
          <a:bodyPr/>
          <a:lstStyle/>
          <a:p>
            <a:r>
              <a:rPr lang="en-US" dirty="0"/>
              <a:t>Probability = the chances something happens.</a:t>
            </a:r>
          </a:p>
          <a:p>
            <a:pPr lvl="1"/>
            <a:r>
              <a:rPr lang="en-US" dirty="0"/>
              <a:t>Or: The fraction of a total possibilities. </a:t>
            </a:r>
          </a:p>
          <a:p>
            <a:pPr lvl="1"/>
            <a:r>
              <a:rPr lang="en-US" dirty="0"/>
              <a:t>E.g. the chances you roll a die and get a 5 = 1/6</a:t>
            </a:r>
          </a:p>
          <a:p>
            <a:r>
              <a:rPr lang="en-US" dirty="0"/>
              <a:t>What does probability matter to us?</a:t>
            </a:r>
          </a:p>
          <a:p>
            <a:pPr lvl="1"/>
            <a:r>
              <a:rPr lang="en-US" dirty="0"/>
              <a:t>They matter – a little. </a:t>
            </a:r>
          </a:p>
          <a:p>
            <a:pPr lvl="1"/>
            <a:r>
              <a:rPr lang="en-US" dirty="0"/>
              <a:t>Probabilities are common – e.g. gambling. </a:t>
            </a:r>
          </a:p>
          <a:p>
            <a:pPr lvl="1"/>
            <a:r>
              <a:rPr lang="en-US" dirty="0"/>
              <a:t>Probability is often misunderstood. </a:t>
            </a:r>
          </a:p>
          <a:p>
            <a:pPr lvl="1"/>
            <a:r>
              <a:rPr lang="en-US" dirty="0"/>
              <a:t>Probability provides an alternate view of what we are looking at. </a:t>
            </a:r>
          </a:p>
          <a:p>
            <a:pPr lvl="2"/>
            <a:r>
              <a:rPr lang="en-US" dirty="0"/>
              <a:t>Can reach things like distributions, by looking at probability, instead of data.</a:t>
            </a:r>
          </a:p>
          <a:p>
            <a:pPr lvl="2"/>
            <a:r>
              <a:rPr lang="en-US" dirty="0"/>
              <a:t>probability something happens = share of data where that happens (</a:t>
            </a:r>
            <a:r>
              <a:rPr lang="en-US" dirty="0" err="1"/>
              <a:t>apx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744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EF03-8FEA-2C42-A25D-1BF98613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34D7C-4418-D44A-9722-960449F3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P(A) = Probability that A is true. </a:t>
            </a:r>
          </a:p>
          <a:p>
            <a:r>
              <a:rPr lang="en-US" dirty="0"/>
              <a:t>P(A and B) = P(A) * P(B). Probability that A and B are true. </a:t>
            </a:r>
          </a:p>
          <a:p>
            <a:r>
              <a:rPr lang="en-US" dirty="0"/>
              <a:t>P(A or B) = P(A) + P(B). Probability that A or B are true. </a:t>
            </a:r>
          </a:p>
          <a:p>
            <a:r>
              <a:rPr lang="en-US" dirty="0"/>
              <a:t>P(A</a:t>
            </a:r>
            <a:r>
              <a:rPr lang="en-US" baseline="30000" dirty="0"/>
              <a:t>c</a:t>
            </a:r>
            <a:r>
              <a:rPr lang="en-US" dirty="0"/>
              <a:t>) = 1-P(A) = P(not A). Probability that is is false. </a:t>
            </a:r>
          </a:p>
          <a:p>
            <a:r>
              <a:rPr lang="en-US" dirty="0"/>
              <a:t>Simple probability assumes mutual exclusivity (only one is true), and one thing is true. </a:t>
            </a:r>
          </a:p>
          <a:p>
            <a:pPr lvl="1"/>
            <a:r>
              <a:rPr lang="en-US"/>
              <a:t>P(A and B) =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40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5F4AB-0184-BAC1-DEFE-CAD595CCF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9DAE-7237-DEE6-98EB-6A64F4CDA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8298" y="2015732"/>
            <a:ext cx="7413702" cy="4037749"/>
          </a:xfrm>
        </p:spPr>
        <p:txBody>
          <a:bodyPr/>
          <a:lstStyle/>
          <a:p>
            <a:r>
              <a:rPr lang="en-US" dirty="0"/>
              <a:t>With our datasets, we often look at density – the percentage that falls in M range. </a:t>
            </a:r>
          </a:p>
          <a:p>
            <a:pPr lvl="1"/>
            <a:r>
              <a:rPr lang="en-US" dirty="0"/>
              <a:t>Looking backwards, this is a percentage. </a:t>
            </a:r>
          </a:p>
          <a:p>
            <a:pPr lvl="1"/>
            <a:r>
              <a:rPr lang="en-US" dirty="0"/>
              <a:t>Looking forwards, this is a likelihood. </a:t>
            </a:r>
          </a:p>
          <a:p>
            <a:r>
              <a:rPr lang="en-US" dirty="0"/>
              <a:t>Our distribution defines the probability that a new item on that distribution will be X. </a:t>
            </a:r>
          </a:p>
          <a:p>
            <a:r>
              <a:rPr lang="en-US" dirty="0"/>
              <a:t>If we’ve chosen a model that actually matches the data, all new occurrences should follow the defined pattern. </a:t>
            </a:r>
          </a:p>
        </p:txBody>
      </p:sp>
      <p:pic>
        <p:nvPicPr>
          <p:cNvPr id="7170" name="Picture 2" descr="Intro to Statistics: Part 6: Probability Density Functions — L0ng  C0nnect10ns">
            <a:extLst>
              <a:ext uri="{FF2B5EF4-FFF2-40B4-BE49-F238E27FC236}">
                <a16:creationId xmlns:a16="http://schemas.microsoft.com/office/drawing/2014/main" id="{A7279E28-37EA-932D-E446-5798D2F763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50741"/>
            <a:ext cx="4778298" cy="4778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54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19E84-2B20-554F-96AC-21F5038B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Using Probability – Will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80AA9-13F5-EB4B-AF07-8A8547074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015734"/>
            <a:ext cx="4969614" cy="3450613"/>
          </a:xfrm>
        </p:spPr>
        <p:txBody>
          <a:bodyPr>
            <a:normAutofit/>
          </a:bodyPr>
          <a:lstStyle/>
          <a:p>
            <a:r>
              <a:rPr lang="en-US" dirty="0"/>
              <a:t>We need to win at 5 simple games. </a:t>
            </a:r>
          </a:p>
          <a:p>
            <a:r>
              <a:rPr lang="en-US" dirty="0"/>
              <a:t>We are really, really good at games, we win 90% of the time.</a:t>
            </a:r>
          </a:p>
          <a:p>
            <a:r>
              <a:rPr lang="en-US" dirty="0"/>
              <a:t>Are we dead?</a:t>
            </a:r>
          </a:p>
        </p:txBody>
      </p:sp>
      <p:pic>
        <p:nvPicPr>
          <p:cNvPr id="1026" name="Picture 2" descr="All the best &amp;#39;Squid Game&amp;#39; memes on the internet">
            <a:extLst>
              <a:ext uri="{FF2B5EF4-FFF2-40B4-BE49-F238E27FC236}">
                <a16:creationId xmlns:a16="http://schemas.microsoft.com/office/drawing/2014/main" id="{D878DA7F-B129-2143-BA4F-5B9657670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41115" y="1932358"/>
            <a:ext cx="6650885" cy="332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645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E4AA8-B3D4-284A-B0CD-C0DA2209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Will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F6146-186E-0C4A-8057-81778B705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P(Win) = .9</a:t>
            </a:r>
          </a:p>
          <a:p>
            <a:r>
              <a:rPr lang="en-US" dirty="0"/>
              <a:t>Odds we are alive after:</a:t>
            </a:r>
          </a:p>
          <a:p>
            <a:pPr lvl="1"/>
            <a:r>
              <a:rPr lang="en-US" dirty="0"/>
              <a:t>1 Game – 90%</a:t>
            </a:r>
          </a:p>
          <a:p>
            <a:pPr lvl="1"/>
            <a:r>
              <a:rPr lang="en-US" dirty="0"/>
              <a:t>2 Games: P(W1 and W2) = .9 * .9 = .81 = 81%</a:t>
            </a:r>
          </a:p>
          <a:p>
            <a:pPr lvl="1"/>
            <a:r>
              <a:rPr lang="en-US" dirty="0"/>
              <a:t>3 Games P(W1&amp;W2&amp;W3) = .9^3 = .729 = 73%</a:t>
            </a:r>
          </a:p>
          <a:p>
            <a:pPr lvl="1"/>
            <a:r>
              <a:rPr lang="en-US" dirty="0"/>
              <a:t>4 Games P(W1&amp;W2&amp;W3&amp;W4) = .9^4 = .66 = 66%</a:t>
            </a:r>
          </a:p>
          <a:p>
            <a:pPr lvl="1"/>
            <a:r>
              <a:rPr lang="en-US" dirty="0"/>
              <a:t>5 Games P(W1&amp;W2&amp;W3&amp;W4&amp;W5) = .9^5 = 59%</a:t>
            </a:r>
          </a:p>
          <a:p>
            <a:r>
              <a:rPr lang="en-US" dirty="0"/>
              <a:t>Damn it. </a:t>
            </a:r>
          </a:p>
          <a:p>
            <a:r>
              <a:rPr lang="en-US" dirty="0"/>
              <a:t>Even if we are better – 95% win rate, we only survive 77% of the time.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442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807B-0003-3849-AAF4-1D499787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Choose Carefully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62E4C-0B60-9F41-92C1-84326E614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362" y="2015734"/>
            <a:ext cx="6946371" cy="4125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Probabilities, especially when there’s more than one involved, are not always intuitive.</a:t>
            </a:r>
          </a:p>
          <a:p>
            <a:r>
              <a:rPr lang="en-US" dirty="0"/>
              <a:t>E.g. Jackpot odds for 6/49 lottery are roughly 1 in 14 million.</a:t>
            </a:r>
          </a:p>
          <a:p>
            <a:r>
              <a:rPr lang="en-US" dirty="0"/>
              <a:t>If your work buys 10 tickets every week, for 30 years. </a:t>
            </a:r>
          </a:p>
          <a:p>
            <a:pPr lvl="1"/>
            <a:r>
              <a:rPr lang="en-US" dirty="0"/>
              <a:t>10*52*30 = 15,600 chances to win. </a:t>
            </a:r>
          </a:p>
          <a:p>
            <a:pPr lvl="1"/>
            <a:r>
              <a:rPr lang="en-US" dirty="0"/>
              <a:t>= .1%</a:t>
            </a:r>
          </a:p>
          <a:p>
            <a:pPr lvl="1"/>
            <a:r>
              <a:rPr lang="en-US" dirty="0"/>
              <a:t>Expected value:</a:t>
            </a:r>
          </a:p>
          <a:p>
            <a:pPr lvl="2"/>
            <a:r>
              <a:rPr lang="en-US" dirty="0"/>
              <a:t>15,600*$5 = $78,000</a:t>
            </a:r>
          </a:p>
          <a:p>
            <a:pPr lvl="2"/>
            <a:r>
              <a:rPr lang="en-US" dirty="0"/>
              <a:t>$10 million avg jackpot – $10,000 / people in pool</a:t>
            </a:r>
          </a:p>
          <a:p>
            <a:r>
              <a:rPr lang="en-US" dirty="0"/>
              <a:t>Even so, some people in my old job won ~$3.5m each. </a:t>
            </a:r>
          </a:p>
        </p:txBody>
      </p:sp>
      <p:pic>
        <p:nvPicPr>
          <p:cNvPr id="2050" name="Picture 2" descr="Squid Game - choosing and push a button [1920x2880]: MemeTemplatesOfficial">
            <a:extLst>
              <a:ext uri="{FF2B5EF4-FFF2-40B4-BE49-F238E27FC236}">
                <a16:creationId xmlns:a16="http://schemas.microsoft.com/office/drawing/2014/main" id="{215B05DE-9FC6-FE46-8A78-F7C6A038F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22989" y="-17694"/>
            <a:ext cx="4535649" cy="6794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5244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239F-9A82-DF45-AA6F-25B28BD41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13740-0231-894D-9658-BE40BCA0C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P(A | B) = probability that A is true, given that B is true.</a:t>
            </a:r>
          </a:p>
          <a:p>
            <a:r>
              <a:rPr lang="en-US" dirty="0"/>
              <a:t>Conditional probability is allows us to say “how likely is X if something happens?”</a:t>
            </a:r>
          </a:p>
          <a:p>
            <a:pPr lvl="1"/>
            <a:r>
              <a:rPr lang="en-US" dirty="0"/>
              <a:t>E.g. If we are over 7’0” how </a:t>
            </a:r>
            <a:r>
              <a:rPr lang="en-US" dirty="0" err="1"/>
              <a:t>likey</a:t>
            </a:r>
            <a:r>
              <a:rPr lang="en-US" dirty="0"/>
              <a:t> are we to make the NBA?</a:t>
            </a:r>
          </a:p>
          <a:p>
            <a:pPr lvl="1"/>
            <a:r>
              <a:rPr lang="en-US" dirty="0"/>
              <a:t>In the 90s someone calculated that at about 14%</a:t>
            </a:r>
          </a:p>
          <a:p>
            <a:r>
              <a:rPr lang="en-US" dirty="0"/>
              <a:t>Some quick covid tests have reported about a 20% false negative rate. </a:t>
            </a:r>
          </a:p>
          <a:p>
            <a:pPr lvl="1"/>
            <a:r>
              <a:rPr lang="en-US" dirty="0"/>
              <a:t>P(Test Positive | Have Covid) = 80%</a:t>
            </a:r>
          </a:p>
        </p:txBody>
      </p:sp>
    </p:spTree>
    <p:extLst>
      <p:ext uri="{BB962C8B-B14F-4D97-AF65-F5344CB8AC3E}">
        <p14:creationId xmlns:p14="http://schemas.microsoft.com/office/powerpoint/2010/main" val="702050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C1D0B-BFC8-C12F-F807-53E20790C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at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4C7E8-23F5-DE2A-79B8-909246B2F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94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BDAFD-0666-669A-7138-2CCA97ACD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C3283-F2EB-0A1F-9B93-8BC3D76D0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129" y="2015732"/>
            <a:ext cx="5764871" cy="4037749"/>
          </a:xfrm>
        </p:spPr>
        <p:txBody>
          <a:bodyPr/>
          <a:lstStyle/>
          <a:p>
            <a:r>
              <a:rPr lang="en-US" dirty="0"/>
              <a:t>Comparing distributions of data for a difference involves probability. </a:t>
            </a:r>
          </a:p>
          <a:p>
            <a:pPr lvl="1"/>
            <a:r>
              <a:rPr lang="en-US" dirty="0"/>
              <a:t>We can’t just calculate one value like mean and compare. </a:t>
            </a:r>
          </a:p>
          <a:p>
            <a:pPr lvl="1"/>
            <a:r>
              <a:rPr lang="en-US" dirty="0"/>
              <a:t>We need some concept of ‘different enough’ to compare all items in the set. </a:t>
            </a:r>
          </a:p>
          <a:p>
            <a:pPr lvl="1"/>
            <a:r>
              <a:rPr lang="en-US" dirty="0"/>
              <a:t>The overall shape of the distribution matters, not just stats like mean. </a:t>
            </a:r>
          </a:p>
          <a:p>
            <a:r>
              <a:rPr lang="en-US" dirty="0"/>
              <a:t>Therefore, we don’t really have an answer like ‘regular’ equality/inequality. </a:t>
            </a:r>
          </a:p>
          <a:p>
            <a:endParaRPr lang="en-US" dirty="0"/>
          </a:p>
        </p:txBody>
      </p:sp>
      <p:pic>
        <p:nvPicPr>
          <p:cNvPr id="8194" name="Picture 2" descr="Distributions of treatment responses for placebo and an FDA approved... |  Download Scientific Diagram">
            <a:extLst>
              <a:ext uri="{FF2B5EF4-FFF2-40B4-BE49-F238E27FC236}">
                <a16:creationId xmlns:a16="http://schemas.microsoft.com/office/drawing/2014/main" id="{63AF78F2-D6F1-68EC-7033-69F2B989F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3754"/>
            <a:ext cx="6427129" cy="40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4552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7B2D7-A503-B515-44A2-AD8F388A9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 and Effect Sizes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57BBE-5EB0-A7A4-E217-B236AD739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We’ve seen one way to compare distributions – effect sizes. </a:t>
            </a:r>
          </a:p>
          <a:p>
            <a:pPr lvl="1"/>
            <a:r>
              <a:rPr lang="en-US" dirty="0"/>
              <a:t>The effect size measures, in context of the variance, how different two distributions are. </a:t>
            </a:r>
          </a:p>
          <a:p>
            <a:r>
              <a:rPr lang="en-US" dirty="0"/>
              <a:t>We can also think of this in terms of probability. </a:t>
            </a:r>
          </a:p>
          <a:p>
            <a:pPr lvl="1"/>
            <a:r>
              <a:rPr lang="en-US" dirty="0"/>
              <a:t>Are these two samples likely from the same population – hypothesis tests. </a:t>
            </a:r>
          </a:p>
          <a:p>
            <a:pPr lvl="1"/>
            <a:r>
              <a:rPr lang="en-US" dirty="0"/>
              <a:t>Does this data come from a normal population – normality test. </a:t>
            </a:r>
          </a:p>
          <a:p>
            <a:r>
              <a:rPr lang="en-US" dirty="0"/>
              <a:t>More generically – superiority. </a:t>
            </a:r>
          </a:p>
          <a:p>
            <a:pPr lvl="1"/>
            <a:r>
              <a:rPr lang="en-US" dirty="0"/>
              <a:t>Two distributions that are totally different will not/barely overlap. </a:t>
            </a:r>
          </a:p>
          <a:p>
            <a:pPr lvl="1"/>
            <a:r>
              <a:rPr lang="en-US" dirty="0"/>
              <a:t>Two distributions that are from the same population will overlap a lot. </a:t>
            </a:r>
          </a:p>
        </p:txBody>
      </p:sp>
    </p:spTree>
    <p:extLst>
      <p:ext uri="{BB962C8B-B14F-4D97-AF65-F5344CB8AC3E}">
        <p14:creationId xmlns:p14="http://schemas.microsoft.com/office/powerpoint/2010/main" val="3956611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047E-DBBC-3D04-CD14-D93E739FE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Thresholds on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3E4B6-F690-C8B3-76EE-CF219A11E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438396" cy="419972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also compare distributions by looking at their overlap. </a:t>
            </a:r>
          </a:p>
          <a:p>
            <a:r>
              <a:rPr lang="en-US" dirty="0"/>
              <a:t>We can extend this thinking to the idea of a threshold. </a:t>
            </a:r>
          </a:p>
          <a:p>
            <a:pPr lvl="1"/>
            <a:r>
              <a:rPr lang="en-US" dirty="0"/>
              <a:t>The threshold is a cutoff point that we can use to separate classes (distributions). </a:t>
            </a:r>
          </a:p>
          <a:p>
            <a:r>
              <a:rPr lang="en-US" dirty="0"/>
              <a:t>There are a couple of threshold calculations:</a:t>
            </a:r>
          </a:p>
          <a:p>
            <a:pPr lvl="1"/>
            <a:r>
              <a:rPr lang="en-US" dirty="0"/>
              <a:t>Simple – average of the means. </a:t>
            </a:r>
          </a:p>
          <a:p>
            <a:pPr lvl="1"/>
            <a:r>
              <a:rPr lang="en-US" dirty="0"/>
              <a:t>Complex – calculation with means and standard deviations. </a:t>
            </a:r>
          </a:p>
          <a:p>
            <a:r>
              <a:rPr lang="en-US" dirty="0"/>
              <a:t>Can act as a cutoff – over is one distribution, under is the other. </a:t>
            </a:r>
          </a:p>
          <a:p>
            <a:pPr lvl="1"/>
            <a:r>
              <a:rPr lang="en-US" dirty="0"/>
              <a:t>The purity of the two groups is the quality of the threshold. </a:t>
            </a:r>
          </a:p>
          <a:p>
            <a:pPr lvl="1"/>
            <a:r>
              <a:rPr lang="en-US" dirty="0"/>
              <a:t>A perfect cutoff means that we can use one value to separate the groups with no errors.</a:t>
            </a:r>
          </a:p>
        </p:txBody>
      </p:sp>
      <p:pic>
        <p:nvPicPr>
          <p:cNvPr id="5124" name="Picture 4" descr="Risk distributions and area under the ROC curve (AUC) (adapted from... |  Download Scientific Diagram">
            <a:extLst>
              <a:ext uri="{FF2B5EF4-FFF2-40B4-BE49-F238E27FC236}">
                <a16:creationId xmlns:a16="http://schemas.microsoft.com/office/drawing/2014/main" id="{09D8CC62-F962-9F2E-5D29-241523E7B1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80"/>
          <a:stretch>
            <a:fillRect/>
          </a:stretch>
        </p:blipFill>
        <p:spPr bwMode="auto">
          <a:xfrm>
            <a:off x="6438396" y="2610754"/>
            <a:ext cx="5753604" cy="207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233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6CBCA-25D9-57B1-30E5-A6B31A24F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Threshold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BB145-9A75-66C8-C7A0-00784B3BD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07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45CC1-C337-5213-81D8-E4E36A6B8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3272821" cy="1049235"/>
          </a:xfrm>
        </p:spPr>
        <p:txBody>
          <a:bodyPr/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E7EAB-A663-F42F-BAED-DD52E6A94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5273944" cy="4199727"/>
          </a:xfrm>
        </p:spPr>
        <p:txBody>
          <a:bodyPr/>
          <a:lstStyle/>
          <a:p>
            <a:r>
              <a:rPr lang="en-US" dirty="0"/>
              <a:t>If the two </a:t>
            </a:r>
            <a:r>
              <a:rPr lang="en-US" dirty="0" err="1"/>
              <a:t>dists</a:t>
            </a:r>
            <a:r>
              <a:rPr lang="en-US" dirty="0"/>
              <a:t> don’t overlap much at all, we can clearly classify into group A or B. </a:t>
            </a:r>
          </a:p>
          <a:p>
            <a:pPr lvl="1"/>
            <a:r>
              <a:rPr lang="en-US" dirty="0"/>
              <a:t>The overlap area is where we might make mistakes. </a:t>
            </a:r>
          </a:p>
          <a:p>
            <a:pPr lvl="1"/>
            <a:r>
              <a:rPr lang="en-US" dirty="0"/>
              <a:t>On either side of the overlap, we know exactly what class a value belongs to. </a:t>
            </a:r>
          </a:p>
          <a:p>
            <a:r>
              <a:rPr lang="en-US" dirty="0"/>
              <a:t>E.g. a value of .5 could be in either group. </a:t>
            </a:r>
          </a:p>
          <a:p>
            <a:pPr lvl="1"/>
            <a:r>
              <a:rPr lang="en-US" dirty="0"/>
              <a:t>A value of 8 can only be blue. </a:t>
            </a:r>
          </a:p>
          <a:p>
            <a:r>
              <a:rPr lang="en-US" dirty="0"/>
              <a:t>More different distributions have less overlap. </a:t>
            </a:r>
          </a:p>
        </p:txBody>
      </p:sp>
      <p:pic>
        <p:nvPicPr>
          <p:cNvPr id="4098" name="Picture 2" descr="machine learning - How to find the threshold between two histograms at  fixed false positive rate? - Cross Validated">
            <a:extLst>
              <a:ext uri="{FF2B5EF4-FFF2-40B4-BE49-F238E27FC236}">
                <a16:creationId xmlns:a16="http://schemas.microsoft.com/office/drawing/2014/main" id="{EA2D23F6-BED9-55DB-56BB-A84CFD6F14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4"/>
          <a:stretch>
            <a:fillRect/>
          </a:stretch>
        </p:blipFill>
        <p:spPr bwMode="auto">
          <a:xfrm>
            <a:off x="5273944" y="1423851"/>
            <a:ext cx="6918056" cy="5027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8809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C9733-3D0E-E3ED-AB04-A5715761A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of Superiority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61EE7-8686-94A9-824B-A5D5FCE50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361" y="1940312"/>
            <a:ext cx="5956125" cy="4215161"/>
          </a:xfrm>
        </p:spPr>
        <p:txBody>
          <a:bodyPr>
            <a:normAutofit/>
          </a:bodyPr>
          <a:lstStyle/>
          <a:p>
            <a:r>
              <a:rPr lang="en-US" dirty="0"/>
              <a:t>The overlap and threshold ideas can be formed into the Probability of Superiority. </a:t>
            </a:r>
          </a:p>
          <a:p>
            <a:pPr lvl="1"/>
            <a:r>
              <a:rPr lang="en-US" dirty="0"/>
              <a:t>If we pick a random value from the higher group what is the probability it is larger than a random value from the lower group. </a:t>
            </a:r>
          </a:p>
          <a:p>
            <a:pPr lvl="1"/>
            <a:r>
              <a:rPr lang="en-US" dirty="0"/>
              <a:t>E.g. does a random treatment person live longer than a random placebo person? </a:t>
            </a:r>
          </a:p>
          <a:p>
            <a:r>
              <a:rPr lang="en-US" dirty="0"/>
              <a:t>This is in line with the overlap is we plot the PDFs. </a:t>
            </a:r>
          </a:p>
          <a:p>
            <a:r>
              <a:rPr lang="en-US" dirty="0"/>
              <a:t>https://</a:t>
            </a:r>
            <a:r>
              <a:rPr lang="en-US" dirty="0" err="1"/>
              <a:t>rpsychologist.com</a:t>
            </a:r>
            <a:r>
              <a:rPr lang="en-US" dirty="0"/>
              <a:t>/</a:t>
            </a:r>
            <a:r>
              <a:rPr lang="en-US" dirty="0" err="1"/>
              <a:t>cohend</a:t>
            </a:r>
            <a:r>
              <a:rPr lang="en-US" dirty="0"/>
              <a:t>/</a:t>
            </a:r>
          </a:p>
        </p:txBody>
      </p:sp>
      <p:pic>
        <p:nvPicPr>
          <p:cNvPr id="6146" name="Picture 2" descr="因果推理方法— 全栈DS/DA养成手册">
            <a:extLst>
              <a:ext uri="{FF2B5EF4-FFF2-40B4-BE49-F238E27FC236}">
                <a16:creationId xmlns:a16="http://schemas.microsoft.com/office/drawing/2014/main" id="{4030EC37-F6AA-B971-1402-E7052B7B09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2" r="5149"/>
          <a:stretch>
            <a:fillRect/>
          </a:stretch>
        </p:blipFill>
        <p:spPr bwMode="auto">
          <a:xfrm>
            <a:off x="6054201" y="2061802"/>
            <a:ext cx="6037438" cy="3424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8076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57B74-29CE-E500-AAF6-BAE7098B7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89D88-9AC9-1850-D5BF-65E65362F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1464"/>
            <a:ext cx="9603275" cy="4102018"/>
          </a:xfrm>
        </p:spPr>
        <p:txBody>
          <a:bodyPr/>
          <a:lstStyle/>
          <a:p>
            <a:r>
              <a:rPr lang="en-US" dirty="0"/>
              <a:t>All of these things allow us to do a comparison of distributions. </a:t>
            </a:r>
          </a:p>
          <a:p>
            <a:pPr lvl="1"/>
            <a:r>
              <a:rPr lang="en-US" dirty="0"/>
              <a:t>Effect size, overlap, superiority. </a:t>
            </a:r>
          </a:p>
          <a:p>
            <a:pPr lvl="1"/>
            <a:r>
              <a:rPr lang="en-US" dirty="0"/>
              <a:t>None give a definitive &lt;&gt;= result. </a:t>
            </a:r>
          </a:p>
          <a:p>
            <a:r>
              <a:rPr lang="en-US" dirty="0"/>
              <a:t>After we do estimation we’ll add another, hypothesis tests. </a:t>
            </a:r>
          </a:p>
          <a:p>
            <a:r>
              <a:rPr lang="en-US" dirty="0"/>
              <a:t>Each leaves us with some uncertainty. </a:t>
            </a:r>
          </a:p>
          <a:p>
            <a:pPr lvl="1"/>
            <a:r>
              <a:rPr lang="en-US" dirty="0"/>
              <a:t>Each thing is evidence of difference/similarity. </a:t>
            </a:r>
          </a:p>
          <a:p>
            <a:pPr lvl="1"/>
            <a:r>
              <a:rPr lang="en-US" dirty="0"/>
              <a:t>We need ‘reasonable doubt’. </a:t>
            </a:r>
          </a:p>
        </p:txBody>
      </p:sp>
    </p:spTree>
    <p:extLst>
      <p:ext uri="{BB962C8B-B14F-4D97-AF65-F5344CB8AC3E}">
        <p14:creationId xmlns:p14="http://schemas.microsoft.com/office/powerpoint/2010/main" val="300796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EB4AF-E945-3564-AE2C-8D101A281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9A075-03D3-CE2C-2556-1E467F68C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of this probability talk leads us to one of the most important ML concepts – odds. </a:t>
            </a:r>
          </a:p>
          <a:p>
            <a:r>
              <a:rPr lang="en-US" dirty="0"/>
              <a:t>Odds are an alternate expression of probability. </a:t>
            </a:r>
          </a:p>
        </p:txBody>
      </p:sp>
    </p:spTree>
    <p:extLst>
      <p:ext uri="{BB962C8B-B14F-4D97-AF65-F5344CB8AC3E}">
        <p14:creationId xmlns:p14="http://schemas.microsoft.com/office/powerpoint/2010/main" val="429911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30F09-B44A-CB77-DFE0-6E063223B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64E83-DAA2-5F11-C3F2-FD8C920A5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924" y="1853754"/>
            <a:ext cx="4569891" cy="4199727"/>
          </a:xfrm>
        </p:spPr>
        <p:txBody>
          <a:bodyPr>
            <a:normAutofit/>
          </a:bodyPr>
          <a:lstStyle/>
          <a:p>
            <a:r>
              <a:rPr lang="en-US" sz="2400" dirty="0"/>
              <a:t>Odds are ratio to 1 to 0.</a:t>
            </a:r>
          </a:p>
          <a:p>
            <a:pPr lvl="1"/>
            <a:r>
              <a:rPr lang="en-US" dirty="0"/>
              <a:t>Binary – ‘true’ can be either. </a:t>
            </a:r>
          </a:p>
          <a:p>
            <a:pPr lvl="1"/>
            <a:r>
              <a:rPr lang="en-US" dirty="0"/>
              <a:t>We can translate at will. </a:t>
            </a:r>
          </a:p>
          <a:p>
            <a:r>
              <a:rPr lang="en-US" sz="2400" dirty="0"/>
              <a:t>Example - 80% chance of winning. </a:t>
            </a:r>
          </a:p>
          <a:p>
            <a:pPr lvl="1"/>
            <a:r>
              <a:rPr lang="en-US" sz="2000" dirty="0"/>
              <a:t>.8 / .2 = 4. 4 to 1 odds of winning. </a:t>
            </a:r>
          </a:p>
          <a:p>
            <a:pPr lvl="1"/>
            <a:r>
              <a:rPr lang="en-US" sz="2000" dirty="0"/>
              <a:t>.2 / .8 = .25. 1 to 4 odds of losing. </a:t>
            </a:r>
          </a:p>
          <a:p>
            <a:r>
              <a:rPr lang="en-US" sz="2200" dirty="0"/>
              <a:t>Translating probability to odds is needed in some places…</a:t>
            </a:r>
          </a:p>
        </p:txBody>
      </p:sp>
      <p:pic>
        <p:nvPicPr>
          <p:cNvPr id="3074" name="Picture 2" descr="WHAT ARE THE ODDS? | Stats With Cats Blog">
            <a:extLst>
              <a:ext uri="{FF2B5EF4-FFF2-40B4-BE49-F238E27FC236}">
                <a16:creationId xmlns:a16="http://schemas.microsoft.com/office/drawing/2014/main" id="{749D1FBF-A66F-6103-FE5B-671112D68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4998" y="1120775"/>
            <a:ext cx="7487001" cy="4443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6702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E946-B9B1-7098-30FB-63E737FCE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Gambling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8D726-2503-34A2-A378-F0F3B97F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like gambling, odds are your old best friend. </a:t>
            </a:r>
          </a:p>
          <a:p>
            <a:r>
              <a:rPr lang="en-US" dirty="0"/>
              <a:t>In gambling we see both ratios and +/- (American) odds. </a:t>
            </a:r>
          </a:p>
          <a:p>
            <a:r>
              <a:rPr lang="en-US" dirty="0"/>
              <a:t>We often see payouts expressed in odds: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551F29-D6E3-80A7-2F03-C21A48809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6838" y="0"/>
            <a:ext cx="6135162" cy="139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536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675AC-B6AC-2B2A-EBAB-D6EDA961A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D082F-37FD-EDCB-33E4-44300595A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90568"/>
          </a:xfrm>
        </p:spPr>
        <p:txBody>
          <a:bodyPr>
            <a:normAutofit/>
          </a:bodyPr>
          <a:lstStyle/>
          <a:p>
            <a:r>
              <a:rPr lang="en-US" dirty="0"/>
              <a:t>Probabilities have one problem (that will matter soon) – changes in each direction. </a:t>
            </a:r>
          </a:p>
          <a:p>
            <a:pPr lvl="1"/>
            <a:r>
              <a:rPr lang="en-US" dirty="0"/>
              <a:t>Going from 100 to 10 is a 90% reduction. </a:t>
            </a:r>
          </a:p>
          <a:p>
            <a:pPr lvl="1"/>
            <a:r>
              <a:rPr lang="en-US" dirty="0"/>
              <a:t>Going from 10 to 100 is a 900% increase. </a:t>
            </a:r>
          </a:p>
          <a:p>
            <a:r>
              <a:rPr lang="en-US" dirty="0"/>
              <a:t>Odds are useful in comparing probabilities in combination with logs. </a:t>
            </a:r>
          </a:p>
          <a:p>
            <a:r>
              <a:rPr lang="en-US" dirty="0"/>
              <a:t>By taking the log of the odds, the value becomes symmetrical. </a:t>
            </a:r>
          </a:p>
          <a:p>
            <a:r>
              <a:rPr lang="en-US" dirty="0"/>
              <a:t>This is called the logit – important later in ML. </a:t>
            </a:r>
          </a:p>
          <a:p>
            <a:r>
              <a:rPr lang="en-US" dirty="0"/>
              <a:t>Allows for comparisons of probabilities that is comparable. </a:t>
            </a:r>
          </a:p>
          <a:p>
            <a:r>
              <a:rPr lang="en-US" dirty="0"/>
              <a:t>*intercept bit of the formula can be ignored for now.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1C5F9-E4A2-7DF4-9E10-F4EB438C2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961" y="0"/>
            <a:ext cx="5026158" cy="1853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561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A847A-1163-5E49-A407-9CEA36D19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3A5AB-70E3-5942-8353-02D7E65E9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Bayes theorem expands on the idea of conditional probability. </a:t>
            </a:r>
          </a:p>
          <a:p>
            <a:r>
              <a:rPr lang="en-US" dirty="0"/>
              <a:t>We can derive it pretty easily, by looking at examples. </a:t>
            </a:r>
          </a:p>
          <a:p>
            <a:r>
              <a:rPr lang="en-US" dirty="0"/>
              <a:t>It is the basis of Bayesian statistics, which we will touch on a little, but not do in great depth. </a:t>
            </a:r>
          </a:p>
        </p:txBody>
      </p:sp>
    </p:spTree>
    <p:extLst>
      <p:ext uri="{BB962C8B-B14F-4D97-AF65-F5344CB8AC3E}">
        <p14:creationId xmlns:p14="http://schemas.microsoft.com/office/powerpoint/2010/main" val="1442097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14190-7D92-DEC6-84E4-D1D940F2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and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1BFAB-1E58-E3F3-96EB-F722C988A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idea of probability underlies much of the analysis we want to do. </a:t>
            </a:r>
          </a:p>
          <a:p>
            <a:pPr lvl="1"/>
            <a:r>
              <a:rPr lang="en-US" dirty="0"/>
              <a:t>When dealing with samples, we rarely know ’the’ answer, we have uncertainty. </a:t>
            </a:r>
          </a:p>
          <a:p>
            <a:r>
              <a:rPr lang="en-US" dirty="0"/>
              <a:t>Core idea – based on this expectation, does the reality match that. </a:t>
            </a:r>
          </a:p>
          <a:p>
            <a:pPr lvl="1"/>
            <a:r>
              <a:rPr lang="en-US" dirty="0"/>
              <a:t>I.e. Hypothesis testing – what are the odds these two things are different? </a:t>
            </a:r>
          </a:p>
          <a:p>
            <a:pPr lvl="1"/>
            <a:r>
              <a:rPr lang="en-US" dirty="0"/>
              <a:t>Generalization – if we expand from a sample to population, how confident are we? </a:t>
            </a:r>
          </a:p>
          <a:p>
            <a:r>
              <a:rPr lang="en-US" dirty="0"/>
              <a:t>Answering a question is (usually) not a yes/no thing:</a:t>
            </a:r>
          </a:p>
          <a:p>
            <a:pPr lvl="1"/>
            <a:r>
              <a:rPr lang="en-US" dirty="0"/>
              <a:t>Are the life expectancies of treatment/placebo different after a drug trial?</a:t>
            </a:r>
          </a:p>
          <a:p>
            <a:pPr lvl="1"/>
            <a:r>
              <a:rPr lang="en-US" dirty="0"/>
              <a:t>Some treated people will die quick, some placebo people will live a long time. </a:t>
            </a:r>
          </a:p>
          <a:p>
            <a:pPr lvl="1"/>
            <a:r>
              <a:rPr lang="en-US" dirty="0"/>
              <a:t>What is the likelihood that drug people outlive placebo people? </a:t>
            </a:r>
          </a:p>
          <a:p>
            <a:r>
              <a:rPr lang="en-US" dirty="0"/>
              <a:t>There’s an alternative branch of stats, Bayesian, that does all basic stats via probability. </a:t>
            </a:r>
          </a:p>
        </p:txBody>
      </p:sp>
    </p:spTree>
    <p:extLst>
      <p:ext uri="{BB962C8B-B14F-4D97-AF65-F5344CB8AC3E}">
        <p14:creationId xmlns:p14="http://schemas.microsoft.com/office/powerpoint/2010/main" val="337147054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27727</TotalTime>
  <Words>1883</Words>
  <Application>Microsoft Macintosh PowerPoint</Application>
  <PresentationFormat>Widescreen</PresentationFormat>
  <Paragraphs>178</Paragraphs>
  <Slides>27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Gill Sans MT</vt:lpstr>
      <vt:lpstr>Gallery</vt:lpstr>
      <vt:lpstr>Housekeeping</vt:lpstr>
      <vt:lpstr>More Housekeeping</vt:lpstr>
      <vt:lpstr>Probability</vt:lpstr>
      <vt:lpstr>Side Note - Discreet vs Continuous</vt:lpstr>
      <vt:lpstr>PowerPoint Presentation</vt:lpstr>
      <vt:lpstr>Discreet vs Continuous</vt:lpstr>
      <vt:lpstr>What’s the Probability? </vt:lpstr>
      <vt:lpstr>Probability Notation</vt:lpstr>
      <vt:lpstr>Probabilistic Statistics</vt:lpstr>
      <vt:lpstr>Using Probability – Will We live?</vt:lpstr>
      <vt:lpstr>Will we Live?</vt:lpstr>
      <vt:lpstr>Choose Carefully</vt:lpstr>
      <vt:lpstr>Conditional Probability</vt:lpstr>
      <vt:lpstr>Probability at work</vt:lpstr>
      <vt:lpstr>Distribution Comparison</vt:lpstr>
      <vt:lpstr>Odds and Effect Sizes</vt:lpstr>
      <vt:lpstr>Thresholds on Overlap</vt:lpstr>
      <vt:lpstr>Using a Threshold</vt:lpstr>
      <vt:lpstr>Overlap</vt:lpstr>
      <vt:lpstr>Probability of Superiority</vt:lpstr>
      <vt:lpstr>Comparison Tools</vt:lpstr>
      <vt:lpstr>Odds</vt:lpstr>
      <vt:lpstr>Odds</vt:lpstr>
      <vt:lpstr>Gambling Odds</vt:lpstr>
      <vt:lpstr>Log Odds</vt:lpstr>
      <vt:lpstr>Bayes</vt:lpstr>
      <vt:lpstr>Probability and Estimation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</dc:title>
  <dc:creator>Akeem Semper</dc:creator>
  <cp:lastModifiedBy>Akeem Semper</cp:lastModifiedBy>
  <cp:revision>29</cp:revision>
  <dcterms:created xsi:type="dcterms:W3CDTF">2021-10-11T17:35:08Z</dcterms:created>
  <dcterms:modified xsi:type="dcterms:W3CDTF">2025-10-17T16:15:39Z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2025-10-04T18:01:57Z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41b50940-8848-4d0c-8a51-0dad59c8ba85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
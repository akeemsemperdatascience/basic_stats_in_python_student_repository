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64" r:id="rId3"/>
    <p:sldId id="265" r:id="rId4"/>
    <p:sldId id="258" r:id="rId5"/>
    <p:sldId id="257" r:id="rId6"/>
    <p:sldId id="259" r:id="rId7"/>
    <p:sldId id="260" r:id="rId8"/>
    <p:sldId id="261" r:id="rId9"/>
    <p:sldId id="262" r:id="rId10"/>
    <p:sldId id="266" r:id="rId11"/>
    <p:sldId id="268" r:id="rId12"/>
    <p:sldId id="267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27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4262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023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20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7742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2914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6958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531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9817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0834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3601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9425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716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2EF34-2FE0-9247-A153-6964C526EA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Probability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706542-2F47-C249-8FEC-E1F579C975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8721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D541-FF24-883C-5322-EB30CE7E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3857F-D266-905B-765C-484582DCFE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Most things we’ve dealt with thus far have been continuous. </a:t>
            </a:r>
          </a:p>
          <a:p>
            <a:r>
              <a:rPr lang="en-US" dirty="0"/>
              <a:t>We also regularly deal with discreet data:</a:t>
            </a:r>
          </a:p>
          <a:p>
            <a:pPr lvl="1"/>
            <a:r>
              <a:rPr lang="en-US" dirty="0"/>
              <a:t>Votes. </a:t>
            </a:r>
          </a:p>
          <a:p>
            <a:pPr lvl="1"/>
            <a:r>
              <a:rPr lang="en-US" dirty="0"/>
              <a:t>Purchases. </a:t>
            </a:r>
          </a:p>
          <a:p>
            <a:r>
              <a:rPr lang="en-US" dirty="0"/>
              <a:t>Discreet data has similar distribution patterns. </a:t>
            </a:r>
          </a:p>
          <a:p>
            <a:r>
              <a:rPr lang="en-US" dirty="0"/>
              <a:t>We usually think of discreet things in terms of probability – likelihood that value X occurs. </a:t>
            </a:r>
          </a:p>
        </p:txBody>
      </p:sp>
    </p:spTree>
    <p:extLst>
      <p:ext uri="{BB962C8B-B14F-4D97-AF65-F5344CB8AC3E}">
        <p14:creationId xmlns:p14="http://schemas.microsoft.com/office/powerpoint/2010/main" val="577072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rstanding Different Kinds of Distributions in Statistics | by  Sachinsoni | Towards AI">
            <a:extLst>
              <a:ext uri="{FF2B5EF4-FFF2-40B4-BE49-F238E27FC236}">
                <a16:creationId xmlns:a16="http://schemas.microsoft.com/office/drawing/2014/main" id="{1B11277F-A5F9-1DAB-7FAE-AE1A348CC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18600" cy="63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868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86B20-D5EC-CF4F-8C37-924A9298E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Probability?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17E6-EC70-C540-B629-F6D3990AB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46529"/>
          </a:xfrm>
        </p:spPr>
        <p:txBody>
          <a:bodyPr/>
          <a:lstStyle/>
          <a:p>
            <a:r>
              <a:rPr lang="en-US" dirty="0"/>
              <a:t>Probability = the chances something happens.</a:t>
            </a:r>
          </a:p>
          <a:p>
            <a:pPr lvl="1"/>
            <a:r>
              <a:rPr lang="en-US" dirty="0"/>
              <a:t>Or: The fraction of a total possibilities. </a:t>
            </a:r>
          </a:p>
          <a:p>
            <a:pPr lvl="1"/>
            <a:r>
              <a:rPr lang="en-US" dirty="0"/>
              <a:t>E.g. the chances you roll a die and get a 5 = 1/6</a:t>
            </a:r>
          </a:p>
          <a:p>
            <a:r>
              <a:rPr lang="en-US" dirty="0"/>
              <a:t>What does probability matter to us?</a:t>
            </a:r>
          </a:p>
          <a:p>
            <a:pPr lvl="1"/>
            <a:r>
              <a:rPr lang="en-US" dirty="0"/>
              <a:t>They matter – a little. </a:t>
            </a:r>
          </a:p>
          <a:p>
            <a:pPr lvl="1"/>
            <a:r>
              <a:rPr lang="en-US" dirty="0"/>
              <a:t>Probabilities are common – e.g. gambling. </a:t>
            </a:r>
          </a:p>
          <a:p>
            <a:pPr lvl="1"/>
            <a:r>
              <a:rPr lang="en-US" dirty="0"/>
              <a:t>Probability is often misunderstood. </a:t>
            </a:r>
          </a:p>
          <a:p>
            <a:pPr lvl="1"/>
            <a:r>
              <a:rPr lang="en-US" dirty="0"/>
              <a:t>Probability provides an alternate view of what we are looking at. </a:t>
            </a:r>
          </a:p>
          <a:p>
            <a:pPr lvl="2"/>
            <a:r>
              <a:rPr lang="en-US" dirty="0"/>
              <a:t>Can reach things like distributions, by looking at probability, instead of data.</a:t>
            </a:r>
          </a:p>
          <a:p>
            <a:pPr lvl="2"/>
            <a:r>
              <a:rPr lang="en-US" dirty="0"/>
              <a:t>probability something happens = share of data where that happens (</a:t>
            </a:r>
            <a:r>
              <a:rPr lang="en-US" dirty="0" err="1"/>
              <a:t>apx</a:t>
            </a:r>
            <a:r>
              <a:rPr lang="en-US" dirty="0"/>
              <a:t>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744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7EF03-8FEA-2C42-A25D-1BF98613C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34D7C-4418-D44A-9722-960449F34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P(A) = Probability that A is true. </a:t>
            </a:r>
          </a:p>
          <a:p>
            <a:r>
              <a:rPr lang="en-US" dirty="0"/>
              <a:t>P(A and B) = P(A) * P(B). Probability that A and B are true. </a:t>
            </a:r>
          </a:p>
          <a:p>
            <a:r>
              <a:rPr lang="en-US" dirty="0"/>
              <a:t>P(A or B) = P(A) + P(B). Probability that A or B are true. </a:t>
            </a:r>
          </a:p>
          <a:p>
            <a:r>
              <a:rPr lang="en-US" dirty="0"/>
              <a:t>P(A</a:t>
            </a:r>
            <a:r>
              <a:rPr lang="en-US" baseline="30000" dirty="0"/>
              <a:t>c</a:t>
            </a:r>
            <a:r>
              <a:rPr lang="en-US" dirty="0"/>
              <a:t>) = 1-P(A) = P(not A). Probability that is is false. </a:t>
            </a:r>
          </a:p>
          <a:p>
            <a:r>
              <a:rPr lang="en-US" dirty="0"/>
              <a:t>Simple probability assumes mutual exclusivity (only one is true), and one thing is true. </a:t>
            </a:r>
          </a:p>
          <a:p>
            <a:pPr lvl="1"/>
            <a:r>
              <a:rPr lang="en-US"/>
              <a:t>P(A and B) = 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40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19E84-2B20-554F-96AC-21F5038BB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Using Probability – Will We live?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80AA9-13F5-EB4B-AF07-8A8547074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2015734"/>
            <a:ext cx="4969614" cy="3450613"/>
          </a:xfrm>
        </p:spPr>
        <p:txBody>
          <a:bodyPr>
            <a:normAutofit/>
          </a:bodyPr>
          <a:lstStyle/>
          <a:p>
            <a:r>
              <a:rPr lang="en-US" dirty="0"/>
              <a:t>We need to win at 5 simple games. </a:t>
            </a:r>
          </a:p>
          <a:p>
            <a:r>
              <a:rPr lang="en-US" dirty="0"/>
              <a:t>We are really, really good at games, we win 90% of the time.</a:t>
            </a:r>
          </a:p>
          <a:p>
            <a:r>
              <a:rPr lang="en-US" dirty="0"/>
              <a:t>Are we dead?</a:t>
            </a:r>
          </a:p>
        </p:txBody>
      </p:sp>
      <p:pic>
        <p:nvPicPr>
          <p:cNvPr id="1026" name="Picture 2" descr="All the best &amp;#39;Squid Game&amp;#39; memes on the internet">
            <a:extLst>
              <a:ext uri="{FF2B5EF4-FFF2-40B4-BE49-F238E27FC236}">
                <a16:creationId xmlns:a16="http://schemas.microsoft.com/office/drawing/2014/main" id="{D878DA7F-B129-2143-BA4F-5B9657670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41115" y="1932358"/>
            <a:ext cx="6650885" cy="3325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7645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E4AA8-B3D4-284A-B0CD-C0DA2209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Will we Live?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F6146-186E-0C4A-8057-81778B705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P(Win) = .9</a:t>
            </a:r>
          </a:p>
          <a:p>
            <a:r>
              <a:rPr lang="en-US" dirty="0"/>
              <a:t>Odds we are alive after:</a:t>
            </a:r>
          </a:p>
          <a:p>
            <a:pPr lvl="1"/>
            <a:r>
              <a:rPr lang="en-US" dirty="0"/>
              <a:t>1 Game – 90%</a:t>
            </a:r>
          </a:p>
          <a:p>
            <a:pPr lvl="1"/>
            <a:r>
              <a:rPr lang="en-US" dirty="0"/>
              <a:t>2 Games: P(W1 and W2) = .9 * .9 = .81 = 81%</a:t>
            </a:r>
          </a:p>
          <a:p>
            <a:pPr lvl="1"/>
            <a:r>
              <a:rPr lang="en-US" dirty="0"/>
              <a:t>3 Games P(W1&amp;W2&amp;W3) = .9^3 = .729 = 73%</a:t>
            </a:r>
          </a:p>
          <a:p>
            <a:pPr lvl="1"/>
            <a:r>
              <a:rPr lang="en-US" dirty="0"/>
              <a:t>4 Games P(W1&amp;W2&amp;W3&amp;W4) = .9^4 = .66 = 66%</a:t>
            </a:r>
          </a:p>
          <a:p>
            <a:pPr lvl="1"/>
            <a:r>
              <a:rPr lang="en-US" dirty="0"/>
              <a:t>5 Games P(W1&amp;W2&amp;W3&amp;W4&amp;W5) = .9^5 = 59%</a:t>
            </a:r>
          </a:p>
          <a:p>
            <a:r>
              <a:rPr lang="en-US" dirty="0"/>
              <a:t>Damn it. </a:t>
            </a:r>
          </a:p>
          <a:p>
            <a:r>
              <a:rPr lang="en-US" dirty="0"/>
              <a:t>Even if we are better – 95% win rate, we only survive 77% of the time.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442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C807B-0003-3849-AAF4-1D4997877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Choose Carefully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62E4C-0B60-9F41-92C1-84326E614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362" y="2015734"/>
            <a:ext cx="6946371" cy="41254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Probabilities, especially when there’s more than one involved, are not always intuitive.</a:t>
            </a:r>
          </a:p>
          <a:p>
            <a:r>
              <a:rPr lang="en-US" dirty="0"/>
              <a:t>E.g. Jackpot odds for 6/49 lottery are roughly 1 in 14 million.</a:t>
            </a:r>
          </a:p>
          <a:p>
            <a:r>
              <a:rPr lang="en-US" dirty="0"/>
              <a:t>If your work buys 10 tickets every week, for 30 years. </a:t>
            </a:r>
          </a:p>
          <a:p>
            <a:pPr lvl="1"/>
            <a:r>
              <a:rPr lang="en-US" dirty="0"/>
              <a:t>10*52*30 = 15,600 chances to win. </a:t>
            </a:r>
          </a:p>
          <a:p>
            <a:pPr lvl="1"/>
            <a:r>
              <a:rPr lang="en-US" dirty="0"/>
              <a:t>= .1%</a:t>
            </a:r>
          </a:p>
          <a:p>
            <a:pPr lvl="1"/>
            <a:r>
              <a:rPr lang="en-US" dirty="0"/>
              <a:t>Expected value:</a:t>
            </a:r>
          </a:p>
          <a:p>
            <a:pPr lvl="2"/>
            <a:r>
              <a:rPr lang="en-US" dirty="0"/>
              <a:t>15,600*$5 = $78,000</a:t>
            </a:r>
          </a:p>
          <a:p>
            <a:pPr lvl="2"/>
            <a:r>
              <a:rPr lang="en-US" dirty="0"/>
              <a:t>$10 million avg jackpot – $10,000 / people in pool</a:t>
            </a:r>
          </a:p>
          <a:p>
            <a:r>
              <a:rPr lang="en-US" dirty="0"/>
              <a:t>Even so, some people in my old job won ~$3.5m each. </a:t>
            </a:r>
          </a:p>
        </p:txBody>
      </p:sp>
      <p:pic>
        <p:nvPicPr>
          <p:cNvPr id="2050" name="Picture 2" descr="Squid Game - choosing and push a button [1920x2880]: MemeTemplatesOfficial">
            <a:extLst>
              <a:ext uri="{FF2B5EF4-FFF2-40B4-BE49-F238E27FC236}">
                <a16:creationId xmlns:a16="http://schemas.microsoft.com/office/drawing/2014/main" id="{215B05DE-9FC6-FE46-8A78-F7C6A038F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22989" y="-17694"/>
            <a:ext cx="4535649" cy="6794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5244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0239F-9A82-DF45-AA6F-25B28BD41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Probability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13740-0231-894D-9658-BE40BCA0C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probability is allows us to say “how likely is X if something happens?”</a:t>
            </a:r>
          </a:p>
          <a:p>
            <a:pPr lvl="1"/>
            <a:r>
              <a:rPr lang="en-US" dirty="0"/>
              <a:t>E.g. If we are over 7’0” how </a:t>
            </a:r>
            <a:r>
              <a:rPr lang="en-US" dirty="0" err="1"/>
              <a:t>likey</a:t>
            </a:r>
            <a:r>
              <a:rPr lang="en-US" dirty="0"/>
              <a:t> are we to make the NBA?</a:t>
            </a:r>
          </a:p>
          <a:p>
            <a:pPr lvl="1"/>
            <a:r>
              <a:rPr lang="en-US" dirty="0"/>
              <a:t>In the 90s someone calculated that at about 14%</a:t>
            </a:r>
          </a:p>
          <a:p>
            <a:r>
              <a:rPr lang="en-US" dirty="0"/>
              <a:t>P(A | B) = probability that A is true, given that B is true.</a:t>
            </a:r>
          </a:p>
          <a:p>
            <a:r>
              <a:rPr lang="en-US" dirty="0"/>
              <a:t>Some quick covid tests have reported about a 20% false negative rate. </a:t>
            </a:r>
          </a:p>
          <a:p>
            <a:pPr lvl="1"/>
            <a:r>
              <a:rPr lang="en-US" dirty="0"/>
              <a:t>P(Test Positive | Have Covid) = 80%</a:t>
            </a:r>
          </a:p>
        </p:txBody>
      </p:sp>
    </p:spTree>
    <p:extLst>
      <p:ext uri="{BB962C8B-B14F-4D97-AF65-F5344CB8AC3E}">
        <p14:creationId xmlns:p14="http://schemas.microsoft.com/office/powerpoint/2010/main" val="7020507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30F09-B44A-CB77-DFE0-6E063223B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64E83-DAA2-5F11-C3F2-FD8C920A5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Odds are an alternate expression of probability. </a:t>
            </a:r>
          </a:p>
          <a:p>
            <a:pPr lvl="1"/>
            <a:r>
              <a:rPr lang="en-US" dirty="0"/>
              <a:t>Ratio of true to not true. </a:t>
            </a:r>
          </a:p>
          <a:p>
            <a:r>
              <a:rPr lang="en-US" dirty="0"/>
              <a:t>Example - 80% chance of winning. </a:t>
            </a:r>
          </a:p>
          <a:p>
            <a:pPr lvl="1"/>
            <a:r>
              <a:rPr lang="en-US" dirty="0"/>
              <a:t>.8 / .2 = 4</a:t>
            </a:r>
            <a:r>
              <a:rPr lang="en-US"/>
              <a:t>. </a:t>
            </a:r>
            <a:r>
              <a:rPr lang="en-US" dirty="0"/>
              <a:t>4 to 1 odds of winning. </a:t>
            </a:r>
          </a:p>
          <a:p>
            <a:pPr lvl="1"/>
            <a:r>
              <a:rPr lang="en-US" dirty="0"/>
              <a:t>.2 / .8 = .25. 1 to 4 odds of losing. </a:t>
            </a:r>
          </a:p>
        </p:txBody>
      </p:sp>
    </p:spTree>
    <p:extLst>
      <p:ext uri="{BB962C8B-B14F-4D97-AF65-F5344CB8AC3E}">
        <p14:creationId xmlns:p14="http://schemas.microsoft.com/office/powerpoint/2010/main" val="3516702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675AC-B6AC-2B2A-EBAB-D6EDA961A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 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D082F-37FD-EDCB-33E4-44300595A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Odds are useful in comparing probabilities in combination with logs. </a:t>
            </a:r>
          </a:p>
          <a:p>
            <a:r>
              <a:rPr lang="en-US" dirty="0"/>
              <a:t>By taking the log of the odds, the value becomes symmetrical. </a:t>
            </a:r>
          </a:p>
          <a:p>
            <a:r>
              <a:rPr lang="en-US" dirty="0"/>
              <a:t>This is called the logit – important later in ML. </a:t>
            </a:r>
          </a:p>
        </p:txBody>
      </p:sp>
    </p:spTree>
    <p:extLst>
      <p:ext uri="{BB962C8B-B14F-4D97-AF65-F5344CB8AC3E}">
        <p14:creationId xmlns:p14="http://schemas.microsoft.com/office/powerpoint/2010/main" val="3868561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7B2D7-A503-B515-44A2-AD8F388A9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Odds and Effect Sizes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57BBE-5EB0-A7A4-E217-B236AD7395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11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A847A-1163-5E49-A407-9CEA36D19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3A5AB-70E3-5942-8353-02D7E65E9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Bayes theorem expands on the idea of conditional probability. </a:t>
            </a:r>
          </a:p>
          <a:p>
            <a:r>
              <a:rPr lang="en-US" dirty="0"/>
              <a:t>We can derive it pretty easily, by looking at examples. </a:t>
            </a:r>
          </a:p>
          <a:p>
            <a:r>
              <a:rPr lang="en-US" dirty="0"/>
              <a:t>It is the basis of Bayesian statistics, which we will touch on a little, but not do in great depth. </a:t>
            </a:r>
          </a:p>
        </p:txBody>
      </p:sp>
    </p:spTree>
    <p:extLst>
      <p:ext uri="{BB962C8B-B14F-4D97-AF65-F5344CB8AC3E}">
        <p14:creationId xmlns:p14="http://schemas.microsoft.com/office/powerpoint/2010/main" val="144209702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10308</TotalTime>
  <Words>750</Words>
  <Application>Microsoft Macintosh PowerPoint</Application>
  <PresentationFormat>Widescreen</PresentationFormat>
  <Paragraphs>72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Gill Sans MT</vt:lpstr>
      <vt:lpstr>Gallery</vt:lpstr>
      <vt:lpstr>Probability</vt:lpstr>
      <vt:lpstr>Discreet vs Continuous</vt:lpstr>
      <vt:lpstr>PowerPoint Presentation</vt:lpstr>
      <vt:lpstr>What’s the Probability? </vt:lpstr>
      <vt:lpstr>Probability Notation</vt:lpstr>
      <vt:lpstr>Using Probability – Will We live?</vt:lpstr>
      <vt:lpstr>Will we Live?</vt:lpstr>
      <vt:lpstr>Choose Carefully</vt:lpstr>
      <vt:lpstr>Conditional Probability</vt:lpstr>
      <vt:lpstr>Odds</vt:lpstr>
      <vt:lpstr>Log Odds</vt:lpstr>
      <vt:lpstr>Odds and Effect Sizes</vt:lpstr>
      <vt:lpstr>Bayes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</dc:title>
  <dc:creator>Akeem Semper</dc:creator>
  <cp:lastModifiedBy>Akeem Semper</cp:lastModifiedBy>
  <cp:revision>8</cp:revision>
  <dcterms:created xsi:type="dcterms:W3CDTF">2021-10-11T17:35:08Z</dcterms:created>
  <dcterms:modified xsi:type="dcterms:W3CDTF">2025-10-04T20:08:08Z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2025-10-04T18:01:57Z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41b50940-8848-4d0c-8a51-0dad59c8ba85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
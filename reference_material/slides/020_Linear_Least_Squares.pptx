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8"/>
  </p:notesMasterIdLst>
  <p:sldIdLst>
    <p:sldId id="282" r:id="rId2"/>
    <p:sldId id="287" r:id="rId3"/>
    <p:sldId id="256" r:id="rId4"/>
    <p:sldId id="289" r:id="rId5"/>
    <p:sldId id="257" r:id="rId6"/>
    <p:sldId id="283" r:id="rId7"/>
    <p:sldId id="259" r:id="rId8"/>
    <p:sldId id="264" r:id="rId9"/>
    <p:sldId id="273" r:id="rId10"/>
    <p:sldId id="269" r:id="rId11"/>
    <p:sldId id="272" r:id="rId12"/>
    <p:sldId id="276" r:id="rId13"/>
    <p:sldId id="292" r:id="rId14"/>
    <p:sldId id="290" r:id="rId15"/>
    <p:sldId id="274" r:id="rId16"/>
    <p:sldId id="293" r:id="rId17"/>
    <p:sldId id="277" r:id="rId18"/>
    <p:sldId id="284" r:id="rId19"/>
    <p:sldId id="265" r:id="rId20"/>
    <p:sldId id="286" r:id="rId21"/>
    <p:sldId id="299" r:id="rId22"/>
    <p:sldId id="291" r:id="rId23"/>
    <p:sldId id="294" r:id="rId24"/>
    <p:sldId id="288" r:id="rId25"/>
    <p:sldId id="275" r:id="rId26"/>
    <p:sldId id="278" r:id="rId27"/>
    <p:sldId id="295" r:id="rId28"/>
    <p:sldId id="296" r:id="rId29"/>
    <p:sldId id="301" r:id="rId30"/>
    <p:sldId id="297" r:id="rId31"/>
    <p:sldId id="279" r:id="rId32"/>
    <p:sldId id="280" r:id="rId33"/>
    <p:sldId id="285" r:id="rId34"/>
    <p:sldId id="298" r:id="rId35"/>
    <p:sldId id="300" r:id="rId36"/>
    <p:sldId id="28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C3B61-D4C9-7049-B803-B1B3CD0005CF}" v="1" dt="2021-11-07T18:07:03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56"/>
    <p:restoredTop sz="95940"/>
  </p:normalViewPr>
  <p:slideViewPr>
    <p:cSldViewPr snapToGrid="0" snapToObjects="1">
      <p:cViewPr varScale="1">
        <p:scale>
          <a:sx n="105" d="100"/>
          <a:sy n="10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333B3-BBF2-434F-9844-D2FF01DBD600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87732-669B-3D4B-BE95-748848CC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81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047626b_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047626b_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b5d909973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b5d909973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b5d909973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b5d909973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55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fa332d67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fa332d67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fa332d67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fa332d67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fa332d6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fa332d6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20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32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33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72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81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64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5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1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70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23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/>
          <a:lstStyle/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9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546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D9329-DED2-9C4C-8B6A-8B4D879680E1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5EA3427-AFE4-F24A-88DC-F208601FADF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20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C9BD-1D38-3530-7185-4555E00A8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16DE0-8C2E-77BB-F05D-BFD0463A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9284"/>
            <a:ext cx="9603275" cy="4124197"/>
          </a:xfrm>
        </p:spPr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Real Machine Mother F*</a:t>
            </a:r>
            <a:r>
              <a:rPr lang="en-US" dirty="0" err="1"/>
              <a:t>cking</a:t>
            </a:r>
            <a:r>
              <a:rPr lang="en-US" dirty="0"/>
              <a:t> Learning! (020 and maybe 021)</a:t>
            </a:r>
          </a:p>
          <a:p>
            <a:pPr lvl="1"/>
            <a:r>
              <a:rPr lang="en-US" dirty="0"/>
              <a:t>Linear least squares -&gt; linear regression. </a:t>
            </a:r>
          </a:p>
          <a:p>
            <a:pPr lvl="1"/>
            <a:r>
              <a:rPr lang="en-US" dirty="0"/>
              <a:t>Intro to </a:t>
            </a:r>
            <a:r>
              <a:rPr lang="en-US" dirty="0" err="1"/>
              <a:t>sklearn</a:t>
            </a:r>
            <a:r>
              <a:rPr lang="en-US" dirty="0"/>
              <a:t> regression (and </a:t>
            </a:r>
            <a:r>
              <a:rPr lang="en-US" dirty="0" err="1"/>
              <a:t>statsmodels</a:t>
            </a:r>
            <a:r>
              <a:rPr lang="en-US" dirty="0"/>
              <a:t> regression).</a:t>
            </a:r>
          </a:p>
          <a:p>
            <a:pPr lvl="2"/>
            <a:r>
              <a:rPr lang="en-US" dirty="0"/>
              <a:t>The processes using the </a:t>
            </a:r>
            <a:r>
              <a:rPr lang="en-US" dirty="0" err="1"/>
              <a:t>sklearn</a:t>
            </a:r>
            <a:r>
              <a:rPr lang="en-US" dirty="0"/>
              <a:t> stuff carry through the ML stuff. </a:t>
            </a:r>
          </a:p>
          <a:p>
            <a:pPr lvl="1"/>
            <a:r>
              <a:rPr lang="en-US" dirty="0"/>
              <a:t>Linear regression error calculations (depending on time). </a:t>
            </a:r>
          </a:p>
          <a:p>
            <a:r>
              <a:rPr lang="en-US" dirty="0"/>
              <a:t>Much of the stuff we’ll do over the next couple of weeks is the foundation for ML. </a:t>
            </a:r>
          </a:p>
          <a:p>
            <a:pPr lvl="1"/>
            <a:r>
              <a:rPr lang="en-US" dirty="0"/>
              <a:t>If the sklearn stuff especially doesn’t make sense, please ask. We use it non-stop.</a:t>
            </a:r>
          </a:p>
        </p:txBody>
      </p:sp>
    </p:spTree>
    <p:extLst>
      <p:ext uri="{BB962C8B-B14F-4D97-AF65-F5344CB8AC3E}">
        <p14:creationId xmlns:p14="http://schemas.microsoft.com/office/powerpoint/2010/main" val="37261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D664-EE5C-B6D8-4EDE-D3B1ED4F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Logistics…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7EF6-6FEF-1047-02C9-5689FDDE7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9284"/>
            <a:ext cx="9603275" cy="4124197"/>
          </a:xfrm>
        </p:spPr>
        <p:txBody>
          <a:bodyPr/>
          <a:lstStyle/>
          <a:p>
            <a:r>
              <a:rPr lang="en-US" dirty="0"/>
              <a:t>I’ll get the other assignments marked this weekend. </a:t>
            </a:r>
          </a:p>
          <a:p>
            <a:r>
              <a:rPr lang="en-US" dirty="0"/>
              <a:t>The assignment that was just assigned has a half that is on regression. </a:t>
            </a:r>
          </a:p>
          <a:p>
            <a:pPr lvl="1"/>
            <a:r>
              <a:rPr lang="en-US" dirty="0"/>
              <a:t>We’ll cover that part next week. </a:t>
            </a:r>
          </a:p>
          <a:p>
            <a:pPr lvl="1"/>
            <a:r>
              <a:rPr lang="en-US" dirty="0"/>
              <a:t>The actual question is quite easy, once you’ve seen it, it isn’t hard and doesn’t take long. </a:t>
            </a:r>
          </a:p>
          <a:p>
            <a:pPr lvl="1"/>
            <a:r>
              <a:rPr lang="en-US" dirty="0"/>
              <a:t>We can set a date for that exam +1 week from when we cover regression. </a:t>
            </a:r>
          </a:p>
          <a:p>
            <a:pPr lvl="2"/>
            <a:r>
              <a:rPr lang="en-US" dirty="0"/>
              <a:t>Likely next Thursday + 1 week. </a:t>
            </a:r>
          </a:p>
        </p:txBody>
      </p:sp>
    </p:spTree>
    <p:extLst>
      <p:ext uri="{BB962C8B-B14F-4D97-AF65-F5344CB8AC3E}">
        <p14:creationId xmlns:p14="http://schemas.microsoft.com/office/powerpoint/2010/main" val="283946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86F8-E267-0D46-B219-0ADCF4337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Least Squares, Regression, and More Fun Stuff!!! Part 1.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A7666-BF3D-1449-A59F-D3BBC097A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79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Scatter plot - Wikipedia">
            <a:extLst>
              <a:ext uri="{FF2B5EF4-FFF2-40B4-BE49-F238E27FC236}">
                <a16:creationId xmlns:a16="http://schemas.microsoft.com/office/drawing/2014/main" id="{307125ED-A28F-DAFD-0DDB-648FDF0852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1579" y="1853754"/>
            <a:ext cx="4169017" cy="416018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F774137-2AE8-149E-6614-404CD4988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a line of best fit</a:t>
            </a:r>
          </a:p>
        </p:txBody>
      </p:sp>
    </p:spTree>
    <p:extLst>
      <p:ext uri="{BB962C8B-B14F-4D97-AF65-F5344CB8AC3E}">
        <p14:creationId xmlns:p14="http://schemas.microsoft.com/office/powerpoint/2010/main" val="119825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5A1A-326F-8D46-B459-7A1D8843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and Predictive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076FA-E2FC-E243-9C77-DEF990E54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people have done linear regression before – it is making a line of best fit. </a:t>
            </a:r>
          </a:p>
          <a:p>
            <a:pPr lvl="1"/>
            <a:r>
              <a:rPr lang="en-US" dirty="0"/>
              <a:t>Result – y = m*x + b line. </a:t>
            </a:r>
          </a:p>
          <a:p>
            <a:pPr lvl="1"/>
            <a:r>
              <a:rPr lang="en-US" dirty="0"/>
              <a:t>M = slope, b = y intercept. </a:t>
            </a:r>
          </a:p>
          <a:p>
            <a:r>
              <a:rPr lang="en-US" b="1" dirty="0"/>
              <a:t>This process is also a simple predictive model – we provide X and get a prediction for Y. </a:t>
            </a:r>
          </a:p>
          <a:p>
            <a:pPr lvl="1"/>
            <a:r>
              <a:rPr lang="en-US" dirty="0"/>
              <a:t>If we are in a situation where we know X, the model translates that to an expected Y. </a:t>
            </a:r>
          </a:p>
          <a:p>
            <a:pPr lvl="1"/>
            <a:r>
              <a:rPr lang="en-US" dirty="0"/>
              <a:t>Get the thing we need from the thing we have. </a:t>
            </a:r>
          </a:p>
          <a:p>
            <a:r>
              <a:rPr lang="en-US" dirty="0"/>
              <a:t>The “regression calculation” uses the training data to “learn” how to generate Y from X.</a:t>
            </a:r>
          </a:p>
          <a:p>
            <a:pPr lvl="1"/>
            <a:r>
              <a:rPr lang="en-US" dirty="0"/>
              <a:t>That’s the machine learning bit. </a:t>
            </a:r>
          </a:p>
          <a:p>
            <a:r>
              <a:rPr lang="en-US" dirty="0"/>
              <a:t>We can make many types of models that do this, the only difference is the internal </a:t>
            </a:r>
            <a:r>
              <a:rPr lang="en-US" i="1" dirty="0"/>
              <a:t>how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86707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714D-69CA-B253-DE74-A5CA82D4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D3FC-2B56-D6C1-F1AE-37255DD16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80" y="1853754"/>
            <a:ext cx="7829622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Models are a mathematical simplification of some real thing. </a:t>
            </a:r>
          </a:p>
          <a:p>
            <a:pPr lvl="1"/>
            <a:r>
              <a:rPr lang="en-US" dirty="0"/>
              <a:t>E.g. a Poisson distribution is a model of goals in hockey games.  </a:t>
            </a:r>
          </a:p>
          <a:p>
            <a:r>
              <a:rPr lang="en-US" dirty="0"/>
              <a:t>In predictive analytics models translate inputs to output(s). </a:t>
            </a:r>
          </a:p>
          <a:p>
            <a:pPr lvl="1"/>
            <a:r>
              <a:rPr lang="en-US" dirty="0"/>
              <a:t>E.g. a model can model a “loan decision” – details in, approval out. </a:t>
            </a:r>
          </a:p>
          <a:p>
            <a:pPr lvl="1"/>
            <a:r>
              <a:rPr lang="en-US" dirty="0"/>
              <a:t>This model is a simplification of reality, “will this person pay their loan”. </a:t>
            </a:r>
          </a:p>
          <a:p>
            <a:pPr lvl="1"/>
            <a:r>
              <a:rPr lang="en-US" dirty="0"/>
              <a:t>ML models simplify a decision/estimate – will buy, temperature, stock levels…</a:t>
            </a:r>
          </a:p>
          <a:p>
            <a:r>
              <a:rPr lang="en-US" dirty="0"/>
              <a:t>We can make many different models that can do this, quality varies... </a:t>
            </a:r>
          </a:p>
          <a:p>
            <a:pPr lvl="1"/>
            <a:r>
              <a:rPr lang="en-US" dirty="0"/>
              <a:t>They all do the same thing, but work differently internally. </a:t>
            </a:r>
          </a:p>
          <a:p>
            <a:pPr lvl="1"/>
            <a:r>
              <a:rPr lang="en-US" dirty="0"/>
              <a:t>Regression, neural networks, SVMs, trees, can all make the ‘same’ model.</a:t>
            </a:r>
          </a:p>
          <a:p>
            <a:r>
              <a:rPr lang="en-US" dirty="0"/>
              <a:t>We build the model using old (training) data, then use it – 2 step. </a:t>
            </a:r>
          </a:p>
          <a:p>
            <a:pPr lvl="1"/>
            <a:r>
              <a:rPr lang="en-US" dirty="0"/>
              <a:t>We ‘train’ the model, by doing the math to figure out the params (m, b).</a:t>
            </a:r>
          </a:p>
        </p:txBody>
      </p:sp>
      <p:pic>
        <p:nvPicPr>
          <p:cNvPr id="1026" name="Picture 2" descr="Explaining a Black-box Using Deep Variational Information Bottleneck  Approach – Machine Learning Blog | ML@CMU | Carnegie Mellon University">
            <a:extLst>
              <a:ext uri="{FF2B5EF4-FFF2-40B4-BE49-F238E27FC236}">
                <a16:creationId xmlns:a16="http://schemas.microsoft.com/office/drawing/2014/main" id="{A74DEF8C-8CCC-A842-CB50-9315AA265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200" y="2211603"/>
            <a:ext cx="4241800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21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>
                <a:solidFill>
                  <a:schemeClr val="accent1"/>
                </a:solidFill>
              </a:rPr>
              <a:t>Poverty vs. HS graduate rate</a:t>
            </a:r>
            <a:endParaRPr baseline="30000">
              <a:solidFill>
                <a:schemeClr val="accent1"/>
              </a:solidFill>
            </a:endParaRPr>
          </a:p>
        </p:txBody>
      </p:sp>
      <p:sp>
        <p:nvSpPr>
          <p:cNvPr id="65" name="Google Shape;65;p18"/>
          <p:cNvSpPr txBox="1">
            <a:spLocks noGrp="1"/>
          </p:cNvSpPr>
          <p:nvPr>
            <p:ph idx="1"/>
          </p:nvPr>
        </p:nvSpPr>
        <p:spPr>
          <a:xfrm>
            <a:off x="1451579" y="1853754"/>
            <a:ext cx="5289859" cy="41997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The </a:t>
            </a:r>
            <a:r>
              <a:rPr lang="en" sz="2200" i="1" dirty="0">
                <a:solidFill>
                  <a:schemeClr val="accent1"/>
                </a:solidFill>
              </a:rPr>
              <a:t>scatterplot</a:t>
            </a:r>
            <a:r>
              <a:rPr lang="en" sz="2200" i="1" dirty="0"/>
              <a:t> </a:t>
            </a:r>
            <a:r>
              <a:rPr lang="en" sz="2200" dirty="0"/>
              <a:t>below shows the relationship between HS graduate rate in all 50 US states and DC and the percent of residents who live below the poverty line</a:t>
            </a:r>
            <a:br>
              <a:rPr lang="en" sz="2200" dirty="0"/>
            </a:br>
            <a:r>
              <a:rPr lang="en" sz="2200" dirty="0"/>
              <a:t>(income below $23,050 for a family of 4 in 2012).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We have 1 input (x) – HS grad. 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We have 1 output (y) - % in poverty. 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This real relationship is complex, this model is a simplified version. </a:t>
            </a:r>
            <a:endParaRPr sz="2200" dirty="0"/>
          </a:p>
        </p:txBody>
      </p:sp>
      <p:pic>
        <p:nvPicPr>
          <p:cNvPr id="66" name="Google Shape;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1438" y="1957820"/>
            <a:ext cx="48577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>
                <a:solidFill>
                  <a:schemeClr val="accent1"/>
                </a:solidFill>
              </a:rPr>
              <a:t>Poverty vs. HS graduate rate</a:t>
            </a:r>
            <a:endParaRPr baseline="30000">
              <a:solidFill>
                <a:schemeClr val="accent1"/>
              </a:solidFill>
            </a:endParaRPr>
          </a:p>
        </p:txBody>
      </p:sp>
      <p:sp>
        <p:nvSpPr>
          <p:cNvPr id="103" name="Google Shape;103;p23"/>
          <p:cNvSpPr txBox="1">
            <a:spLocks noGrp="1"/>
          </p:cNvSpPr>
          <p:nvPr>
            <p:ph idx="1"/>
          </p:nvPr>
        </p:nvSpPr>
        <p:spPr>
          <a:xfrm>
            <a:off x="6528054" y="2015732"/>
            <a:ext cx="4526800" cy="345061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" sz="2200" dirty="0">
                <a:solidFill>
                  <a:schemeClr val="accent1"/>
                </a:solidFill>
              </a:rPr>
              <a:t>Response variable? (Y, output)</a:t>
            </a:r>
            <a:endParaRPr sz="2200" dirty="0">
              <a:solidFill>
                <a:schemeClr val="accent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" sz="2200" dirty="0"/>
              <a:t> </a:t>
            </a:r>
            <a:r>
              <a:rPr lang="en" sz="2200" i="1" dirty="0"/>
              <a:t>% in poverty</a:t>
            </a:r>
            <a:endParaRPr sz="2200" i="1" dirty="0"/>
          </a:p>
          <a:p>
            <a:pPr marL="0" indent="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100"/>
              <a:buNone/>
            </a:pPr>
            <a:r>
              <a:rPr lang="en" sz="2200" dirty="0">
                <a:solidFill>
                  <a:schemeClr val="accent1"/>
                </a:solidFill>
              </a:rPr>
              <a:t>Explanatory variable? (X, input)</a:t>
            </a:r>
            <a:endParaRPr sz="2200" dirty="0">
              <a:solidFill>
                <a:schemeClr val="accent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" sz="2200" dirty="0"/>
              <a:t> </a:t>
            </a:r>
            <a:r>
              <a:rPr lang="en" sz="2200" i="1" dirty="0"/>
              <a:t>% HS grad</a:t>
            </a:r>
            <a:endParaRPr sz="2200" i="1" dirty="0"/>
          </a:p>
          <a:p>
            <a:pPr marL="0" indent="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100"/>
              <a:buNone/>
            </a:pPr>
            <a:r>
              <a:rPr lang="en" sz="2200" dirty="0">
                <a:solidFill>
                  <a:schemeClr val="accent1"/>
                </a:solidFill>
              </a:rPr>
              <a:t>Relationship?</a:t>
            </a:r>
            <a:endParaRPr sz="2200" dirty="0">
              <a:solidFill>
                <a:schemeClr val="accent1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200" i="1" dirty="0"/>
              <a:t> linear, negative,</a:t>
            </a:r>
            <a:br>
              <a:rPr lang="en" sz="2200" i="1" dirty="0"/>
            </a:br>
            <a:r>
              <a:rPr lang="en" sz="2200" i="1" dirty="0"/>
              <a:t> moderately strong</a:t>
            </a:r>
            <a:endParaRPr sz="2200" i="1" dirty="0"/>
          </a:p>
        </p:txBody>
      </p:sp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304" y="2015732"/>
            <a:ext cx="48577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>
                <a:solidFill>
                  <a:schemeClr val="accent1"/>
                </a:solidFill>
              </a:rPr>
              <a:t>Poverty vs. HS graduate rate</a:t>
            </a:r>
            <a:endParaRPr baseline="30000">
              <a:solidFill>
                <a:schemeClr val="accent1"/>
              </a:solidFill>
            </a:endParaRPr>
          </a:p>
        </p:txBody>
      </p:sp>
      <p:sp>
        <p:nvSpPr>
          <p:cNvPr id="105" name="Google Shape;105;p23"/>
          <p:cNvSpPr txBox="1">
            <a:spLocks noGrp="1"/>
          </p:cNvSpPr>
          <p:nvPr>
            <p:ph idx="1"/>
          </p:nvPr>
        </p:nvSpPr>
        <p:spPr>
          <a:xfrm>
            <a:off x="890017" y="1853754"/>
            <a:ext cx="6022110" cy="41997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We could draw a line of best fit… but how do we know exactly where it goes? 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-CA" sz="2200" dirty="0"/>
              <a:t>Best fit line is a model of the relationship of HS graduation to poverty. 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The “more like” the data the model is, t</a:t>
            </a:r>
            <a:r>
              <a:rPr lang="en-CA" sz="2200" dirty="0"/>
              <a:t>he</a:t>
            </a:r>
            <a:r>
              <a:rPr lang="en" sz="2200" dirty="0"/>
              <a:t> better it will be. How do we judge ”more like”? 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We need a process to ‘learn’ slope and intercept (the two things that make the model). </a:t>
            </a:r>
          </a:p>
          <a:p>
            <a:pPr marL="800100" lvl="1" indent="-342900">
              <a:lnSpc>
                <a:spcPct val="115000"/>
              </a:lnSpc>
              <a:spcBef>
                <a:spcPts val="0"/>
              </a:spcBef>
            </a:pPr>
            <a:r>
              <a:rPr lang="en" sz="2000" dirty="0"/>
              <a:t>i.e. y=</a:t>
            </a:r>
            <a:r>
              <a:rPr lang="en" sz="2000" dirty="0" err="1"/>
              <a:t>mx+b</a:t>
            </a:r>
            <a:r>
              <a:rPr lang="en" sz="2000" dirty="0"/>
              <a:t> is a model, just need m and b.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lang="en"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A7DD03-D4F4-BC48-B916-6E47A35E709A}"/>
              </a:ext>
            </a:extLst>
          </p:cNvPr>
          <p:cNvGrpSpPr/>
          <p:nvPr/>
        </p:nvGrpSpPr>
        <p:grpSpPr>
          <a:xfrm>
            <a:off x="6912126" y="2015732"/>
            <a:ext cx="4857750" cy="3714750"/>
            <a:chOff x="1917425" y="2992750"/>
            <a:chExt cx="4857750" cy="3714750"/>
          </a:xfrm>
        </p:grpSpPr>
        <p:pic>
          <p:nvPicPr>
            <p:cNvPr id="106" name="Google Shape;10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17425" y="2992750"/>
              <a:ext cx="4857750" cy="37147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41D42CB-D052-4142-A180-B7244E44F15A}"/>
                </a:ext>
              </a:extLst>
            </p:cNvPr>
            <p:cNvCxnSpPr/>
            <p:nvPr/>
          </p:nvCxnSpPr>
          <p:spPr>
            <a:xfrm>
              <a:off x="2943922" y="3241375"/>
              <a:ext cx="3534937" cy="23108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591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>
                <a:solidFill>
                  <a:schemeClr val="accent1"/>
                </a:solidFill>
              </a:rPr>
              <a:t>Residuals</a:t>
            </a:r>
            <a:endParaRPr baseline="30000">
              <a:solidFill>
                <a:schemeClr val="accent1"/>
              </a:solidFill>
            </a:endParaRPr>
          </a:p>
        </p:txBody>
      </p:sp>
      <p:sp>
        <p:nvSpPr>
          <p:cNvPr id="140" name="Google Shape;140;p28"/>
          <p:cNvSpPr txBox="1">
            <a:spLocks noGrp="1"/>
          </p:cNvSpPr>
          <p:nvPr>
            <p:ph idx="1"/>
          </p:nvPr>
        </p:nvSpPr>
        <p:spPr>
          <a:xfrm>
            <a:off x="0" y="2015732"/>
            <a:ext cx="7644383" cy="415342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" sz="2200" b="1" dirty="0"/>
              <a:t>Residuals</a:t>
            </a:r>
            <a:r>
              <a:rPr lang="en" sz="2200" dirty="0"/>
              <a:t> are the leftovers from the model fit.</a:t>
            </a:r>
          </a:p>
          <a:p>
            <a:pPr marL="800100" lvl="1" indent="-342900">
              <a:lnSpc>
                <a:spcPct val="115000"/>
              </a:lnSpc>
            </a:pPr>
            <a:r>
              <a:rPr lang="en" sz="2000" dirty="0"/>
              <a:t>Data = Fit + Residual</a:t>
            </a:r>
          </a:p>
          <a:p>
            <a:pPr marL="342900" indent="-342900">
              <a:lnSpc>
                <a:spcPct val="115000"/>
              </a:lnSpc>
            </a:pPr>
            <a:r>
              <a:rPr lang="en" sz="2200" dirty="0"/>
              <a:t>Larger residuals means the model differs from the data. </a:t>
            </a:r>
          </a:p>
          <a:p>
            <a:pPr marL="342900" indent="-342900">
              <a:lnSpc>
                <a:spcPct val="115000"/>
              </a:lnSpc>
            </a:pPr>
            <a:r>
              <a:rPr lang="en" sz="2200" dirty="0"/>
              <a:t>Residuals can be totaled then compared. </a:t>
            </a:r>
          </a:p>
          <a:p>
            <a:pPr marL="342900" indent="-342900">
              <a:lnSpc>
                <a:spcPct val="115000"/>
              </a:lnSpc>
            </a:pPr>
            <a:r>
              <a:rPr lang="en" sz="2200" dirty="0"/>
              <a:t>We can also phrase it as t</a:t>
            </a:r>
            <a:r>
              <a:rPr lang="en-CA" sz="2200" dirty="0"/>
              <a:t>he</a:t>
            </a:r>
            <a:r>
              <a:rPr lang="en" sz="2200" dirty="0"/>
              <a:t> variance in y that isn’t explained by the model. </a:t>
            </a:r>
          </a:p>
          <a:p>
            <a:pPr marL="800100" lvl="1" indent="-342900">
              <a:lnSpc>
                <a:spcPct val="115000"/>
              </a:lnSpc>
            </a:pPr>
            <a:r>
              <a:rPr lang="en" sz="2000" dirty="0"/>
              <a:t>Model explains part of why Y values are what they are. </a:t>
            </a:r>
          </a:p>
          <a:p>
            <a:pPr marL="800100" lvl="1" indent="-342900">
              <a:lnSpc>
                <a:spcPct val="115000"/>
              </a:lnSpc>
            </a:pPr>
            <a:r>
              <a:rPr lang="en" sz="2000" dirty="0"/>
              <a:t>Residuals is the amount of why that the model doesn’t capture. </a:t>
            </a:r>
          </a:p>
          <a:p>
            <a:pPr marL="342900" indent="-342900">
              <a:lnSpc>
                <a:spcPct val="115000"/>
              </a:lnSpc>
            </a:pPr>
            <a:endParaRPr sz="2200" dirty="0"/>
          </a:p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sz="2200" dirty="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sz="2200" dirty="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sz="2200" dirty="0"/>
          </a:p>
        </p:txBody>
      </p:sp>
      <p:pic>
        <p:nvPicPr>
          <p:cNvPr id="141" name="Google Shape;1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384" y="1853755"/>
            <a:ext cx="4547616" cy="386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1981200" y="-12"/>
            <a:ext cx="8229600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>
                <a:solidFill>
                  <a:schemeClr val="accent1"/>
                </a:solidFill>
              </a:rPr>
              <a:t>Residuals (cont.)</a:t>
            </a:r>
            <a:endParaRPr baseline="30000">
              <a:solidFill>
                <a:schemeClr val="accent1"/>
              </a:solidFill>
            </a:endParaRPr>
          </a:p>
        </p:txBody>
      </p:sp>
      <p:sp>
        <p:nvSpPr>
          <p:cNvPr id="164" name="Google Shape;164;p31"/>
          <p:cNvSpPr txBox="1">
            <a:spLocks noGrp="1"/>
          </p:cNvSpPr>
          <p:nvPr>
            <p:ph type="body" idx="1"/>
          </p:nvPr>
        </p:nvSpPr>
        <p:spPr>
          <a:xfrm flipH="1">
            <a:off x="1981075" y="1305775"/>
            <a:ext cx="7822200" cy="1058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200"/>
              <a:t>Residual is the difference between the observed (y</a:t>
            </a:r>
            <a:r>
              <a:rPr lang="en" sz="2200" baseline="-25000"/>
              <a:t>i</a:t>
            </a:r>
            <a:r>
              <a:rPr lang="en" sz="2200"/>
              <a:t>) and predicted ŷ</a:t>
            </a:r>
            <a:r>
              <a:rPr lang="en" sz="2200" baseline="-25000"/>
              <a:t>i</a:t>
            </a:r>
            <a:r>
              <a:rPr lang="en" sz="2200"/>
              <a:t>.</a:t>
            </a:r>
            <a:endParaRPr sz="2200"/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226" y="2081475"/>
            <a:ext cx="1806199" cy="5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200" y="2624715"/>
            <a:ext cx="4560998" cy="3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 txBox="1">
            <a:spLocks noGrp="1"/>
          </p:cNvSpPr>
          <p:nvPr>
            <p:ph type="body" idx="1"/>
          </p:nvPr>
        </p:nvSpPr>
        <p:spPr>
          <a:xfrm flipH="1">
            <a:off x="7082050" y="2793025"/>
            <a:ext cx="2774700" cy="3140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200"/>
              <a:t>% living in poverty in DC is 5.44% more than predicted.</a:t>
            </a:r>
            <a:endParaRPr sz="220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sz="220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200"/>
              <a:t>% living in poverty in RI is 4.16% less than predicted.</a:t>
            </a:r>
            <a:endParaRPr sz="220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CC1A-373D-584A-BF07-0B34FFF3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867F-F364-0A4C-A103-DE689EC6D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AF8CFA-21D4-284B-A979-6B9D9CA1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374650"/>
            <a:ext cx="12065000" cy="610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03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0334-D39F-DE51-0D41-D5A34E47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Aggregating Residuals and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EC326-9CF2-FC1C-CF4F-21658385B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95942"/>
          </a:xfrm>
        </p:spPr>
        <p:txBody>
          <a:bodyPr/>
          <a:lstStyle/>
          <a:p>
            <a:r>
              <a:rPr lang="en-US" dirty="0"/>
              <a:t>We can aggregate the residuals to one measure, usually MSE/RMSE. </a:t>
            </a:r>
          </a:p>
          <a:p>
            <a:r>
              <a:rPr lang="en-US" dirty="0"/>
              <a:t>We can also refer to this as the cost. </a:t>
            </a:r>
          </a:p>
          <a:p>
            <a:r>
              <a:rPr lang="en-US" b="1" dirty="0"/>
              <a:t>The algorithm's goal is to minimize the cost. </a:t>
            </a:r>
          </a:p>
          <a:p>
            <a:pPr lvl="1"/>
            <a:r>
              <a:rPr lang="en-US" dirty="0"/>
              <a:t>Lowest possible error, best accuracy, most reliable predictions. </a:t>
            </a:r>
          </a:p>
          <a:p>
            <a:r>
              <a:rPr lang="en-US" dirty="0"/>
              <a:t>*Cost/loss are common, often overlapping terms, that are technically different. </a:t>
            </a:r>
          </a:p>
          <a:p>
            <a:pPr lvl="1"/>
            <a:r>
              <a:rPr lang="en-US" dirty="0"/>
              <a:t>Loss – the error of an individual prediction. </a:t>
            </a:r>
          </a:p>
          <a:p>
            <a:pPr lvl="1"/>
            <a:r>
              <a:rPr lang="en-US" dirty="0"/>
              <a:t>Cost – the aggregate error of all predictions. </a:t>
            </a:r>
          </a:p>
        </p:txBody>
      </p:sp>
    </p:spTree>
    <p:extLst>
      <p:ext uri="{BB962C8B-B14F-4D97-AF65-F5344CB8AC3E}">
        <p14:creationId xmlns:p14="http://schemas.microsoft.com/office/powerpoint/2010/main" val="1879109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F0C6-EC92-B50D-D544-75DDAFAF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A5EAF-3AA8-2684-9B13-3798C9966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best fit line is a model of the scatter plot data. </a:t>
            </a:r>
          </a:p>
          <a:p>
            <a:r>
              <a:rPr lang="en-US" dirty="0"/>
              <a:t>The better it fits (smaller residuals), the more we can ‘trust’ it. </a:t>
            </a:r>
          </a:p>
          <a:p>
            <a:r>
              <a:rPr lang="en-US" dirty="0"/>
              <a:t>In a linear regression equation: y = </a:t>
            </a:r>
            <a:r>
              <a:rPr lang="en-US" dirty="0" err="1"/>
              <a:t>mx+b</a:t>
            </a:r>
            <a:endParaRPr lang="en-US" dirty="0"/>
          </a:p>
          <a:p>
            <a:pPr lvl="1"/>
            <a:r>
              <a:rPr lang="en-US" dirty="0"/>
              <a:t>Y = the prediction/target. </a:t>
            </a:r>
          </a:p>
          <a:p>
            <a:pPr lvl="1"/>
            <a:r>
              <a:rPr lang="en-US" dirty="0"/>
              <a:t>X = the input (usually we have a bunch of x’s).</a:t>
            </a:r>
          </a:p>
          <a:p>
            <a:pPr lvl="1"/>
            <a:r>
              <a:rPr lang="en-US" dirty="0"/>
              <a:t>M = slope (amount of increase/decrease in Y given a change in X). </a:t>
            </a:r>
          </a:p>
          <a:p>
            <a:pPr lvl="1"/>
            <a:r>
              <a:rPr lang="en-US" dirty="0"/>
              <a:t>B = y-intercept (the starting point – if x=0, what’s y).</a:t>
            </a:r>
          </a:p>
          <a:p>
            <a:r>
              <a:rPr lang="en-US" dirty="0"/>
              <a:t>To make the model we need to determine (or ‘learn’) what m and b are. </a:t>
            </a:r>
          </a:p>
          <a:p>
            <a:pPr lvl="1"/>
            <a:r>
              <a:rPr lang="en-US" dirty="0"/>
              <a:t>Which coefficients will minimize loss/cost (we commonly refer to error as loss). </a:t>
            </a:r>
          </a:p>
        </p:txBody>
      </p:sp>
    </p:spTree>
    <p:extLst>
      <p:ext uri="{BB962C8B-B14F-4D97-AF65-F5344CB8AC3E}">
        <p14:creationId xmlns:p14="http://schemas.microsoft.com/office/powerpoint/2010/main" val="150293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7D06-4713-E84F-8E72-AEB2C4E7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Least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09E0-766C-6C47-8DAE-98FAF64B0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line can be defined by the intercept and slope.</a:t>
            </a:r>
          </a:p>
          <a:p>
            <a:r>
              <a:rPr lang="en-US" dirty="0"/>
              <a:t>We generate a line that minimizes the square of the residuals. 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Small differences matter less than big ones.</a:t>
            </a:r>
          </a:p>
          <a:p>
            <a:pPr lvl="1"/>
            <a:r>
              <a:rPr lang="en-US" dirty="0"/>
              <a:t>Squaring deals with negatives. </a:t>
            </a:r>
          </a:p>
          <a:p>
            <a:pPr lvl="1"/>
            <a:r>
              <a:rPr lang="en-US" dirty="0"/>
              <a:t>Computationally efficient. (Mattered more in the past)</a:t>
            </a:r>
          </a:p>
          <a:p>
            <a:pPr lvl="1"/>
            <a:r>
              <a:rPr lang="en-US" dirty="0"/>
              <a:t>Is (potentially) a good estimator for slope and intercept. </a:t>
            </a:r>
          </a:p>
        </p:txBody>
      </p:sp>
    </p:spTree>
    <p:extLst>
      <p:ext uri="{BB962C8B-B14F-4D97-AF65-F5344CB8AC3E}">
        <p14:creationId xmlns:p14="http://schemas.microsoft.com/office/powerpoint/2010/main" val="2081442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CB48-9965-2FE5-1724-2689628F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general…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29AFF-267C-C22E-49D8-A45F42521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53754"/>
            <a:ext cx="10384293" cy="4199727"/>
          </a:xfrm>
        </p:spPr>
        <p:txBody>
          <a:bodyPr/>
          <a:lstStyle/>
          <a:p>
            <a:r>
              <a:rPr lang="en-US" dirty="0"/>
              <a:t>The training/fitting/learning step is where a model calculates the stuff needed to predict. </a:t>
            </a:r>
          </a:p>
          <a:p>
            <a:pPr lvl="1"/>
            <a:r>
              <a:rPr lang="en-US" dirty="0"/>
              <a:t>In regression m + b, in Bayes the probabilities. </a:t>
            </a:r>
          </a:p>
          <a:p>
            <a:pPr lvl="1"/>
            <a:r>
              <a:rPr lang="en-US" dirty="0"/>
              <a:t>In other types of models it is some other set of calculations. </a:t>
            </a:r>
          </a:p>
          <a:p>
            <a:pPr lvl="1"/>
            <a:r>
              <a:rPr lang="en-US" b="1" dirty="0"/>
              <a:t>In many cases, it isn’t simple math, it is an optimization process to find the parameters. </a:t>
            </a:r>
          </a:p>
          <a:p>
            <a:r>
              <a:rPr lang="en-US" dirty="0"/>
              <a:t>We can call the learned values parameters. </a:t>
            </a:r>
          </a:p>
          <a:p>
            <a:r>
              <a:rPr lang="en-US" dirty="0"/>
              <a:t>This training process is done with old data – we have the target/y. </a:t>
            </a:r>
          </a:p>
          <a:p>
            <a:r>
              <a:rPr lang="en-US" dirty="0"/>
              <a:t>Once this is done, we can generate new predictions. </a:t>
            </a:r>
          </a:p>
          <a:p>
            <a:pPr lvl="1"/>
            <a:r>
              <a:rPr lang="en-US" dirty="0"/>
              <a:t>A new prediction requires parameters, new data (</a:t>
            </a:r>
            <a:r>
              <a:rPr lang="en-US" dirty="0" err="1"/>
              <a:t>Xs</a:t>
            </a:r>
            <a:r>
              <a:rPr lang="en-US" dirty="0"/>
              <a:t>), and the model. </a:t>
            </a:r>
          </a:p>
        </p:txBody>
      </p:sp>
    </p:spTree>
    <p:extLst>
      <p:ext uri="{BB962C8B-B14F-4D97-AF65-F5344CB8AC3E}">
        <p14:creationId xmlns:p14="http://schemas.microsoft.com/office/powerpoint/2010/main" val="2314286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EB5F-8E89-9D43-B085-8CC33AFD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How to find the minimum of the residuals squared?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66B4-A8EA-1646-9636-F38C78C20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478" y="1853754"/>
            <a:ext cx="5837933" cy="42905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This is the “learning” part of machine learning.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This step is the main thing that differs between other models – the math changes. 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Any process that gets m and b will work!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We can use:</a:t>
            </a:r>
          </a:p>
          <a:p>
            <a:pPr lvl="1">
              <a:lnSpc>
                <a:spcPct val="110000"/>
              </a:lnSpc>
            </a:pPr>
            <a:r>
              <a:rPr lang="en-US" sz="1600" dirty="0" err="1"/>
              <a:t>LeastSquares</a:t>
            </a:r>
            <a:r>
              <a:rPr lang="en-US" sz="1600" dirty="0"/>
              <a:t> from </a:t>
            </a:r>
            <a:r>
              <a:rPr lang="en-US" sz="1600" dirty="0" err="1"/>
              <a:t>thinkplot</a:t>
            </a:r>
            <a:r>
              <a:rPr lang="en-US" sz="1600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sz="1600" dirty="0" err="1"/>
              <a:t>StatsModels</a:t>
            </a:r>
            <a:r>
              <a:rPr lang="en-US" sz="1600" dirty="0"/>
              <a:t> function.</a:t>
            </a:r>
          </a:p>
          <a:p>
            <a:pPr lvl="1">
              <a:lnSpc>
                <a:spcPct val="110000"/>
              </a:lnSpc>
            </a:pPr>
            <a:r>
              <a:rPr lang="en-US" sz="1600" dirty="0" err="1"/>
              <a:t>Scipy</a:t>
            </a:r>
            <a:r>
              <a:rPr lang="en-US" sz="1600" dirty="0"/>
              <a:t> functions.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Probably many other packages.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Model (best fit line) is defined by the slope and intercept.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Add any X value to those two and you can predict Y.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The training process finds the ”best” calculation to do so.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96D11F6-1313-9B40-A285-01ED767C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2093846"/>
            <a:ext cx="6097589" cy="27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77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2D9F-E7BF-821F-0390-580CD00D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3" y="804889"/>
            <a:ext cx="4431322" cy="1059305"/>
          </a:xfrm>
        </p:spPr>
        <p:txBody>
          <a:bodyPr/>
          <a:lstStyle/>
          <a:p>
            <a:r>
              <a:rPr lang="en-US" dirty="0"/>
              <a:t>Note for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38B9-90D7-70EB-7658-D70F17C33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91963"/>
            <a:ext cx="4645152" cy="41611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step of calculating the slope and intercept in LLS is the learning part. </a:t>
            </a:r>
          </a:p>
          <a:p>
            <a:r>
              <a:rPr lang="en-US" dirty="0"/>
              <a:t>Other types of models have different learning parts, with the same in/out. </a:t>
            </a:r>
          </a:p>
          <a:p>
            <a:r>
              <a:rPr lang="en-US" dirty="0"/>
              <a:t>Linear regression is the only model* we see where we can calculate an answer. </a:t>
            </a:r>
          </a:p>
          <a:p>
            <a:pPr lvl="1"/>
            <a:r>
              <a:rPr lang="en-US" dirty="0"/>
              <a:t>All others we need to estimate the best answer, and that takes time. </a:t>
            </a:r>
          </a:p>
          <a:p>
            <a:r>
              <a:rPr lang="en-US" dirty="0"/>
              <a:t>KEY – the m and b ‘are’ the parameters. </a:t>
            </a:r>
          </a:p>
          <a:p>
            <a:pPr lvl="1"/>
            <a:r>
              <a:rPr lang="en-US" dirty="0"/>
              <a:t>Model produces y from x(s). </a:t>
            </a:r>
          </a:p>
          <a:p>
            <a:pPr lvl="1"/>
            <a:r>
              <a:rPr lang="en-US" dirty="0"/>
              <a:t>Y=</a:t>
            </a:r>
            <a:r>
              <a:rPr lang="en-US" dirty="0" err="1"/>
              <a:t>mx+b</a:t>
            </a:r>
            <a:r>
              <a:rPr lang="en-US" dirty="0"/>
              <a:t> does this with m and b. </a:t>
            </a:r>
          </a:p>
          <a:p>
            <a:pPr lvl="1"/>
            <a:r>
              <a:rPr lang="en-US" dirty="0"/>
              <a:t>The values of m and b control prediction.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2A2CDE-134A-EDAD-4DF1-8C18BC70F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3987801"/>
            <a:ext cx="7546848" cy="206531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MOST models we care about, learning isn’t one step like this. </a:t>
            </a:r>
          </a:p>
          <a:p>
            <a:pPr lvl="1"/>
            <a:r>
              <a:rPr lang="en-US" dirty="0"/>
              <a:t>LLS can produce the optimal model in one calculation, for simple data. </a:t>
            </a:r>
          </a:p>
          <a:p>
            <a:pPr lvl="1"/>
            <a:r>
              <a:rPr lang="en-US" dirty="0"/>
              <a:t>Other model types or other data needs more steps – iteration. </a:t>
            </a:r>
          </a:p>
          <a:p>
            <a:pPr lvl="1"/>
            <a:r>
              <a:rPr lang="en-US" dirty="0"/>
              <a:t>Make a model (guess coef.), calculate error, revise, calculate, revise….</a:t>
            </a:r>
          </a:p>
          <a:p>
            <a:pPr lvl="1"/>
            <a:r>
              <a:rPr lang="en-US" dirty="0"/>
              <a:t>This looks like learning, it takes a long time.</a:t>
            </a:r>
          </a:p>
          <a:p>
            <a:pPr lvl="1"/>
            <a:r>
              <a:rPr lang="en-US" dirty="0"/>
              <a:t>We never know the perfect answer (like LLS gives) only our best guess.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4125A-92C1-2E6C-1342-679EAE52D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09347"/>
            <a:ext cx="7506920" cy="316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75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 flipH="1">
            <a:off x="5048313" y="1305774"/>
            <a:ext cx="6953124" cy="47433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342900" indent="-3429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" sz="2200" dirty="0"/>
              <a:t>The linear model for predicting poverty from high school graduation rate in the US is:</a:t>
            </a:r>
            <a:endParaRPr sz="2200" dirty="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sz="2200" dirty="0"/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sz="2200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The "hat" is used to signify that this is an estimate.</a:t>
            </a:r>
          </a:p>
          <a:p>
            <a:pPr marL="800100" lvl="1" indent="-342900">
              <a:lnSpc>
                <a:spcPct val="115000"/>
              </a:lnSpc>
            </a:pPr>
            <a:r>
              <a:rPr lang="en" sz="2000" dirty="0"/>
              <a:t>Predictions are always estimates, not assertions. </a:t>
            </a:r>
          </a:p>
          <a:p>
            <a:pPr marL="800100" lvl="1" indent="-342900">
              <a:lnSpc>
                <a:spcPct val="115000"/>
              </a:lnSpc>
            </a:pPr>
            <a:r>
              <a:rPr lang="en" sz="2000" dirty="0"/>
              <a:t>Our model ‘learned’ m and b in the training (LLS) step. </a:t>
            </a:r>
            <a:endParaRPr lang="en" sz="2200" dirty="0"/>
          </a:p>
          <a:p>
            <a:pPr marL="342900" indent="-342900">
              <a:lnSpc>
                <a:spcPct val="115000"/>
              </a:lnSpc>
              <a:spcBef>
                <a:spcPts val="0"/>
              </a:spcBef>
            </a:pPr>
            <a:r>
              <a:rPr lang="en" sz="2200" dirty="0"/>
              <a:t>It is an estimate because this isn’t a definitive calculation to calculate the value of poverty – it is a prediction of what we expect the rate of poverty to be, given a value for </a:t>
            </a:r>
            <a:r>
              <a:rPr lang="en-CA" sz="2200" dirty="0" err="1"/>
              <a:t>HSgrad</a:t>
            </a:r>
            <a:r>
              <a:rPr lang="en" sz="2200" dirty="0"/>
              <a:t>. </a:t>
            </a:r>
            <a:endParaRPr sz="2200" dirty="0"/>
          </a:p>
        </p:txBody>
      </p:sp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1981200" y="-12"/>
            <a:ext cx="8229600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>
                <a:solidFill>
                  <a:schemeClr val="accent1"/>
                </a:solidFill>
              </a:rPr>
              <a:t>Poverty vs. HS graduate rate</a:t>
            </a:r>
            <a:endParaRPr baseline="30000">
              <a:solidFill>
                <a:schemeClr val="accent1"/>
              </a:solidFill>
            </a:endParaRPr>
          </a:p>
        </p:txBody>
      </p:sp>
      <p:pic>
        <p:nvPicPr>
          <p:cNvPr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451" y="2276061"/>
            <a:ext cx="4073124" cy="52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CDC0DB9-BFA9-162A-0C30-75E93DEC7C50}"/>
              </a:ext>
            </a:extLst>
          </p:cNvPr>
          <p:cNvGrpSpPr/>
          <p:nvPr/>
        </p:nvGrpSpPr>
        <p:grpSpPr>
          <a:xfrm>
            <a:off x="190563" y="1571625"/>
            <a:ext cx="4857750" cy="3714750"/>
            <a:chOff x="1917425" y="2992750"/>
            <a:chExt cx="4857750" cy="3714750"/>
          </a:xfrm>
        </p:grpSpPr>
        <p:pic>
          <p:nvPicPr>
            <p:cNvPr id="3" name="Google Shape;106;p23">
              <a:extLst>
                <a:ext uri="{FF2B5EF4-FFF2-40B4-BE49-F238E27FC236}">
                  <a16:creationId xmlns:a16="http://schemas.microsoft.com/office/drawing/2014/main" id="{65007FBD-2DD9-566C-D817-39DA82C5CE3C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17425" y="2992750"/>
              <a:ext cx="4857750" cy="37147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CF3D8B5-64C6-0230-1461-B8E4B17B171C}"/>
                </a:ext>
              </a:extLst>
            </p:cNvPr>
            <p:cNvCxnSpPr/>
            <p:nvPr/>
          </p:nvCxnSpPr>
          <p:spPr>
            <a:xfrm>
              <a:off x="2943922" y="3241375"/>
              <a:ext cx="3534937" cy="23108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212311-4030-0318-9F3E-FABB49C0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model!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43DB3-4531-35B1-23E0-CE4FA36AB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Once ‘trained’ (calculation of slope and intercept) the y=</a:t>
            </a:r>
            <a:r>
              <a:rPr lang="en-US" dirty="0" err="1"/>
              <a:t>mx+b</a:t>
            </a:r>
            <a:r>
              <a:rPr lang="en-US" dirty="0"/>
              <a:t> is a model. </a:t>
            </a:r>
          </a:p>
          <a:p>
            <a:pPr lvl="1"/>
            <a:r>
              <a:rPr lang="en-US" dirty="0"/>
              <a:t>Insert any input (x value) we get a predicted output (y value). </a:t>
            </a:r>
          </a:p>
          <a:p>
            <a:r>
              <a:rPr lang="en-US" dirty="0"/>
              <a:t>This is one model that can predict Y given X. </a:t>
            </a:r>
          </a:p>
          <a:p>
            <a:r>
              <a:rPr lang="en-US" dirty="0"/>
              <a:t>There are infinite number of ways to make a model that does the same thing. </a:t>
            </a:r>
          </a:p>
          <a:p>
            <a:pPr lvl="1"/>
            <a:r>
              <a:rPr lang="en-US" dirty="0"/>
              <a:t>This way used a linear regression via a formula. </a:t>
            </a:r>
          </a:p>
          <a:p>
            <a:pPr lvl="1"/>
            <a:r>
              <a:rPr lang="en-US" dirty="0"/>
              <a:t>Later we’ll see linear regression via iteration. </a:t>
            </a:r>
          </a:p>
          <a:p>
            <a:pPr lvl="1"/>
            <a:r>
              <a:rPr lang="en-US" dirty="0"/>
              <a:t>We could use the same data, and different math (this changes), and get some other model. </a:t>
            </a:r>
          </a:p>
          <a:p>
            <a:r>
              <a:rPr lang="en-US" dirty="0"/>
              <a:t>The only* part that changes is the training/calculation step. </a:t>
            </a:r>
          </a:p>
          <a:p>
            <a:pPr lvl="1"/>
            <a:r>
              <a:rPr lang="en-US" dirty="0"/>
              <a:t>Same inputs, same outputs, different calculation to go from A-&gt;B. </a:t>
            </a:r>
          </a:p>
          <a:p>
            <a:r>
              <a:rPr lang="en-US" dirty="0"/>
              <a:t>How do we know if the one we made is good? </a:t>
            </a:r>
          </a:p>
        </p:txBody>
      </p:sp>
    </p:spTree>
    <p:extLst>
      <p:ext uri="{BB962C8B-B14F-4D97-AF65-F5344CB8AC3E}">
        <p14:creationId xmlns:p14="http://schemas.microsoft.com/office/powerpoint/2010/main" val="1457611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D5E6-0673-BEA4-A196-86FC8180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Meanings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57338-AC81-31FE-3454-474D600F8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184901" cy="4199727"/>
          </a:xfrm>
        </p:spPr>
        <p:txBody>
          <a:bodyPr>
            <a:normAutofit/>
          </a:bodyPr>
          <a:lstStyle/>
          <a:p>
            <a:r>
              <a:rPr lang="en-US" dirty="0"/>
              <a:t>Model trained by calculating parameters from old data. </a:t>
            </a:r>
          </a:p>
          <a:p>
            <a:pPr lvl="1"/>
            <a:r>
              <a:rPr lang="en-US" dirty="0"/>
              <a:t>These parameters are the ‘smarts’ of the model. </a:t>
            </a:r>
          </a:p>
          <a:p>
            <a:pPr lvl="1"/>
            <a:r>
              <a:rPr lang="en-US" dirty="0"/>
              <a:t>LLM type models can have billions/trillions of params. </a:t>
            </a:r>
          </a:p>
          <a:p>
            <a:r>
              <a:rPr lang="en-US" dirty="0"/>
              <a:t>Making predictions requires:</a:t>
            </a:r>
          </a:p>
          <a:p>
            <a:pPr lvl="1"/>
            <a:r>
              <a:rPr lang="en-US" dirty="0"/>
              <a:t>Parameters. </a:t>
            </a:r>
          </a:p>
          <a:p>
            <a:pPr lvl="1"/>
            <a:r>
              <a:rPr lang="en-US" dirty="0"/>
              <a:t>New input data. </a:t>
            </a:r>
          </a:p>
          <a:p>
            <a:pPr lvl="1"/>
            <a:r>
              <a:rPr lang="en-US" dirty="0"/>
              <a:t>Formula/algorithm. </a:t>
            </a:r>
          </a:p>
          <a:p>
            <a:r>
              <a:rPr lang="en-US" dirty="0"/>
              <a:t>Regression lets us examine the meaning of a prediction. </a:t>
            </a:r>
          </a:p>
          <a:p>
            <a:pPr lvl="1"/>
            <a:r>
              <a:rPr lang="en-US" dirty="0"/>
              <a:t>M = change in y per change in x. </a:t>
            </a:r>
          </a:p>
          <a:p>
            <a:pPr lvl="1"/>
            <a:r>
              <a:rPr lang="en-US" dirty="0"/>
              <a:t>B = starting point at x=0.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1F0F6-FDA1-E27A-9A4D-642A9F71D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0" y="0"/>
            <a:ext cx="600710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38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E4D1-FD8F-A62F-516F-76E1AC08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and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23C4-8791-B413-9CF7-EB065E270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Each of the model types we’ve seen can do the same* predictions. </a:t>
            </a:r>
          </a:p>
          <a:p>
            <a:pPr lvl="1"/>
            <a:r>
              <a:rPr lang="en-US" dirty="0"/>
              <a:t>Bayes does classification (categorical), regression does regression (numeric). </a:t>
            </a:r>
          </a:p>
          <a:p>
            <a:pPr lvl="1"/>
            <a:r>
              <a:rPr lang="en-US" dirty="0"/>
              <a:t>There’s other versions for each, ignore for now. </a:t>
            </a:r>
          </a:p>
          <a:p>
            <a:r>
              <a:rPr lang="en-US" dirty="0"/>
              <a:t>Data – several </a:t>
            </a:r>
            <a:r>
              <a:rPr lang="en-US" dirty="0" err="1"/>
              <a:t>Xs</a:t>
            </a:r>
            <a:r>
              <a:rPr lang="en-US" dirty="0"/>
              <a:t>, one Y (target). </a:t>
            </a:r>
          </a:p>
          <a:p>
            <a:r>
              <a:rPr lang="en-US" dirty="0"/>
              <a:t>“Learning” – regression uses LLS (or alt.), bayes uses Bayes. Each calculates the key bits. </a:t>
            </a:r>
          </a:p>
          <a:p>
            <a:pPr lvl="1"/>
            <a:r>
              <a:rPr lang="en-US" dirty="0"/>
              <a:t>Bayes has the probabilities, regression has the slopes and intercept. </a:t>
            </a:r>
          </a:p>
          <a:p>
            <a:r>
              <a:rPr lang="en-US" dirty="0"/>
              <a:t>Making a prediction – grab the appropriate pre-calculated values, crunch numbers. </a:t>
            </a:r>
          </a:p>
        </p:txBody>
      </p:sp>
    </p:spTree>
    <p:extLst>
      <p:ext uri="{BB962C8B-B14F-4D97-AF65-F5344CB8AC3E}">
        <p14:creationId xmlns:p14="http://schemas.microsoft.com/office/powerpoint/2010/main" val="2292174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7C0C-C6AD-923D-3BD7-97FCD891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and Improving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D4100-8940-8A2D-847A-872F301EF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95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5CD6-EA65-AFE1-40E7-9BC5EAFA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Residual…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3867-112C-EEF7-00C4-1A58A468C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450" y="1853753"/>
            <a:ext cx="5163549" cy="4199727"/>
          </a:xfrm>
        </p:spPr>
        <p:txBody>
          <a:bodyPr/>
          <a:lstStyle/>
          <a:p>
            <a:r>
              <a:rPr lang="en-US" dirty="0"/>
              <a:t>Residuals are difference between an empirical value and the model’s predicted value. </a:t>
            </a:r>
          </a:p>
          <a:p>
            <a:r>
              <a:rPr lang="en-US" dirty="0"/>
              <a:t>The size of residuals tells us the ‘fit’ of the model. </a:t>
            </a:r>
          </a:p>
          <a:p>
            <a:r>
              <a:rPr lang="en-US" dirty="0"/>
              <a:t>Model is good fit when residuals are small. </a:t>
            </a:r>
          </a:p>
          <a:p>
            <a:pPr lvl="1"/>
            <a:r>
              <a:rPr lang="en-US" dirty="0"/>
              <a:t>I.E. the model follows the data patterns. </a:t>
            </a:r>
          </a:p>
          <a:p>
            <a:r>
              <a:rPr lang="en-US" dirty="0"/>
              <a:t>Model is bad fit if residuals are large. </a:t>
            </a:r>
          </a:p>
          <a:p>
            <a:pPr lvl="1"/>
            <a:r>
              <a:rPr lang="en-US" dirty="0"/>
              <a:t>Model diverges from empirical patterns. </a:t>
            </a:r>
          </a:p>
          <a:p>
            <a:r>
              <a:rPr lang="en-US" dirty="0"/>
              <a:t>We normally use fit as a term to discuss. </a:t>
            </a:r>
          </a:p>
        </p:txBody>
      </p:sp>
      <p:pic>
        <p:nvPicPr>
          <p:cNvPr id="2050" name="Picture 2" descr="Residuals - MathBitsNotebook(A1)">
            <a:extLst>
              <a:ext uri="{FF2B5EF4-FFF2-40B4-BE49-F238E27FC236}">
                <a16:creationId xmlns:a16="http://schemas.microsoft.com/office/drawing/2014/main" id="{E122809C-C129-005F-0D80-F0BC12301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5732"/>
            <a:ext cx="7028451" cy="367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640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39E7-3B2D-5D4A-A834-9397731C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Residual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F23D-40AA-6A4E-B69E-12212C8D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5880099" cy="4199727"/>
          </a:xfrm>
        </p:spPr>
        <p:txBody>
          <a:bodyPr>
            <a:normAutofit/>
          </a:bodyPr>
          <a:lstStyle/>
          <a:p>
            <a:r>
              <a:rPr lang="en-US" dirty="0"/>
              <a:t>The residuals are also helpful to us in a few ways. </a:t>
            </a:r>
          </a:p>
          <a:p>
            <a:pPr lvl="1"/>
            <a:r>
              <a:rPr lang="en-US" dirty="0"/>
              <a:t>They can be tallied into error metrics – RMSE, R2…</a:t>
            </a:r>
          </a:p>
          <a:p>
            <a:r>
              <a:rPr lang="en-US" dirty="0"/>
              <a:t>We can graph the residuals along with X to examine. </a:t>
            </a:r>
          </a:p>
          <a:p>
            <a:r>
              <a:rPr lang="en-US" dirty="0"/>
              <a:t>We want this pattern of residuals to not have any patterns in it – to be randomly spread out. </a:t>
            </a:r>
          </a:p>
          <a:p>
            <a:r>
              <a:rPr lang="en-US" dirty="0"/>
              <a:t>Why????????</a:t>
            </a:r>
          </a:p>
          <a:p>
            <a:pPr lvl="1"/>
            <a:r>
              <a:rPr lang="en-US" dirty="0"/>
              <a:t>Think of what’s different if there’s a pattern in the residuals vs random.</a:t>
            </a:r>
          </a:p>
          <a:p>
            <a:pPr lvl="1"/>
            <a:r>
              <a:rPr lang="en-US" dirty="0"/>
              <a:t>If the model always predicts too low?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E0B48-5A03-694B-9CC0-2134D117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0" y="1093664"/>
            <a:ext cx="5905499" cy="580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83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1FD7-A9C7-CD4A-B394-4D9E37B6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Why Random?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2CE1-EEC2-DA4E-ACFC-03662AAD5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53754"/>
            <a:ext cx="5359399" cy="4295837"/>
          </a:xfrm>
        </p:spPr>
        <p:txBody>
          <a:bodyPr>
            <a:normAutofit/>
          </a:bodyPr>
          <a:lstStyle/>
          <a:p>
            <a:r>
              <a:rPr lang="en-US" dirty="0"/>
              <a:t>If there’s a pattern in the residuals it tells us that there’s some relationship here that isn’t captured in our actual model.</a:t>
            </a:r>
          </a:p>
          <a:p>
            <a:pPr lvl="1"/>
            <a:r>
              <a:rPr lang="en-US" dirty="0"/>
              <a:t>Middle predictions too high, ends are too low. </a:t>
            </a:r>
          </a:p>
          <a:p>
            <a:r>
              <a:rPr lang="en-US" dirty="0"/>
              <a:t>Residuals should be:</a:t>
            </a:r>
          </a:p>
          <a:p>
            <a:pPr lvl="1"/>
            <a:r>
              <a:rPr lang="en-US" dirty="0"/>
              <a:t>Uncorrelated with a variable.</a:t>
            </a:r>
          </a:p>
          <a:p>
            <a:pPr lvl="1"/>
            <a:r>
              <a:rPr lang="en-US" dirty="0"/>
              <a:t>Uncorrelated with each other. </a:t>
            </a:r>
          </a:p>
          <a:p>
            <a:r>
              <a:rPr lang="en-US" dirty="0"/>
              <a:t>We shouldn’t be able to predict residuals. </a:t>
            </a:r>
          </a:p>
          <a:p>
            <a:pPr lvl="1"/>
            <a:r>
              <a:rPr lang="en-US" dirty="0"/>
              <a:t>That pattern belongs in the model!!!!!</a:t>
            </a:r>
          </a:p>
          <a:p>
            <a:r>
              <a:rPr lang="en-US" dirty="0"/>
              <a:t>Models can be limited in fit – e.g. linear here. </a:t>
            </a:r>
          </a:p>
        </p:txBody>
      </p:sp>
      <p:pic>
        <p:nvPicPr>
          <p:cNvPr id="2050" name="Picture 2" descr="Minitab's residuals versus fit plot with bad residuals">
            <a:extLst>
              <a:ext uri="{FF2B5EF4-FFF2-40B4-BE49-F238E27FC236}">
                <a16:creationId xmlns:a16="http://schemas.microsoft.com/office/drawing/2014/main" id="{62A0CAEA-4DD1-CA49-84C3-5091103E1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2087558"/>
            <a:ext cx="5707862" cy="380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565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04A1-3C5F-6DE4-2A8F-246AB5A1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Normal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E973-C1F9-CF5A-57C5-874CFB5F9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11" y="1853754"/>
            <a:ext cx="5734406" cy="4108134"/>
          </a:xfrm>
        </p:spPr>
        <p:txBody>
          <a:bodyPr/>
          <a:lstStyle/>
          <a:p>
            <a:r>
              <a:rPr lang="en-US" dirty="0"/>
              <a:t>We also want the distribution of residuals to be roughly normal. </a:t>
            </a:r>
          </a:p>
          <a:p>
            <a:pPr lvl="1"/>
            <a:r>
              <a:rPr lang="en-US" dirty="0"/>
              <a:t>We want any pattern ‘captured’ in the model. </a:t>
            </a:r>
          </a:p>
          <a:p>
            <a:pPr lvl="1"/>
            <a:r>
              <a:rPr lang="en-US" dirty="0"/>
              <a:t>If residuals are mostly large, model may not fit. </a:t>
            </a:r>
          </a:p>
          <a:p>
            <a:pPr lvl="1"/>
            <a:r>
              <a:rPr lang="en-US" dirty="0"/>
              <a:t>The residuals are (ideally) random, most misses will be relatively small. </a:t>
            </a:r>
          </a:p>
          <a:p>
            <a:r>
              <a:rPr lang="en-US" dirty="0"/>
              <a:t>Can check with a normality plot or histogram. </a:t>
            </a:r>
          </a:p>
          <a:p>
            <a:r>
              <a:rPr lang="en-US" dirty="0"/>
              <a:t>This concept exists across all models, but harder </a:t>
            </a:r>
            <a:r>
              <a:rPr lang="en-US"/>
              <a:t>to picture. 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Residual analysis plots of the NR-ANN model | Download Scientific Diagram">
            <a:extLst>
              <a:ext uri="{FF2B5EF4-FFF2-40B4-BE49-F238E27FC236}">
                <a16:creationId xmlns:a16="http://schemas.microsoft.com/office/drawing/2014/main" id="{6CB86855-53EE-2DE8-1166-488A2496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1185464"/>
            <a:ext cx="5734407" cy="477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31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2386-CDFE-911F-D93C-80A862A5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030" y="804519"/>
            <a:ext cx="7363970" cy="1049235"/>
          </a:xfrm>
        </p:spPr>
        <p:txBody>
          <a:bodyPr/>
          <a:lstStyle/>
          <a:p>
            <a:r>
              <a:rPr lang="en-US" dirty="0"/>
              <a:t>Basic idea of Residual Based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8035-1A5A-ADBF-37B2-42869D54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030" y="1853754"/>
            <a:ext cx="7363970" cy="4199727"/>
          </a:xfrm>
        </p:spPr>
        <p:txBody>
          <a:bodyPr/>
          <a:lstStyle/>
          <a:p>
            <a:r>
              <a:rPr lang="en-US" dirty="0"/>
              <a:t>Our model will have errors – residuals. </a:t>
            </a:r>
          </a:p>
          <a:p>
            <a:r>
              <a:rPr lang="en-US" dirty="0"/>
              <a:t>These errors can be grouped:</a:t>
            </a:r>
          </a:p>
          <a:p>
            <a:pPr lvl="1"/>
            <a:r>
              <a:rPr lang="en-US" dirty="0"/>
              <a:t>Random – our model is good, but not perfect (normal). </a:t>
            </a:r>
          </a:p>
          <a:p>
            <a:pPr lvl="1"/>
            <a:r>
              <a:rPr lang="en-US" dirty="0"/>
              <a:t>Systemic – there is some pattern in the residuals. </a:t>
            </a:r>
          </a:p>
          <a:p>
            <a:r>
              <a:rPr lang="en-US" dirty="0"/>
              <a:t>Pattern in residuals, we want to change the model to ‘explain’ it. </a:t>
            </a:r>
          </a:p>
          <a:p>
            <a:r>
              <a:rPr lang="en-US" dirty="0"/>
              <a:t>Explained variance view – y value varies, how well does the model explain that variation. </a:t>
            </a:r>
          </a:p>
          <a:p>
            <a:pPr lvl="1"/>
            <a:r>
              <a:rPr lang="en-US" dirty="0"/>
              <a:t>Here the linear model can’t ‘explain’ the curve in the data. </a:t>
            </a:r>
          </a:p>
          <a:p>
            <a:pPr lvl="1"/>
            <a:r>
              <a:rPr lang="en-US" dirty="0"/>
              <a:t>The quad. model explains the curve, but still has random error. </a:t>
            </a:r>
          </a:p>
        </p:txBody>
      </p:sp>
      <p:pic>
        <p:nvPicPr>
          <p:cNvPr id="4" name="Picture 3" descr="linear vs quadratic model to fit non-linear data">
            <a:extLst>
              <a:ext uri="{FF2B5EF4-FFF2-40B4-BE49-F238E27FC236}">
                <a16:creationId xmlns:a16="http://schemas.microsoft.com/office/drawing/2014/main" id="{894FEC17-132F-1237-DB7B-ABED71920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28032" cy="3269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CFE883-BC13-60BA-FEF6-58F04590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269266"/>
            <a:ext cx="4828031" cy="326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64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5D92-9A13-D39E-087B-57C77AFA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Fit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80B4-57C0-F415-B387-9BC0048A5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As we can see here, there are some scenarios that a linear model can’t fit well. </a:t>
            </a:r>
          </a:p>
          <a:p>
            <a:r>
              <a:rPr lang="en-US" dirty="0"/>
              <a:t>Every model has assumptions, the more we match, the better. </a:t>
            </a:r>
          </a:p>
          <a:p>
            <a:r>
              <a:rPr lang="en-US" dirty="0"/>
              <a:t>For linear regression:</a:t>
            </a:r>
          </a:p>
          <a:p>
            <a:pPr lvl="1"/>
            <a:r>
              <a:rPr lang="en-US" dirty="0"/>
              <a:t>Independent events. </a:t>
            </a:r>
          </a:p>
          <a:p>
            <a:pPr lvl="1"/>
            <a:r>
              <a:rPr lang="en-US" dirty="0"/>
              <a:t>Linear relationship. </a:t>
            </a:r>
          </a:p>
          <a:p>
            <a:pPr lvl="1"/>
            <a:r>
              <a:rPr lang="en-US" dirty="0"/>
              <a:t>No multicollinearity (correlation of features – soon). </a:t>
            </a:r>
          </a:p>
          <a:p>
            <a:pPr lvl="1"/>
            <a:r>
              <a:rPr lang="en-US" dirty="0"/>
              <a:t>Homoscedasticity – variance of residuals is constant. </a:t>
            </a:r>
          </a:p>
          <a:p>
            <a:r>
              <a:rPr lang="en-US" dirty="0"/>
              <a:t>Bayes has others (independence of features, equal feature importance) and other areas where it is bad/good (e.g. no linear relationship assumption). </a:t>
            </a:r>
          </a:p>
        </p:txBody>
      </p:sp>
    </p:spTree>
    <p:extLst>
      <p:ext uri="{BB962C8B-B14F-4D97-AF65-F5344CB8AC3E}">
        <p14:creationId xmlns:p14="http://schemas.microsoft.com/office/powerpoint/2010/main" val="717416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0E69-7F46-68DC-B9A8-55F56693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Regression…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E6EF6-C362-4A45-FE29-6907A489A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69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3FDD7-7164-3D44-B4AF-1B7CD86E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Regression - Other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66A41-146A-E147-A72A-B35E0AEF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18446"/>
          </a:xfrm>
        </p:spPr>
        <p:txBody>
          <a:bodyPr>
            <a:normAutofit/>
          </a:bodyPr>
          <a:lstStyle/>
          <a:p>
            <a:r>
              <a:rPr lang="en-US" dirty="0"/>
              <a:t>Using LLS calculations is ok for one x, but impractical in reality. </a:t>
            </a:r>
          </a:p>
          <a:p>
            <a:r>
              <a:rPr lang="en-US" dirty="0"/>
              <a:t>Regression is performed by existing packages, such as </a:t>
            </a:r>
            <a:r>
              <a:rPr lang="en-US" dirty="0" err="1"/>
              <a:t>StatsModels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and </a:t>
            </a:r>
            <a:r>
              <a:rPr lang="en-US" dirty="0" err="1"/>
              <a:t>Scikitlearn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book uses </a:t>
            </a:r>
            <a:r>
              <a:rPr lang="en-US" dirty="0" err="1"/>
              <a:t>StatsModels</a:t>
            </a:r>
            <a:r>
              <a:rPr lang="en-US" dirty="0"/>
              <a:t> when multiple regression starts. </a:t>
            </a:r>
          </a:p>
          <a:p>
            <a:pPr lvl="1"/>
            <a:r>
              <a:rPr lang="en-US" dirty="0"/>
              <a:t>They all ultimately do the same thing. </a:t>
            </a:r>
          </a:p>
          <a:p>
            <a:r>
              <a:rPr lang="en-US" dirty="0"/>
              <a:t>We’ll use both </a:t>
            </a:r>
            <a:r>
              <a:rPr lang="en-US" dirty="0" err="1"/>
              <a:t>StatsModels</a:t>
            </a:r>
            <a:r>
              <a:rPr lang="en-US" dirty="0"/>
              <a:t> (only a little) and </a:t>
            </a:r>
            <a:r>
              <a:rPr lang="en-US" dirty="0" err="1"/>
              <a:t>Scikitlearn</a:t>
            </a:r>
            <a:r>
              <a:rPr lang="en-US" dirty="0"/>
              <a:t> (a lot):</a:t>
            </a:r>
          </a:p>
          <a:p>
            <a:pPr lvl="1"/>
            <a:r>
              <a:rPr lang="en-US" dirty="0" err="1"/>
              <a:t>Statsmodels</a:t>
            </a:r>
            <a:r>
              <a:rPr lang="en-US" dirty="0"/>
              <a:t> provide more stats data in the output, so we will use that sometimes.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scikitlearn</a:t>
            </a:r>
            <a:r>
              <a:rPr lang="en-US" dirty="0"/>
              <a:t> is much more relevant experience for ML stuff. </a:t>
            </a:r>
          </a:p>
          <a:p>
            <a:r>
              <a:rPr lang="en-US" dirty="0"/>
              <a:t>You need to be good with sklearn no matter what, if you’re going to not learn anything, the details of </a:t>
            </a:r>
            <a:r>
              <a:rPr lang="en-US" dirty="0" err="1"/>
              <a:t>statsmodels</a:t>
            </a:r>
            <a:r>
              <a:rPr lang="en-US" dirty="0"/>
              <a:t> is the choice to make. We just use it for some details. </a:t>
            </a:r>
          </a:p>
        </p:txBody>
      </p:sp>
    </p:spTree>
    <p:extLst>
      <p:ext uri="{BB962C8B-B14F-4D97-AF65-F5344CB8AC3E}">
        <p14:creationId xmlns:p14="http://schemas.microsoft.com/office/powerpoint/2010/main" val="2723228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5CA8-1CC9-B945-8B41-835F480E8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Shapes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47FEF-348A-D143-ACC2-9771A5E0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53754"/>
            <a:ext cx="5691188" cy="430574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One thing we need to pay attention to a bit more is the data structure and the shape. </a:t>
            </a:r>
          </a:p>
          <a:p>
            <a:pPr>
              <a:lnSpc>
                <a:spcPct val="110000"/>
              </a:lnSpc>
            </a:pPr>
            <a:r>
              <a:rPr lang="en-US" dirty="0"/>
              <a:t>Most things we’ve used take anything ‘</a:t>
            </a:r>
            <a:r>
              <a:rPr lang="en-US" dirty="0" err="1"/>
              <a:t>iterable</a:t>
            </a:r>
            <a:r>
              <a:rPr lang="en-US" dirty="0"/>
              <a:t>’ or anything that is list-like. </a:t>
            </a:r>
          </a:p>
          <a:p>
            <a:pPr>
              <a:lnSpc>
                <a:spcPct val="110000"/>
              </a:lnSpc>
            </a:pPr>
            <a:r>
              <a:rPr lang="en-US" dirty="0"/>
              <a:t>Often (but not always) in machine learning we need arrays, usually of a certain shape. </a:t>
            </a:r>
          </a:p>
          <a:p>
            <a:pPr>
              <a:lnSpc>
                <a:spcPct val="110000"/>
              </a:lnSpc>
            </a:pPr>
            <a:r>
              <a:rPr lang="en-US" dirty="0"/>
              <a:t>Some tangible differences are: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Use </a:t>
            </a:r>
            <a:r>
              <a:rPr lang="en-US" sz="2000" dirty="0" err="1"/>
              <a:t>np.array</a:t>
            </a:r>
            <a:r>
              <a:rPr lang="en-US" sz="2000" dirty="0"/>
              <a:t>() to create arrays of the data – usually one array for x(s), one for y.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Ensure the arrays are “vertical”, print it and/or use .shape to look.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.reshape(width, height) can reshape the arrays to what we need. </a:t>
            </a:r>
          </a:p>
        </p:txBody>
      </p:sp>
      <p:pic>
        <p:nvPicPr>
          <p:cNvPr id="3074" name="Picture 2" descr="Introducing Scikit-Learn | Python Data Science Handbook">
            <a:extLst>
              <a:ext uri="{FF2B5EF4-FFF2-40B4-BE49-F238E27FC236}">
                <a16:creationId xmlns:a16="http://schemas.microsoft.com/office/drawing/2014/main" id="{32EFC90F-41B9-0242-9A4A-AA0FF9752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1600396"/>
            <a:ext cx="5691189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9B8CFA-0710-047F-42C9-EBEB4D6B9864}"/>
              </a:ext>
            </a:extLst>
          </p:cNvPr>
          <p:cNvSpPr txBox="1"/>
          <p:nvPr/>
        </p:nvSpPr>
        <p:spPr>
          <a:xfrm>
            <a:off x="6591719" y="5394521"/>
            <a:ext cx="5193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a 2D array that is 1 column wide and a 1D array are two different things…</a:t>
            </a:r>
          </a:p>
        </p:txBody>
      </p:sp>
    </p:spTree>
    <p:extLst>
      <p:ext uri="{BB962C8B-B14F-4D97-AF65-F5344CB8AC3E}">
        <p14:creationId xmlns:p14="http://schemas.microsoft.com/office/powerpoint/2010/main" val="519175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8AB2B-8325-23DD-372E-361893A4D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6ED26-EAEC-BA20-4928-E54E1F904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As we start to do real machine learning, we’ll need to manage data in specific shapes. </a:t>
            </a:r>
          </a:p>
          <a:p>
            <a:pPr lvl="1"/>
            <a:r>
              <a:rPr lang="en-US" dirty="0"/>
              <a:t>This is generally not too hard (libraries try to make it easy), but is critical. </a:t>
            </a:r>
          </a:p>
          <a:p>
            <a:r>
              <a:rPr lang="en-US" dirty="0"/>
              <a:t>Ultimately, we’ll need to provide data to a model in specific shapes. </a:t>
            </a:r>
          </a:p>
          <a:p>
            <a:pPr lvl="1"/>
            <a:r>
              <a:rPr lang="en-US" dirty="0"/>
              <a:t>Our job is basically just to steer data into the ML algorithm and get the results. </a:t>
            </a:r>
          </a:p>
          <a:p>
            <a:pPr lvl="1"/>
            <a:r>
              <a:rPr lang="en-US" dirty="0"/>
              <a:t>We’ll semi frequently need to manipulate those shapes as we process data. </a:t>
            </a:r>
          </a:p>
          <a:p>
            <a:pPr lvl="1"/>
            <a:r>
              <a:rPr lang="en-US" dirty="0"/>
              <a:t>With different data types (time series, image, text…) we need to construct the shapes. </a:t>
            </a:r>
          </a:p>
          <a:p>
            <a:pPr lvl="1"/>
            <a:r>
              <a:rPr lang="en-US" dirty="0"/>
              <a:t>For some things this can be fairly complex, but we start simple. </a:t>
            </a:r>
          </a:p>
          <a:p>
            <a:r>
              <a:rPr lang="en-US" dirty="0"/>
              <a:t>Start to consciously think about dimensions and shape of data as we use it. </a:t>
            </a:r>
          </a:p>
          <a:p>
            <a:pPr lvl="1"/>
            <a:r>
              <a:rPr lang="en-US" dirty="0"/>
              <a:t>In sklearn, most things we use can process array, </a:t>
            </a:r>
            <a:r>
              <a:rPr lang="en-US" dirty="0" err="1"/>
              <a:t>df</a:t>
            </a:r>
            <a:r>
              <a:rPr lang="en-US" dirty="0"/>
              <a:t>, series, list,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It’ll usually work ok (with sample data) unless you do something weird (usually).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13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A03E-21CB-C7A7-F4D7-221FC84F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15163-4404-7513-E851-AF880BAA5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model is trained by letting it calculate parameters from old data. </a:t>
            </a:r>
          </a:p>
          <a:p>
            <a:pPr lvl="1"/>
            <a:r>
              <a:rPr lang="en-US" dirty="0"/>
              <a:t>These parameters are the ‘smarts’ of the model. </a:t>
            </a:r>
          </a:p>
          <a:p>
            <a:r>
              <a:rPr lang="en-US" dirty="0"/>
              <a:t>Making predictions requires:</a:t>
            </a:r>
          </a:p>
          <a:p>
            <a:pPr lvl="1"/>
            <a:r>
              <a:rPr lang="en-US" dirty="0"/>
              <a:t>Parameters. </a:t>
            </a:r>
          </a:p>
          <a:p>
            <a:pPr lvl="1"/>
            <a:r>
              <a:rPr lang="en-US" dirty="0"/>
              <a:t>New input data. </a:t>
            </a:r>
          </a:p>
          <a:p>
            <a:pPr lvl="1"/>
            <a:r>
              <a:rPr lang="en-US" dirty="0"/>
              <a:t>Formula/algorithm. </a:t>
            </a:r>
          </a:p>
          <a:p>
            <a:r>
              <a:rPr lang="en-US" dirty="0"/>
              <a:t>In regression, we can examine the meaning of a prediction. </a:t>
            </a:r>
          </a:p>
          <a:p>
            <a:pPr lvl="1"/>
            <a:r>
              <a:rPr lang="en-US" dirty="0"/>
              <a:t>M = change in y per change in x. </a:t>
            </a:r>
          </a:p>
          <a:p>
            <a:pPr lvl="1"/>
            <a:r>
              <a:rPr lang="en-US" dirty="0"/>
              <a:t>B = starting point at x=0. </a:t>
            </a:r>
          </a:p>
        </p:txBody>
      </p:sp>
    </p:spTree>
    <p:extLst>
      <p:ext uri="{BB962C8B-B14F-4D97-AF65-F5344CB8AC3E}">
        <p14:creationId xmlns:p14="http://schemas.microsoft.com/office/powerpoint/2010/main" val="2402582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C752E-2891-FAAE-E236-3EDE1F7E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7788-B31E-DD49-0A5F-95BC81A84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07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5CF6-8B41-ED49-BBCA-960CCDE6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57ECC-D5E7-8742-82DE-6541E34B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We can train our models to predict Y, given X.</a:t>
            </a:r>
          </a:p>
          <a:p>
            <a:pPr lvl="1"/>
            <a:r>
              <a:rPr lang="en-US" dirty="0"/>
              <a:t>Models always predict an output given an input, the how can vary widely. </a:t>
            </a:r>
          </a:p>
          <a:p>
            <a:pPr lvl="1"/>
            <a:r>
              <a:rPr lang="en-US" dirty="0"/>
              <a:t>In this case, the model is a simple algebra equation, y=</a:t>
            </a:r>
            <a:r>
              <a:rPr lang="en-US" dirty="0" err="1"/>
              <a:t>mx+b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model is a simplification of reality – will someone pay, will customer come, will it rain…</a:t>
            </a:r>
          </a:p>
          <a:p>
            <a:pPr lvl="1"/>
            <a:r>
              <a:rPr lang="en-US" dirty="0"/>
              <a:t>Our steps are the same no matter model type we use (LR, NN, Tree…), internal math differs.</a:t>
            </a:r>
          </a:p>
          <a:p>
            <a:r>
              <a:rPr lang="en-US" dirty="0"/>
              <a:t>The residuals give us information on how good our model is. </a:t>
            </a:r>
          </a:p>
          <a:p>
            <a:pPr lvl="1"/>
            <a:r>
              <a:rPr lang="en-US" dirty="0"/>
              <a:t>Big misses, bad model. Small misses, good model. </a:t>
            </a:r>
          </a:p>
          <a:p>
            <a:pPr lvl="1"/>
            <a:r>
              <a:rPr lang="en-US" dirty="0"/>
              <a:t>We can compare different types of models to choose the most accurate. </a:t>
            </a:r>
          </a:p>
          <a:p>
            <a:r>
              <a:rPr lang="en-US" dirty="0"/>
              <a:t>Accuracy and reliability of the predictions…. Next time. </a:t>
            </a:r>
          </a:p>
          <a:p>
            <a:pPr lvl="1"/>
            <a:r>
              <a:rPr lang="en-US" dirty="0"/>
              <a:t>Models made differently can be compared and evaluated.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88345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4290</TotalTime>
  <Words>3108</Words>
  <Application>Microsoft Macintosh PowerPoint</Application>
  <PresentationFormat>Widescreen</PresentationFormat>
  <Paragraphs>275</Paragraphs>
  <Slides>36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Gill Sans MT</vt:lpstr>
      <vt:lpstr>Gallery</vt:lpstr>
      <vt:lpstr>Housekeeping</vt:lpstr>
      <vt:lpstr>Other Logistics…</vt:lpstr>
      <vt:lpstr>Linear Least Squares, Regression, and More Fun Stuff!!! Part 1. </vt:lpstr>
      <vt:lpstr>Draw a line of best fit</vt:lpstr>
      <vt:lpstr>Linear Regression and Predictive Models</vt:lpstr>
      <vt:lpstr>Models</vt:lpstr>
      <vt:lpstr>Poverty vs. HS graduate rate</vt:lpstr>
      <vt:lpstr>Poverty vs. HS graduate rate</vt:lpstr>
      <vt:lpstr>Poverty vs. HS graduate rate</vt:lpstr>
      <vt:lpstr>Residuals</vt:lpstr>
      <vt:lpstr>Residuals (cont.)</vt:lpstr>
      <vt:lpstr>PowerPoint Presentation</vt:lpstr>
      <vt:lpstr>Aggregating Residuals and Loss</vt:lpstr>
      <vt:lpstr>So…</vt:lpstr>
      <vt:lpstr>Linear Least Squares</vt:lpstr>
      <vt:lpstr>In general…</vt:lpstr>
      <vt:lpstr>How to find the minimum of the residuals squared?</vt:lpstr>
      <vt:lpstr>Note for Context</vt:lpstr>
      <vt:lpstr>Poverty vs. HS graduate rate</vt:lpstr>
      <vt:lpstr>That’s a model!</vt:lpstr>
      <vt:lpstr>Model Meanings</vt:lpstr>
      <vt:lpstr>Regression and Bayes</vt:lpstr>
      <vt:lpstr>Tuning and Improving Models</vt:lpstr>
      <vt:lpstr>Remember the Residual…</vt:lpstr>
      <vt:lpstr>Residual analysis</vt:lpstr>
      <vt:lpstr>Why Random?</vt:lpstr>
      <vt:lpstr>And Normal</vt:lpstr>
      <vt:lpstr>Basic idea of Residual Based Tuning</vt:lpstr>
      <vt:lpstr>Model Fit and Assumptions</vt:lpstr>
      <vt:lpstr>Regression… In Practice</vt:lpstr>
      <vt:lpstr>Doing Regression - Other Packages</vt:lpstr>
      <vt:lpstr>Shapes and Arrays</vt:lpstr>
      <vt:lpstr>Processing Data</vt:lpstr>
      <vt:lpstr>Parameters and Learning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Least Squares, Regression, and More Fun Stuff!!! Part 1. </dc:title>
  <dc:creator>Akeem Semper</dc:creator>
  <cp:lastModifiedBy>Akeem Semper</cp:lastModifiedBy>
  <cp:revision>43</cp:revision>
  <dcterms:created xsi:type="dcterms:W3CDTF">2021-11-07T18:05:44Z</dcterms:created>
  <dcterms:modified xsi:type="dcterms:W3CDTF">2026-10-27T15:41:14Z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2025-11-13T19:04:02Z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b5d36758-5f76-4003-8f16-9af6bbbf9b81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
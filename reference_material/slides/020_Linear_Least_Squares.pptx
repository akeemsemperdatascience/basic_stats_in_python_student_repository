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sldIdLst>
    <p:sldId id="282" r:id="rId2"/>
    <p:sldId id="256" r:id="rId3"/>
    <p:sldId id="257" r:id="rId4"/>
    <p:sldId id="283" r:id="rId5"/>
    <p:sldId id="259" r:id="rId6"/>
    <p:sldId id="264" r:id="rId7"/>
    <p:sldId id="273" r:id="rId8"/>
    <p:sldId id="269" r:id="rId9"/>
    <p:sldId id="272" r:id="rId10"/>
    <p:sldId id="276" r:id="rId11"/>
    <p:sldId id="274" r:id="rId12"/>
    <p:sldId id="277" r:id="rId13"/>
    <p:sldId id="284" r:id="rId14"/>
    <p:sldId id="265" r:id="rId15"/>
    <p:sldId id="286" r:id="rId16"/>
    <p:sldId id="275" r:id="rId17"/>
    <p:sldId id="278" r:id="rId18"/>
    <p:sldId id="279" r:id="rId19"/>
    <p:sldId id="280" r:id="rId20"/>
    <p:sldId id="285" r:id="rId21"/>
    <p:sldId id="281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6C3B61-D4C9-7049-B803-B1B3CD0005CF}" v="1" dt="2021-11-07T18:07:03.0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76"/>
    <p:restoredTop sz="95940"/>
  </p:normalViewPr>
  <p:slideViewPr>
    <p:cSldViewPr snapToGrid="0" snapToObjects="1">
      <p:cViewPr varScale="1">
        <p:scale>
          <a:sx n="127" d="100"/>
          <a:sy n="127" d="100"/>
        </p:scale>
        <p:origin x="5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5333B3-BBF2-434F-9844-D2FF01DBD600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B87732-669B-3D4B-BE95-748848CC6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181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3047626b_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3047626b_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b5d909973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b5d909973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b5d909973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b5d909973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455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5fa332d673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5fa332d673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5fa332d673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5fa332d673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5fa332d67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5fa332d67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205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322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333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6727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818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1640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957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16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8703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3233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977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49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19100" rtl="0"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marL="914400" lvl="1" indent="-381000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55461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3204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C9BD-1D38-3530-7185-4555E00A8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16DE0-8C2E-77BB-F05D-BFD0463AB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9284"/>
            <a:ext cx="9603275" cy="4124197"/>
          </a:xfrm>
        </p:spPr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Real Machine Mother F*</a:t>
            </a:r>
            <a:r>
              <a:rPr lang="en-US" dirty="0" err="1"/>
              <a:t>cking</a:t>
            </a:r>
            <a:r>
              <a:rPr lang="en-US" dirty="0"/>
              <a:t> Learning! (020 and maybe 021)</a:t>
            </a:r>
          </a:p>
          <a:p>
            <a:pPr lvl="1"/>
            <a:r>
              <a:rPr lang="en-US" dirty="0"/>
              <a:t>Linear least squares -&gt; linear regression. </a:t>
            </a:r>
          </a:p>
          <a:p>
            <a:pPr lvl="1"/>
            <a:r>
              <a:rPr lang="en-US" dirty="0"/>
              <a:t>Intro to </a:t>
            </a:r>
            <a:r>
              <a:rPr lang="en-US" dirty="0" err="1"/>
              <a:t>sklearn</a:t>
            </a:r>
            <a:r>
              <a:rPr lang="en-US" dirty="0"/>
              <a:t> regression (and </a:t>
            </a:r>
            <a:r>
              <a:rPr lang="en-US" dirty="0" err="1"/>
              <a:t>statsmodels</a:t>
            </a:r>
            <a:r>
              <a:rPr lang="en-US" dirty="0"/>
              <a:t> regression).</a:t>
            </a:r>
          </a:p>
          <a:p>
            <a:pPr lvl="2"/>
            <a:r>
              <a:rPr lang="en-US" dirty="0"/>
              <a:t>The processes using the </a:t>
            </a:r>
            <a:r>
              <a:rPr lang="en-US" dirty="0" err="1"/>
              <a:t>sklearn</a:t>
            </a:r>
            <a:r>
              <a:rPr lang="en-US" dirty="0"/>
              <a:t> stuff carry through the ML stuff. </a:t>
            </a:r>
          </a:p>
          <a:p>
            <a:pPr lvl="1"/>
            <a:r>
              <a:rPr lang="en-US" dirty="0"/>
              <a:t>Linear regression error calculations (depending on time). </a:t>
            </a:r>
          </a:p>
          <a:p>
            <a:r>
              <a:rPr lang="en-US" dirty="0"/>
              <a:t>Much of the stuff we’ll do over the next couple of weeks is the foundation for ML. </a:t>
            </a:r>
          </a:p>
          <a:p>
            <a:pPr lvl="1"/>
            <a:r>
              <a:rPr lang="en-US" dirty="0"/>
              <a:t>If the sklearn stuff especially doesn’t make sense, please ask. We use it non-stop.</a:t>
            </a:r>
          </a:p>
        </p:txBody>
      </p:sp>
    </p:spTree>
    <p:extLst>
      <p:ext uri="{BB962C8B-B14F-4D97-AF65-F5344CB8AC3E}">
        <p14:creationId xmlns:p14="http://schemas.microsoft.com/office/powerpoint/2010/main" val="372611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C86F8-E267-0D46-B219-0ADCF4337B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Linear Least Squares, Regression, and More Fun Stuff!!! Part 1.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BA7666-BF3D-1449-A59F-D3BBC097A7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79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A5A1A-326F-8D46-B459-7A1D8843F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 and Predictive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076FA-E2FC-E243-9C77-DEF990E546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people have done linear regression before – it is making a line of best fit. </a:t>
            </a:r>
          </a:p>
          <a:p>
            <a:pPr lvl="1"/>
            <a:r>
              <a:rPr lang="en-US" dirty="0"/>
              <a:t>Result – y = m*x + b line. </a:t>
            </a:r>
          </a:p>
          <a:p>
            <a:pPr lvl="1"/>
            <a:r>
              <a:rPr lang="en-US" dirty="0"/>
              <a:t>M = slope, b = y intercept. </a:t>
            </a:r>
          </a:p>
          <a:p>
            <a:r>
              <a:rPr lang="en-US" b="1" dirty="0"/>
              <a:t>This process is also a simple predictive model – we provide X and get a prediction for Y. </a:t>
            </a:r>
          </a:p>
          <a:p>
            <a:r>
              <a:rPr lang="en-US" dirty="0"/>
              <a:t>The “regression calculation” uses the training data to “learn” how to generate Y from X.</a:t>
            </a:r>
          </a:p>
          <a:p>
            <a:pPr lvl="1"/>
            <a:r>
              <a:rPr lang="en-US" dirty="0"/>
              <a:t>That’s the machine learning bit. </a:t>
            </a:r>
          </a:p>
          <a:p>
            <a:r>
              <a:rPr lang="en-US" dirty="0"/>
              <a:t>The process of creating a regression is almost the same as other models, we’ll do later. </a:t>
            </a:r>
          </a:p>
        </p:txBody>
      </p:sp>
    </p:spTree>
    <p:extLst>
      <p:ext uri="{BB962C8B-B14F-4D97-AF65-F5344CB8AC3E}">
        <p14:creationId xmlns:p14="http://schemas.microsoft.com/office/powerpoint/2010/main" val="386707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1714D-69CA-B253-DE74-A5CA82D4C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8D3FC-2B56-D6C1-F1AE-37255DD16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1853754"/>
            <a:ext cx="7799476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Models are a mathematical simplification of some real thing. </a:t>
            </a:r>
          </a:p>
          <a:p>
            <a:pPr lvl="1"/>
            <a:r>
              <a:rPr lang="en-US" dirty="0"/>
              <a:t>E.g. a </a:t>
            </a:r>
            <a:r>
              <a:rPr lang="en-US" dirty="0" err="1"/>
              <a:t>poisson</a:t>
            </a:r>
            <a:r>
              <a:rPr lang="en-US" dirty="0"/>
              <a:t> distribution is a model of goals in hockey games.  </a:t>
            </a:r>
          </a:p>
          <a:p>
            <a:r>
              <a:rPr lang="en-US" dirty="0"/>
              <a:t>In predictive analytics models translate inputs to output(s). </a:t>
            </a:r>
          </a:p>
          <a:p>
            <a:pPr lvl="1"/>
            <a:r>
              <a:rPr lang="en-US" dirty="0"/>
              <a:t>E.g. a model can model a “loan decision” – details in, approval out. </a:t>
            </a:r>
          </a:p>
          <a:p>
            <a:pPr lvl="1"/>
            <a:r>
              <a:rPr lang="en-US" dirty="0"/>
              <a:t>This model is a simplification of reality, “will this person pay their loan”. </a:t>
            </a:r>
          </a:p>
          <a:p>
            <a:r>
              <a:rPr lang="en-US" dirty="0"/>
              <a:t>We can make many different models that can do this, quality varies... </a:t>
            </a:r>
          </a:p>
          <a:p>
            <a:pPr lvl="1"/>
            <a:r>
              <a:rPr lang="en-US" dirty="0"/>
              <a:t>They all do the same thing, but work differently internally. </a:t>
            </a:r>
          </a:p>
          <a:p>
            <a:pPr lvl="1"/>
            <a:r>
              <a:rPr lang="en-US" dirty="0"/>
              <a:t>Regression, neural networks, SVMs, trees, can all make the ‘same’ model.</a:t>
            </a:r>
          </a:p>
          <a:p>
            <a:r>
              <a:rPr lang="en-US" dirty="0"/>
              <a:t>We build the model using old (training) data, then use it – 2 step. </a:t>
            </a:r>
          </a:p>
          <a:p>
            <a:pPr lvl="1"/>
            <a:r>
              <a:rPr lang="en-US" dirty="0"/>
              <a:t>We ‘train’ the model, by doing the math to figure out the params (m, b).</a:t>
            </a:r>
          </a:p>
        </p:txBody>
      </p:sp>
      <p:pic>
        <p:nvPicPr>
          <p:cNvPr id="1026" name="Picture 2" descr="Explaining a Black-box Using Deep Variational Information Bottleneck  Approach – Machine Learning Blog | ML@CMU | Carnegie Mellon University">
            <a:extLst>
              <a:ext uri="{FF2B5EF4-FFF2-40B4-BE49-F238E27FC236}">
                <a16:creationId xmlns:a16="http://schemas.microsoft.com/office/drawing/2014/main" id="{A74DEF8C-8CCC-A842-CB50-9315AA265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200" y="2211603"/>
            <a:ext cx="4241800" cy="191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42130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65" name="Google Shape;65;p18"/>
          <p:cNvSpPr txBox="1">
            <a:spLocks noGrp="1"/>
          </p:cNvSpPr>
          <p:nvPr>
            <p:ph idx="1"/>
          </p:nvPr>
        </p:nvSpPr>
        <p:spPr>
          <a:xfrm>
            <a:off x="1451579" y="2015732"/>
            <a:ext cx="5289859" cy="345061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 dirty="0"/>
              <a:t>The </a:t>
            </a:r>
            <a:r>
              <a:rPr lang="en" sz="2200" i="1" dirty="0">
                <a:solidFill>
                  <a:schemeClr val="accent1"/>
                </a:solidFill>
              </a:rPr>
              <a:t>scatterplot</a:t>
            </a:r>
            <a:r>
              <a:rPr lang="en" sz="2200" i="1" dirty="0"/>
              <a:t> </a:t>
            </a:r>
            <a:r>
              <a:rPr lang="en" sz="2200" dirty="0"/>
              <a:t>below shows the relationship between HS graduate rate in all 50 US states and DC and the percent of residents who live below the poverty line</a:t>
            </a:r>
            <a:br>
              <a:rPr lang="en" sz="2200" dirty="0"/>
            </a:br>
            <a:r>
              <a:rPr lang="en" sz="2200" dirty="0"/>
              <a:t>(income below $23,050 for a family of 4 in 2012).</a:t>
            </a:r>
            <a:endParaRPr sz="2200" dirty="0"/>
          </a:p>
        </p:txBody>
      </p:sp>
      <p:pic>
        <p:nvPicPr>
          <p:cNvPr id="66" name="Google Shape;6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1438" y="1957820"/>
            <a:ext cx="4857750" cy="371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03" name="Google Shape;103;p23"/>
          <p:cNvSpPr txBox="1">
            <a:spLocks noGrp="1"/>
          </p:cNvSpPr>
          <p:nvPr>
            <p:ph idx="1"/>
          </p:nvPr>
        </p:nvSpPr>
        <p:spPr>
          <a:xfrm>
            <a:off x="6528054" y="2015732"/>
            <a:ext cx="4526800" cy="345061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" sz="2200" dirty="0">
                <a:solidFill>
                  <a:schemeClr val="accent1"/>
                </a:solidFill>
              </a:rPr>
              <a:t>Response variable? (Y, output)</a:t>
            </a:r>
            <a:endParaRPr sz="2200" dirty="0">
              <a:solidFill>
                <a:schemeClr val="accent1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" sz="2200" dirty="0"/>
              <a:t> </a:t>
            </a:r>
            <a:r>
              <a:rPr lang="en" sz="2200" i="1" dirty="0"/>
              <a:t>% in poverty</a:t>
            </a:r>
            <a:endParaRPr sz="2200" i="1" dirty="0"/>
          </a:p>
          <a:p>
            <a:pPr marL="0" indent="0">
              <a:lnSpc>
                <a:spcPct val="115000"/>
              </a:lnSpc>
              <a:spcBef>
                <a:spcPts val="1000"/>
              </a:spcBef>
              <a:buClr>
                <a:schemeClr val="dk1"/>
              </a:buClr>
              <a:buSzPts val="1100"/>
              <a:buNone/>
            </a:pPr>
            <a:r>
              <a:rPr lang="en" sz="2200" dirty="0">
                <a:solidFill>
                  <a:schemeClr val="accent1"/>
                </a:solidFill>
              </a:rPr>
              <a:t>Explanatory variable? (X, input)</a:t>
            </a:r>
            <a:endParaRPr sz="2200" dirty="0">
              <a:solidFill>
                <a:schemeClr val="accent1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" sz="2200" dirty="0"/>
              <a:t> </a:t>
            </a:r>
            <a:r>
              <a:rPr lang="en" sz="2200" i="1" dirty="0"/>
              <a:t>% HS grad</a:t>
            </a:r>
            <a:endParaRPr sz="2200" i="1" dirty="0"/>
          </a:p>
          <a:p>
            <a:pPr marL="0" indent="0">
              <a:lnSpc>
                <a:spcPct val="115000"/>
              </a:lnSpc>
              <a:spcBef>
                <a:spcPts val="1000"/>
              </a:spcBef>
              <a:buClr>
                <a:schemeClr val="dk1"/>
              </a:buClr>
              <a:buSzPts val="1100"/>
              <a:buNone/>
            </a:pPr>
            <a:r>
              <a:rPr lang="en" sz="2200" dirty="0">
                <a:solidFill>
                  <a:schemeClr val="accent1"/>
                </a:solidFill>
              </a:rPr>
              <a:t>Relationship?</a:t>
            </a:r>
            <a:endParaRPr sz="2200" dirty="0">
              <a:solidFill>
                <a:schemeClr val="accent1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 i="1" dirty="0"/>
              <a:t> linear, negative,</a:t>
            </a:r>
            <a:br>
              <a:rPr lang="en" sz="2200" i="1" dirty="0"/>
            </a:br>
            <a:r>
              <a:rPr lang="en" sz="2200" i="1" dirty="0"/>
              <a:t> moderately strong</a:t>
            </a:r>
            <a:endParaRPr sz="2200" i="1" dirty="0"/>
          </a:p>
        </p:txBody>
      </p:sp>
      <p:pic>
        <p:nvPicPr>
          <p:cNvPr id="106" name="Google Shape;10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0304" y="2015732"/>
            <a:ext cx="4857750" cy="371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05" name="Google Shape;105;p23"/>
          <p:cNvSpPr txBox="1">
            <a:spLocks noGrp="1"/>
          </p:cNvSpPr>
          <p:nvPr>
            <p:ph idx="1"/>
          </p:nvPr>
        </p:nvSpPr>
        <p:spPr>
          <a:xfrm>
            <a:off x="890017" y="1853754"/>
            <a:ext cx="6022110" cy="4199727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We could draw a line of best fit… but how do we know exactly where it goes? </a:t>
            </a:r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-CA" sz="2200" dirty="0"/>
              <a:t>Best fit line is a model of the relationship of HS graduation to poverty. </a:t>
            </a:r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The “more like” the data the model is, t</a:t>
            </a:r>
            <a:r>
              <a:rPr lang="en-CA" sz="2200" dirty="0"/>
              <a:t>he</a:t>
            </a:r>
            <a:r>
              <a:rPr lang="en" sz="2200" dirty="0"/>
              <a:t> better it will be. How do we judge ”more like”? </a:t>
            </a:r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We need a process to ‘learn’ slope and intercept (the two things that make the model). </a:t>
            </a:r>
          </a:p>
          <a:p>
            <a:pPr marL="800100" lvl="1" indent="-342900">
              <a:lnSpc>
                <a:spcPct val="115000"/>
              </a:lnSpc>
              <a:spcBef>
                <a:spcPts val="0"/>
              </a:spcBef>
            </a:pPr>
            <a:r>
              <a:rPr lang="en" sz="2000" dirty="0"/>
              <a:t>i.e. y=</a:t>
            </a:r>
            <a:r>
              <a:rPr lang="en" sz="2000" dirty="0" err="1"/>
              <a:t>mx+b</a:t>
            </a:r>
            <a:r>
              <a:rPr lang="en" sz="2000" dirty="0"/>
              <a:t> is a model, just need m and b. </a:t>
            </a:r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lang="en" sz="22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FA7DD03-D4F4-BC48-B916-6E47A35E709A}"/>
              </a:ext>
            </a:extLst>
          </p:cNvPr>
          <p:cNvGrpSpPr/>
          <p:nvPr/>
        </p:nvGrpSpPr>
        <p:grpSpPr>
          <a:xfrm>
            <a:off x="6912126" y="2015732"/>
            <a:ext cx="4857750" cy="3714750"/>
            <a:chOff x="1917425" y="2992750"/>
            <a:chExt cx="4857750" cy="3714750"/>
          </a:xfrm>
        </p:grpSpPr>
        <p:pic>
          <p:nvPicPr>
            <p:cNvPr id="106" name="Google Shape;106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917425" y="2992750"/>
              <a:ext cx="4857750" cy="37147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41D42CB-D052-4142-A180-B7244E44F15A}"/>
                </a:ext>
              </a:extLst>
            </p:cNvPr>
            <p:cNvCxnSpPr/>
            <p:nvPr/>
          </p:nvCxnSpPr>
          <p:spPr>
            <a:xfrm>
              <a:off x="2943922" y="3241375"/>
              <a:ext cx="3534937" cy="23108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5916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Residuals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40" name="Google Shape;140;p28"/>
          <p:cNvSpPr txBox="1">
            <a:spLocks noGrp="1"/>
          </p:cNvSpPr>
          <p:nvPr>
            <p:ph idx="1"/>
          </p:nvPr>
        </p:nvSpPr>
        <p:spPr>
          <a:xfrm>
            <a:off x="0" y="2015732"/>
            <a:ext cx="7644383" cy="415342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b="1" dirty="0"/>
              <a:t>Residuals</a:t>
            </a:r>
            <a:r>
              <a:rPr lang="en" sz="2200" dirty="0"/>
              <a:t> are the leftovers from the model fit.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Data = Fit + Residual</a:t>
            </a:r>
          </a:p>
          <a:p>
            <a:pPr marL="342900" indent="-342900">
              <a:lnSpc>
                <a:spcPct val="115000"/>
              </a:lnSpc>
            </a:pPr>
            <a:r>
              <a:rPr lang="en" sz="2200" dirty="0"/>
              <a:t>Larger residuals means the model differs from the data. </a:t>
            </a:r>
          </a:p>
          <a:p>
            <a:pPr marL="342900" indent="-342900">
              <a:lnSpc>
                <a:spcPct val="115000"/>
              </a:lnSpc>
            </a:pPr>
            <a:r>
              <a:rPr lang="en" sz="2200" dirty="0"/>
              <a:t>Residuals can be totaled then compared. </a:t>
            </a:r>
          </a:p>
          <a:p>
            <a:pPr marL="342900" indent="-342900">
              <a:lnSpc>
                <a:spcPct val="115000"/>
              </a:lnSpc>
            </a:pPr>
            <a:r>
              <a:rPr lang="en" sz="2200" dirty="0"/>
              <a:t>We can also phrase it as t</a:t>
            </a:r>
            <a:r>
              <a:rPr lang="en-CA" sz="2200" dirty="0"/>
              <a:t>he</a:t>
            </a:r>
            <a:r>
              <a:rPr lang="en" sz="2200" dirty="0"/>
              <a:t> variance in y that isn’t explained by the model. 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Model explains part of why Y values are what they are. 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Residuals is the amount of why that the model doesn’t capture. </a:t>
            </a:r>
          </a:p>
          <a:p>
            <a:pPr marL="342900" indent="-342900">
              <a:lnSpc>
                <a:spcPct val="115000"/>
              </a:lnSpc>
            </a:pP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  <a:buNone/>
            </a:pP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</p:txBody>
      </p:sp>
      <p:pic>
        <p:nvPicPr>
          <p:cNvPr id="141" name="Google Shape;14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44384" y="1853755"/>
            <a:ext cx="4547616" cy="38642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1"/>
          <p:cNvSpPr txBox="1">
            <a:spLocks noGrp="1"/>
          </p:cNvSpPr>
          <p:nvPr>
            <p:ph type="title"/>
          </p:nvPr>
        </p:nvSpPr>
        <p:spPr>
          <a:xfrm>
            <a:off x="1981200" y="-12"/>
            <a:ext cx="8229600" cy="1143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Residuals (cont.)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64" name="Google Shape;164;p31"/>
          <p:cNvSpPr txBox="1">
            <a:spLocks noGrp="1"/>
          </p:cNvSpPr>
          <p:nvPr>
            <p:ph type="body" idx="1"/>
          </p:nvPr>
        </p:nvSpPr>
        <p:spPr>
          <a:xfrm flipH="1">
            <a:off x="1981075" y="1305775"/>
            <a:ext cx="7822200" cy="1058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/>
              <a:t>Residual is the difference between the observed (y</a:t>
            </a:r>
            <a:r>
              <a:rPr lang="en" sz="2200" baseline="-25000"/>
              <a:t>i</a:t>
            </a:r>
            <a:r>
              <a:rPr lang="en" sz="2200"/>
              <a:t>) and predicted ŷ</a:t>
            </a:r>
            <a:r>
              <a:rPr lang="en" sz="2200" baseline="-25000"/>
              <a:t>i</a:t>
            </a:r>
            <a:r>
              <a:rPr lang="en" sz="2200"/>
              <a:t>.</a:t>
            </a:r>
            <a:endParaRPr sz="2200"/>
          </a:p>
        </p:txBody>
      </p:sp>
      <p:pic>
        <p:nvPicPr>
          <p:cNvPr id="165" name="Google Shape;16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49226" y="2081475"/>
            <a:ext cx="1806199" cy="5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1200" y="2624715"/>
            <a:ext cx="4560998" cy="354932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1"/>
          <p:cNvSpPr txBox="1">
            <a:spLocks noGrp="1"/>
          </p:cNvSpPr>
          <p:nvPr>
            <p:ph type="body" idx="1"/>
          </p:nvPr>
        </p:nvSpPr>
        <p:spPr>
          <a:xfrm flipH="1">
            <a:off x="7082050" y="2793025"/>
            <a:ext cx="2774700" cy="3140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/>
              <a:t>% living in poverty in DC is 5.44% more than predicted.</a:t>
            </a:r>
            <a:endParaRPr sz="220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/>
              <a:t>% living in poverty in RI is 4.16% less than predicted.</a:t>
            </a:r>
            <a:endParaRPr sz="220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CC1A-373D-584A-BF07-0B34FFF3C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C867F-F364-0A4C-A103-DE689EC6D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8AF8CFA-21D4-284B-A979-6B9D9CA1F1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0" y="374650"/>
            <a:ext cx="12065000" cy="610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303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77D06-4713-E84F-8E72-AEB2C4E7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Least Squares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E09E0-766C-6C47-8DAE-98FAF64B0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line can be defined by the intercept and slope.</a:t>
            </a:r>
          </a:p>
          <a:p>
            <a:r>
              <a:rPr lang="en-US" dirty="0"/>
              <a:t>We generate a line that minimizes the square of the residuals. 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Small differences matter less than big ones.</a:t>
            </a:r>
          </a:p>
          <a:p>
            <a:pPr lvl="1"/>
            <a:r>
              <a:rPr lang="en-US" dirty="0"/>
              <a:t>Squaring deals with negatives. </a:t>
            </a:r>
          </a:p>
          <a:p>
            <a:pPr lvl="1"/>
            <a:r>
              <a:rPr lang="en-US" dirty="0"/>
              <a:t>Computationally efficient. (Mattered more in the past)</a:t>
            </a:r>
          </a:p>
          <a:p>
            <a:pPr lvl="1"/>
            <a:r>
              <a:rPr lang="en-US" dirty="0"/>
              <a:t>Is (potentially) a good estimator for slope and intercept. </a:t>
            </a:r>
          </a:p>
        </p:txBody>
      </p:sp>
    </p:spTree>
    <p:extLst>
      <p:ext uri="{BB962C8B-B14F-4D97-AF65-F5344CB8AC3E}">
        <p14:creationId xmlns:p14="http://schemas.microsoft.com/office/powerpoint/2010/main" val="2081442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EEB5F-8E89-9D43-B085-8CC33AFDB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How to find the minimum of the residuals squared?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166B4-A8EA-1646-9636-F38C78C20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78" y="1853754"/>
            <a:ext cx="5837933" cy="4290568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This is the “learning” part of machine learning. 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This step is the main thing that differs between other models – the math changes. 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We can use:</a:t>
            </a:r>
          </a:p>
          <a:p>
            <a:pPr lvl="1">
              <a:lnSpc>
                <a:spcPct val="110000"/>
              </a:lnSpc>
            </a:pPr>
            <a:r>
              <a:rPr lang="en-US" sz="1600" dirty="0" err="1"/>
              <a:t>LeastSquares</a:t>
            </a:r>
            <a:r>
              <a:rPr lang="en-US" sz="1600" dirty="0"/>
              <a:t> from </a:t>
            </a:r>
            <a:r>
              <a:rPr lang="en-US" sz="1600" dirty="0" err="1"/>
              <a:t>thinkplot</a:t>
            </a:r>
            <a:r>
              <a:rPr lang="en-US" sz="1600" dirty="0"/>
              <a:t>.</a:t>
            </a:r>
          </a:p>
          <a:p>
            <a:pPr lvl="1">
              <a:lnSpc>
                <a:spcPct val="110000"/>
              </a:lnSpc>
            </a:pPr>
            <a:r>
              <a:rPr lang="en-US" sz="1600" dirty="0" err="1"/>
              <a:t>StatsModels</a:t>
            </a:r>
            <a:r>
              <a:rPr lang="en-US" sz="1600" dirty="0"/>
              <a:t> function.</a:t>
            </a:r>
          </a:p>
          <a:p>
            <a:pPr lvl="1">
              <a:lnSpc>
                <a:spcPct val="110000"/>
              </a:lnSpc>
            </a:pPr>
            <a:r>
              <a:rPr lang="en-US" sz="1600" dirty="0" err="1"/>
              <a:t>Scipy</a:t>
            </a:r>
            <a:r>
              <a:rPr lang="en-US" sz="1600" dirty="0"/>
              <a:t> functions.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Probably many other packages.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The model (best fit line) is defined by the slope and intercept.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Add any X value to those two and you can predict Y.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The training process finds the ”best” calculation to do so.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496D11F6-1313-9B40-A285-01ED767CC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1" y="2093846"/>
            <a:ext cx="6097589" cy="27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377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F2D9F-E7BF-821F-0390-580CD00D8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for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338B9-90D7-70EB-7658-D70F17C33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step of calculating the slope and intercept in LLS is the learning part. </a:t>
            </a:r>
          </a:p>
          <a:p>
            <a:r>
              <a:rPr lang="en-US" dirty="0"/>
              <a:t>Other types of models have different learning parts, with the same in/out. </a:t>
            </a:r>
          </a:p>
          <a:p>
            <a:r>
              <a:rPr lang="en-US" dirty="0"/>
              <a:t>In MOST models we care about, learning isn’t one step like this. </a:t>
            </a:r>
          </a:p>
          <a:p>
            <a:pPr lvl="1"/>
            <a:r>
              <a:rPr lang="en-US" dirty="0"/>
              <a:t>LLS can produce the optimal model in one calculation, for simple data. </a:t>
            </a:r>
          </a:p>
          <a:p>
            <a:pPr lvl="1"/>
            <a:r>
              <a:rPr lang="en-US" dirty="0"/>
              <a:t>Other model types or other data needs more steps – iteration. </a:t>
            </a:r>
          </a:p>
          <a:p>
            <a:pPr lvl="1"/>
            <a:r>
              <a:rPr lang="en-US" dirty="0"/>
              <a:t>Make a model (guess coef.), calculate error, revise, calculate, revise….</a:t>
            </a:r>
          </a:p>
          <a:p>
            <a:pPr lvl="1"/>
            <a:r>
              <a:rPr lang="en-US" dirty="0"/>
              <a:t>This looks like learning, it takes a long time.</a:t>
            </a:r>
          </a:p>
          <a:p>
            <a:pPr lvl="1"/>
            <a:r>
              <a:rPr lang="en-US" dirty="0"/>
              <a:t>We never know the perfect answer (like LLS gives) only our best guess. </a:t>
            </a:r>
          </a:p>
          <a:p>
            <a:r>
              <a:rPr lang="en-US" dirty="0"/>
              <a:t>Linear regression is the only model* we see where we can calculate an answer. </a:t>
            </a:r>
          </a:p>
          <a:p>
            <a:pPr lvl="1"/>
            <a:r>
              <a:rPr lang="en-US" dirty="0"/>
              <a:t>All others we need to estimate the best answer, and that takes time. </a:t>
            </a:r>
          </a:p>
        </p:txBody>
      </p:sp>
    </p:spTree>
    <p:extLst>
      <p:ext uri="{BB962C8B-B14F-4D97-AF65-F5344CB8AC3E}">
        <p14:creationId xmlns:p14="http://schemas.microsoft.com/office/powerpoint/2010/main" val="3388675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4"/>
          <p:cNvSpPr txBox="1">
            <a:spLocks noGrp="1"/>
          </p:cNvSpPr>
          <p:nvPr>
            <p:ph type="body" idx="1"/>
          </p:nvPr>
        </p:nvSpPr>
        <p:spPr>
          <a:xfrm flipH="1">
            <a:off x="5048313" y="1305774"/>
            <a:ext cx="6953124" cy="474333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342900" indent="-3429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</a:pPr>
            <a:r>
              <a:rPr lang="en" sz="2200" dirty="0"/>
              <a:t>The linear model for predicting poverty from high school graduation rate in the US is:</a:t>
            </a: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The "hat" is used to signify that this is an estimate.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Predictions are always estimates, not assertions. 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Our model ‘learned’ m and b in the training (LLS) step. </a:t>
            </a:r>
            <a:endParaRPr lang="en" sz="2200" dirty="0"/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It is an estimate because this isn’t a definitive calculation to calculate the value of poverty – it is a prediction of what we expect the rate of poverty to be, given a value for </a:t>
            </a:r>
            <a:r>
              <a:rPr lang="en-CA" sz="2200" dirty="0" err="1"/>
              <a:t>HSgrad</a:t>
            </a:r>
            <a:r>
              <a:rPr lang="en" sz="2200" dirty="0"/>
              <a:t>. </a:t>
            </a:r>
            <a:endParaRPr sz="2200" dirty="0"/>
          </a:p>
        </p:txBody>
      </p:sp>
      <p:sp>
        <p:nvSpPr>
          <p:cNvPr id="112" name="Google Shape;112;p24"/>
          <p:cNvSpPr txBox="1">
            <a:spLocks noGrp="1"/>
          </p:cNvSpPr>
          <p:nvPr>
            <p:ph type="title"/>
          </p:nvPr>
        </p:nvSpPr>
        <p:spPr>
          <a:xfrm>
            <a:off x="1981200" y="-12"/>
            <a:ext cx="8229600" cy="1143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pic>
        <p:nvPicPr>
          <p:cNvPr id="113" name="Google Shape;11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02451" y="2276061"/>
            <a:ext cx="4073124" cy="527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CDC0DB9-BFA9-162A-0C30-75E93DEC7C50}"/>
              </a:ext>
            </a:extLst>
          </p:cNvPr>
          <p:cNvGrpSpPr/>
          <p:nvPr/>
        </p:nvGrpSpPr>
        <p:grpSpPr>
          <a:xfrm>
            <a:off x="190563" y="1571625"/>
            <a:ext cx="4857750" cy="3714750"/>
            <a:chOff x="1917425" y="2992750"/>
            <a:chExt cx="4857750" cy="3714750"/>
          </a:xfrm>
        </p:grpSpPr>
        <p:pic>
          <p:nvPicPr>
            <p:cNvPr id="3" name="Google Shape;106;p23">
              <a:extLst>
                <a:ext uri="{FF2B5EF4-FFF2-40B4-BE49-F238E27FC236}">
                  <a16:creationId xmlns:a16="http://schemas.microsoft.com/office/drawing/2014/main" id="{65007FBD-2DD9-566C-D817-39DA82C5CE3C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917425" y="2992750"/>
              <a:ext cx="4857750" cy="37147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0CF3D8B5-64C6-0230-1461-B8E4B17B171C}"/>
                </a:ext>
              </a:extLst>
            </p:cNvPr>
            <p:cNvCxnSpPr/>
            <p:nvPr/>
          </p:nvCxnSpPr>
          <p:spPr>
            <a:xfrm>
              <a:off x="2943922" y="3241375"/>
              <a:ext cx="3534937" cy="23108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212311-4030-0318-9F3E-FABB49C03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That’s a model!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43DB3-4531-35B1-23E0-CE4FA36AB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Once ‘trained’ (calculation of slope and intercept) the y=</a:t>
            </a:r>
            <a:r>
              <a:rPr lang="en-US" dirty="0" err="1"/>
              <a:t>mx+b</a:t>
            </a:r>
            <a:r>
              <a:rPr lang="en-US" dirty="0"/>
              <a:t> is a model. </a:t>
            </a:r>
          </a:p>
          <a:p>
            <a:pPr lvl="1"/>
            <a:r>
              <a:rPr lang="en-US" dirty="0"/>
              <a:t>Insert any input (x value) we get a predicted output (y value). </a:t>
            </a:r>
          </a:p>
          <a:p>
            <a:r>
              <a:rPr lang="en-US" dirty="0"/>
              <a:t>This is one model that can predict Y given X. </a:t>
            </a:r>
          </a:p>
          <a:p>
            <a:r>
              <a:rPr lang="en-US" dirty="0"/>
              <a:t>There are infinite number of ways to make a model that does the same thing. </a:t>
            </a:r>
          </a:p>
          <a:p>
            <a:pPr lvl="1"/>
            <a:r>
              <a:rPr lang="en-US" dirty="0"/>
              <a:t>This way used a linear regression via a formula. </a:t>
            </a:r>
          </a:p>
          <a:p>
            <a:pPr lvl="1"/>
            <a:r>
              <a:rPr lang="en-US" dirty="0"/>
              <a:t>Later we’ll see linear regression via iteration. </a:t>
            </a:r>
          </a:p>
          <a:p>
            <a:pPr lvl="1"/>
            <a:r>
              <a:rPr lang="en-US" dirty="0"/>
              <a:t>We could use the same data, and different math (this changes), and get some other model. </a:t>
            </a:r>
          </a:p>
          <a:p>
            <a:r>
              <a:rPr lang="en-US" dirty="0"/>
              <a:t>The only* part that changes is the training/calculation step. </a:t>
            </a:r>
          </a:p>
          <a:p>
            <a:pPr lvl="1"/>
            <a:r>
              <a:rPr lang="en-US" dirty="0"/>
              <a:t>Same inputs, same outputs, different calculation to go from A-&gt;B. </a:t>
            </a:r>
          </a:p>
          <a:p>
            <a:r>
              <a:rPr lang="en-US" dirty="0"/>
              <a:t>How do we know if the one we made is good? </a:t>
            </a:r>
          </a:p>
        </p:txBody>
      </p:sp>
    </p:spTree>
    <p:extLst>
      <p:ext uri="{BB962C8B-B14F-4D97-AF65-F5344CB8AC3E}">
        <p14:creationId xmlns:p14="http://schemas.microsoft.com/office/powerpoint/2010/main" val="1457611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39E7-3B2D-5D4A-A834-9397731C5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Residual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DF23D-40AA-6A4E-B69E-12212C8D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5880099" cy="4199727"/>
          </a:xfrm>
        </p:spPr>
        <p:txBody>
          <a:bodyPr>
            <a:normAutofit/>
          </a:bodyPr>
          <a:lstStyle/>
          <a:p>
            <a:r>
              <a:rPr lang="en-US" dirty="0"/>
              <a:t>The residuals are also helpful to us in a few ways. </a:t>
            </a:r>
          </a:p>
          <a:p>
            <a:pPr lvl="1"/>
            <a:r>
              <a:rPr lang="en-US" dirty="0"/>
              <a:t>They can be tallied into error metrics – RMSE, R2…</a:t>
            </a:r>
          </a:p>
          <a:p>
            <a:r>
              <a:rPr lang="en-US" dirty="0"/>
              <a:t>We can graph the residuals along with X to examine. </a:t>
            </a:r>
          </a:p>
          <a:p>
            <a:r>
              <a:rPr lang="en-US" dirty="0"/>
              <a:t>We want this pattern of residuals to not have any patterns in it – to be randomly spread out. </a:t>
            </a:r>
          </a:p>
          <a:p>
            <a:r>
              <a:rPr lang="en-US" dirty="0"/>
              <a:t>Why????????</a:t>
            </a:r>
          </a:p>
          <a:p>
            <a:pPr lvl="1"/>
            <a:r>
              <a:rPr lang="en-US" dirty="0"/>
              <a:t>Think of what’s different if there’s a pattern in the residuals vs random.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2E0B48-5A03-694B-9CC0-2134D1170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100" y="1093664"/>
            <a:ext cx="5905499" cy="580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7839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51FD7-A9C7-CD4A-B394-4D9E37B6A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Why Random?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22CE1-EEC2-DA4E-ACFC-03662AAD5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53754"/>
            <a:ext cx="5359399" cy="4295837"/>
          </a:xfrm>
        </p:spPr>
        <p:txBody>
          <a:bodyPr>
            <a:normAutofit/>
          </a:bodyPr>
          <a:lstStyle/>
          <a:p>
            <a:r>
              <a:rPr lang="en-US" dirty="0"/>
              <a:t>If there’s a pattern in the residuals it tells us that there’s some relationship here that isn’t captured in our actual model.</a:t>
            </a:r>
          </a:p>
          <a:p>
            <a:pPr lvl="1"/>
            <a:r>
              <a:rPr lang="en-US" dirty="0"/>
              <a:t>Middle predictions too high, ends are too low. </a:t>
            </a:r>
          </a:p>
          <a:p>
            <a:r>
              <a:rPr lang="en-US" dirty="0"/>
              <a:t>Residuals should be:</a:t>
            </a:r>
          </a:p>
          <a:p>
            <a:pPr lvl="1"/>
            <a:r>
              <a:rPr lang="en-US" dirty="0"/>
              <a:t>Uncorrelated with a variable.</a:t>
            </a:r>
          </a:p>
          <a:p>
            <a:pPr lvl="1"/>
            <a:r>
              <a:rPr lang="en-US" dirty="0"/>
              <a:t>Uncorrelated with each other. </a:t>
            </a:r>
          </a:p>
          <a:p>
            <a:r>
              <a:rPr lang="en-US" dirty="0"/>
              <a:t>We shouldn’t be able to predict residuals. </a:t>
            </a:r>
          </a:p>
          <a:p>
            <a:pPr lvl="1"/>
            <a:r>
              <a:rPr lang="en-US" dirty="0"/>
              <a:t>That pattern belongs in the model!!!!!</a:t>
            </a:r>
          </a:p>
          <a:p>
            <a:r>
              <a:rPr lang="en-US" dirty="0"/>
              <a:t>Models can be limited in fit – e.g. linear here. </a:t>
            </a:r>
          </a:p>
        </p:txBody>
      </p:sp>
      <p:pic>
        <p:nvPicPr>
          <p:cNvPr id="2050" name="Picture 2" descr="Minitab's residuals versus fit plot with bad residuals">
            <a:extLst>
              <a:ext uri="{FF2B5EF4-FFF2-40B4-BE49-F238E27FC236}">
                <a16:creationId xmlns:a16="http://schemas.microsoft.com/office/drawing/2014/main" id="{62A0CAEA-4DD1-CA49-84C3-5091103E1D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11" y="2087558"/>
            <a:ext cx="5707862" cy="380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2565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3FDD7-7164-3D44-B4AF-1B7CD86E6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Doing Regression - Other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66A41-146A-E147-A72A-B35E0AEF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18446"/>
          </a:xfrm>
        </p:spPr>
        <p:txBody>
          <a:bodyPr>
            <a:normAutofit/>
          </a:bodyPr>
          <a:lstStyle/>
          <a:p>
            <a:r>
              <a:rPr lang="en-US" dirty="0"/>
              <a:t>Using LLS calculations is ok for one x, but impractical in reality. </a:t>
            </a:r>
          </a:p>
          <a:p>
            <a:r>
              <a:rPr lang="en-US" dirty="0"/>
              <a:t>Regression is performed by existing packages, such as </a:t>
            </a:r>
            <a:r>
              <a:rPr lang="en-US" dirty="0" err="1"/>
              <a:t>StatsModels</a:t>
            </a:r>
            <a:r>
              <a:rPr lang="en-US" dirty="0"/>
              <a:t>, </a:t>
            </a:r>
            <a:r>
              <a:rPr lang="en-US" dirty="0" err="1"/>
              <a:t>Scipy</a:t>
            </a:r>
            <a:r>
              <a:rPr lang="en-US" dirty="0"/>
              <a:t>, and </a:t>
            </a:r>
            <a:r>
              <a:rPr lang="en-US" dirty="0" err="1"/>
              <a:t>Scikitlearn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book uses </a:t>
            </a:r>
            <a:r>
              <a:rPr lang="en-US" dirty="0" err="1"/>
              <a:t>StatsModels</a:t>
            </a:r>
            <a:r>
              <a:rPr lang="en-US" dirty="0"/>
              <a:t> when multiple regression starts. </a:t>
            </a:r>
          </a:p>
          <a:p>
            <a:pPr lvl="1"/>
            <a:r>
              <a:rPr lang="en-US" dirty="0"/>
              <a:t>They all ultimately do the same thing. </a:t>
            </a:r>
          </a:p>
          <a:p>
            <a:r>
              <a:rPr lang="en-US" dirty="0"/>
              <a:t>We’ll use both </a:t>
            </a:r>
            <a:r>
              <a:rPr lang="en-US" dirty="0" err="1"/>
              <a:t>StatsModels</a:t>
            </a:r>
            <a:r>
              <a:rPr lang="en-US" dirty="0"/>
              <a:t> (only a little) and </a:t>
            </a:r>
            <a:r>
              <a:rPr lang="en-US" dirty="0" err="1"/>
              <a:t>Scikitlearn</a:t>
            </a:r>
            <a:r>
              <a:rPr lang="en-US" dirty="0"/>
              <a:t> (a lot):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provide more stats data in the output, so we will use that sometimes.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scikitlearn</a:t>
            </a:r>
            <a:r>
              <a:rPr lang="en-US" dirty="0"/>
              <a:t> is much more relevant experience for ML stuff. </a:t>
            </a:r>
          </a:p>
          <a:p>
            <a:r>
              <a:rPr lang="en-US" dirty="0"/>
              <a:t>You need to be good with sklearn no matter what, if you’re going to not learn anything, the details of </a:t>
            </a:r>
            <a:r>
              <a:rPr lang="en-US" dirty="0" err="1"/>
              <a:t>statsmodels</a:t>
            </a:r>
            <a:r>
              <a:rPr lang="en-US" dirty="0"/>
              <a:t> is the choice to make. We just use it for some details. </a:t>
            </a:r>
          </a:p>
        </p:txBody>
      </p:sp>
    </p:spTree>
    <p:extLst>
      <p:ext uri="{BB962C8B-B14F-4D97-AF65-F5344CB8AC3E}">
        <p14:creationId xmlns:p14="http://schemas.microsoft.com/office/powerpoint/2010/main" val="27232284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05CA8-1CC9-B945-8B41-835F480E8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Shapes and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7FEF-348A-D143-ACC2-9771A5E01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1" y="1853754"/>
            <a:ext cx="5691188" cy="430574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One thing we need to pay attention to a bit more is the data structure and the shape. </a:t>
            </a:r>
          </a:p>
          <a:p>
            <a:pPr>
              <a:lnSpc>
                <a:spcPct val="110000"/>
              </a:lnSpc>
            </a:pPr>
            <a:r>
              <a:rPr lang="en-US" dirty="0"/>
              <a:t>Most things we’ve used take anything ‘</a:t>
            </a:r>
            <a:r>
              <a:rPr lang="en-US" dirty="0" err="1"/>
              <a:t>iterable</a:t>
            </a:r>
            <a:r>
              <a:rPr lang="en-US" dirty="0"/>
              <a:t>’ or anything that is list-like. </a:t>
            </a:r>
          </a:p>
          <a:p>
            <a:pPr>
              <a:lnSpc>
                <a:spcPct val="110000"/>
              </a:lnSpc>
            </a:pPr>
            <a:r>
              <a:rPr lang="en-US" dirty="0"/>
              <a:t>Often (but not always) in machine learning we need arrays, usually of a certain shape. </a:t>
            </a:r>
          </a:p>
          <a:p>
            <a:pPr>
              <a:lnSpc>
                <a:spcPct val="110000"/>
              </a:lnSpc>
            </a:pPr>
            <a:r>
              <a:rPr lang="en-US" dirty="0"/>
              <a:t>Some tangible differences are: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Use </a:t>
            </a:r>
            <a:r>
              <a:rPr lang="en-US" sz="2000" dirty="0" err="1"/>
              <a:t>np.array</a:t>
            </a:r>
            <a:r>
              <a:rPr lang="en-US" sz="2000" dirty="0"/>
              <a:t>() to create arrays of the data – usually one array for x(s), one for y.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Ensure the arrays are “vertical”, print it and/or use .shape to look.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.reshape(width, height) can reshape the arrays to what we need. </a:t>
            </a:r>
          </a:p>
        </p:txBody>
      </p:sp>
      <p:pic>
        <p:nvPicPr>
          <p:cNvPr id="3074" name="Picture 2" descr="Introducing Scikit-Learn | Python Data Science Handbook">
            <a:extLst>
              <a:ext uri="{FF2B5EF4-FFF2-40B4-BE49-F238E27FC236}">
                <a16:creationId xmlns:a16="http://schemas.microsoft.com/office/drawing/2014/main" id="{32EFC90F-41B9-0242-9A4A-AA0FF9752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11" y="1600396"/>
            <a:ext cx="5691189" cy="3794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9B8CFA-0710-047F-42C9-EBEB4D6B9864}"/>
              </a:ext>
            </a:extLst>
          </p:cNvPr>
          <p:cNvSpPr txBox="1"/>
          <p:nvPr/>
        </p:nvSpPr>
        <p:spPr>
          <a:xfrm>
            <a:off x="6591719" y="5394521"/>
            <a:ext cx="5193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Note: a 2D array that is 1 column wide and a 1D array are two different things…</a:t>
            </a:r>
          </a:p>
        </p:txBody>
      </p:sp>
    </p:spTree>
    <p:extLst>
      <p:ext uri="{BB962C8B-B14F-4D97-AF65-F5344CB8AC3E}">
        <p14:creationId xmlns:p14="http://schemas.microsoft.com/office/powerpoint/2010/main" val="519175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8AB2B-8325-23DD-372E-361893A4D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36ED26-EAEC-BA20-4928-E54E1F904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As we start to do real machine learning, we’ll need to manage data in specific shapes. </a:t>
            </a:r>
          </a:p>
          <a:p>
            <a:pPr lvl="1"/>
            <a:r>
              <a:rPr lang="en-US" dirty="0"/>
              <a:t>This is generally not too hard (libraries try to make it easy), but is critical. </a:t>
            </a:r>
          </a:p>
          <a:p>
            <a:r>
              <a:rPr lang="en-US" dirty="0"/>
              <a:t>Ultimately, we’ll need to provide data to a model in specific shapes. </a:t>
            </a:r>
          </a:p>
          <a:p>
            <a:pPr lvl="1"/>
            <a:r>
              <a:rPr lang="en-US" dirty="0"/>
              <a:t>Our job is basically just to steer data into the ML algorithm and get the results. </a:t>
            </a:r>
          </a:p>
          <a:p>
            <a:pPr lvl="1"/>
            <a:r>
              <a:rPr lang="en-US" dirty="0"/>
              <a:t>We’ll semi frequently need to manipulate those shapes as we process data. </a:t>
            </a:r>
          </a:p>
          <a:p>
            <a:pPr lvl="1"/>
            <a:r>
              <a:rPr lang="en-US" dirty="0"/>
              <a:t>With different data types (time series, image, text…) we need to construct the shapes. </a:t>
            </a:r>
          </a:p>
          <a:p>
            <a:pPr lvl="1"/>
            <a:r>
              <a:rPr lang="en-US" dirty="0"/>
              <a:t>For some things this can be fairly complex, but we start simple. </a:t>
            </a:r>
          </a:p>
          <a:p>
            <a:r>
              <a:rPr lang="en-US" dirty="0"/>
              <a:t>Start to consciously think about dimensions and shape of data as we use it. </a:t>
            </a:r>
          </a:p>
          <a:p>
            <a:pPr lvl="1"/>
            <a:r>
              <a:rPr lang="en-US" dirty="0"/>
              <a:t>In sklearn, most things we use can process array, </a:t>
            </a:r>
            <a:r>
              <a:rPr lang="en-US" dirty="0" err="1"/>
              <a:t>df</a:t>
            </a:r>
            <a:r>
              <a:rPr lang="en-US" dirty="0"/>
              <a:t>, series, list,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It’ll usually work ok (with sample data) unless you do something weird (usually).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3139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5CF6-8B41-ED49-BBCA-960CCDE6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57ECC-D5E7-8742-82DE-6541E34B1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We can train our models to predict Y, given X.</a:t>
            </a:r>
          </a:p>
          <a:p>
            <a:pPr lvl="1"/>
            <a:r>
              <a:rPr lang="en-US" dirty="0"/>
              <a:t>Models always predict an output given an input, the how can vary widely. </a:t>
            </a:r>
          </a:p>
          <a:p>
            <a:pPr lvl="1"/>
            <a:r>
              <a:rPr lang="en-US" dirty="0"/>
              <a:t>In this case, the model is a simple algebra equation, y=</a:t>
            </a:r>
            <a:r>
              <a:rPr lang="en-US" dirty="0" err="1"/>
              <a:t>mx+b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model is a simplification of reality – will someone pay, will customer come, will it rain…</a:t>
            </a:r>
          </a:p>
          <a:p>
            <a:pPr lvl="1"/>
            <a:r>
              <a:rPr lang="en-US" dirty="0"/>
              <a:t>Our steps are the same no matter model type we use (LR, NN, Tree…), internal math differs.</a:t>
            </a:r>
          </a:p>
          <a:p>
            <a:r>
              <a:rPr lang="en-US" dirty="0"/>
              <a:t>The residuals give us information on how good our model is. </a:t>
            </a:r>
          </a:p>
          <a:p>
            <a:pPr lvl="1"/>
            <a:r>
              <a:rPr lang="en-US" dirty="0"/>
              <a:t>Big misses, bad model. Small misses, good model. </a:t>
            </a:r>
          </a:p>
          <a:p>
            <a:pPr lvl="1"/>
            <a:r>
              <a:rPr lang="en-US" dirty="0"/>
              <a:t>We can compare different types of models to choose the most accurate. </a:t>
            </a:r>
          </a:p>
          <a:p>
            <a:r>
              <a:rPr lang="en-US" dirty="0"/>
              <a:t>Accuracy and reliability of the predictions…. Next time. </a:t>
            </a:r>
          </a:p>
          <a:p>
            <a:pPr lvl="1"/>
            <a:r>
              <a:rPr lang="en-US" dirty="0"/>
              <a:t>Models made differently can be compared and evaluated.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883451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2111</TotalTime>
  <Words>1960</Words>
  <Application>Microsoft Macintosh PowerPoint</Application>
  <PresentationFormat>Widescreen</PresentationFormat>
  <Paragraphs>164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Gill Sans MT</vt:lpstr>
      <vt:lpstr>Gallery</vt:lpstr>
      <vt:lpstr>Housekeeping</vt:lpstr>
      <vt:lpstr>Linear Least Squares, Regression, and More Fun Stuff!!! Part 1. </vt:lpstr>
      <vt:lpstr>Linear Regression and Predictive Models</vt:lpstr>
      <vt:lpstr>Models</vt:lpstr>
      <vt:lpstr>Poverty vs. HS graduate rate</vt:lpstr>
      <vt:lpstr>Poverty vs. HS graduate rate</vt:lpstr>
      <vt:lpstr>Poverty vs. HS graduate rate</vt:lpstr>
      <vt:lpstr>Residuals</vt:lpstr>
      <vt:lpstr>Residuals (cont.)</vt:lpstr>
      <vt:lpstr>PowerPoint Presentation</vt:lpstr>
      <vt:lpstr>Linear Least Squares</vt:lpstr>
      <vt:lpstr>How to find the minimum of the residuals squared?</vt:lpstr>
      <vt:lpstr>Note for Context</vt:lpstr>
      <vt:lpstr>Poverty vs. HS graduate rate</vt:lpstr>
      <vt:lpstr>That’s a model!</vt:lpstr>
      <vt:lpstr>Residual analysis</vt:lpstr>
      <vt:lpstr>Why Random?</vt:lpstr>
      <vt:lpstr>Doing Regression - Other Packages</vt:lpstr>
      <vt:lpstr>Shapes and Arrays</vt:lpstr>
      <vt:lpstr>Processing Data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Least Squares, Regression, and More Fun Stuff!!! Part 1. </dc:title>
  <dc:creator>Akeem Semper</dc:creator>
  <cp:lastModifiedBy>Akeem Semper</cp:lastModifiedBy>
  <cp:revision>31</cp:revision>
  <dcterms:created xsi:type="dcterms:W3CDTF">2021-11-07T18:05:44Z</dcterms:created>
  <dcterms:modified xsi:type="dcterms:W3CDTF">2025-11-13T23:40:45Z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2025-11-13T19:04:02Z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b5d36758-5f76-4003-8f16-9af6bbbf9b81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
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86" r:id="rId2"/>
    <p:sldId id="326" r:id="rId3"/>
    <p:sldId id="304" r:id="rId4"/>
    <p:sldId id="256" r:id="rId5"/>
    <p:sldId id="287" r:id="rId6"/>
    <p:sldId id="258" r:id="rId7"/>
    <p:sldId id="259" r:id="rId8"/>
    <p:sldId id="288" r:id="rId9"/>
    <p:sldId id="261" r:id="rId10"/>
    <p:sldId id="262" r:id="rId11"/>
    <p:sldId id="263" r:id="rId12"/>
    <p:sldId id="280" r:id="rId13"/>
    <p:sldId id="281" r:id="rId14"/>
    <p:sldId id="282" r:id="rId15"/>
    <p:sldId id="264" r:id="rId16"/>
    <p:sldId id="272" r:id="rId17"/>
    <p:sldId id="260" r:id="rId18"/>
    <p:sldId id="274" r:id="rId19"/>
    <p:sldId id="275" r:id="rId20"/>
    <p:sldId id="276" r:id="rId21"/>
    <p:sldId id="278" r:id="rId22"/>
    <p:sldId id="277" r:id="rId23"/>
    <p:sldId id="273" r:id="rId24"/>
    <p:sldId id="289" r:id="rId25"/>
    <p:sldId id="321" r:id="rId26"/>
    <p:sldId id="279" r:id="rId27"/>
    <p:sldId id="283" r:id="rId28"/>
    <p:sldId id="295" r:id="rId29"/>
    <p:sldId id="285" r:id="rId30"/>
    <p:sldId id="294" r:id="rId31"/>
    <p:sldId id="293" r:id="rId32"/>
    <p:sldId id="284" r:id="rId33"/>
    <p:sldId id="296" r:id="rId34"/>
    <p:sldId id="297" r:id="rId35"/>
    <p:sldId id="298" r:id="rId36"/>
    <p:sldId id="322" r:id="rId37"/>
    <p:sldId id="291" r:id="rId38"/>
    <p:sldId id="292" r:id="rId39"/>
    <p:sldId id="290" r:id="rId40"/>
    <p:sldId id="305" r:id="rId41"/>
    <p:sldId id="318" r:id="rId42"/>
    <p:sldId id="314" r:id="rId43"/>
    <p:sldId id="315" r:id="rId44"/>
    <p:sldId id="306" r:id="rId45"/>
    <p:sldId id="308" r:id="rId46"/>
    <p:sldId id="309" r:id="rId47"/>
    <p:sldId id="310" r:id="rId48"/>
    <p:sldId id="311" r:id="rId49"/>
    <p:sldId id="313" r:id="rId50"/>
    <p:sldId id="316" r:id="rId51"/>
    <p:sldId id="307" r:id="rId52"/>
    <p:sldId id="317" r:id="rId53"/>
    <p:sldId id="323" r:id="rId54"/>
    <p:sldId id="327" r:id="rId55"/>
    <p:sldId id="312" r:id="rId56"/>
    <p:sldId id="270" r:id="rId57"/>
    <p:sldId id="319" r:id="rId58"/>
    <p:sldId id="265" r:id="rId59"/>
    <p:sldId id="324" r:id="rId60"/>
    <p:sldId id="325" r:id="rId61"/>
    <p:sldId id="266" r:id="rId62"/>
    <p:sldId id="320" r:id="rId63"/>
    <p:sldId id="267" r:id="rId64"/>
    <p:sldId id="268" r:id="rId65"/>
    <p:sldId id="271" r:id="rId66"/>
    <p:sldId id="269" r:id="rId67"/>
    <p:sldId id="299" r:id="rId6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DB12B953-35AE-474F-A29B-416A2485EC0C}">
          <p14:sldIdLst>
            <p14:sldId id="286"/>
            <p14:sldId id="326"/>
            <p14:sldId id="304"/>
            <p14:sldId id="256"/>
            <p14:sldId id="287"/>
            <p14:sldId id="258"/>
            <p14:sldId id="259"/>
            <p14:sldId id="288"/>
            <p14:sldId id="261"/>
            <p14:sldId id="262"/>
            <p14:sldId id="263"/>
            <p14:sldId id="280"/>
            <p14:sldId id="281"/>
            <p14:sldId id="282"/>
            <p14:sldId id="264"/>
            <p14:sldId id="272"/>
            <p14:sldId id="260"/>
            <p14:sldId id="274"/>
            <p14:sldId id="275"/>
            <p14:sldId id="276"/>
            <p14:sldId id="278"/>
            <p14:sldId id="277"/>
            <p14:sldId id="273"/>
            <p14:sldId id="289"/>
            <p14:sldId id="321"/>
          </p14:sldIdLst>
        </p14:section>
        <p14:section name="Errors and Evaluation" id="{6D27C89B-AD29-4945-959B-242086B3335F}">
          <p14:sldIdLst>
            <p14:sldId id="279"/>
            <p14:sldId id="283"/>
            <p14:sldId id="295"/>
            <p14:sldId id="285"/>
            <p14:sldId id="294"/>
            <p14:sldId id="293"/>
            <p14:sldId id="284"/>
            <p14:sldId id="296"/>
            <p14:sldId id="297"/>
            <p14:sldId id="298"/>
            <p14:sldId id="322"/>
            <p14:sldId id="291"/>
            <p14:sldId id="292"/>
            <p14:sldId id="290"/>
          </p14:sldIdLst>
        </p14:section>
        <p14:section name="Scaling" id="{A665F968-822E-5940-9E51-203B4187239B}">
          <p14:sldIdLst>
            <p14:sldId id="305"/>
            <p14:sldId id="318"/>
            <p14:sldId id="314"/>
            <p14:sldId id="315"/>
            <p14:sldId id="306"/>
            <p14:sldId id="308"/>
            <p14:sldId id="309"/>
            <p14:sldId id="310"/>
            <p14:sldId id="311"/>
            <p14:sldId id="313"/>
            <p14:sldId id="316"/>
            <p14:sldId id="307"/>
            <p14:sldId id="317"/>
            <p14:sldId id="323"/>
            <p14:sldId id="327"/>
            <p14:sldId id="312"/>
          </p14:sldIdLst>
        </p14:section>
        <p14:section name="Imbalanced" id="{C4537BFF-2385-C345-A36F-777CE5CAB53A}">
          <p14:sldIdLst>
            <p14:sldId id="270"/>
            <p14:sldId id="319"/>
            <p14:sldId id="265"/>
            <p14:sldId id="324"/>
            <p14:sldId id="325"/>
            <p14:sldId id="266"/>
            <p14:sldId id="320"/>
            <p14:sldId id="267"/>
            <p14:sldId id="268"/>
            <p14:sldId id="271"/>
            <p14:sldId id="269"/>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569"/>
    <p:restoredTop sz="96327"/>
  </p:normalViewPr>
  <p:slideViewPr>
    <p:cSldViewPr snapToGrid="0">
      <p:cViewPr>
        <p:scale>
          <a:sx n="100" d="100"/>
          <a:sy n="100" d="100"/>
        </p:scale>
        <p:origin x="3096" y="284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7" Type="http://schemas.openxmlformats.org/officeDocument/2006/relationships/slide" Target="slides/slide6.xml"/><Relationship Id="rId71"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F40F8EF2-F055-F843-B652-0F4727434C7C}" type="datetimeFigureOut">
              <a:rPr lang="en-US" smtClean="0"/>
              <a:t>11/25/25</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156B8448-4454-B442-98C9-B7F027FE2551}" type="slidenum">
              <a:rPr lang="en-US" smtClean="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851207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40F8EF2-F055-F843-B652-0F4727434C7C}" type="datetimeFigureOut">
              <a:rPr lang="en-US" smtClean="0"/>
              <a:t>11/25/25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6B8448-4454-B442-98C9-B7F027FE2551}" type="slidenum">
              <a:rPr lang="en-US" smtClean="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693617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40F8EF2-F055-F843-B652-0F4727434C7C}" type="datetimeFigureOut">
              <a:rPr lang="en-US" smtClean="0"/>
              <a:t>11/25/25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6B8448-4454-B442-98C9-B7F027FE2551}" type="slidenum">
              <a:rPr lang="en-US" smtClean="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5028955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40F8EF2-F055-F843-B652-0F4727434C7C}" type="datetimeFigureOut">
              <a:rPr lang="en-US" smtClean="0"/>
              <a:t>11/25/25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56B8448-4454-B442-98C9-B7F027FE2551}" type="slidenum">
              <a:rPr lang="en-US" smtClean="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1982023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40F8EF2-F055-F843-B652-0F4727434C7C}" type="datetimeFigureOut">
              <a:rPr lang="en-US" smtClean="0"/>
              <a:t>11/25/25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56B8448-4454-B442-98C9-B7F027FE2551}" type="slidenum">
              <a:rPr lang="en-US" smtClean="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6548373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F40F8EF2-F055-F843-B652-0F4727434C7C}" type="datetimeFigureOut">
              <a:rPr lang="en-US" smtClean="0"/>
              <a:t>11/25/25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56B8448-4454-B442-98C9-B7F027FE2551}" type="slidenum">
              <a:rPr lang="en-US" smtClean="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234614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40F8EF2-F055-F843-B652-0F4727434C7C}" type="datetimeFigureOut">
              <a:rPr lang="en-US" smtClean="0"/>
              <a:t>11/25/25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56B8448-4454-B442-98C9-B7F027FE2551}" type="slidenum">
              <a:rPr lang="en-US" smtClean="0"/>
              <a:t>‹#›</a:t>
            </a:fld>
            <a:endParaRPr lang="en-US"/>
          </a:p>
        </p:txBody>
      </p:sp>
    </p:spTree>
    <p:extLst>
      <p:ext uri="{BB962C8B-B14F-4D97-AF65-F5344CB8AC3E}">
        <p14:creationId xmlns:p14="http://schemas.microsoft.com/office/powerpoint/2010/main" val="20088286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40F8EF2-F055-F843-B652-0F4727434C7C}" type="datetimeFigureOut">
              <a:rPr lang="en-US" smtClean="0"/>
              <a:t>11/25/25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56B8448-4454-B442-98C9-B7F027FE2551}" type="slidenum">
              <a:rPr lang="en-US" smtClean="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7047067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F40F8EF2-F055-F843-B652-0F4727434C7C}" type="datetimeFigureOut">
              <a:rPr lang="en-US" smtClean="0"/>
              <a:t>11/25/25</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156B8448-4454-B442-98C9-B7F027FE2551}" type="slidenum">
              <a:rPr lang="en-US" smtClean="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9616185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40F8EF2-F055-F843-B652-0F4727434C7C}" type="datetimeFigureOut">
              <a:rPr lang="en-US" smtClean="0"/>
              <a:t>11/25/25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6B8448-4454-B442-98C9-B7F027FE2551}" type="slidenum">
              <a:rPr lang="en-US" smtClean="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8772027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40F8EF2-F055-F843-B652-0F4727434C7C}" type="datetimeFigureOut">
              <a:rPr lang="en-US" smtClean="0"/>
              <a:t>11/25/25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56B8448-4454-B442-98C9-B7F027FE2551}" type="slidenum">
              <a:rPr lang="en-US" smtClean="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325066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F40F8EF2-F055-F843-B652-0F4727434C7C}" type="datetimeFigureOut">
              <a:rPr lang="en-US" smtClean="0"/>
              <a:t>11/25/25</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156B8448-4454-B442-98C9-B7F027FE2551}" type="slidenum">
              <a:rPr lang="en-US" smtClean="0"/>
              <a:t>‹#›</a:t>
            </a:fld>
            <a:endParaRPr lang="en-US"/>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8802478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gif"/><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4.gif"/><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5.gif"/><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jpe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5.gif"/><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6.gif"/><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EB08B6-5F4C-3620-48F4-7C0EE3A5DE25}"/>
              </a:ext>
            </a:extLst>
          </p:cNvPr>
          <p:cNvSpPr>
            <a:spLocks noGrp="1"/>
          </p:cNvSpPr>
          <p:nvPr>
            <p:ph type="title"/>
          </p:nvPr>
        </p:nvSpPr>
        <p:spPr/>
        <p:txBody>
          <a:bodyPr/>
          <a:lstStyle/>
          <a:p>
            <a:r>
              <a:rPr lang="en-US" dirty="0"/>
              <a:t>Housekeeping</a:t>
            </a:r>
          </a:p>
        </p:txBody>
      </p:sp>
      <p:sp>
        <p:nvSpPr>
          <p:cNvPr id="3" name="Content Placeholder 2">
            <a:extLst>
              <a:ext uri="{FF2B5EF4-FFF2-40B4-BE49-F238E27FC236}">
                <a16:creationId xmlns:a16="http://schemas.microsoft.com/office/drawing/2014/main" id="{82B84299-43CC-BA21-E1EE-4AB3B453F829}"/>
              </a:ext>
            </a:extLst>
          </p:cNvPr>
          <p:cNvSpPr>
            <a:spLocks noGrp="1"/>
          </p:cNvSpPr>
          <p:nvPr>
            <p:ph idx="1"/>
          </p:nvPr>
        </p:nvSpPr>
        <p:spPr>
          <a:xfrm>
            <a:off x="1451579" y="1938130"/>
            <a:ext cx="9603275" cy="4115351"/>
          </a:xfrm>
        </p:spPr>
        <p:txBody>
          <a:bodyPr>
            <a:normAutofit lnSpcReduction="10000"/>
          </a:bodyPr>
          <a:lstStyle/>
          <a:p>
            <a:r>
              <a:rPr lang="en-US" dirty="0"/>
              <a:t>More logistic regression:</a:t>
            </a:r>
          </a:p>
          <a:p>
            <a:pPr lvl="1"/>
            <a:r>
              <a:rPr lang="en-US" dirty="0"/>
              <a:t>Review of basics and gradient descent. </a:t>
            </a:r>
          </a:p>
          <a:p>
            <a:pPr lvl="1"/>
            <a:r>
              <a:rPr lang="en-US" dirty="0"/>
              <a:t>Classification cost, error, and evaluation. </a:t>
            </a:r>
          </a:p>
          <a:p>
            <a:pPr lvl="1"/>
            <a:r>
              <a:rPr lang="en-US" dirty="0"/>
              <a:t>Scaling numerical features. </a:t>
            </a:r>
          </a:p>
          <a:p>
            <a:pPr lvl="1"/>
            <a:r>
              <a:rPr lang="en-US" dirty="0"/>
              <a:t>Imbalanced learning (less important). </a:t>
            </a:r>
          </a:p>
          <a:p>
            <a:r>
              <a:rPr lang="en-US" dirty="0"/>
              <a:t>The theory/exercise balance for some of these concepts is skewed:</a:t>
            </a:r>
          </a:p>
          <a:p>
            <a:pPr lvl="1"/>
            <a:r>
              <a:rPr lang="en-US" dirty="0"/>
              <a:t>The concept is requires a lot of me rambling, with some background math. </a:t>
            </a:r>
          </a:p>
          <a:p>
            <a:pPr lvl="1"/>
            <a:r>
              <a:rPr lang="en-US" dirty="0"/>
              <a:t>Using said concept is fairly easy in code, but there are exceptions/variations regularly. </a:t>
            </a:r>
          </a:p>
          <a:p>
            <a:pPr lvl="1"/>
            <a:r>
              <a:rPr lang="en-US" dirty="0"/>
              <a:t>Get practice - load data, explore, clean, model, evaluate is constant. </a:t>
            </a:r>
          </a:p>
          <a:p>
            <a:pPr lvl="1"/>
            <a:r>
              <a:rPr lang="en-US" dirty="0"/>
              <a:t>Most people need practice beyond, “I can use this” – what to do, order, connecting steps together, solving issues in data, understanding impacts of changs… all require practice. </a:t>
            </a:r>
          </a:p>
        </p:txBody>
      </p:sp>
    </p:spTree>
    <p:extLst>
      <p:ext uri="{BB962C8B-B14F-4D97-AF65-F5344CB8AC3E}">
        <p14:creationId xmlns:p14="http://schemas.microsoft.com/office/powerpoint/2010/main" val="24811108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374BF6-3436-3F5D-2621-B2732F2306E0}"/>
              </a:ext>
            </a:extLst>
          </p:cNvPr>
          <p:cNvSpPr>
            <a:spLocks noGrp="1"/>
          </p:cNvSpPr>
          <p:nvPr>
            <p:ph type="title"/>
          </p:nvPr>
        </p:nvSpPr>
        <p:spPr/>
        <p:txBody>
          <a:bodyPr/>
          <a:lstStyle/>
          <a:p>
            <a:r>
              <a:rPr lang="en-US" dirty="0"/>
              <a:t>I’m supposed to Give You a Test Next Week!</a:t>
            </a:r>
          </a:p>
        </p:txBody>
      </p:sp>
      <p:sp>
        <p:nvSpPr>
          <p:cNvPr id="3" name="Content Placeholder 2">
            <a:extLst>
              <a:ext uri="{FF2B5EF4-FFF2-40B4-BE49-F238E27FC236}">
                <a16:creationId xmlns:a16="http://schemas.microsoft.com/office/drawing/2014/main" id="{D137DA2B-0C15-549A-168C-3153A4F51F8C}"/>
              </a:ext>
            </a:extLst>
          </p:cNvPr>
          <p:cNvSpPr>
            <a:spLocks noGrp="1"/>
          </p:cNvSpPr>
          <p:nvPr>
            <p:ph idx="1"/>
          </p:nvPr>
        </p:nvSpPr>
        <p:spPr/>
        <p:txBody>
          <a:bodyPr/>
          <a:lstStyle/>
          <a:p>
            <a:r>
              <a:rPr lang="en-US" dirty="0"/>
              <a:t>On the stuff since the last one. </a:t>
            </a:r>
          </a:p>
          <a:p>
            <a:pPr lvl="1"/>
            <a:r>
              <a:rPr lang="en-US" dirty="0"/>
              <a:t>Mainly inferential stats and the regression leading into the ML stuff. </a:t>
            </a:r>
          </a:p>
          <a:p>
            <a:pPr lvl="1"/>
            <a:r>
              <a:rPr lang="en-US" dirty="0"/>
              <a:t>I’ll finalize it and make an outline this weekend. </a:t>
            </a:r>
          </a:p>
          <a:p>
            <a:pPr lvl="1"/>
            <a:r>
              <a:rPr lang="en-US" dirty="0"/>
              <a:t>We’ll cutoff after some stuff next Monday – simple probability (more complex stuff excluded).</a:t>
            </a:r>
          </a:p>
          <a:p>
            <a:r>
              <a:rPr lang="en-US" dirty="0"/>
              <a:t>Some multiple choice, short answer, and a little code. </a:t>
            </a:r>
          </a:p>
        </p:txBody>
      </p:sp>
    </p:spTree>
    <p:extLst>
      <p:ext uri="{BB962C8B-B14F-4D97-AF65-F5344CB8AC3E}">
        <p14:creationId xmlns:p14="http://schemas.microsoft.com/office/powerpoint/2010/main" val="15508763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7E100B-6ECD-C59D-8952-5DFFA79F097E}"/>
              </a:ext>
            </a:extLst>
          </p:cNvPr>
          <p:cNvSpPr>
            <a:spLocks noGrp="1"/>
          </p:cNvSpPr>
          <p:nvPr>
            <p:ph type="title"/>
          </p:nvPr>
        </p:nvSpPr>
        <p:spPr/>
        <p:txBody>
          <a:bodyPr/>
          <a:lstStyle/>
          <a:p>
            <a:r>
              <a:rPr lang="en-US" dirty="0"/>
              <a:t>Ravel – Why???</a:t>
            </a:r>
          </a:p>
        </p:txBody>
      </p:sp>
      <p:sp>
        <p:nvSpPr>
          <p:cNvPr id="3" name="Content Placeholder 2">
            <a:extLst>
              <a:ext uri="{FF2B5EF4-FFF2-40B4-BE49-F238E27FC236}">
                <a16:creationId xmlns:a16="http://schemas.microsoft.com/office/drawing/2014/main" id="{F790C948-D1AE-63C6-7C16-557280AA1264}"/>
              </a:ext>
            </a:extLst>
          </p:cNvPr>
          <p:cNvSpPr>
            <a:spLocks noGrp="1"/>
          </p:cNvSpPr>
          <p:nvPr>
            <p:ph idx="1"/>
          </p:nvPr>
        </p:nvSpPr>
        <p:spPr>
          <a:xfrm>
            <a:off x="1451579" y="1853754"/>
            <a:ext cx="9603275" cy="4199727"/>
          </a:xfrm>
        </p:spPr>
        <p:txBody>
          <a:bodyPr>
            <a:normAutofit lnSpcReduction="10000"/>
          </a:bodyPr>
          <a:lstStyle/>
          <a:p>
            <a:r>
              <a:rPr lang="en-US" dirty="0"/>
              <a:t>Sometimes you get an error that has a big explanation then says, “…use Ravel()”. </a:t>
            </a:r>
          </a:p>
          <a:p>
            <a:r>
              <a:rPr lang="en-US" dirty="0"/>
              <a:t>Ravel flattens data 2D-&gt;1D here. </a:t>
            </a:r>
          </a:p>
          <a:p>
            <a:pPr lvl="1"/>
            <a:r>
              <a:rPr lang="en-US" dirty="0"/>
              <a:t>This contradicts the “always reshape” thing I normally say. </a:t>
            </a:r>
          </a:p>
          <a:p>
            <a:pPr lvl="1"/>
            <a:r>
              <a:rPr lang="en-US" dirty="0"/>
              <a:t>If you look in sklearn docs, some require 1D, some take either. </a:t>
            </a:r>
          </a:p>
          <a:p>
            <a:r>
              <a:rPr lang="en-US" dirty="0"/>
              <a:t>I stick by the ”always reshape” (even though it isn’t the ‘correct’ answer):</a:t>
            </a:r>
          </a:p>
          <a:p>
            <a:pPr lvl="1"/>
            <a:r>
              <a:rPr lang="en-US" dirty="0"/>
              <a:t>It will make the prep stuff the same for every scenario. </a:t>
            </a:r>
          </a:p>
          <a:p>
            <a:pPr lvl="1"/>
            <a:r>
              <a:rPr lang="en-US" dirty="0"/>
              <a:t>With neural networks, you can stick with the same process. </a:t>
            </a:r>
          </a:p>
          <a:p>
            <a:pPr lvl="1"/>
            <a:r>
              <a:rPr lang="en-US" dirty="0"/>
              <a:t>If you need to change, that ravel message will warn you. </a:t>
            </a:r>
          </a:p>
          <a:p>
            <a:r>
              <a:rPr lang="en-US" dirty="0"/>
              <a:t>Ultimately, the correct way is to look up the needed shape for model’s fit() and do that.</a:t>
            </a:r>
          </a:p>
          <a:p>
            <a:pPr lvl="1"/>
            <a:r>
              <a:rPr lang="en-US" dirty="0"/>
              <a:t>The “always reshape” rule is a shortcut that saves thinking. </a:t>
            </a:r>
          </a:p>
        </p:txBody>
      </p:sp>
    </p:spTree>
    <p:extLst>
      <p:ext uri="{BB962C8B-B14F-4D97-AF65-F5344CB8AC3E}">
        <p14:creationId xmlns:p14="http://schemas.microsoft.com/office/powerpoint/2010/main" val="3061051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E07F3A-FAF3-C239-3098-8946C95035DC}"/>
              </a:ext>
            </a:extLst>
          </p:cNvPr>
          <p:cNvSpPr>
            <a:spLocks noGrp="1"/>
          </p:cNvSpPr>
          <p:nvPr>
            <p:ph type="ctrTitle"/>
          </p:nvPr>
        </p:nvSpPr>
        <p:spPr/>
        <p:txBody>
          <a:bodyPr/>
          <a:lstStyle/>
          <a:p>
            <a:r>
              <a:rPr lang="en-US" dirty="0"/>
              <a:t>Classification and Imbalanced Data</a:t>
            </a:r>
          </a:p>
        </p:txBody>
      </p:sp>
      <p:sp>
        <p:nvSpPr>
          <p:cNvPr id="3" name="Subtitle 2">
            <a:extLst>
              <a:ext uri="{FF2B5EF4-FFF2-40B4-BE49-F238E27FC236}">
                <a16:creationId xmlns:a16="http://schemas.microsoft.com/office/drawing/2014/main" id="{127D9362-A9C9-2CB0-7B94-6E94F28145AB}"/>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8029747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E68BAA-A40A-996B-313A-C9628CEDC011}"/>
              </a:ext>
            </a:extLst>
          </p:cNvPr>
          <p:cNvSpPr>
            <a:spLocks noGrp="1"/>
          </p:cNvSpPr>
          <p:nvPr>
            <p:ph type="title"/>
          </p:nvPr>
        </p:nvSpPr>
        <p:spPr/>
        <p:txBody>
          <a:bodyPr/>
          <a:lstStyle/>
          <a:p>
            <a:r>
              <a:rPr lang="en-US" dirty="0"/>
              <a:t>Classification Review</a:t>
            </a:r>
          </a:p>
        </p:txBody>
      </p:sp>
      <p:sp>
        <p:nvSpPr>
          <p:cNvPr id="3" name="Content Placeholder 2">
            <a:extLst>
              <a:ext uri="{FF2B5EF4-FFF2-40B4-BE49-F238E27FC236}">
                <a16:creationId xmlns:a16="http://schemas.microsoft.com/office/drawing/2014/main" id="{5D0ECB0D-CFCB-5880-5979-A6D2D3247EF8}"/>
              </a:ext>
            </a:extLst>
          </p:cNvPr>
          <p:cNvSpPr>
            <a:spLocks noGrp="1"/>
          </p:cNvSpPr>
          <p:nvPr>
            <p:ph idx="1"/>
          </p:nvPr>
        </p:nvSpPr>
        <p:spPr>
          <a:xfrm>
            <a:off x="685800" y="1853754"/>
            <a:ext cx="11251096" cy="4199727"/>
          </a:xfrm>
        </p:spPr>
        <p:txBody>
          <a:bodyPr>
            <a:normAutofit/>
          </a:bodyPr>
          <a:lstStyle/>
          <a:p>
            <a:r>
              <a:rPr lang="en-US" dirty="0"/>
              <a:t>Classification is predicting if observations fall into one group or another. </a:t>
            </a:r>
          </a:p>
          <a:p>
            <a:pPr lvl="1"/>
            <a:r>
              <a:rPr lang="en-US" dirty="0"/>
              <a:t>For now, we’ll do only two groups – True/False. </a:t>
            </a:r>
          </a:p>
          <a:p>
            <a:pPr lvl="1"/>
            <a:r>
              <a:rPr lang="en-US" dirty="0"/>
              <a:t>E.g. will this person be a customer? Is this MRI cancer? Will this company go bankrupt? </a:t>
            </a:r>
          </a:p>
          <a:p>
            <a:r>
              <a:rPr lang="en-US" dirty="0"/>
              <a:t>Linear regression was possible to calculate directly – linear least squares. </a:t>
            </a:r>
          </a:p>
          <a:p>
            <a:r>
              <a:rPr lang="en-US" dirty="0"/>
              <a:t>Classification, using logistic regression, isn’t something where we can calculate the model from the data. </a:t>
            </a:r>
          </a:p>
          <a:p>
            <a:pPr lvl="1"/>
            <a:r>
              <a:rPr lang="en-US" dirty="0"/>
              <a:t>We need to use an iterative process to “train” the model. </a:t>
            </a:r>
          </a:p>
          <a:p>
            <a:r>
              <a:rPr lang="en-US" dirty="0"/>
              <a:t>Need – classification concept, use of </a:t>
            </a:r>
            <a:r>
              <a:rPr lang="en-US" dirty="0" err="1"/>
              <a:t>LogReg</a:t>
            </a:r>
            <a:r>
              <a:rPr lang="en-US" dirty="0"/>
              <a:t>, output, concept of GD, evaluating/metrics, cost. </a:t>
            </a:r>
          </a:p>
          <a:p>
            <a:r>
              <a:rPr lang="en-US" dirty="0"/>
              <a:t>Nice to know – details of math, internal processes. If you’re going to do more ML, details matter more.</a:t>
            </a:r>
          </a:p>
          <a:p>
            <a:r>
              <a:rPr lang="en-US" dirty="0"/>
              <a:t>I’ll rip through a review quickly, please interrupt if we should drill down more on anything. </a:t>
            </a:r>
          </a:p>
        </p:txBody>
      </p:sp>
    </p:spTree>
    <p:extLst>
      <p:ext uri="{BB962C8B-B14F-4D97-AF65-F5344CB8AC3E}">
        <p14:creationId xmlns:p14="http://schemas.microsoft.com/office/powerpoint/2010/main" val="15981903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04CDA6-AAA3-3C98-AF0F-2A2EF9D249B7}"/>
              </a:ext>
            </a:extLst>
          </p:cNvPr>
          <p:cNvSpPr>
            <a:spLocks noGrp="1"/>
          </p:cNvSpPr>
          <p:nvPr>
            <p:ph type="title"/>
          </p:nvPr>
        </p:nvSpPr>
        <p:spPr>
          <a:xfrm>
            <a:off x="1451579" y="804519"/>
            <a:ext cx="9603275" cy="1049235"/>
          </a:xfrm>
        </p:spPr>
        <p:txBody>
          <a:bodyPr>
            <a:normAutofit/>
          </a:bodyPr>
          <a:lstStyle/>
          <a:p>
            <a:r>
              <a:rPr lang="en-US" dirty="0"/>
              <a:t>Classification and Logistic Regression</a:t>
            </a:r>
          </a:p>
        </p:txBody>
      </p:sp>
      <p:pic>
        <p:nvPicPr>
          <p:cNvPr id="1026" name="Picture 2" descr="python - Plot Decision Boundary for Scikit Logistic Regression with 7  Features - Stack Overflow">
            <a:extLst>
              <a:ext uri="{FF2B5EF4-FFF2-40B4-BE49-F238E27FC236}">
                <a16:creationId xmlns:a16="http://schemas.microsoft.com/office/drawing/2014/main" id="{C45B17BE-F3AE-8C8F-A982-BF751397B31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067" t="7833" r="5981" b="3000"/>
          <a:stretch/>
        </p:blipFill>
        <p:spPr bwMode="auto">
          <a:xfrm>
            <a:off x="0" y="1835219"/>
            <a:ext cx="6048760" cy="4577938"/>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289DEBA9-5CC7-9626-5901-C68C7D099B46}"/>
              </a:ext>
            </a:extLst>
          </p:cNvPr>
          <p:cNvSpPr>
            <a:spLocks noGrp="1"/>
          </p:cNvSpPr>
          <p:nvPr>
            <p:ph idx="1"/>
          </p:nvPr>
        </p:nvSpPr>
        <p:spPr>
          <a:xfrm>
            <a:off x="6048760" y="1853755"/>
            <a:ext cx="6143239" cy="4299910"/>
          </a:xfrm>
        </p:spPr>
        <p:txBody>
          <a:bodyPr>
            <a:normAutofit/>
          </a:bodyPr>
          <a:lstStyle/>
          <a:p>
            <a:pPr>
              <a:lnSpc>
                <a:spcPct val="110000"/>
              </a:lnSpc>
            </a:pPr>
            <a:r>
              <a:rPr lang="en-US" sz="1800" dirty="0"/>
              <a:t>Logistic regression (and all classifiers) aim to split the data into two (or more) groups, called classes. </a:t>
            </a:r>
          </a:p>
          <a:p>
            <a:pPr lvl="1">
              <a:lnSpc>
                <a:spcPct val="110000"/>
              </a:lnSpc>
            </a:pPr>
            <a:r>
              <a:rPr lang="en-US" dirty="0"/>
              <a:t>E.g. customer/not-customer, True/False, 1/0</a:t>
            </a:r>
          </a:p>
          <a:p>
            <a:pPr>
              <a:lnSpc>
                <a:spcPct val="110000"/>
              </a:lnSpc>
            </a:pPr>
            <a:r>
              <a:rPr lang="en-US" sz="1800" dirty="0"/>
              <a:t>We can visualize this with a dataset with 2 features. </a:t>
            </a:r>
          </a:p>
          <a:p>
            <a:pPr lvl="1">
              <a:lnSpc>
                <a:spcPct val="110000"/>
              </a:lnSpc>
            </a:pPr>
            <a:r>
              <a:rPr lang="en-US" sz="1600" dirty="0"/>
              <a:t>E.g. Predict admission from two test scores. </a:t>
            </a:r>
          </a:p>
          <a:p>
            <a:pPr>
              <a:lnSpc>
                <a:spcPct val="110000"/>
              </a:lnSpc>
            </a:pPr>
            <a:r>
              <a:rPr lang="en-US" sz="1800" dirty="0"/>
              <a:t>The model here is the line, rather than being a best fit like a regression, it acts to separate class A from class B. </a:t>
            </a:r>
          </a:p>
          <a:p>
            <a:pPr>
              <a:lnSpc>
                <a:spcPct val="110000"/>
              </a:lnSpc>
            </a:pPr>
            <a:r>
              <a:rPr lang="en-US" sz="1800" dirty="0"/>
              <a:t>Logistic regression is a linear model, so we can only make a line to classify the data. </a:t>
            </a:r>
          </a:p>
          <a:p>
            <a:pPr>
              <a:lnSpc>
                <a:spcPct val="110000"/>
              </a:lnSpc>
            </a:pPr>
            <a:r>
              <a:rPr lang="en-US" sz="1800" dirty="0"/>
              <a:t>The line is our decision boundary. </a:t>
            </a:r>
          </a:p>
        </p:txBody>
      </p:sp>
    </p:spTree>
    <p:extLst>
      <p:ext uri="{BB962C8B-B14F-4D97-AF65-F5344CB8AC3E}">
        <p14:creationId xmlns:p14="http://schemas.microsoft.com/office/powerpoint/2010/main" val="35015046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BBC614-D870-2967-C74A-35E0BCA6D3C4}"/>
              </a:ext>
            </a:extLst>
          </p:cNvPr>
          <p:cNvSpPr>
            <a:spLocks noGrp="1"/>
          </p:cNvSpPr>
          <p:nvPr>
            <p:ph type="title"/>
          </p:nvPr>
        </p:nvSpPr>
        <p:spPr/>
        <p:txBody>
          <a:bodyPr/>
          <a:lstStyle/>
          <a:p>
            <a:r>
              <a:rPr lang="en-US" dirty="0"/>
              <a:t>Finding the Line – Descend that Gradient</a:t>
            </a:r>
          </a:p>
        </p:txBody>
      </p:sp>
      <p:sp>
        <p:nvSpPr>
          <p:cNvPr id="3" name="Content Placeholder 2">
            <a:extLst>
              <a:ext uri="{FF2B5EF4-FFF2-40B4-BE49-F238E27FC236}">
                <a16:creationId xmlns:a16="http://schemas.microsoft.com/office/drawing/2014/main" id="{A57F082C-AF31-038A-762B-5B88F01B87F4}"/>
              </a:ext>
            </a:extLst>
          </p:cNvPr>
          <p:cNvSpPr>
            <a:spLocks noGrp="1"/>
          </p:cNvSpPr>
          <p:nvPr>
            <p:ph idx="1"/>
          </p:nvPr>
        </p:nvSpPr>
        <p:spPr>
          <a:xfrm>
            <a:off x="357809" y="1853754"/>
            <a:ext cx="11718234" cy="4199727"/>
          </a:xfrm>
        </p:spPr>
        <p:txBody>
          <a:bodyPr>
            <a:normAutofit fontScale="92500"/>
          </a:bodyPr>
          <a:lstStyle/>
          <a:p>
            <a:r>
              <a:rPr lang="en-US" dirty="0"/>
              <a:t>In linear regression the “least squares” calculates m and b directly. </a:t>
            </a:r>
          </a:p>
          <a:p>
            <a:r>
              <a:rPr lang="en-US" dirty="0"/>
              <a:t>Our line (the model) that divides the two classes was generated by the gradient descent process we mentioned:</a:t>
            </a:r>
          </a:p>
          <a:p>
            <a:pPr lvl="1"/>
            <a:r>
              <a:rPr lang="en-US" dirty="0"/>
              <a:t>Make a prediction for the model’s values (2 slopes and intercept in this one). </a:t>
            </a:r>
          </a:p>
          <a:p>
            <a:pPr lvl="1"/>
            <a:r>
              <a:rPr lang="en-US" dirty="0"/>
              <a:t>Check the error with those values. </a:t>
            </a:r>
          </a:p>
          <a:p>
            <a:pPr lvl="1"/>
            <a:r>
              <a:rPr lang="en-US" dirty="0"/>
              <a:t>Use some calculus to attribute the errors to the original terms (y = m1*x1 + m2*x2 +…)</a:t>
            </a:r>
          </a:p>
          <a:p>
            <a:pPr lvl="1"/>
            <a:r>
              <a:rPr lang="en-US" dirty="0"/>
              <a:t>Adjust each term to get a bit less error. </a:t>
            </a:r>
          </a:p>
          <a:p>
            <a:pPr lvl="1"/>
            <a:r>
              <a:rPr lang="en-US" dirty="0"/>
              <a:t>When the error hits the lowest point, whatever the slope and intercept is at that point is the values we need for the model. Y = m1*x1 + m2*x2 + b</a:t>
            </a:r>
          </a:p>
          <a:p>
            <a:pPr lvl="1"/>
            <a:r>
              <a:rPr lang="en-US" dirty="0"/>
              <a:t>Just like linear regression, these values are all we need for a model (with more math).</a:t>
            </a:r>
          </a:p>
          <a:p>
            <a:r>
              <a:rPr lang="en-US" dirty="0"/>
              <a:t>Note: the error here is not accuracy of predictions, it is the distance between prediction percentage and reality. </a:t>
            </a:r>
          </a:p>
        </p:txBody>
      </p:sp>
    </p:spTree>
    <p:extLst>
      <p:ext uri="{BB962C8B-B14F-4D97-AF65-F5344CB8AC3E}">
        <p14:creationId xmlns:p14="http://schemas.microsoft.com/office/powerpoint/2010/main" val="35838448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F92675-D6F1-76BB-04DB-3A3541393EAD}"/>
              </a:ext>
            </a:extLst>
          </p:cNvPr>
          <p:cNvSpPr>
            <a:spLocks noGrp="1"/>
          </p:cNvSpPr>
          <p:nvPr>
            <p:ph type="title"/>
          </p:nvPr>
        </p:nvSpPr>
        <p:spPr/>
        <p:txBody>
          <a:bodyPr/>
          <a:lstStyle/>
          <a:p>
            <a:r>
              <a:rPr lang="en-US" dirty="0"/>
              <a:t>Training Process</a:t>
            </a:r>
          </a:p>
        </p:txBody>
      </p:sp>
      <p:sp>
        <p:nvSpPr>
          <p:cNvPr id="3" name="Content Placeholder 2">
            <a:extLst>
              <a:ext uri="{FF2B5EF4-FFF2-40B4-BE49-F238E27FC236}">
                <a16:creationId xmlns:a16="http://schemas.microsoft.com/office/drawing/2014/main" id="{D48D0583-DA50-2410-80E9-F2B64CE86349}"/>
              </a:ext>
            </a:extLst>
          </p:cNvPr>
          <p:cNvSpPr>
            <a:spLocks noGrp="1"/>
          </p:cNvSpPr>
          <p:nvPr>
            <p:ph idx="1"/>
          </p:nvPr>
        </p:nvSpPr>
        <p:spPr>
          <a:xfrm>
            <a:off x="1451579" y="1853754"/>
            <a:ext cx="9603275" cy="4278689"/>
          </a:xfrm>
        </p:spPr>
        <p:txBody>
          <a:bodyPr/>
          <a:lstStyle/>
          <a:p>
            <a:r>
              <a:rPr lang="en-US" dirty="0"/>
              <a:t>This inability to calculate an answer directly is common to most ML algorithms. </a:t>
            </a:r>
          </a:p>
          <a:p>
            <a:r>
              <a:rPr lang="en-US" dirty="0"/>
              <a:t>We instead need to let a model “train” or learn the answer bit by bit. </a:t>
            </a:r>
          </a:p>
          <a:p>
            <a:pPr lvl="1"/>
            <a:r>
              <a:rPr lang="en-US" dirty="0"/>
              <a:t>This is what happens during the “fit()” call. </a:t>
            </a:r>
          </a:p>
          <a:p>
            <a:r>
              <a:rPr lang="en-US" dirty="0"/>
              <a:t>The model is initialized as something that works, but poorly. </a:t>
            </a:r>
          </a:p>
          <a:p>
            <a:r>
              <a:rPr lang="en-US" dirty="0"/>
              <a:t>Each round the accuracy is improved a bit. </a:t>
            </a:r>
          </a:p>
          <a:p>
            <a:r>
              <a:rPr lang="en-US" dirty="0"/>
              <a:t>Eventually we have the best version we can get (or hit a limit). </a:t>
            </a:r>
          </a:p>
        </p:txBody>
      </p:sp>
    </p:spTree>
    <p:extLst>
      <p:ext uri="{BB962C8B-B14F-4D97-AF65-F5344CB8AC3E}">
        <p14:creationId xmlns:p14="http://schemas.microsoft.com/office/powerpoint/2010/main" val="3376446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descr="Stochastic Gradient Descent for machine learning clearly explained |  Baptiste Monpezat">
            <a:extLst>
              <a:ext uri="{FF2B5EF4-FFF2-40B4-BE49-F238E27FC236}">
                <a16:creationId xmlns:a16="http://schemas.microsoft.com/office/drawing/2014/main" id="{1EF315A9-B96B-995F-27B7-A80F4AFFAA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9776" y="1853754"/>
            <a:ext cx="9965422" cy="498271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BC58DC06-7749-7D35-D6CD-AD64B52D089F}"/>
              </a:ext>
            </a:extLst>
          </p:cNvPr>
          <p:cNvSpPr>
            <a:spLocks noGrp="1"/>
          </p:cNvSpPr>
          <p:nvPr>
            <p:ph type="title"/>
          </p:nvPr>
        </p:nvSpPr>
        <p:spPr/>
        <p:txBody>
          <a:bodyPr/>
          <a:lstStyle/>
          <a:p>
            <a:r>
              <a:rPr lang="en-US" dirty="0"/>
              <a:t>Animation with Linear Regression</a:t>
            </a:r>
          </a:p>
        </p:txBody>
      </p:sp>
      <p:sp>
        <p:nvSpPr>
          <p:cNvPr id="3" name="Content Placeholder 2">
            <a:extLst>
              <a:ext uri="{FF2B5EF4-FFF2-40B4-BE49-F238E27FC236}">
                <a16:creationId xmlns:a16="http://schemas.microsoft.com/office/drawing/2014/main" id="{A537A64F-5343-F786-B7A8-CD89FC606278}"/>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10347198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descr="Felipe Sulser – Data Scientist at UBS">
            <a:extLst>
              <a:ext uri="{FF2B5EF4-FFF2-40B4-BE49-F238E27FC236}">
                <a16:creationId xmlns:a16="http://schemas.microsoft.com/office/drawing/2014/main" id="{EAB0B961-2A58-847C-48D2-83687A8503F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56000" y="1524000"/>
            <a:ext cx="5080000" cy="381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078636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machine learning - What's the difference between logistic regression and  perceptron? - Cross Validated">
            <a:extLst>
              <a:ext uri="{FF2B5EF4-FFF2-40B4-BE49-F238E27FC236}">
                <a16:creationId xmlns:a16="http://schemas.microsoft.com/office/drawing/2014/main" id="{01505B13-3501-A3CE-3297-E7E3AEF805A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82794" y="38162"/>
            <a:ext cx="7426411" cy="68198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443647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724DB-7F8B-F0DE-D21B-8606E2312585}"/>
              </a:ext>
            </a:extLst>
          </p:cNvPr>
          <p:cNvSpPr>
            <a:spLocks noGrp="1"/>
          </p:cNvSpPr>
          <p:nvPr>
            <p:ph type="title"/>
          </p:nvPr>
        </p:nvSpPr>
        <p:spPr/>
        <p:txBody>
          <a:bodyPr/>
          <a:lstStyle/>
          <a:p>
            <a:r>
              <a:rPr lang="en-US" dirty="0"/>
              <a:t>Cost/Loss</a:t>
            </a:r>
          </a:p>
        </p:txBody>
      </p:sp>
      <p:sp>
        <p:nvSpPr>
          <p:cNvPr id="3" name="Content Placeholder 2">
            <a:extLst>
              <a:ext uri="{FF2B5EF4-FFF2-40B4-BE49-F238E27FC236}">
                <a16:creationId xmlns:a16="http://schemas.microsoft.com/office/drawing/2014/main" id="{B2B37946-0B86-8AC9-AE67-A5994F7604E4}"/>
              </a:ext>
            </a:extLst>
          </p:cNvPr>
          <p:cNvSpPr>
            <a:spLocks noGrp="1"/>
          </p:cNvSpPr>
          <p:nvPr>
            <p:ph idx="1"/>
          </p:nvPr>
        </p:nvSpPr>
        <p:spPr>
          <a:xfrm>
            <a:off x="1451579" y="2015732"/>
            <a:ext cx="9603275" cy="4037749"/>
          </a:xfrm>
        </p:spPr>
        <p:txBody>
          <a:bodyPr/>
          <a:lstStyle/>
          <a:p>
            <a:r>
              <a:rPr lang="en-US" dirty="0"/>
              <a:t>The key factor in doing the gradient descent is the error, or the cost. </a:t>
            </a:r>
          </a:p>
          <a:p>
            <a:pPr lvl="1"/>
            <a:r>
              <a:rPr lang="en-US" dirty="0"/>
              <a:t>The term loss is also common, technically loss means one run, cost is aggregate. </a:t>
            </a:r>
          </a:p>
          <a:p>
            <a:pPr lvl="1"/>
            <a:r>
              <a:rPr lang="en-US" dirty="0"/>
              <a:t>Loss and cost are commonly interchanged, and it doesn’t really matter in most cases. </a:t>
            </a:r>
          </a:p>
          <a:p>
            <a:r>
              <a:rPr lang="en-US" dirty="0"/>
              <a:t>The cost function calculates error, which tells the algorithm that it needs to adjust. </a:t>
            </a:r>
          </a:p>
          <a:p>
            <a:pPr lvl="1"/>
            <a:r>
              <a:rPr lang="en-US" dirty="0"/>
              <a:t>For regression problems, the cost is generally the MSE. </a:t>
            </a:r>
          </a:p>
          <a:p>
            <a:r>
              <a:rPr lang="en-US" dirty="0"/>
              <a:t>For classification problems, we don’t use the accuracy, we have a separate cost. </a:t>
            </a:r>
          </a:p>
          <a:p>
            <a:pPr lvl="1"/>
            <a:r>
              <a:rPr lang="en-US" dirty="0"/>
              <a:t>Accuracy is the end result, for users to look at. </a:t>
            </a:r>
          </a:p>
          <a:p>
            <a:pPr lvl="1"/>
            <a:r>
              <a:rPr lang="en-US" dirty="0"/>
              <a:t>Cost is measured based on the “closeness” of the model to the correct answer. </a:t>
            </a:r>
          </a:p>
          <a:p>
            <a:pPr lvl="1"/>
            <a:r>
              <a:rPr lang="en-US" dirty="0"/>
              <a:t>Allows for a much better fitted model. </a:t>
            </a:r>
          </a:p>
        </p:txBody>
      </p:sp>
    </p:spTree>
    <p:extLst>
      <p:ext uri="{BB962C8B-B14F-4D97-AF65-F5344CB8AC3E}">
        <p14:creationId xmlns:p14="http://schemas.microsoft.com/office/powerpoint/2010/main" val="19330401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95144D-F944-EE74-AC68-F134DAA2CF7B}"/>
              </a:ext>
            </a:extLst>
          </p:cNvPr>
          <p:cNvSpPr>
            <a:spLocks noGrp="1"/>
          </p:cNvSpPr>
          <p:nvPr>
            <p:ph type="title"/>
          </p:nvPr>
        </p:nvSpPr>
        <p:spPr>
          <a:xfrm>
            <a:off x="1451579" y="804519"/>
            <a:ext cx="9603275" cy="1049235"/>
          </a:xfrm>
        </p:spPr>
        <p:txBody>
          <a:bodyPr>
            <a:normAutofit/>
          </a:bodyPr>
          <a:lstStyle/>
          <a:p>
            <a:r>
              <a:rPr lang="en-US" dirty="0"/>
              <a:t>Cost Functions</a:t>
            </a:r>
          </a:p>
        </p:txBody>
      </p:sp>
      <p:pic>
        <p:nvPicPr>
          <p:cNvPr id="7170" name="Picture 2" descr="Log Loss Function Explained by Experts | Dasha.AI">
            <a:extLst>
              <a:ext uri="{FF2B5EF4-FFF2-40B4-BE49-F238E27FC236}">
                <a16:creationId xmlns:a16="http://schemas.microsoft.com/office/drawing/2014/main" id="{C109DECC-94D1-BB76-4C6E-A5D261B83F59}"/>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0" y="1853754"/>
            <a:ext cx="5714840" cy="3771794"/>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8DC872B0-3304-BB1D-2113-0ABA1B63A911}"/>
              </a:ext>
            </a:extLst>
          </p:cNvPr>
          <p:cNvSpPr>
            <a:spLocks noGrp="1"/>
          </p:cNvSpPr>
          <p:nvPr>
            <p:ph idx="1"/>
          </p:nvPr>
        </p:nvSpPr>
        <p:spPr>
          <a:xfrm>
            <a:off x="5714840" y="1853754"/>
            <a:ext cx="6477161" cy="4199727"/>
          </a:xfrm>
        </p:spPr>
        <p:txBody>
          <a:bodyPr>
            <a:normAutofit/>
          </a:bodyPr>
          <a:lstStyle/>
          <a:p>
            <a:pPr>
              <a:lnSpc>
                <a:spcPct val="110000"/>
              </a:lnSpc>
            </a:pPr>
            <a:r>
              <a:rPr lang="en-US" sz="1800" dirty="0"/>
              <a:t>Cost functions are the functions that calculate the… cost. </a:t>
            </a:r>
          </a:p>
          <a:p>
            <a:pPr>
              <a:lnSpc>
                <a:spcPct val="110000"/>
              </a:lnSpc>
            </a:pPr>
            <a:r>
              <a:rPr lang="en-US" sz="1800" dirty="0"/>
              <a:t>There are many different cost functions. </a:t>
            </a:r>
          </a:p>
          <a:p>
            <a:pPr>
              <a:lnSpc>
                <a:spcPct val="110000"/>
              </a:lnSpc>
            </a:pPr>
            <a:r>
              <a:rPr lang="en-US" sz="1800" dirty="0"/>
              <a:t>Binary (two class) classification usually uses Log-Loss, or Binary Cross Entropy. </a:t>
            </a:r>
          </a:p>
          <a:p>
            <a:pPr>
              <a:lnSpc>
                <a:spcPct val="110000"/>
              </a:lnSpc>
            </a:pPr>
            <a:r>
              <a:rPr lang="en-US" sz="1800" dirty="0"/>
              <a:t>Log-Loss basics:</a:t>
            </a:r>
          </a:p>
          <a:p>
            <a:pPr lvl="1">
              <a:lnSpc>
                <a:spcPct val="110000"/>
              </a:lnSpc>
            </a:pPr>
            <a:r>
              <a:rPr lang="en-US" dirty="0"/>
              <a:t>Distance of the prediction of probability to the real answer. On a 0 to 1 scale. </a:t>
            </a:r>
          </a:p>
          <a:p>
            <a:pPr lvl="1">
              <a:lnSpc>
                <a:spcPct val="110000"/>
              </a:lnSpc>
            </a:pPr>
            <a:r>
              <a:rPr lang="en-US" dirty="0"/>
              <a:t>Model predicts the probability of a 1, loss is distance to 0 if the real answer is 0, and distance to 1 if the real answer is 1. </a:t>
            </a:r>
          </a:p>
          <a:p>
            <a:pPr>
              <a:lnSpc>
                <a:spcPct val="110000"/>
              </a:lnSpc>
            </a:pPr>
            <a:r>
              <a:rPr lang="en-US" dirty="0"/>
              <a:t>Model learns to minimize the “distance” to correct. </a:t>
            </a:r>
          </a:p>
          <a:p>
            <a:pPr lvl="1">
              <a:lnSpc>
                <a:spcPct val="110000"/>
              </a:lnSpc>
            </a:pPr>
            <a:endParaRPr lang="en-US" dirty="0"/>
          </a:p>
          <a:p>
            <a:pPr lvl="1">
              <a:lnSpc>
                <a:spcPct val="110000"/>
              </a:lnSpc>
            </a:pPr>
            <a:endParaRPr lang="en-US" dirty="0"/>
          </a:p>
        </p:txBody>
      </p:sp>
    </p:spTree>
    <p:extLst>
      <p:ext uri="{BB962C8B-B14F-4D97-AF65-F5344CB8AC3E}">
        <p14:creationId xmlns:p14="http://schemas.microsoft.com/office/powerpoint/2010/main" val="36233689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A941D2-9BC6-363D-2398-38BAA93A5D89}"/>
              </a:ext>
            </a:extLst>
          </p:cNvPr>
          <p:cNvSpPr>
            <a:spLocks noGrp="1"/>
          </p:cNvSpPr>
          <p:nvPr>
            <p:ph type="title"/>
          </p:nvPr>
        </p:nvSpPr>
        <p:spPr/>
        <p:txBody>
          <a:bodyPr/>
          <a:lstStyle/>
          <a:p>
            <a:r>
              <a:rPr lang="en-US" dirty="0"/>
              <a:t>More on Costs</a:t>
            </a:r>
          </a:p>
        </p:txBody>
      </p:sp>
      <p:sp>
        <p:nvSpPr>
          <p:cNvPr id="3" name="Content Placeholder 2">
            <a:extLst>
              <a:ext uri="{FF2B5EF4-FFF2-40B4-BE49-F238E27FC236}">
                <a16:creationId xmlns:a16="http://schemas.microsoft.com/office/drawing/2014/main" id="{DE73D928-2CBF-109B-97C0-D918F1F20CFC}"/>
              </a:ext>
            </a:extLst>
          </p:cNvPr>
          <p:cNvSpPr>
            <a:spLocks noGrp="1"/>
          </p:cNvSpPr>
          <p:nvPr>
            <p:ph idx="1"/>
          </p:nvPr>
        </p:nvSpPr>
        <p:spPr>
          <a:xfrm>
            <a:off x="1451579" y="1928192"/>
            <a:ext cx="9603275" cy="4125290"/>
          </a:xfrm>
        </p:spPr>
        <p:txBody>
          <a:bodyPr/>
          <a:lstStyle/>
          <a:p>
            <a:r>
              <a:rPr lang="en-US" dirty="0"/>
              <a:t>Cost functions ca be defined to be almost anything. </a:t>
            </a:r>
          </a:p>
          <a:p>
            <a:pPr lvl="1"/>
            <a:r>
              <a:rPr lang="en-US" dirty="0"/>
              <a:t>Need* to be differentiable – i.e. we can calculate the derivative. </a:t>
            </a:r>
          </a:p>
          <a:p>
            <a:pPr lvl="1"/>
            <a:r>
              <a:rPr lang="en-US" dirty="0"/>
              <a:t>In practice most are easily differentiable, for speed. Hence few absolute value. </a:t>
            </a:r>
          </a:p>
          <a:p>
            <a:pPr lvl="1"/>
            <a:r>
              <a:rPr lang="en-US" dirty="0"/>
              <a:t>E.g. a “Price is Right” model predicting if you should bet might have a different cost for ”too low” (not high enough) vs ”too high” (instant loss) in its cost calculations. </a:t>
            </a:r>
          </a:p>
          <a:p>
            <a:r>
              <a:rPr lang="en-US" dirty="0"/>
              <a:t>The cost is (normally, in classification) an internal metric to the algorithm. </a:t>
            </a:r>
          </a:p>
          <a:p>
            <a:pPr lvl="1"/>
            <a:r>
              <a:rPr lang="en-US" dirty="0"/>
              <a:t>The model is made by minimizing the cost. </a:t>
            </a:r>
          </a:p>
          <a:p>
            <a:pPr lvl="1"/>
            <a:r>
              <a:rPr lang="en-US" dirty="0"/>
              <a:t>The cost isn’t really a ”user facing” metric that we’d look at when using the model. </a:t>
            </a:r>
          </a:p>
          <a:p>
            <a:pPr lvl="1"/>
            <a:r>
              <a:rPr lang="en-US" dirty="0"/>
              <a:t>We normally look at an accuracy-based metric to judge a model – that’s separate. </a:t>
            </a:r>
          </a:p>
          <a:p>
            <a:pPr lvl="1"/>
            <a:r>
              <a:rPr lang="en-US" dirty="0"/>
              <a:t>In regression, closeness and final error are the same (MSE), here they differ. </a:t>
            </a:r>
          </a:p>
        </p:txBody>
      </p:sp>
    </p:spTree>
    <p:extLst>
      <p:ext uri="{BB962C8B-B14F-4D97-AF65-F5344CB8AC3E}">
        <p14:creationId xmlns:p14="http://schemas.microsoft.com/office/powerpoint/2010/main" val="27670627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B09F8-9EC4-A7DE-DC25-F1E1D68A595E}"/>
              </a:ext>
            </a:extLst>
          </p:cNvPr>
          <p:cNvSpPr>
            <a:spLocks noGrp="1"/>
          </p:cNvSpPr>
          <p:nvPr>
            <p:ph type="title"/>
          </p:nvPr>
        </p:nvSpPr>
        <p:spPr/>
        <p:txBody>
          <a:bodyPr/>
          <a:lstStyle/>
          <a:p>
            <a:r>
              <a:rPr lang="en-US" dirty="0"/>
              <a:t>Gradient Descent</a:t>
            </a:r>
          </a:p>
        </p:txBody>
      </p:sp>
      <p:sp>
        <p:nvSpPr>
          <p:cNvPr id="3" name="Content Placeholder 2">
            <a:extLst>
              <a:ext uri="{FF2B5EF4-FFF2-40B4-BE49-F238E27FC236}">
                <a16:creationId xmlns:a16="http://schemas.microsoft.com/office/drawing/2014/main" id="{D807EE55-B6AD-7421-B4F0-93014D76629B}"/>
              </a:ext>
            </a:extLst>
          </p:cNvPr>
          <p:cNvSpPr>
            <a:spLocks noGrp="1"/>
          </p:cNvSpPr>
          <p:nvPr>
            <p:ph idx="1"/>
          </p:nvPr>
        </p:nvSpPr>
        <p:spPr>
          <a:xfrm>
            <a:off x="1451579" y="2015732"/>
            <a:ext cx="9603275" cy="4037749"/>
          </a:xfrm>
        </p:spPr>
        <p:txBody>
          <a:bodyPr>
            <a:normAutofit/>
          </a:bodyPr>
          <a:lstStyle/>
          <a:p>
            <a:r>
              <a:rPr lang="en-US" dirty="0"/>
              <a:t>This gradient descent process is one that is very common, not just for logistic regression. </a:t>
            </a:r>
          </a:p>
          <a:p>
            <a:r>
              <a:rPr lang="en-US" dirty="0"/>
              <a:t>When we can’t directly calculate the “answers” like we can in linear regression, we do something like this – repeated guess and test as we progress towards the answer. </a:t>
            </a:r>
          </a:p>
          <a:p>
            <a:r>
              <a:rPr lang="en-US" dirty="0"/>
              <a:t>The starting coefficient values don’t really matter for the end result. </a:t>
            </a:r>
          </a:p>
          <a:p>
            <a:pPr lvl="1"/>
            <a:r>
              <a:rPr lang="en-US" dirty="0"/>
              <a:t>Different algorithms have different methods (sometimes controllable by an argument) that generate a starting point of values (slopes and an intercept). </a:t>
            </a:r>
          </a:p>
          <a:p>
            <a:pPr lvl="1"/>
            <a:r>
              <a:rPr lang="en-US" dirty="0"/>
              <a:t>The starting guess is intended to reduce the rounds needed to find the answer. </a:t>
            </a:r>
          </a:p>
          <a:p>
            <a:pPr lvl="1"/>
            <a:r>
              <a:rPr lang="en-US" dirty="0"/>
              <a:t>This is mainly relevant for efficiency – when processing large amounts of data, saving rounds of calculation can really add up. Neural networks can have trillions+ calculations, savings matter. </a:t>
            </a:r>
          </a:p>
        </p:txBody>
      </p:sp>
    </p:spTree>
    <p:extLst>
      <p:ext uri="{BB962C8B-B14F-4D97-AF65-F5344CB8AC3E}">
        <p14:creationId xmlns:p14="http://schemas.microsoft.com/office/powerpoint/2010/main" val="24846715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CB0CFE-AABB-EAF4-8555-54404EC70468}"/>
              </a:ext>
            </a:extLst>
          </p:cNvPr>
          <p:cNvSpPr>
            <a:spLocks noGrp="1"/>
          </p:cNvSpPr>
          <p:nvPr>
            <p:ph type="title"/>
          </p:nvPr>
        </p:nvSpPr>
        <p:spPr/>
        <p:txBody>
          <a:bodyPr/>
          <a:lstStyle/>
          <a:p>
            <a:r>
              <a:rPr lang="en-US" dirty="0"/>
              <a:t>Gradient Descent in Practice</a:t>
            </a:r>
          </a:p>
        </p:txBody>
      </p:sp>
      <p:sp>
        <p:nvSpPr>
          <p:cNvPr id="3" name="Content Placeholder 2">
            <a:extLst>
              <a:ext uri="{FF2B5EF4-FFF2-40B4-BE49-F238E27FC236}">
                <a16:creationId xmlns:a16="http://schemas.microsoft.com/office/drawing/2014/main" id="{8DB290A8-A3BA-793A-B505-44A4C340946C}"/>
              </a:ext>
            </a:extLst>
          </p:cNvPr>
          <p:cNvSpPr>
            <a:spLocks noGrp="1"/>
          </p:cNvSpPr>
          <p:nvPr>
            <p:ph idx="1"/>
          </p:nvPr>
        </p:nvSpPr>
        <p:spPr>
          <a:xfrm>
            <a:off x="1451579" y="1938130"/>
            <a:ext cx="9603275" cy="4115351"/>
          </a:xfrm>
        </p:spPr>
        <p:txBody>
          <a:bodyPr>
            <a:normAutofit/>
          </a:bodyPr>
          <a:lstStyle/>
          <a:p>
            <a:r>
              <a:rPr lang="en-US" dirty="0"/>
              <a:t>In real usage, gradient descent is everywhere. </a:t>
            </a:r>
          </a:p>
          <a:p>
            <a:pPr lvl="1"/>
            <a:r>
              <a:rPr lang="en-US" dirty="0"/>
              <a:t>As long as the cost can be calculated (and differentiated), and we have weights to adjust. </a:t>
            </a:r>
          </a:p>
          <a:p>
            <a:r>
              <a:rPr lang="en-US" dirty="0"/>
              <a:t>Neural networks do lots of gradient descent, that’s why they take a long time to train. </a:t>
            </a:r>
          </a:p>
          <a:p>
            <a:pPr lvl="1"/>
            <a:r>
              <a:rPr lang="en-US" dirty="0"/>
              <a:t>Rather than a handful of weights, they can have hundreds of billions. </a:t>
            </a:r>
          </a:p>
          <a:p>
            <a:r>
              <a:rPr lang="en-US" dirty="0"/>
              <a:t>Many other algorithms (like SVM) use gradient descent at some stage. </a:t>
            </a:r>
          </a:p>
          <a:p>
            <a:r>
              <a:rPr lang="en-US" dirty="0"/>
              <a:t>Most linear regression models use gradient descent rather than direct calculation. </a:t>
            </a:r>
          </a:p>
          <a:p>
            <a:r>
              <a:rPr lang="en-US" b="1" dirty="0"/>
              <a:t>There are gradient descent “adjustments” that can help make better models. </a:t>
            </a:r>
          </a:p>
          <a:p>
            <a:pPr lvl="1"/>
            <a:r>
              <a:rPr lang="en-US" dirty="0"/>
              <a:t>We’ll look at this early next semester, while doing GD, add some tweaks. </a:t>
            </a:r>
          </a:p>
          <a:p>
            <a:pPr lvl="1"/>
            <a:r>
              <a:rPr lang="en-US" dirty="0"/>
              <a:t>Reduce overfitting, improve speed, select features. </a:t>
            </a:r>
          </a:p>
        </p:txBody>
      </p:sp>
    </p:spTree>
    <p:extLst>
      <p:ext uri="{BB962C8B-B14F-4D97-AF65-F5344CB8AC3E}">
        <p14:creationId xmlns:p14="http://schemas.microsoft.com/office/powerpoint/2010/main" val="11063824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2" descr="python - Plot Decision Boundary for Scikit Logistic Regression with 7  Features - Stack Overflow">
            <a:extLst>
              <a:ext uri="{FF2B5EF4-FFF2-40B4-BE49-F238E27FC236}">
                <a16:creationId xmlns:a16="http://schemas.microsoft.com/office/drawing/2014/main" id="{850F2B39-6A45-F94F-92E7-86744B67C29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067" t="7833" r="5981" b="3000"/>
          <a:stretch/>
        </p:blipFill>
        <p:spPr bwMode="auto">
          <a:xfrm>
            <a:off x="0" y="1835219"/>
            <a:ext cx="6048760" cy="4577938"/>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What is Gradient Descent? | IBM">
            <a:extLst>
              <a:ext uri="{FF2B5EF4-FFF2-40B4-BE49-F238E27FC236}">
                <a16:creationId xmlns:a16="http://schemas.microsoft.com/office/drawing/2014/main" id="{46B40DF2-DD33-C02D-585B-8AFED436092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31929" y="-444843"/>
            <a:ext cx="66548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0899379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576FA-9F43-A3ED-19AA-459A3323DA1C}"/>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2085FC41-335D-E12C-1613-918A680E8E79}"/>
              </a:ext>
            </a:extLst>
          </p:cNvPr>
          <p:cNvSpPr>
            <a:spLocks noGrp="1"/>
          </p:cNvSpPr>
          <p:nvPr>
            <p:ph idx="1"/>
          </p:nvPr>
        </p:nvSpPr>
        <p:spPr/>
        <p:txBody>
          <a:bodyPr/>
          <a:lstStyle/>
          <a:p>
            <a:endParaRPr lang="en-US"/>
          </a:p>
        </p:txBody>
      </p:sp>
      <p:pic>
        <p:nvPicPr>
          <p:cNvPr id="2050" name="Picture 2" descr="Implementing the Gradient Descent Algorithm From Scratch — Boston Data  Analysis | by Sarthak Niwate | Python in Plain English">
            <a:extLst>
              <a:ext uri="{FF2B5EF4-FFF2-40B4-BE49-F238E27FC236}">
                <a16:creationId xmlns:a16="http://schemas.microsoft.com/office/drawing/2014/main" id="{873E61B6-5E1E-39EF-D060-24DE9D22B84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8613" y="-32896"/>
            <a:ext cx="9249205" cy="69237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635412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3086" name="Rectangle 3085">
            <a:extLst>
              <a:ext uri="{FF2B5EF4-FFF2-40B4-BE49-F238E27FC236}">
                <a16:creationId xmlns:a16="http://schemas.microsoft.com/office/drawing/2014/main" id="{CDDE5CDF-1512-4CDA-B956-23D223F8DE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3088" name="Picture 3087">
            <a:extLst>
              <a:ext uri="{FF2B5EF4-FFF2-40B4-BE49-F238E27FC236}">
                <a16:creationId xmlns:a16="http://schemas.microsoft.com/office/drawing/2014/main" id="{B029D7D8-5A6B-4C76-94C8-15798C6C5AD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cxnSp>
        <p:nvCxnSpPr>
          <p:cNvPr id="3089" name="Straight Connector 3088">
            <a:extLst>
              <a:ext uri="{FF2B5EF4-FFF2-40B4-BE49-F238E27FC236}">
                <a16:creationId xmlns:a16="http://schemas.microsoft.com/office/drawing/2014/main" id="{A5C9319C-E20D-4884-952F-60B6A58C3E3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 useBgFill="1">
        <p:nvSpPr>
          <p:cNvPr id="3085" name="Rectangle 3084">
            <a:extLst>
              <a:ext uri="{FF2B5EF4-FFF2-40B4-BE49-F238E27FC236}">
                <a16:creationId xmlns:a16="http://schemas.microsoft.com/office/drawing/2014/main" id="{F1176DA6-4BBF-42A4-9C94-E6613CCD6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7" name="Rectangle 3086">
            <a:extLst>
              <a:ext uri="{FF2B5EF4-FFF2-40B4-BE49-F238E27FC236}">
                <a16:creationId xmlns:a16="http://schemas.microsoft.com/office/drawing/2014/main" id="{99AAB0AE-172B-4FB4-80C2-86CD6B8242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solidFill>
            <a:schemeClr val="bg1"/>
          </a:solidFill>
          <a:ln w="22225">
            <a:solidFill>
              <a:srgbClr val="63DCF8"/>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4" name="Picture 2" descr="Partial Derivative (Fully Explained w/ Step-by-Step Examples!)">
            <a:extLst>
              <a:ext uri="{FF2B5EF4-FFF2-40B4-BE49-F238E27FC236}">
                <a16:creationId xmlns:a16="http://schemas.microsoft.com/office/drawing/2014/main" id="{A8C93351-C776-96A6-11A7-4C3B9E1A28F0}"/>
              </a:ext>
            </a:extLst>
          </p:cNvPr>
          <p:cNvPicPr>
            <a:picLocks noGrp="1" noChangeAspect="1" noChangeArrowheads="1"/>
          </p:cNvPicPr>
          <p:nvPr>
            <p:ph idx="1"/>
          </p:nvPr>
        </p:nvPicPr>
        <p:blipFill rotWithShape="1">
          <a:blip r:embed="rId3">
            <a:extLst>
              <a:ext uri="{28A0092B-C50C-407E-A947-70E740481C1C}">
                <a14:useLocalDpi xmlns:a14="http://schemas.microsoft.com/office/drawing/2010/main" val="0"/>
              </a:ext>
            </a:extLst>
          </a:blip>
          <a:srcRect l="6540" t="11603" r="6748" b="10198"/>
          <a:stretch/>
        </p:blipFill>
        <p:spPr bwMode="auto">
          <a:xfrm>
            <a:off x="477012" y="546823"/>
            <a:ext cx="11237976" cy="57008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385017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useBgFill="1">
        <p:nvSpPr>
          <p:cNvPr id="4107" name="Rectangle 4106">
            <a:extLst>
              <a:ext uri="{FF2B5EF4-FFF2-40B4-BE49-F238E27FC236}">
                <a16:creationId xmlns:a16="http://schemas.microsoft.com/office/drawing/2014/main" id="{35C3D674-3D59-4E93-80CA-0C0A9095E8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09" name="Straight Connector 4108">
            <a:extLst>
              <a:ext uri="{FF2B5EF4-FFF2-40B4-BE49-F238E27FC236}">
                <a16:creationId xmlns:a16="http://schemas.microsoft.com/office/drawing/2014/main" id="{C884B8F8-FDC9-498B-9960-5D7260AFCB0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453896" y="1847088"/>
            <a:ext cx="4177373" cy="0"/>
          </a:xfrm>
          <a:prstGeom prst="line">
            <a:avLst/>
          </a:prstGeom>
          <a:ln w="31750"/>
        </p:spPr>
        <p:style>
          <a:lnRef idx="3">
            <a:schemeClr val="accent1"/>
          </a:lnRef>
          <a:fillRef idx="0">
            <a:schemeClr val="accent1"/>
          </a:fillRef>
          <a:effectRef idx="2">
            <a:schemeClr val="accent1"/>
          </a:effectRef>
          <a:fontRef idx="minor">
            <a:schemeClr val="tx1"/>
          </a:fontRef>
        </p:style>
      </p:cxnSp>
      <p:sp>
        <p:nvSpPr>
          <p:cNvPr id="2" name="Title 1">
            <a:extLst>
              <a:ext uri="{FF2B5EF4-FFF2-40B4-BE49-F238E27FC236}">
                <a16:creationId xmlns:a16="http://schemas.microsoft.com/office/drawing/2014/main" id="{66AF9C5C-55FB-6FBD-E069-5A76F413D437}"/>
              </a:ext>
            </a:extLst>
          </p:cNvPr>
          <p:cNvSpPr>
            <a:spLocks noGrp="1"/>
          </p:cNvSpPr>
          <p:nvPr>
            <p:ph type="title"/>
          </p:nvPr>
        </p:nvSpPr>
        <p:spPr>
          <a:xfrm>
            <a:off x="1451580" y="804520"/>
            <a:ext cx="4176511" cy="1049235"/>
          </a:xfrm>
        </p:spPr>
        <p:txBody>
          <a:bodyPr>
            <a:normAutofit/>
          </a:bodyPr>
          <a:lstStyle/>
          <a:p>
            <a:r>
              <a:rPr lang="en-US" dirty="0"/>
              <a:t>Ignore Calcs if Gibberish</a:t>
            </a:r>
          </a:p>
        </p:txBody>
      </p:sp>
      <p:sp>
        <p:nvSpPr>
          <p:cNvPr id="4111" name="Rectangle 4110">
            <a:extLst>
              <a:ext uri="{FF2B5EF4-FFF2-40B4-BE49-F238E27FC236}">
                <a16:creationId xmlns:a16="http://schemas.microsoft.com/office/drawing/2014/main" id="{EF2A81E1-BCBE-426B-8C09-33274E6940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3" name="Content Placeholder 2">
            <a:extLst>
              <a:ext uri="{FF2B5EF4-FFF2-40B4-BE49-F238E27FC236}">
                <a16:creationId xmlns:a16="http://schemas.microsoft.com/office/drawing/2014/main" id="{03F5B6EE-EF3F-4B09-2A7C-B996CB30A109}"/>
              </a:ext>
            </a:extLst>
          </p:cNvPr>
          <p:cNvSpPr>
            <a:spLocks noGrp="1"/>
          </p:cNvSpPr>
          <p:nvPr>
            <p:ph idx="1"/>
          </p:nvPr>
        </p:nvSpPr>
        <p:spPr>
          <a:xfrm>
            <a:off x="0" y="1853755"/>
            <a:ext cx="6096000" cy="4271657"/>
          </a:xfrm>
        </p:spPr>
        <p:txBody>
          <a:bodyPr>
            <a:normAutofit/>
          </a:bodyPr>
          <a:lstStyle/>
          <a:p>
            <a:r>
              <a:rPr lang="en-US" dirty="0"/>
              <a:t>When there is more than one X value (feature).</a:t>
            </a:r>
          </a:p>
          <a:p>
            <a:r>
              <a:rPr lang="en-US" dirty="0"/>
              <a:t>The slope of each weight is calculated on its own. </a:t>
            </a:r>
          </a:p>
          <a:p>
            <a:r>
              <a:rPr lang="en-US" dirty="0"/>
              <a:t>Each slope is the derivative with respect to X</a:t>
            </a:r>
            <a:r>
              <a:rPr lang="en-US" baseline="-25000" dirty="0"/>
              <a:t>i</a:t>
            </a:r>
            <a:r>
              <a:rPr lang="en-US" dirty="0"/>
              <a:t> </a:t>
            </a:r>
          </a:p>
          <a:p>
            <a:pPr lvl="1"/>
            <a:r>
              <a:rPr lang="en-US" dirty="0"/>
              <a:t>I.e. direction to change that X to lower cost. </a:t>
            </a:r>
          </a:p>
          <a:p>
            <a:pPr lvl="1"/>
            <a:r>
              <a:rPr lang="en-US" dirty="0"/>
              <a:t>“Chain Rule” is the tool in math. </a:t>
            </a:r>
          </a:p>
          <a:p>
            <a:r>
              <a:rPr lang="en-US" dirty="0"/>
              <a:t>This effectively “attributes” the error to each X.</a:t>
            </a:r>
          </a:p>
          <a:p>
            <a:pPr lvl="1"/>
            <a:r>
              <a:rPr lang="en-US" dirty="0"/>
              <a:t>Total cost is split amongst X according to results. </a:t>
            </a:r>
          </a:p>
          <a:p>
            <a:pPr lvl="1"/>
            <a:r>
              <a:rPr lang="en-US" dirty="0"/>
              <a:t>Each is adjusted proportionately to lower error. </a:t>
            </a:r>
          </a:p>
          <a:p>
            <a:pPr lvl="1"/>
            <a:r>
              <a:rPr lang="en-US" dirty="0"/>
              <a:t>The model can learn each X separately to fit better to the data. (More X, more capacity). </a:t>
            </a:r>
          </a:p>
          <a:p>
            <a:endParaRPr lang="en-US" dirty="0"/>
          </a:p>
          <a:p>
            <a:endParaRPr lang="en-US" dirty="0"/>
          </a:p>
        </p:txBody>
      </p:sp>
      <p:pic>
        <p:nvPicPr>
          <p:cNvPr id="4102" name="Picture 6" descr="Partial Derivative (Partial Differentiation) - Calculate, Symbol">
            <a:extLst>
              <a:ext uri="{FF2B5EF4-FFF2-40B4-BE49-F238E27FC236}">
                <a16:creationId xmlns:a16="http://schemas.microsoft.com/office/drawing/2014/main" id="{B1939A8F-0A06-A4E2-E3AC-BBF0FC8B539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7309"/>
          <a:stretch/>
        </p:blipFill>
        <p:spPr bwMode="auto">
          <a:xfrm>
            <a:off x="5685988" y="1186248"/>
            <a:ext cx="6505701" cy="4210645"/>
          </a:xfrm>
          <a:prstGeom prst="rect">
            <a:avLst/>
          </a:prstGeom>
          <a:noFill/>
          <a:extLst>
            <a:ext uri="{909E8E84-426E-40DD-AFC4-6F175D3DCCD1}">
              <a14:hiddenFill xmlns:a14="http://schemas.microsoft.com/office/drawing/2010/main">
                <a:solidFill>
                  <a:srgbClr val="FFFFFF"/>
                </a:solidFill>
              </a14:hiddenFill>
            </a:ext>
          </a:extLst>
        </p:spPr>
      </p:pic>
      <p:pic>
        <p:nvPicPr>
          <p:cNvPr id="4113" name="Picture 4112">
            <a:extLst>
              <a:ext uri="{FF2B5EF4-FFF2-40B4-BE49-F238E27FC236}">
                <a16:creationId xmlns:a16="http://schemas.microsoft.com/office/drawing/2014/main" id="{39D1DDD4-5BB3-45BA-B9B3-06B62299AD7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cxnSp>
        <p:nvCxnSpPr>
          <p:cNvPr id="4115" name="Straight Connector 4114">
            <a:extLst>
              <a:ext uri="{FF2B5EF4-FFF2-40B4-BE49-F238E27FC236}">
                <a16:creationId xmlns:a16="http://schemas.microsoft.com/office/drawing/2014/main" id="{A24DAE64-2302-42EA-8239-F2F0775CA5A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82244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502E7E-A51C-28A2-B761-F3E046E6815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DA55B97-5148-4CA9-C635-FF5CD74DF7C7}"/>
              </a:ext>
            </a:extLst>
          </p:cNvPr>
          <p:cNvSpPr>
            <a:spLocks noGrp="1"/>
          </p:cNvSpPr>
          <p:nvPr>
            <p:ph idx="1"/>
          </p:nvPr>
        </p:nvSpPr>
        <p:spPr/>
        <p:txBody>
          <a:bodyPr/>
          <a:lstStyle/>
          <a:p>
            <a:endParaRPr lang="en-US"/>
          </a:p>
        </p:txBody>
      </p:sp>
      <p:pic>
        <p:nvPicPr>
          <p:cNvPr id="6146" name="Picture 2" descr="Gradient Descent From Scratch- Batch Gradient Descent, Stochastic Gradient  Descent, and Mini-Batch Gradient Descent. | by Jaleel Adejumo | Medium">
            <a:extLst>
              <a:ext uri="{FF2B5EF4-FFF2-40B4-BE49-F238E27FC236}">
                <a16:creationId xmlns:a16="http://schemas.microsoft.com/office/drawing/2014/main" id="{B6DEB5B4-7AAB-4752-EF60-4A55A591748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49238"/>
            <a:ext cx="12192000" cy="63595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5436582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CAD26-CA1F-6583-BC26-D331951AB35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F61AEC3-702F-8CE8-3399-2C94157F3E0F}"/>
              </a:ext>
            </a:extLst>
          </p:cNvPr>
          <p:cNvSpPr>
            <a:spLocks noGrp="1"/>
          </p:cNvSpPr>
          <p:nvPr>
            <p:ph idx="1"/>
          </p:nvPr>
        </p:nvSpPr>
        <p:spPr/>
        <p:txBody>
          <a:bodyPr/>
          <a:lstStyle/>
          <a:p>
            <a:endParaRPr lang="en-US"/>
          </a:p>
        </p:txBody>
      </p:sp>
      <p:pic>
        <p:nvPicPr>
          <p:cNvPr id="5122" name="Picture 2">
            <a:extLst>
              <a:ext uri="{FF2B5EF4-FFF2-40B4-BE49-F238E27FC236}">
                <a16:creationId xmlns:a16="http://schemas.microsoft.com/office/drawing/2014/main" id="{0C289051-34E8-F4BF-21C5-89264F528D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 y="0"/>
            <a:ext cx="1219781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330202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EA1339-F741-CED0-D182-355D85BA4D5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0895EBD-C394-7CAD-96FA-1B67BA60EA7B}"/>
              </a:ext>
            </a:extLst>
          </p:cNvPr>
          <p:cNvSpPr>
            <a:spLocks noGrp="1"/>
          </p:cNvSpPr>
          <p:nvPr>
            <p:ph idx="1"/>
          </p:nvPr>
        </p:nvSpPr>
        <p:spPr/>
        <p:txBody>
          <a:bodyPr/>
          <a:lstStyle/>
          <a:p>
            <a:endParaRPr lang="en-US"/>
          </a:p>
        </p:txBody>
      </p:sp>
      <p:pic>
        <p:nvPicPr>
          <p:cNvPr id="1026" name="Picture 2" descr="2 Logistic Regression Type Neural Networks | The Mathematical Engineering  of Deep Learning (2021)">
            <a:extLst>
              <a:ext uri="{FF2B5EF4-FFF2-40B4-BE49-F238E27FC236}">
                <a16:creationId xmlns:a16="http://schemas.microsoft.com/office/drawing/2014/main" id="{84D0B343-3205-AD0C-AADC-1FE1A06056D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1535"/>
          <a:stretch/>
        </p:blipFill>
        <p:spPr bwMode="auto">
          <a:xfrm>
            <a:off x="0" y="410991"/>
            <a:ext cx="12192000" cy="60360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0402372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2389F0-DA48-FDD8-1494-50B815F482EC}"/>
              </a:ext>
            </a:extLst>
          </p:cNvPr>
          <p:cNvSpPr>
            <a:spLocks noGrp="1"/>
          </p:cNvSpPr>
          <p:nvPr>
            <p:ph type="title"/>
          </p:nvPr>
        </p:nvSpPr>
        <p:spPr/>
        <p:txBody>
          <a:bodyPr/>
          <a:lstStyle/>
          <a:p>
            <a:r>
              <a:rPr lang="en-US" dirty="0"/>
              <a:t>Gradient Descent Results</a:t>
            </a:r>
          </a:p>
        </p:txBody>
      </p:sp>
      <p:sp>
        <p:nvSpPr>
          <p:cNvPr id="3" name="Content Placeholder 2">
            <a:extLst>
              <a:ext uri="{FF2B5EF4-FFF2-40B4-BE49-F238E27FC236}">
                <a16:creationId xmlns:a16="http://schemas.microsoft.com/office/drawing/2014/main" id="{374B114E-7C39-3CF1-BC53-03E44CCF4997}"/>
              </a:ext>
            </a:extLst>
          </p:cNvPr>
          <p:cNvSpPr>
            <a:spLocks noGrp="1"/>
          </p:cNvSpPr>
          <p:nvPr>
            <p:ph idx="1"/>
          </p:nvPr>
        </p:nvSpPr>
        <p:spPr>
          <a:xfrm>
            <a:off x="444843" y="2015732"/>
            <a:ext cx="7786813" cy="3858294"/>
          </a:xfrm>
        </p:spPr>
        <p:txBody>
          <a:bodyPr>
            <a:normAutofit/>
          </a:bodyPr>
          <a:lstStyle/>
          <a:p>
            <a:r>
              <a:rPr lang="en-US" sz="2400" dirty="0"/>
              <a:t>Eventually we have a model. </a:t>
            </a:r>
          </a:p>
          <a:p>
            <a:pPr lvl="1"/>
            <a:r>
              <a:rPr lang="en-US" sz="2000" dirty="0"/>
              <a:t>The model is just like a linear regression, we only need the weights (coefficients) to generate a model. </a:t>
            </a:r>
          </a:p>
          <a:p>
            <a:pPr lvl="1"/>
            <a:r>
              <a:rPr lang="en-US" sz="2000" dirty="0"/>
              <a:t>The gradient descent calculates each weight for us, incrementally. </a:t>
            </a:r>
          </a:p>
          <a:p>
            <a:pPr lvl="1"/>
            <a:r>
              <a:rPr lang="en-US" sz="2000" dirty="0"/>
              <a:t>The model doesn’t predict an answer, it predicts the log-odds. We can then use the sigmoid to translate to probability, and a cutoff to generate an </a:t>
            </a:r>
            <a:r>
              <a:rPr lang="en-US" sz="2000"/>
              <a:t>actual answer. </a:t>
            </a:r>
            <a:endParaRPr lang="en-US" sz="2000" dirty="0"/>
          </a:p>
          <a:p>
            <a:r>
              <a:rPr lang="en-US" sz="2200" dirty="0"/>
              <a:t>We don’t calculate an answer, we wait until the “wrongness” of our current guess can’t be reduced. </a:t>
            </a:r>
          </a:p>
        </p:txBody>
      </p:sp>
      <p:pic>
        <p:nvPicPr>
          <p:cNvPr id="10242" name="Picture 2" descr="Linear to Logistic Regression, Explained Step by Step - Velocity Business  Solutions Limited">
            <a:extLst>
              <a:ext uri="{FF2B5EF4-FFF2-40B4-BE49-F238E27FC236}">
                <a16:creationId xmlns:a16="http://schemas.microsoft.com/office/drawing/2014/main" id="{C5A339EC-EC04-8857-E7FE-01BEAAE3FAB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16900" y="1458097"/>
            <a:ext cx="3975100" cy="41783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17560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96E8F9-7779-692B-DAFE-F127A463FD2A}"/>
              </a:ext>
            </a:extLst>
          </p:cNvPr>
          <p:cNvSpPr>
            <a:spLocks noGrp="1"/>
          </p:cNvSpPr>
          <p:nvPr>
            <p:ph type="title"/>
          </p:nvPr>
        </p:nvSpPr>
        <p:spPr/>
        <p:txBody>
          <a:bodyPr/>
          <a:lstStyle/>
          <a:p>
            <a:r>
              <a:rPr lang="en-US" dirty="0"/>
              <a:t>Classification and Regression</a:t>
            </a:r>
          </a:p>
        </p:txBody>
      </p:sp>
      <p:sp>
        <p:nvSpPr>
          <p:cNvPr id="3" name="Content Placeholder 2">
            <a:extLst>
              <a:ext uri="{FF2B5EF4-FFF2-40B4-BE49-F238E27FC236}">
                <a16:creationId xmlns:a16="http://schemas.microsoft.com/office/drawing/2014/main" id="{C4FE6CBF-8DA6-A1E3-38D1-FEFE5D5E50C9}"/>
              </a:ext>
            </a:extLst>
          </p:cNvPr>
          <p:cNvSpPr>
            <a:spLocks noGrp="1"/>
          </p:cNvSpPr>
          <p:nvPr>
            <p:ph idx="1"/>
          </p:nvPr>
        </p:nvSpPr>
        <p:spPr/>
        <p:txBody>
          <a:bodyPr/>
          <a:lstStyle/>
          <a:p>
            <a:r>
              <a:rPr lang="en-US" dirty="0"/>
              <a:t>If prediction group membership – A/B, T/F, yes/no, it is a classification problem</a:t>
            </a:r>
          </a:p>
          <a:p>
            <a:r>
              <a:rPr lang="en-US" dirty="0"/>
              <a:t>If predicting a raw value, it is a regression problem. </a:t>
            </a:r>
          </a:p>
          <a:p>
            <a:r>
              <a:rPr lang="en-US" dirty="0"/>
              <a:t>This is not related to the feature set (only target). </a:t>
            </a:r>
          </a:p>
          <a:p>
            <a:pPr lvl="1"/>
            <a:r>
              <a:rPr lang="en-US" dirty="0"/>
              <a:t>Features can (generally) be numerical/categorical for any model. </a:t>
            </a:r>
          </a:p>
          <a:p>
            <a:r>
              <a:rPr lang="en-US" dirty="0"/>
              <a:t>Most types of predictive models have versions for either. </a:t>
            </a:r>
          </a:p>
          <a:p>
            <a:pPr lvl="1"/>
            <a:r>
              <a:rPr lang="en-US" dirty="0"/>
              <a:t>Internal math is mostly the same, cost and final prediction differ. </a:t>
            </a:r>
          </a:p>
        </p:txBody>
      </p:sp>
    </p:spTree>
    <p:extLst>
      <p:ext uri="{BB962C8B-B14F-4D97-AF65-F5344CB8AC3E}">
        <p14:creationId xmlns:p14="http://schemas.microsoft.com/office/powerpoint/2010/main" val="31267272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50F36-4CB6-979F-BC23-D3EC214E0327}"/>
              </a:ext>
            </a:extLst>
          </p:cNvPr>
          <p:cNvSpPr>
            <a:spLocks noGrp="1"/>
          </p:cNvSpPr>
          <p:nvPr>
            <p:ph type="title"/>
          </p:nvPr>
        </p:nvSpPr>
        <p:spPr/>
        <p:txBody>
          <a:bodyPr/>
          <a:lstStyle/>
          <a:p>
            <a:r>
              <a:rPr lang="en-US" dirty="0"/>
              <a:t>Errors</a:t>
            </a:r>
          </a:p>
        </p:txBody>
      </p:sp>
      <p:sp>
        <p:nvSpPr>
          <p:cNvPr id="3" name="Content Placeholder 2">
            <a:extLst>
              <a:ext uri="{FF2B5EF4-FFF2-40B4-BE49-F238E27FC236}">
                <a16:creationId xmlns:a16="http://schemas.microsoft.com/office/drawing/2014/main" id="{C39F8D85-8CED-F249-AF7A-521C7E8C2251}"/>
              </a:ext>
            </a:extLst>
          </p:cNvPr>
          <p:cNvSpPr>
            <a:spLocks noGrp="1"/>
          </p:cNvSpPr>
          <p:nvPr>
            <p:ph idx="1"/>
          </p:nvPr>
        </p:nvSpPr>
        <p:spPr/>
        <p:txBody>
          <a:bodyPr/>
          <a:lstStyle/>
          <a:p>
            <a:endParaRPr lang="en-US"/>
          </a:p>
        </p:txBody>
      </p:sp>
      <p:pic>
        <p:nvPicPr>
          <p:cNvPr id="5122" name="Picture 2" descr="system error&quot; - Dr Evil Austin Powers Meme Generator">
            <a:extLst>
              <a:ext uri="{FF2B5EF4-FFF2-40B4-BE49-F238E27FC236}">
                <a16:creationId xmlns:a16="http://schemas.microsoft.com/office/drawing/2014/main" id="{AAFF6EEB-6B3E-A65A-DD52-11823A0572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0" y="1778000"/>
            <a:ext cx="7620000" cy="508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939748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91E8B-1D8A-9602-826D-86CC8382E282}"/>
              </a:ext>
            </a:extLst>
          </p:cNvPr>
          <p:cNvSpPr>
            <a:spLocks noGrp="1"/>
          </p:cNvSpPr>
          <p:nvPr>
            <p:ph type="title"/>
          </p:nvPr>
        </p:nvSpPr>
        <p:spPr/>
        <p:txBody>
          <a:bodyPr/>
          <a:lstStyle/>
          <a:p>
            <a:r>
              <a:rPr lang="en-US" dirty="0"/>
              <a:t>Model Accuracy</a:t>
            </a:r>
          </a:p>
        </p:txBody>
      </p:sp>
      <p:sp>
        <p:nvSpPr>
          <p:cNvPr id="3" name="Content Placeholder 2">
            <a:extLst>
              <a:ext uri="{FF2B5EF4-FFF2-40B4-BE49-F238E27FC236}">
                <a16:creationId xmlns:a16="http://schemas.microsoft.com/office/drawing/2014/main" id="{F192621C-18A1-3334-59EE-C0661BE55D4E}"/>
              </a:ext>
            </a:extLst>
          </p:cNvPr>
          <p:cNvSpPr>
            <a:spLocks noGrp="1"/>
          </p:cNvSpPr>
          <p:nvPr>
            <p:ph idx="1"/>
          </p:nvPr>
        </p:nvSpPr>
        <p:spPr>
          <a:xfrm>
            <a:off x="1137147" y="1853754"/>
            <a:ext cx="10268140" cy="4199727"/>
          </a:xfrm>
        </p:spPr>
        <p:txBody>
          <a:bodyPr/>
          <a:lstStyle/>
          <a:p>
            <a:r>
              <a:rPr lang="en-US" dirty="0"/>
              <a:t>The cost (log loss) is an internal measure for the model. The accuracy is final performance. </a:t>
            </a:r>
          </a:p>
          <a:p>
            <a:pPr lvl="1"/>
            <a:r>
              <a:rPr lang="en-US" dirty="0"/>
              <a:t>Log loss ‘teaches’ the model as it is trained. Accuracy evaluates the end result. </a:t>
            </a:r>
          </a:p>
          <a:p>
            <a:r>
              <a:rPr lang="en-US" dirty="0"/>
              <a:t>The cost doesn’t directly tell us accuracy of the final model. </a:t>
            </a:r>
          </a:p>
          <a:p>
            <a:pPr lvl="1"/>
            <a:r>
              <a:rPr lang="en-US" dirty="0"/>
              <a:t>In regression cost and “user facing” accuracy (SSE/MSE/RMSE) are the same. </a:t>
            </a:r>
          </a:p>
          <a:p>
            <a:pPr lvl="1"/>
            <a:r>
              <a:rPr lang="en-US" dirty="0"/>
              <a:t>In classification, the accuracy and cost answer different questions (close vs correct). </a:t>
            </a:r>
          </a:p>
          <a:p>
            <a:r>
              <a:rPr lang="en-US" dirty="0"/>
              <a:t>There are several different measures for classification accuracy.</a:t>
            </a:r>
          </a:p>
          <a:p>
            <a:pPr lvl="1"/>
            <a:r>
              <a:rPr lang="en-US" dirty="0"/>
              <a:t>The most basic is accuracy - #correct / #total N. </a:t>
            </a:r>
          </a:p>
          <a:p>
            <a:pPr lvl="1"/>
            <a:r>
              <a:rPr lang="en-US" dirty="0"/>
              <a:t>Several other accuracy measures can be useful or needed. </a:t>
            </a:r>
          </a:p>
          <a:p>
            <a:r>
              <a:rPr lang="en-US" dirty="0"/>
              <a:t>Accuracy can be examined by looking at a confusion matrix and its derivatives. </a:t>
            </a:r>
          </a:p>
        </p:txBody>
      </p:sp>
      <p:pic>
        <p:nvPicPr>
          <p:cNvPr id="9218" name="Picture 2" descr="Intuition behind Log-loss Score | Towards Data Science">
            <a:extLst>
              <a:ext uri="{FF2B5EF4-FFF2-40B4-BE49-F238E27FC236}">
                <a16:creationId xmlns:a16="http://schemas.microsoft.com/office/drawing/2014/main" id="{0EB393FF-FFBD-6D03-3178-71781E19855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81900" y="0"/>
            <a:ext cx="4610100" cy="1904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488576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152800-A8AB-AA37-86D7-ADCE5CEE7B2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ECD0AFCE-ECF1-E3E7-4DB4-81AF361F47D7}"/>
              </a:ext>
            </a:extLst>
          </p:cNvPr>
          <p:cNvSpPr>
            <a:spLocks noGrp="1"/>
          </p:cNvSpPr>
          <p:nvPr>
            <p:ph idx="1"/>
          </p:nvPr>
        </p:nvSpPr>
        <p:spPr/>
        <p:txBody>
          <a:bodyPr/>
          <a:lstStyle/>
          <a:p>
            <a:endParaRPr lang="en-US"/>
          </a:p>
        </p:txBody>
      </p:sp>
      <p:pic>
        <p:nvPicPr>
          <p:cNvPr id="6146" name="Picture 2" descr="neural network - Loss &amp; accuracy - Are these reasonable learning curves? -  Stack Overflow">
            <a:extLst>
              <a:ext uri="{FF2B5EF4-FFF2-40B4-BE49-F238E27FC236}">
                <a16:creationId xmlns:a16="http://schemas.microsoft.com/office/drawing/2014/main" id="{9DCF3A3E-4F04-9BFD-D4A4-6399E1D5C610}"/>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338" t="6885" r="7669" b="5222"/>
          <a:stretch/>
        </p:blipFill>
        <p:spPr bwMode="auto">
          <a:xfrm>
            <a:off x="0" y="0"/>
            <a:ext cx="12181275" cy="62772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6740523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A41BDD-A708-6239-89F0-401C9C116670}"/>
              </a:ext>
            </a:extLst>
          </p:cNvPr>
          <p:cNvSpPr>
            <a:spLocks noGrp="1"/>
          </p:cNvSpPr>
          <p:nvPr>
            <p:ph type="title"/>
          </p:nvPr>
        </p:nvSpPr>
        <p:spPr>
          <a:xfrm>
            <a:off x="1451579" y="804519"/>
            <a:ext cx="9603275" cy="1049235"/>
          </a:xfrm>
        </p:spPr>
        <p:txBody>
          <a:bodyPr>
            <a:normAutofit/>
          </a:bodyPr>
          <a:lstStyle/>
          <a:p>
            <a:r>
              <a:rPr lang="en-US" dirty="0"/>
              <a:t>Confusion Matrix</a:t>
            </a:r>
          </a:p>
        </p:txBody>
      </p:sp>
      <p:sp>
        <p:nvSpPr>
          <p:cNvPr id="3" name="Content Placeholder 2">
            <a:extLst>
              <a:ext uri="{FF2B5EF4-FFF2-40B4-BE49-F238E27FC236}">
                <a16:creationId xmlns:a16="http://schemas.microsoft.com/office/drawing/2014/main" id="{DE8B0F55-A87C-AF41-885C-8341A99DD184}"/>
              </a:ext>
            </a:extLst>
          </p:cNvPr>
          <p:cNvSpPr>
            <a:spLocks noGrp="1"/>
          </p:cNvSpPr>
          <p:nvPr>
            <p:ph idx="1"/>
          </p:nvPr>
        </p:nvSpPr>
        <p:spPr>
          <a:xfrm>
            <a:off x="0" y="1853752"/>
            <a:ext cx="6127439" cy="4199729"/>
          </a:xfrm>
        </p:spPr>
        <p:txBody>
          <a:bodyPr>
            <a:normAutofit/>
          </a:bodyPr>
          <a:lstStyle/>
          <a:p>
            <a:pPr>
              <a:lnSpc>
                <a:spcPct val="110000"/>
              </a:lnSpc>
            </a:pPr>
            <a:r>
              <a:rPr lang="en-US" dirty="0"/>
              <a:t>A confusion matrix shows the “types” of right and wrong predictions from the model. </a:t>
            </a:r>
          </a:p>
          <a:p>
            <a:pPr>
              <a:lnSpc>
                <a:spcPct val="110000"/>
              </a:lnSpc>
            </a:pPr>
            <a:r>
              <a:rPr lang="en-US" dirty="0"/>
              <a:t>We can have two types of errors:</a:t>
            </a:r>
          </a:p>
          <a:p>
            <a:pPr lvl="1">
              <a:lnSpc>
                <a:spcPct val="110000"/>
              </a:lnSpc>
            </a:pPr>
            <a:r>
              <a:rPr lang="en-US" sz="2000" dirty="0"/>
              <a:t>Type 1: Predicting 1 when it is really 0. </a:t>
            </a:r>
          </a:p>
          <a:p>
            <a:pPr lvl="1">
              <a:lnSpc>
                <a:spcPct val="110000"/>
              </a:lnSpc>
            </a:pPr>
            <a:r>
              <a:rPr lang="en-US" sz="2000" dirty="0"/>
              <a:t>Type 2: Predicting 0 when it is really 1. </a:t>
            </a:r>
          </a:p>
          <a:p>
            <a:pPr>
              <a:lnSpc>
                <a:spcPct val="110000"/>
              </a:lnSpc>
            </a:pPr>
            <a:r>
              <a:rPr lang="en-US" dirty="0"/>
              <a:t>These might not have the same real-world impact. </a:t>
            </a:r>
          </a:p>
          <a:p>
            <a:pPr lvl="1">
              <a:lnSpc>
                <a:spcPct val="110000"/>
              </a:lnSpc>
            </a:pPr>
            <a:r>
              <a:rPr lang="en-US" sz="2000" dirty="0"/>
              <a:t>E.g. detecting credit card fraud… we could miss all fraud and have 99.9+% accuracy. </a:t>
            </a:r>
          </a:p>
          <a:p>
            <a:pPr>
              <a:lnSpc>
                <a:spcPct val="110000"/>
              </a:lnSpc>
            </a:pPr>
            <a:r>
              <a:rPr lang="en-US" dirty="0"/>
              <a:t>Confusion matrix allows us to spot balance. </a:t>
            </a:r>
          </a:p>
          <a:p>
            <a:pPr>
              <a:lnSpc>
                <a:spcPct val="110000"/>
              </a:lnSpc>
            </a:pPr>
            <a:r>
              <a:rPr lang="en-US" dirty="0"/>
              <a:t>Note – layouts and orientations vary sometimes. </a:t>
            </a:r>
          </a:p>
        </p:txBody>
      </p:sp>
      <p:pic>
        <p:nvPicPr>
          <p:cNvPr id="7170" name="Picture 2" descr="Confusion Matrix: How To Use It &amp; Interpret Results [Examples]">
            <a:extLst>
              <a:ext uri="{FF2B5EF4-FFF2-40B4-BE49-F238E27FC236}">
                <a16:creationId xmlns:a16="http://schemas.microsoft.com/office/drawing/2014/main" id="{2ADD6F28-FA9F-E4CE-E32D-AAEE66CF1FE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1859" t="19279" r="25889" b="21844"/>
          <a:stretch/>
        </p:blipFill>
        <p:spPr bwMode="auto">
          <a:xfrm>
            <a:off x="6127440" y="1853753"/>
            <a:ext cx="6064560" cy="50042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61547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F00AD-6FFE-8749-2F5E-7B1EC5E4A7E4}"/>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F10FA95-4777-6FCA-66E4-773E78F2028A}"/>
              </a:ext>
            </a:extLst>
          </p:cNvPr>
          <p:cNvSpPr>
            <a:spLocks noGrp="1"/>
          </p:cNvSpPr>
          <p:nvPr>
            <p:ph idx="1"/>
          </p:nvPr>
        </p:nvSpPr>
        <p:spPr/>
        <p:txBody>
          <a:bodyPr/>
          <a:lstStyle/>
          <a:p>
            <a:endParaRPr lang="en-US"/>
          </a:p>
        </p:txBody>
      </p:sp>
      <p:pic>
        <p:nvPicPr>
          <p:cNvPr id="4098" name="Picture 2" descr="What's the type I and type II errors? | by Beytullah Soylev | Medium">
            <a:extLst>
              <a:ext uri="{FF2B5EF4-FFF2-40B4-BE49-F238E27FC236}">
                <a16:creationId xmlns:a16="http://schemas.microsoft.com/office/drawing/2014/main" id="{9EF0350F-24B5-1A77-E087-FD2916406AA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87513" y="0"/>
            <a:ext cx="8816975"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3015153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B4C6F1-47F8-5F3D-B171-D5C5E76BD637}"/>
              </a:ext>
            </a:extLst>
          </p:cNvPr>
          <p:cNvSpPr>
            <a:spLocks noGrp="1"/>
          </p:cNvSpPr>
          <p:nvPr>
            <p:ph type="title"/>
          </p:nvPr>
        </p:nvSpPr>
        <p:spPr/>
        <p:txBody>
          <a:bodyPr/>
          <a:lstStyle/>
          <a:p>
            <a:r>
              <a:rPr lang="en-US" dirty="0"/>
              <a:t>In stats Language…</a:t>
            </a:r>
          </a:p>
        </p:txBody>
      </p:sp>
      <p:sp>
        <p:nvSpPr>
          <p:cNvPr id="3" name="Content Placeholder 2">
            <a:extLst>
              <a:ext uri="{FF2B5EF4-FFF2-40B4-BE49-F238E27FC236}">
                <a16:creationId xmlns:a16="http://schemas.microsoft.com/office/drawing/2014/main" id="{A1E50A0E-D33D-4EA2-9FD9-2C985D5070E8}"/>
              </a:ext>
            </a:extLst>
          </p:cNvPr>
          <p:cNvSpPr>
            <a:spLocks noGrp="1"/>
          </p:cNvSpPr>
          <p:nvPr>
            <p:ph idx="1"/>
          </p:nvPr>
        </p:nvSpPr>
        <p:spPr/>
        <p:txBody>
          <a:bodyPr/>
          <a:lstStyle/>
          <a:p>
            <a:endParaRPr lang="en-US"/>
          </a:p>
        </p:txBody>
      </p:sp>
      <p:pic>
        <p:nvPicPr>
          <p:cNvPr id="3074" name="Picture 2" descr="Type I &amp; Type II Errors | Differences, Examples, Visualizations">
            <a:extLst>
              <a:ext uri="{FF2B5EF4-FFF2-40B4-BE49-F238E27FC236}">
                <a16:creationId xmlns:a16="http://schemas.microsoft.com/office/drawing/2014/main" id="{EC4C0EFA-B2AC-F458-2277-5DE3E513568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7568" b="11731"/>
          <a:stretch/>
        </p:blipFill>
        <p:spPr bwMode="auto">
          <a:xfrm>
            <a:off x="947737" y="1391655"/>
            <a:ext cx="10296525" cy="55344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9049622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CA4E25-4777-0149-E761-6C9CC22CE3E5}"/>
              </a:ext>
            </a:extLst>
          </p:cNvPr>
          <p:cNvSpPr>
            <a:spLocks noGrp="1"/>
          </p:cNvSpPr>
          <p:nvPr>
            <p:ph type="title"/>
          </p:nvPr>
        </p:nvSpPr>
        <p:spPr>
          <a:xfrm>
            <a:off x="1451579" y="804519"/>
            <a:ext cx="9603275" cy="1049235"/>
          </a:xfrm>
        </p:spPr>
        <p:txBody>
          <a:bodyPr>
            <a:normAutofit/>
          </a:bodyPr>
          <a:lstStyle/>
          <a:p>
            <a:r>
              <a:rPr lang="en-US" dirty="0"/>
              <a:t>Derived Accuracies</a:t>
            </a:r>
          </a:p>
        </p:txBody>
      </p:sp>
      <p:sp>
        <p:nvSpPr>
          <p:cNvPr id="3" name="Content Placeholder 2">
            <a:extLst>
              <a:ext uri="{FF2B5EF4-FFF2-40B4-BE49-F238E27FC236}">
                <a16:creationId xmlns:a16="http://schemas.microsoft.com/office/drawing/2014/main" id="{4FE45963-5FE6-2327-A9F5-3BC2ECA469B4}"/>
              </a:ext>
            </a:extLst>
          </p:cNvPr>
          <p:cNvSpPr>
            <a:spLocks noGrp="1"/>
          </p:cNvSpPr>
          <p:nvPr>
            <p:ph idx="1"/>
          </p:nvPr>
        </p:nvSpPr>
        <p:spPr>
          <a:xfrm>
            <a:off x="33596" y="1858830"/>
            <a:ext cx="7315200" cy="4298568"/>
          </a:xfrm>
        </p:spPr>
        <p:txBody>
          <a:bodyPr>
            <a:normAutofit/>
          </a:bodyPr>
          <a:lstStyle/>
          <a:p>
            <a:r>
              <a:rPr lang="en-US" dirty="0"/>
              <a:t>We can use the results in a confusion matrix to calculate other error metrics. </a:t>
            </a:r>
          </a:p>
          <a:p>
            <a:r>
              <a:rPr lang="en-US" dirty="0"/>
              <a:t>Precision – what share of predicted 1s are right?</a:t>
            </a:r>
          </a:p>
          <a:p>
            <a:pPr lvl="1"/>
            <a:r>
              <a:rPr lang="en-US" dirty="0"/>
              <a:t>Where we don’t want T1 errors.  FP &gt; FN. </a:t>
            </a:r>
          </a:p>
          <a:p>
            <a:pPr lvl="1"/>
            <a:r>
              <a:rPr lang="en-US" dirty="0"/>
              <a:t>Targeted ads, spam detection, </a:t>
            </a:r>
            <a:r>
              <a:rPr lang="en-US" dirty="0" err="1"/>
              <a:t>etc</a:t>
            </a:r>
            <a:r>
              <a:rPr lang="en-US" dirty="0"/>
              <a:t>…</a:t>
            </a:r>
          </a:p>
          <a:p>
            <a:r>
              <a:rPr lang="en-US" dirty="0"/>
              <a:t>Recall – what share of actual1s did I predict? </a:t>
            </a:r>
          </a:p>
          <a:p>
            <a:pPr lvl="1"/>
            <a:r>
              <a:rPr lang="en-US" dirty="0"/>
              <a:t>Where we don’t want T2 errors. FN &gt; FP. </a:t>
            </a:r>
          </a:p>
          <a:p>
            <a:pPr lvl="1"/>
            <a:r>
              <a:rPr lang="en-US" dirty="0"/>
              <a:t>Cancer prediction, safety thresholds, </a:t>
            </a:r>
            <a:r>
              <a:rPr lang="en-US" dirty="0" err="1"/>
              <a:t>etc</a:t>
            </a:r>
            <a:r>
              <a:rPr lang="en-US" dirty="0"/>
              <a:t>…</a:t>
            </a:r>
          </a:p>
          <a:p>
            <a:r>
              <a:rPr lang="en-US" dirty="0"/>
              <a:t>F1 – “Harmonic Mean” - derived to strike a balance. </a:t>
            </a:r>
          </a:p>
          <a:p>
            <a:pPr lvl="1"/>
            <a:r>
              <a:rPr lang="en-US" dirty="0"/>
              <a:t>Will perform poorly if either of the above is bad. </a:t>
            </a:r>
          </a:p>
        </p:txBody>
      </p:sp>
      <p:pic>
        <p:nvPicPr>
          <p:cNvPr id="8194" name="Picture 2" descr="All About ML — Part 4: Evaluation metrics in classification algorithms | by  Dharani J | All About ML | Medium">
            <a:extLst>
              <a:ext uri="{FF2B5EF4-FFF2-40B4-BE49-F238E27FC236}">
                <a16:creationId xmlns:a16="http://schemas.microsoft.com/office/drawing/2014/main" id="{9902559B-89A4-CB92-5435-A29998F1264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98289" y="1853754"/>
            <a:ext cx="5160115" cy="42985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7375075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F92274-3AA9-75C9-E61B-DCEBA33E1B24}"/>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11B422F-923D-931D-32D1-6210A66E4C5F}"/>
              </a:ext>
            </a:extLst>
          </p:cNvPr>
          <p:cNvSpPr>
            <a:spLocks noGrp="1"/>
          </p:cNvSpPr>
          <p:nvPr>
            <p:ph idx="1"/>
          </p:nvPr>
        </p:nvSpPr>
        <p:spPr/>
        <p:txBody>
          <a:bodyPr/>
          <a:lstStyle/>
          <a:p>
            <a:endParaRPr lang="en-US"/>
          </a:p>
        </p:txBody>
      </p:sp>
      <p:pic>
        <p:nvPicPr>
          <p:cNvPr id="8194" name="Picture 2" descr="What is a Confusion Matrix? - Unite.AI">
            <a:extLst>
              <a:ext uri="{FF2B5EF4-FFF2-40B4-BE49-F238E27FC236}">
                <a16:creationId xmlns:a16="http://schemas.microsoft.com/office/drawing/2014/main" id="{37727553-37AB-939D-4590-99C1740A322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428625"/>
            <a:ext cx="12192000" cy="59991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4088178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314B7D-9FD0-E87A-3D63-5E7DB8DF31AE}"/>
              </a:ext>
            </a:extLst>
          </p:cNvPr>
          <p:cNvSpPr>
            <a:spLocks noGrp="1"/>
          </p:cNvSpPr>
          <p:nvPr>
            <p:ph type="title"/>
          </p:nvPr>
        </p:nvSpPr>
        <p:spPr/>
        <p:txBody>
          <a:bodyPr/>
          <a:lstStyle/>
          <a:p>
            <a:r>
              <a:rPr lang="en-US" dirty="0"/>
              <a:t>Errors Interlude</a:t>
            </a:r>
          </a:p>
        </p:txBody>
      </p:sp>
      <p:sp>
        <p:nvSpPr>
          <p:cNvPr id="3" name="Content Placeholder 2">
            <a:extLst>
              <a:ext uri="{FF2B5EF4-FFF2-40B4-BE49-F238E27FC236}">
                <a16:creationId xmlns:a16="http://schemas.microsoft.com/office/drawing/2014/main" id="{6CCFD834-D09E-2863-CA7B-D355502D1811}"/>
              </a:ext>
            </a:extLst>
          </p:cNvPr>
          <p:cNvSpPr>
            <a:spLocks noGrp="1"/>
          </p:cNvSpPr>
          <p:nvPr>
            <p:ph idx="1"/>
          </p:nvPr>
        </p:nvSpPr>
        <p:spPr>
          <a:xfrm>
            <a:off x="1451579" y="1853754"/>
            <a:ext cx="9603275" cy="4199727"/>
          </a:xfrm>
        </p:spPr>
        <p:txBody>
          <a:bodyPr/>
          <a:lstStyle/>
          <a:p>
            <a:r>
              <a:rPr lang="en-US" dirty="0"/>
              <a:t>The accuracy is the main error metric that we (as users) care about.</a:t>
            </a:r>
          </a:p>
          <a:p>
            <a:r>
              <a:rPr lang="en-US" dirty="0"/>
              <a:t>In reality, the ‘right’ choice is determined by the specifics of the actual problem. </a:t>
            </a:r>
          </a:p>
          <a:p>
            <a:r>
              <a:rPr lang="en-US" dirty="0"/>
              <a:t>Precision and recall are important when there is a difference in outcome impacts. </a:t>
            </a:r>
          </a:p>
          <a:p>
            <a:pPr lvl="1"/>
            <a:r>
              <a:rPr lang="en-US" dirty="0"/>
              <a:t>Recall if we want to avoid false negatives. </a:t>
            </a:r>
          </a:p>
          <a:p>
            <a:pPr lvl="1"/>
            <a:r>
              <a:rPr lang="en-US" dirty="0"/>
              <a:t>Precision if we want to avoid false positives. </a:t>
            </a:r>
          </a:p>
          <a:p>
            <a:pPr lvl="1"/>
            <a:r>
              <a:rPr lang="en-US" dirty="0"/>
              <a:t>F1 if there’s some balance between the two. </a:t>
            </a:r>
          </a:p>
          <a:p>
            <a:r>
              <a:rPr lang="en-US" dirty="0"/>
              <a:t>Other metrics are overweighted to measure aspect that may matter as much or more. </a:t>
            </a:r>
          </a:p>
          <a:p>
            <a:pPr lvl="1"/>
            <a:r>
              <a:rPr lang="en-US" dirty="0"/>
              <a:t>You can detect credit card fraud with 99%+ accuracy by always predicting false. </a:t>
            </a:r>
          </a:p>
        </p:txBody>
      </p:sp>
    </p:spTree>
    <p:extLst>
      <p:ext uri="{BB962C8B-B14F-4D97-AF65-F5344CB8AC3E}">
        <p14:creationId xmlns:p14="http://schemas.microsoft.com/office/powerpoint/2010/main" val="62917896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8B750D-D1A7-A269-03EE-C89785E72B49}"/>
              </a:ext>
            </a:extLst>
          </p:cNvPr>
          <p:cNvSpPr>
            <a:spLocks noGrp="1"/>
          </p:cNvSpPr>
          <p:nvPr>
            <p:ph type="title"/>
          </p:nvPr>
        </p:nvSpPr>
        <p:spPr>
          <a:xfrm>
            <a:off x="1451579" y="1"/>
            <a:ext cx="9603275" cy="1853754"/>
          </a:xfrm>
        </p:spPr>
        <p:txBody>
          <a:bodyPr/>
          <a:lstStyle/>
          <a:p>
            <a:r>
              <a:rPr lang="en-US" dirty="0"/>
              <a:t>Recall-Precision Tradeoff</a:t>
            </a:r>
          </a:p>
        </p:txBody>
      </p:sp>
      <p:sp>
        <p:nvSpPr>
          <p:cNvPr id="3" name="Content Placeholder 2">
            <a:extLst>
              <a:ext uri="{FF2B5EF4-FFF2-40B4-BE49-F238E27FC236}">
                <a16:creationId xmlns:a16="http://schemas.microsoft.com/office/drawing/2014/main" id="{120C3141-80F1-D070-65CF-26ED0FFA7B90}"/>
              </a:ext>
            </a:extLst>
          </p:cNvPr>
          <p:cNvSpPr>
            <a:spLocks noGrp="1"/>
          </p:cNvSpPr>
          <p:nvPr>
            <p:ph idx="1"/>
          </p:nvPr>
        </p:nvSpPr>
        <p:spPr>
          <a:xfrm>
            <a:off x="0" y="1853755"/>
            <a:ext cx="4531851" cy="4296863"/>
          </a:xfrm>
        </p:spPr>
        <p:txBody>
          <a:bodyPr>
            <a:normAutofit/>
          </a:bodyPr>
          <a:lstStyle/>
          <a:p>
            <a:r>
              <a:rPr lang="en-US" dirty="0"/>
              <a:t>In most cases, we want errors to be mostly ‘balanced’. </a:t>
            </a:r>
          </a:p>
          <a:p>
            <a:r>
              <a:rPr lang="en-US" dirty="0"/>
              <a:t>Getting all/no of either type indicates some unexplained pattern.</a:t>
            </a:r>
          </a:p>
          <a:p>
            <a:pPr lvl="1"/>
            <a:r>
              <a:rPr lang="en-US" dirty="0"/>
              <a:t>Like with variance and R2. </a:t>
            </a:r>
          </a:p>
          <a:p>
            <a:pPr lvl="1"/>
            <a:r>
              <a:rPr lang="en-US" dirty="0"/>
              <a:t>If we get only one type of error, the model has a systemic miss – a pattern that we </a:t>
            </a:r>
            <a:r>
              <a:rPr lang="en-US" i="1" dirty="0"/>
              <a:t>should</a:t>
            </a:r>
            <a:r>
              <a:rPr lang="en-US" dirty="0"/>
              <a:t> capture in the model’s predictions, not its error. </a:t>
            </a:r>
          </a:p>
          <a:p>
            <a:pPr lvl="1"/>
            <a:r>
              <a:rPr lang="en-US" dirty="0"/>
              <a:t>Change something about the model to capture this pattern. </a:t>
            </a:r>
          </a:p>
        </p:txBody>
      </p:sp>
      <p:pic>
        <p:nvPicPr>
          <p:cNvPr id="9218" name="Picture 2">
            <a:extLst>
              <a:ext uri="{FF2B5EF4-FFF2-40B4-BE49-F238E27FC236}">
                <a16:creationId xmlns:a16="http://schemas.microsoft.com/office/drawing/2014/main" id="{9708B456-4420-F428-193B-53CE7743254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907" t="4325" r="11375" b="11732"/>
          <a:stretch/>
        </p:blipFill>
        <p:spPr bwMode="auto">
          <a:xfrm>
            <a:off x="4531850" y="707381"/>
            <a:ext cx="7278131" cy="57569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7121875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EE428C-1958-F7EC-FC98-7D63D57D569B}"/>
              </a:ext>
            </a:extLst>
          </p:cNvPr>
          <p:cNvSpPr>
            <a:spLocks noGrp="1"/>
          </p:cNvSpPr>
          <p:nvPr>
            <p:ph type="title"/>
          </p:nvPr>
        </p:nvSpPr>
        <p:spPr/>
        <p:txBody>
          <a:bodyPr/>
          <a:lstStyle/>
          <a:p>
            <a:r>
              <a:rPr lang="en-US" dirty="0"/>
              <a:t>Accuracy Plotting</a:t>
            </a:r>
          </a:p>
        </p:txBody>
      </p:sp>
      <p:sp>
        <p:nvSpPr>
          <p:cNvPr id="3" name="Content Placeholder 2">
            <a:extLst>
              <a:ext uri="{FF2B5EF4-FFF2-40B4-BE49-F238E27FC236}">
                <a16:creationId xmlns:a16="http://schemas.microsoft.com/office/drawing/2014/main" id="{177447BC-7BFE-B5C2-DD57-76E807949FBA}"/>
              </a:ext>
            </a:extLst>
          </p:cNvPr>
          <p:cNvSpPr>
            <a:spLocks noGrp="1"/>
          </p:cNvSpPr>
          <p:nvPr>
            <p:ph idx="1"/>
          </p:nvPr>
        </p:nvSpPr>
        <p:spPr/>
        <p:txBody>
          <a:bodyPr/>
          <a:lstStyle/>
          <a:p>
            <a:r>
              <a:rPr lang="en-US" dirty="0"/>
              <a:t>As with EDA, we can understand our classification model’s performance either:</a:t>
            </a:r>
          </a:p>
          <a:p>
            <a:pPr lvl="1"/>
            <a:r>
              <a:rPr lang="en-US" dirty="0"/>
              <a:t>Numerically, with accuracy or some other metric. </a:t>
            </a:r>
          </a:p>
          <a:p>
            <a:pPr lvl="1"/>
            <a:r>
              <a:rPr lang="en-US" dirty="0"/>
              <a:t>Graphically, with a ROC plot. </a:t>
            </a:r>
          </a:p>
        </p:txBody>
      </p:sp>
    </p:spTree>
    <p:extLst>
      <p:ext uri="{BB962C8B-B14F-4D97-AF65-F5344CB8AC3E}">
        <p14:creationId xmlns:p14="http://schemas.microsoft.com/office/powerpoint/2010/main" val="305196152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2CDE2B-6233-524F-CC42-884CD0D257A9}"/>
              </a:ext>
            </a:extLst>
          </p:cNvPr>
          <p:cNvSpPr>
            <a:spLocks noGrp="1"/>
          </p:cNvSpPr>
          <p:nvPr>
            <p:ph type="title"/>
          </p:nvPr>
        </p:nvSpPr>
        <p:spPr/>
        <p:txBody>
          <a:bodyPr/>
          <a:lstStyle/>
          <a:p>
            <a:r>
              <a:rPr lang="en-US" dirty="0"/>
              <a:t>ROC and AUC</a:t>
            </a:r>
          </a:p>
        </p:txBody>
      </p:sp>
      <p:sp>
        <p:nvSpPr>
          <p:cNvPr id="3" name="Content Placeholder 2">
            <a:extLst>
              <a:ext uri="{FF2B5EF4-FFF2-40B4-BE49-F238E27FC236}">
                <a16:creationId xmlns:a16="http://schemas.microsoft.com/office/drawing/2014/main" id="{2E78FB08-685C-9AB3-7852-065A5DDD23EB}"/>
              </a:ext>
            </a:extLst>
          </p:cNvPr>
          <p:cNvSpPr>
            <a:spLocks noGrp="1"/>
          </p:cNvSpPr>
          <p:nvPr>
            <p:ph idx="1"/>
          </p:nvPr>
        </p:nvSpPr>
        <p:spPr>
          <a:xfrm>
            <a:off x="5647038" y="1853754"/>
            <a:ext cx="6544962" cy="4199727"/>
          </a:xfrm>
        </p:spPr>
        <p:txBody>
          <a:bodyPr/>
          <a:lstStyle/>
          <a:p>
            <a:r>
              <a:rPr lang="en-US" dirty="0"/>
              <a:t>This plot is called a Receiver Operating Characteristics curve, or ROC. </a:t>
            </a:r>
          </a:p>
          <a:p>
            <a:pPr lvl="1"/>
            <a:r>
              <a:rPr lang="en-US" dirty="0"/>
              <a:t>True positives vs false positives. </a:t>
            </a:r>
          </a:p>
          <a:p>
            <a:r>
              <a:rPr lang="en-US" dirty="0"/>
              <a:t>Can think of it as a race between TP and FP. </a:t>
            </a:r>
          </a:p>
          <a:p>
            <a:pPr lvl="1"/>
            <a:r>
              <a:rPr lang="en-US" dirty="0"/>
              <a:t>Going up before right means TP are “got” before FP. </a:t>
            </a:r>
          </a:p>
          <a:p>
            <a:pPr lvl="1"/>
            <a:r>
              <a:rPr lang="en-US" dirty="0"/>
              <a:t>Going right before up means FP are “got” before TP. </a:t>
            </a:r>
          </a:p>
          <a:p>
            <a:pPr lvl="1"/>
            <a:r>
              <a:rPr lang="en-US" dirty="0"/>
              <a:t>Ratio of TP found vs FP found from model. </a:t>
            </a:r>
          </a:p>
          <a:p>
            <a:r>
              <a:rPr lang="en-US" dirty="0"/>
              <a:t>Higher and left means an overall better model. </a:t>
            </a:r>
          </a:p>
          <a:p>
            <a:r>
              <a:rPr lang="en-US" dirty="0"/>
              <a:t>AUC - area under the curve: [0,1]. </a:t>
            </a:r>
          </a:p>
        </p:txBody>
      </p:sp>
      <p:pic>
        <p:nvPicPr>
          <p:cNvPr id="1026" name="Picture 2" descr="A Quick Guide to AUC-ROC in Machine Learning Models | by Riccardo Di Sipio  | Towards Data Science">
            <a:extLst>
              <a:ext uri="{FF2B5EF4-FFF2-40B4-BE49-F238E27FC236}">
                <a16:creationId xmlns:a16="http://schemas.microsoft.com/office/drawing/2014/main" id="{6A3FFBD7-8B3E-BC92-9527-40CD4C4BDD0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329136"/>
            <a:ext cx="5647038" cy="55898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033232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341446-25E0-35DF-73A7-D6B9C983B4D9}"/>
              </a:ext>
            </a:extLst>
          </p:cNvPr>
          <p:cNvSpPr>
            <a:spLocks noGrp="1"/>
          </p:cNvSpPr>
          <p:nvPr>
            <p:ph type="title"/>
          </p:nvPr>
        </p:nvSpPr>
        <p:spPr/>
        <p:txBody>
          <a:bodyPr/>
          <a:lstStyle/>
          <a:p>
            <a:r>
              <a:rPr lang="en-US" dirty="0"/>
              <a:t>Real Examples</a:t>
            </a:r>
          </a:p>
        </p:txBody>
      </p:sp>
      <p:sp>
        <p:nvSpPr>
          <p:cNvPr id="3" name="Content Placeholder 2">
            <a:extLst>
              <a:ext uri="{FF2B5EF4-FFF2-40B4-BE49-F238E27FC236}">
                <a16:creationId xmlns:a16="http://schemas.microsoft.com/office/drawing/2014/main" id="{81F12079-FFAD-6ED3-4512-AB34247999ED}"/>
              </a:ext>
            </a:extLst>
          </p:cNvPr>
          <p:cNvSpPr>
            <a:spLocks noGrp="1"/>
          </p:cNvSpPr>
          <p:nvPr>
            <p:ph idx="1"/>
          </p:nvPr>
        </p:nvSpPr>
        <p:spPr/>
        <p:txBody>
          <a:bodyPr/>
          <a:lstStyle/>
          <a:p>
            <a:endParaRPr lang="en-US"/>
          </a:p>
        </p:txBody>
      </p:sp>
      <p:pic>
        <p:nvPicPr>
          <p:cNvPr id="2050" name="Picture 2" descr="Guide to AUC ROC Curve in Machine Learning">
            <a:extLst>
              <a:ext uri="{FF2B5EF4-FFF2-40B4-BE49-F238E27FC236}">
                <a16:creationId xmlns:a16="http://schemas.microsoft.com/office/drawing/2014/main" id="{CBC32E8E-27A7-0862-5F1B-4225153D99C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8773" y="1493198"/>
            <a:ext cx="6022027" cy="4135125"/>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Receiver operating characteristic (ROC) curve analysis showing the... |  Download Scientific Diagram">
            <a:extLst>
              <a:ext uri="{FF2B5EF4-FFF2-40B4-BE49-F238E27FC236}">
                <a16:creationId xmlns:a16="http://schemas.microsoft.com/office/drawing/2014/main" id="{E582F22C-10DF-8C22-23C0-630342B4507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43254" y="1112107"/>
            <a:ext cx="6348746" cy="52642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213787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878103-3399-0F6C-DA86-2F377DEBD0BB}"/>
              </a:ext>
            </a:extLst>
          </p:cNvPr>
          <p:cNvSpPr>
            <a:spLocks noGrp="1"/>
          </p:cNvSpPr>
          <p:nvPr>
            <p:ph type="title"/>
          </p:nvPr>
        </p:nvSpPr>
        <p:spPr/>
        <p:txBody>
          <a:bodyPr/>
          <a:lstStyle/>
          <a:p>
            <a:r>
              <a:rPr lang="en-US" dirty="0"/>
              <a:t>Using Different Metrics</a:t>
            </a:r>
          </a:p>
        </p:txBody>
      </p:sp>
      <p:sp>
        <p:nvSpPr>
          <p:cNvPr id="3" name="Content Placeholder 2">
            <a:extLst>
              <a:ext uri="{FF2B5EF4-FFF2-40B4-BE49-F238E27FC236}">
                <a16:creationId xmlns:a16="http://schemas.microsoft.com/office/drawing/2014/main" id="{988F466F-B6AA-9DBC-9D07-27D8608566D9}"/>
              </a:ext>
            </a:extLst>
          </p:cNvPr>
          <p:cNvSpPr>
            <a:spLocks noGrp="1"/>
          </p:cNvSpPr>
          <p:nvPr>
            <p:ph idx="1"/>
          </p:nvPr>
        </p:nvSpPr>
        <p:spPr>
          <a:xfrm>
            <a:off x="1451579" y="1853754"/>
            <a:ext cx="9603275" cy="4199727"/>
          </a:xfrm>
        </p:spPr>
        <p:txBody>
          <a:bodyPr/>
          <a:lstStyle/>
          <a:p>
            <a:r>
              <a:rPr lang="en-US" dirty="0"/>
              <a:t>All of these can be calculated with a score()-like </a:t>
            </a:r>
            <a:r>
              <a:rPr lang="en-US" dirty="0" err="1"/>
              <a:t>sklearn</a:t>
            </a:r>
            <a:r>
              <a:rPr lang="en-US" dirty="0"/>
              <a:t> function. </a:t>
            </a:r>
          </a:p>
          <a:p>
            <a:r>
              <a:rPr lang="en-US" dirty="0"/>
              <a:t>The main error metric to look at will depend on the scenario. </a:t>
            </a:r>
          </a:p>
          <a:p>
            <a:pPr lvl="1"/>
            <a:r>
              <a:rPr lang="en-US" dirty="0"/>
              <a:t>In low consequence things, raw accuracy is likely fine. </a:t>
            </a:r>
          </a:p>
          <a:p>
            <a:pPr lvl="1"/>
            <a:r>
              <a:rPr lang="en-US" dirty="0"/>
              <a:t>If there are serious costs to a false negative/positive, an alternative is likely important. </a:t>
            </a:r>
          </a:p>
          <a:p>
            <a:r>
              <a:rPr lang="en-US" dirty="0"/>
              <a:t>Performance will vary depending on model choice and model tuning. </a:t>
            </a:r>
          </a:p>
          <a:p>
            <a:pPr lvl="1"/>
            <a:r>
              <a:rPr lang="en-US" dirty="0"/>
              <a:t>Different models are well suited to different data, so performance may swing. </a:t>
            </a:r>
          </a:p>
          <a:p>
            <a:pPr lvl="1"/>
            <a:r>
              <a:rPr lang="en-US" dirty="0"/>
              <a:t>There are options called hyperparameters that we can set to “control” the process of creating the model, which impact performance. </a:t>
            </a:r>
          </a:p>
          <a:p>
            <a:pPr lvl="1"/>
            <a:r>
              <a:rPr lang="en-US" dirty="0"/>
              <a:t>We’ll do model tuning early next semester. </a:t>
            </a:r>
          </a:p>
          <a:p>
            <a:r>
              <a:rPr lang="en-US" dirty="0"/>
              <a:t>We can default to looking at error, then change if the confusion matrix shows issues. </a:t>
            </a:r>
          </a:p>
        </p:txBody>
      </p:sp>
    </p:spTree>
    <p:extLst>
      <p:ext uri="{BB962C8B-B14F-4D97-AF65-F5344CB8AC3E}">
        <p14:creationId xmlns:p14="http://schemas.microsoft.com/office/powerpoint/2010/main" val="277331722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C3D157-4B0B-7F3B-3ED0-419D5B9F8D36}"/>
              </a:ext>
            </a:extLst>
          </p:cNvPr>
          <p:cNvSpPr>
            <a:spLocks noGrp="1"/>
          </p:cNvSpPr>
          <p:nvPr>
            <p:ph type="title"/>
          </p:nvPr>
        </p:nvSpPr>
        <p:spPr>
          <a:xfrm>
            <a:off x="1473199" y="804519"/>
            <a:ext cx="9581655" cy="1049235"/>
          </a:xfrm>
        </p:spPr>
        <p:txBody>
          <a:bodyPr/>
          <a:lstStyle/>
          <a:p>
            <a:r>
              <a:rPr lang="en-US" dirty="0"/>
              <a:t>Remember the Regression</a:t>
            </a:r>
          </a:p>
        </p:txBody>
      </p:sp>
      <p:sp>
        <p:nvSpPr>
          <p:cNvPr id="3" name="Content Placeholder 2">
            <a:extLst>
              <a:ext uri="{FF2B5EF4-FFF2-40B4-BE49-F238E27FC236}">
                <a16:creationId xmlns:a16="http://schemas.microsoft.com/office/drawing/2014/main" id="{5B18D141-AAF8-F79C-DCE2-42C8EDF16A94}"/>
              </a:ext>
            </a:extLst>
          </p:cNvPr>
          <p:cNvSpPr>
            <a:spLocks noGrp="1"/>
          </p:cNvSpPr>
          <p:nvPr>
            <p:ph idx="1"/>
          </p:nvPr>
        </p:nvSpPr>
        <p:spPr>
          <a:xfrm>
            <a:off x="0" y="2015732"/>
            <a:ext cx="5193655" cy="4037749"/>
          </a:xfrm>
        </p:spPr>
        <p:txBody>
          <a:bodyPr/>
          <a:lstStyle/>
          <a:p>
            <a:r>
              <a:rPr lang="en-US" dirty="0"/>
              <a:t>When doing a regression, the prediction is determined by:</a:t>
            </a:r>
          </a:p>
          <a:p>
            <a:pPr lvl="1"/>
            <a:r>
              <a:rPr lang="en-US" dirty="0"/>
              <a:t>The X values for each feature. </a:t>
            </a:r>
          </a:p>
          <a:p>
            <a:pPr lvl="1"/>
            <a:r>
              <a:rPr lang="en-US" dirty="0"/>
              <a:t>Each coefficient/weight/slope for the scaling of contribution of features. </a:t>
            </a:r>
          </a:p>
          <a:p>
            <a:pPr lvl="1"/>
            <a:r>
              <a:rPr lang="en-US" dirty="0"/>
              <a:t>The intercept, which shifts the entire model’s predictions up or down. </a:t>
            </a:r>
          </a:p>
          <a:p>
            <a:r>
              <a:rPr lang="en-US" dirty="0"/>
              <a:t>Consider a loan approval model:</a:t>
            </a:r>
          </a:p>
          <a:p>
            <a:pPr lvl="1"/>
            <a:r>
              <a:rPr lang="en-US" dirty="0"/>
              <a:t>X1 = Net worth. </a:t>
            </a:r>
          </a:p>
          <a:p>
            <a:pPr lvl="1"/>
            <a:r>
              <a:rPr lang="en-US" dirty="0"/>
              <a:t>X2 = Age. </a:t>
            </a:r>
          </a:p>
        </p:txBody>
      </p:sp>
      <p:pic>
        <p:nvPicPr>
          <p:cNvPr id="2052" name="Picture 4" descr="An Introduction to Logistic Regression - Analytics Vidhya">
            <a:extLst>
              <a:ext uri="{FF2B5EF4-FFF2-40B4-BE49-F238E27FC236}">
                <a16:creationId xmlns:a16="http://schemas.microsoft.com/office/drawing/2014/main" id="{3206F00A-42B7-B97D-1AF3-D5D98D29BD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93655" y="2015732"/>
            <a:ext cx="6998345" cy="3225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6947134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088979-FB8B-7874-02CA-DC4BB4D29F49}"/>
              </a:ext>
            </a:extLst>
          </p:cNvPr>
          <p:cNvSpPr>
            <a:spLocks noGrp="1"/>
          </p:cNvSpPr>
          <p:nvPr>
            <p:ph type="title"/>
          </p:nvPr>
        </p:nvSpPr>
        <p:spPr>
          <a:xfrm>
            <a:off x="5029200" y="804519"/>
            <a:ext cx="6025654" cy="1049235"/>
          </a:xfrm>
        </p:spPr>
        <p:txBody>
          <a:bodyPr/>
          <a:lstStyle/>
          <a:p>
            <a:r>
              <a:rPr lang="en-US" dirty="0"/>
              <a:t>Unscaled Variables</a:t>
            </a:r>
          </a:p>
        </p:txBody>
      </p:sp>
      <p:sp>
        <p:nvSpPr>
          <p:cNvPr id="3" name="Content Placeholder 2">
            <a:extLst>
              <a:ext uri="{FF2B5EF4-FFF2-40B4-BE49-F238E27FC236}">
                <a16:creationId xmlns:a16="http://schemas.microsoft.com/office/drawing/2014/main" id="{D3D6CBCD-C9D3-E031-5CE8-D55FA0ED426B}"/>
              </a:ext>
            </a:extLst>
          </p:cNvPr>
          <p:cNvSpPr>
            <a:spLocks noGrp="1"/>
          </p:cNvSpPr>
          <p:nvPr>
            <p:ph idx="1"/>
          </p:nvPr>
        </p:nvSpPr>
        <p:spPr>
          <a:xfrm>
            <a:off x="5029200" y="2015732"/>
            <a:ext cx="6025654" cy="3450613"/>
          </a:xfrm>
        </p:spPr>
        <p:txBody>
          <a:bodyPr/>
          <a:lstStyle/>
          <a:p>
            <a:r>
              <a:rPr lang="en-US" dirty="0"/>
              <a:t>Unscaled variables lead to relationships like this. </a:t>
            </a:r>
          </a:p>
          <a:p>
            <a:r>
              <a:rPr lang="en-US" dirty="0"/>
              <a:t>It would be hard to determine a regression line. </a:t>
            </a:r>
          </a:p>
          <a:p>
            <a:r>
              <a:rPr lang="en-US" dirty="0"/>
              <a:t>It is hard for the algorithm to learn it as well. </a:t>
            </a:r>
          </a:p>
          <a:p>
            <a:pPr lvl="1"/>
            <a:r>
              <a:rPr lang="en-US" dirty="0"/>
              <a:t>*This only has one X, but we can’t draw it with more. </a:t>
            </a:r>
          </a:p>
        </p:txBody>
      </p:sp>
      <p:pic>
        <p:nvPicPr>
          <p:cNvPr id="7170" name="Picture 2" descr="Feature Scaling: When Should You Use Standardization and Normalization | by  Zipporah Luna | Python in Plain English">
            <a:extLst>
              <a:ext uri="{FF2B5EF4-FFF2-40B4-BE49-F238E27FC236}">
                <a16:creationId xmlns:a16="http://schemas.microsoft.com/office/drawing/2014/main" id="{A3D7A2E7-8132-0370-8DD2-E0DCB443F9B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59791"/>
          <a:stretch>
            <a:fillRect/>
          </a:stretch>
        </p:blipFill>
        <p:spPr bwMode="auto">
          <a:xfrm>
            <a:off x="0" y="715963"/>
            <a:ext cx="4902200" cy="54260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4095811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B645F1-9717-62B2-B19D-E9006F68CEC5}"/>
              </a:ext>
            </a:extLst>
          </p:cNvPr>
          <p:cNvSpPr>
            <a:spLocks noGrp="1"/>
          </p:cNvSpPr>
          <p:nvPr>
            <p:ph type="title"/>
          </p:nvPr>
        </p:nvSpPr>
        <p:spPr/>
        <p:txBody>
          <a:bodyPr/>
          <a:lstStyle/>
          <a:p>
            <a:r>
              <a:rPr lang="en-US" dirty="0"/>
              <a:t>Don’t Get Scared, Don’t Get Pale, Deal With the Scale!</a:t>
            </a:r>
          </a:p>
        </p:txBody>
      </p:sp>
      <p:sp>
        <p:nvSpPr>
          <p:cNvPr id="3" name="Content Placeholder 2">
            <a:extLst>
              <a:ext uri="{FF2B5EF4-FFF2-40B4-BE49-F238E27FC236}">
                <a16:creationId xmlns:a16="http://schemas.microsoft.com/office/drawing/2014/main" id="{114D9447-DE90-EFBB-7B34-501620FECBFF}"/>
              </a:ext>
            </a:extLst>
          </p:cNvPr>
          <p:cNvSpPr>
            <a:spLocks noGrp="1"/>
          </p:cNvSpPr>
          <p:nvPr>
            <p:ph idx="1"/>
          </p:nvPr>
        </p:nvSpPr>
        <p:spPr>
          <a:xfrm>
            <a:off x="1451579" y="2015732"/>
            <a:ext cx="9603275" cy="4037749"/>
          </a:xfrm>
        </p:spPr>
        <p:txBody>
          <a:bodyPr/>
          <a:lstStyle/>
          <a:p>
            <a:r>
              <a:rPr lang="en-US" dirty="0"/>
              <a:t>If the values of inputs differ greatly, each term needs an extremely small/large coefficient.</a:t>
            </a:r>
          </a:p>
          <a:p>
            <a:pPr lvl="1"/>
            <a:r>
              <a:rPr lang="en-US" dirty="0"/>
              <a:t>The sum of all terms, the Y prediction is what it is. </a:t>
            </a:r>
          </a:p>
          <a:p>
            <a:pPr lvl="1"/>
            <a:r>
              <a:rPr lang="en-US" dirty="0"/>
              <a:t>All x*m terms need to add up to it (with intercept). </a:t>
            </a:r>
          </a:p>
          <a:p>
            <a:r>
              <a:rPr lang="en-US" dirty="0"/>
              <a:t>This isn’t theoretically wrong, but it is a problem in practice. </a:t>
            </a:r>
          </a:p>
          <a:p>
            <a:pPr lvl="1"/>
            <a:r>
              <a:rPr lang="en-US" dirty="0"/>
              <a:t>Huge or tiny coefficients makes it hard for gradient decent to converge, find minimum. </a:t>
            </a:r>
          </a:p>
          <a:p>
            <a:r>
              <a:rPr lang="en-US" dirty="0"/>
              <a:t>Rember, we are adjusting each coefficient up or down a touch each GD step. </a:t>
            </a:r>
          </a:p>
          <a:p>
            <a:pPr lvl="1"/>
            <a:r>
              <a:rPr lang="en-US" dirty="0"/>
              <a:t>Distances are massive in one dimension, tiny in another. </a:t>
            </a:r>
          </a:p>
          <a:p>
            <a:pPr lvl="1"/>
            <a:r>
              <a:rPr lang="en-US" dirty="0"/>
              <a:t>It can be hard for the algorithm to “reach the bottom” before running out of steps. </a:t>
            </a:r>
          </a:p>
          <a:p>
            <a:pPr lvl="1"/>
            <a:r>
              <a:rPr lang="en-US" dirty="0"/>
              <a:t>Can potentially even hit limits of float variable size. </a:t>
            </a:r>
          </a:p>
        </p:txBody>
      </p:sp>
    </p:spTree>
    <p:extLst>
      <p:ext uri="{BB962C8B-B14F-4D97-AF65-F5344CB8AC3E}">
        <p14:creationId xmlns:p14="http://schemas.microsoft.com/office/powerpoint/2010/main" val="53818515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231F11-D80D-235D-3586-092806E59DC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C98FD82-E25C-930F-4594-D7717AF5FBFA}"/>
              </a:ext>
            </a:extLst>
          </p:cNvPr>
          <p:cNvSpPr>
            <a:spLocks noGrp="1"/>
          </p:cNvSpPr>
          <p:nvPr>
            <p:ph idx="1"/>
          </p:nvPr>
        </p:nvSpPr>
        <p:spPr/>
        <p:txBody>
          <a:bodyPr/>
          <a:lstStyle/>
          <a:p>
            <a:endParaRPr lang="en-US"/>
          </a:p>
        </p:txBody>
      </p:sp>
      <p:pic>
        <p:nvPicPr>
          <p:cNvPr id="4098" name="Picture 2" descr="machine learning - Does Feature Normalization affect Gradient Descent |  Linear Regression - Data Science Stack Exchange">
            <a:extLst>
              <a:ext uri="{FF2B5EF4-FFF2-40B4-BE49-F238E27FC236}">
                <a16:creationId xmlns:a16="http://schemas.microsoft.com/office/drawing/2014/main" id="{383EDE2E-0FCF-A2F4-A209-157CE68AEE9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063625"/>
            <a:ext cx="12192000" cy="47291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7289284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6655D0-3268-60F7-4A1D-B58F7A6E9A92}"/>
              </a:ext>
            </a:extLst>
          </p:cNvPr>
          <p:cNvSpPr>
            <a:spLocks noGrp="1"/>
          </p:cNvSpPr>
          <p:nvPr>
            <p:ph type="title"/>
          </p:nvPr>
        </p:nvSpPr>
        <p:spPr/>
        <p:txBody>
          <a:bodyPr/>
          <a:lstStyle/>
          <a:p>
            <a:r>
              <a:rPr lang="en-US" dirty="0"/>
              <a:t>Common Transformation – Feature Scaling</a:t>
            </a:r>
          </a:p>
        </p:txBody>
      </p:sp>
      <p:sp>
        <p:nvSpPr>
          <p:cNvPr id="3" name="Content Placeholder 2">
            <a:extLst>
              <a:ext uri="{FF2B5EF4-FFF2-40B4-BE49-F238E27FC236}">
                <a16:creationId xmlns:a16="http://schemas.microsoft.com/office/drawing/2014/main" id="{CC95EC4A-CA61-9AB7-E594-3E4A25F84EEE}"/>
              </a:ext>
            </a:extLst>
          </p:cNvPr>
          <p:cNvSpPr>
            <a:spLocks noGrp="1"/>
          </p:cNvSpPr>
          <p:nvPr>
            <p:ph idx="1"/>
          </p:nvPr>
        </p:nvSpPr>
        <p:spPr>
          <a:xfrm>
            <a:off x="1451579" y="1853754"/>
            <a:ext cx="9603275" cy="4304675"/>
          </a:xfrm>
        </p:spPr>
        <p:txBody>
          <a:bodyPr/>
          <a:lstStyle/>
          <a:p>
            <a:r>
              <a:rPr lang="en-US" dirty="0"/>
              <a:t>There is one transformation that we almost always want to do – feature scaling. </a:t>
            </a:r>
          </a:p>
          <a:p>
            <a:r>
              <a:rPr lang="en-US" dirty="0"/>
              <a:t>Feature scaling takes our input features and puts them on the same scale, or range. </a:t>
            </a:r>
          </a:p>
          <a:p>
            <a:r>
              <a:rPr lang="en-US" dirty="0"/>
              <a:t>There are two common options:</a:t>
            </a:r>
          </a:p>
          <a:p>
            <a:pPr lvl="1"/>
            <a:r>
              <a:rPr lang="en-US" dirty="0"/>
              <a:t>Standardization – each feature is set to a mean of 0, and std of 1. </a:t>
            </a:r>
          </a:p>
          <a:p>
            <a:pPr lvl="1"/>
            <a:r>
              <a:rPr lang="en-US" dirty="0"/>
              <a:t>Normalization – each feature is shifted to be between 0 and 1. </a:t>
            </a:r>
          </a:p>
        </p:txBody>
      </p:sp>
      <p:pic>
        <p:nvPicPr>
          <p:cNvPr id="5122" name="Picture 2" descr="Feature Scaling">
            <a:extLst>
              <a:ext uri="{FF2B5EF4-FFF2-40B4-BE49-F238E27FC236}">
                <a16:creationId xmlns:a16="http://schemas.microsoft.com/office/drawing/2014/main" id="{FFBBBFED-E832-C1BF-7C68-6225118E6B2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20945"/>
          <a:stretch/>
        </p:blipFill>
        <p:spPr bwMode="auto">
          <a:xfrm>
            <a:off x="2062216" y="4123381"/>
            <a:ext cx="8382000" cy="26405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272005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C2EF3-7A31-177A-7203-B82597E98D4D}"/>
              </a:ext>
            </a:extLst>
          </p:cNvPr>
          <p:cNvSpPr>
            <a:spLocks noGrp="1"/>
          </p:cNvSpPr>
          <p:nvPr>
            <p:ph type="title"/>
          </p:nvPr>
        </p:nvSpPr>
        <p:spPr/>
        <p:txBody>
          <a:bodyPr/>
          <a:lstStyle/>
          <a:p>
            <a:r>
              <a:rPr lang="en-US" dirty="0"/>
              <a:t>Results</a:t>
            </a:r>
          </a:p>
        </p:txBody>
      </p:sp>
      <p:sp>
        <p:nvSpPr>
          <p:cNvPr id="3" name="Content Placeholder 2">
            <a:extLst>
              <a:ext uri="{FF2B5EF4-FFF2-40B4-BE49-F238E27FC236}">
                <a16:creationId xmlns:a16="http://schemas.microsoft.com/office/drawing/2014/main" id="{29738747-B669-C04F-08EE-99A71AA3A351}"/>
              </a:ext>
            </a:extLst>
          </p:cNvPr>
          <p:cNvSpPr>
            <a:spLocks noGrp="1"/>
          </p:cNvSpPr>
          <p:nvPr>
            <p:ph idx="1"/>
          </p:nvPr>
        </p:nvSpPr>
        <p:spPr>
          <a:xfrm>
            <a:off x="1451579" y="1853754"/>
            <a:ext cx="9603275" cy="4199727"/>
          </a:xfrm>
        </p:spPr>
        <p:txBody>
          <a:bodyPr/>
          <a:lstStyle/>
          <a:p>
            <a:r>
              <a:rPr lang="en-US" dirty="0"/>
              <a:t>The results of data scaling is that all of the features are on the same scale, either:</a:t>
            </a:r>
          </a:p>
          <a:p>
            <a:pPr lvl="1"/>
            <a:r>
              <a:rPr lang="en-US" dirty="0"/>
              <a:t>Centered at 0 with standardization. Or</a:t>
            </a:r>
          </a:p>
          <a:p>
            <a:pPr lvl="1"/>
            <a:r>
              <a:rPr lang="en-US" dirty="0"/>
              <a:t>Boxed between 0 and 1 with normalization. </a:t>
            </a:r>
          </a:p>
          <a:p>
            <a:r>
              <a:rPr lang="en-US" dirty="0"/>
              <a:t>This means that the actual x values going into the </a:t>
            </a:r>
            <a:r>
              <a:rPr lang="en-US" dirty="0" err="1"/>
              <a:t>y-mx+b</a:t>
            </a:r>
            <a:r>
              <a:rPr lang="en-US" dirty="0"/>
              <a:t> equation are on the same scale, so if one was really large, that impact is negated. </a:t>
            </a:r>
          </a:p>
          <a:p>
            <a:r>
              <a:rPr lang="en-US" dirty="0"/>
              <a:t>Models will generally perform better:</a:t>
            </a:r>
          </a:p>
          <a:p>
            <a:pPr lvl="1"/>
            <a:r>
              <a:rPr lang="en-US" dirty="0"/>
              <a:t>Accuracy can and often does improve. </a:t>
            </a:r>
          </a:p>
          <a:p>
            <a:pPr lvl="1"/>
            <a:r>
              <a:rPr lang="en-US" dirty="0"/>
              <a:t>The speed of a model finding a solution gets far better (important later on). </a:t>
            </a:r>
          </a:p>
          <a:p>
            <a:r>
              <a:rPr lang="en-US" dirty="0"/>
              <a:t>We almost always want to do some scaling. </a:t>
            </a:r>
          </a:p>
        </p:txBody>
      </p:sp>
      <p:pic>
        <p:nvPicPr>
          <p:cNvPr id="7170" name="Picture 2" descr="Standardization VS Normalization">
            <a:extLst>
              <a:ext uri="{FF2B5EF4-FFF2-40B4-BE49-F238E27FC236}">
                <a16:creationId xmlns:a16="http://schemas.microsoft.com/office/drawing/2014/main" id="{5658FD3F-4587-871C-9027-8A6264316F8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143" t="10080" b="9310"/>
          <a:stretch/>
        </p:blipFill>
        <p:spPr bwMode="auto">
          <a:xfrm>
            <a:off x="8736226" y="-97988"/>
            <a:ext cx="3369276" cy="19517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968200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What Do Normalization and Standardization Mean? When to Normalize Data and  When to Standardize Data? | by Akalbir Singh Chadha | Becoming Human:  Artificial Intelligence Magazine">
            <a:extLst>
              <a:ext uri="{FF2B5EF4-FFF2-40B4-BE49-F238E27FC236}">
                <a16:creationId xmlns:a16="http://schemas.microsoft.com/office/drawing/2014/main" id="{19251593-A7AD-6B1B-7DBD-013DB80E28D5}"/>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795289" y="643467"/>
            <a:ext cx="10601421" cy="487323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35740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8CB092-4610-992B-5FD3-AD0A29811D7B}"/>
              </a:ext>
            </a:extLst>
          </p:cNvPr>
          <p:cNvSpPr>
            <a:spLocks noGrp="1"/>
          </p:cNvSpPr>
          <p:nvPr>
            <p:ph type="title"/>
          </p:nvPr>
        </p:nvSpPr>
        <p:spPr>
          <a:xfrm>
            <a:off x="1451579" y="804519"/>
            <a:ext cx="9603275" cy="1049235"/>
          </a:xfrm>
        </p:spPr>
        <p:txBody>
          <a:bodyPr>
            <a:normAutofit/>
          </a:bodyPr>
          <a:lstStyle/>
          <a:p>
            <a:r>
              <a:rPr lang="en-US" dirty="0"/>
              <a:t>Data Example</a:t>
            </a:r>
          </a:p>
        </p:txBody>
      </p:sp>
      <p:sp>
        <p:nvSpPr>
          <p:cNvPr id="3" name="Content Placeholder 2">
            <a:extLst>
              <a:ext uri="{FF2B5EF4-FFF2-40B4-BE49-F238E27FC236}">
                <a16:creationId xmlns:a16="http://schemas.microsoft.com/office/drawing/2014/main" id="{F32A43F0-32CA-0B44-6052-91F2535C2298}"/>
              </a:ext>
            </a:extLst>
          </p:cNvPr>
          <p:cNvSpPr>
            <a:spLocks noGrp="1"/>
          </p:cNvSpPr>
          <p:nvPr>
            <p:ph idx="1"/>
          </p:nvPr>
        </p:nvSpPr>
        <p:spPr>
          <a:xfrm>
            <a:off x="1" y="2015734"/>
            <a:ext cx="5004485" cy="4037747"/>
          </a:xfrm>
        </p:spPr>
        <p:txBody>
          <a:bodyPr>
            <a:normAutofit/>
          </a:bodyPr>
          <a:lstStyle/>
          <a:p>
            <a:r>
              <a:rPr lang="en-US" dirty="0"/>
              <a:t>The two features pictured here are obviously different in their original range. </a:t>
            </a:r>
          </a:p>
          <a:p>
            <a:r>
              <a:rPr lang="en-US" dirty="0"/>
              <a:t>After standardization, they are similar. </a:t>
            </a:r>
          </a:p>
          <a:p>
            <a:r>
              <a:rPr lang="en-US" dirty="0"/>
              <a:t>This lets our model consider the impact of all features in a comparable way. </a:t>
            </a:r>
          </a:p>
        </p:txBody>
      </p:sp>
      <p:pic>
        <p:nvPicPr>
          <p:cNvPr id="8194" name="Picture 2" descr="Feature Scaling: Normalization and Standardization - Quinn-Yann - 博客园">
            <a:extLst>
              <a:ext uri="{FF2B5EF4-FFF2-40B4-BE49-F238E27FC236}">
                <a16:creationId xmlns:a16="http://schemas.microsoft.com/office/drawing/2014/main" id="{E36C7107-9C72-D987-5CCD-B516ED9C784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004486" y="24474"/>
            <a:ext cx="7187513" cy="68135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3385329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DB1C9E-0D09-94C2-9A17-208F0C5629D2}"/>
              </a:ext>
            </a:extLst>
          </p:cNvPr>
          <p:cNvSpPr>
            <a:spLocks noGrp="1"/>
          </p:cNvSpPr>
          <p:nvPr>
            <p:ph type="title"/>
          </p:nvPr>
        </p:nvSpPr>
        <p:spPr/>
        <p:txBody>
          <a:bodyPr/>
          <a:lstStyle/>
          <a:p>
            <a:r>
              <a:rPr lang="en-US" dirty="0"/>
              <a:t>Comparison</a:t>
            </a:r>
          </a:p>
        </p:txBody>
      </p:sp>
      <p:sp>
        <p:nvSpPr>
          <p:cNvPr id="3" name="Content Placeholder 2">
            <a:extLst>
              <a:ext uri="{FF2B5EF4-FFF2-40B4-BE49-F238E27FC236}">
                <a16:creationId xmlns:a16="http://schemas.microsoft.com/office/drawing/2014/main" id="{9D9B1EB8-F636-63E3-E8A3-27009D297484}"/>
              </a:ext>
            </a:extLst>
          </p:cNvPr>
          <p:cNvSpPr>
            <a:spLocks noGrp="1"/>
          </p:cNvSpPr>
          <p:nvPr>
            <p:ph idx="1"/>
          </p:nvPr>
        </p:nvSpPr>
        <p:spPr/>
        <p:txBody>
          <a:bodyPr/>
          <a:lstStyle/>
          <a:p>
            <a:endParaRPr lang="en-US"/>
          </a:p>
        </p:txBody>
      </p:sp>
      <p:pic>
        <p:nvPicPr>
          <p:cNvPr id="9218" name="Picture 2" descr="Feature Scaling: When Should You Use Standardization and Normalization | by  Zipporah Luna | Python in Plain English">
            <a:extLst>
              <a:ext uri="{FF2B5EF4-FFF2-40B4-BE49-F238E27FC236}">
                <a16:creationId xmlns:a16="http://schemas.microsoft.com/office/drawing/2014/main" id="{5D5B796C-BF68-DCFE-3482-E16E8B5EA1D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308100"/>
            <a:ext cx="12192000" cy="4241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257908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80F6D1-44FA-FB69-818B-896F2110AA1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307197E-083B-90BB-A6ED-B62091BE7006}"/>
              </a:ext>
            </a:extLst>
          </p:cNvPr>
          <p:cNvSpPr>
            <a:spLocks noGrp="1"/>
          </p:cNvSpPr>
          <p:nvPr>
            <p:ph idx="1"/>
          </p:nvPr>
        </p:nvSpPr>
        <p:spPr/>
        <p:txBody>
          <a:bodyPr/>
          <a:lstStyle/>
          <a:p>
            <a:endParaRPr lang="en-US"/>
          </a:p>
        </p:txBody>
      </p:sp>
      <p:pic>
        <p:nvPicPr>
          <p:cNvPr id="1026" name="Picture 2" descr="Transforming and scaling data">
            <a:extLst>
              <a:ext uri="{FF2B5EF4-FFF2-40B4-BE49-F238E27FC236}">
                <a16:creationId xmlns:a16="http://schemas.microsoft.com/office/drawing/2014/main" id="{A494D67C-4280-8A14-1975-BB5A3C7BCDA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8000" y="381000"/>
            <a:ext cx="6096000" cy="6096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512195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078AB6-EF3A-A1C0-ED5A-F31B527AC36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E35AF528-60F2-FBEE-F251-BC0980787CE0}"/>
              </a:ext>
            </a:extLst>
          </p:cNvPr>
          <p:cNvSpPr>
            <a:spLocks noGrp="1"/>
          </p:cNvSpPr>
          <p:nvPr>
            <p:ph idx="1"/>
          </p:nvPr>
        </p:nvSpPr>
        <p:spPr/>
        <p:txBody>
          <a:bodyPr/>
          <a:lstStyle/>
          <a:p>
            <a:endParaRPr lang="en-US"/>
          </a:p>
        </p:txBody>
      </p:sp>
      <p:pic>
        <p:nvPicPr>
          <p:cNvPr id="5122" name="Picture 2" descr="6. A Beginner's Guide to Gradient Descent and Feature Scaling in Machine  Learning | by Yennhi95zz | Medium">
            <a:extLst>
              <a:ext uri="{FF2B5EF4-FFF2-40B4-BE49-F238E27FC236}">
                <a16:creationId xmlns:a16="http://schemas.microsoft.com/office/drawing/2014/main" id="{30AFD564-4FB7-A105-3FEA-CDAA3BCB3C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581025"/>
            <a:ext cx="12192000" cy="56943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1194613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584AEC-E468-9FF6-3AF1-04E12EE7714A}"/>
              </a:ext>
            </a:extLst>
          </p:cNvPr>
          <p:cNvSpPr>
            <a:spLocks noGrp="1"/>
          </p:cNvSpPr>
          <p:nvPr>
            <p:ph type="title"/>
          </p:nvPr>
        </p:nvSpPr>
        <p:spPr/>
        <p:txBody>
          <a:bodyPr/>
          <a:lstStyle/>
          <a:p>
            <a:r>
              <a:rPr lang="en-US" dirty="0"/>
              <a:t>Why Scale</a:t>
            </a:r>
          </a:p>
        </p:txBody>
      </p:sp>
      <p:sp>
        <p:nvSpPr>
          <p:cNvPr id="3" name="Content Placeholder 2">
            <a:extLst>
              <a:ext uri="{FF2B5EF4-FFF2-40B4-BE49-F238E27FC236}">
                <a16:creationId xmlns:a16="http://schemas.microsoft.com/office/drawing/2014/main" id="{701C2117-F369-3826-E7D2-08A712B88038}"/>
              </a:ext>
            </a:extLst>
          </p:cNvPr>
          <p:cNvSpPr>
            <a:spLocks noGrp="1"/>
          </p:cNvSpPr>
          <p:nvPr>
            <p:ph idx="1"/>
          </p:nvPr>
        </p:nvSpPr>
        <p:spPr>
          <a:xfrm>
            <a:off x="1451579" y="1853755"/>
            <a:ext cx="9603275" cy="3759646"/>
          </a:xfrm>
        </p:spPr>
        <p:txBody>
          <a:bodyPr/>
          <a:lstStyle/>
          <a:p>
            <a:r>
              <a:rPr lang="en-US" dirty="0"/>
              <a:t>Again, why would we do this?</a:t>
            </a:r>
          </a:p>
          <a:p>
            <a:r>
              <a:rPr lang="en-US" dirty="0"/>
              <a:t>The model has a hard time converging, or finding an answer. </a:t>
            </a:r>
          </a:p>
        </p:txBody>
      </p:sp>
    </p:spTree>
    <p:extLst>
      <p:ext uri="{BB962C8B-B14F-4D97-AF65-F5344CB8AC3E}">
        <p14:creationId xmlns:p14="http://schemas.microsoft.com/office/powerpoint/2010/main" val="370342010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F56918-A69E-F26F-C2A7-1F462B08632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1507F05-93EA-38DB-3DD0-275F16F3A4E1}"/>
              </a:ext>
            </a:extLst>
          </p:cNvPr>
          <p:cNvSpPr>
            <a:spLocks noGrp="1"/>
          </p:cNvSpPr>
          <p:nvPr>
            <p:ph idx="1"/>
          </p:nvPr>
        </p:nvSpPr>
        <p:spPr/>
        <p:txBody>
          <a:bodyPr/>
          <a:lstStyle/>
          <a:p>
            <a:endParaRPr lang="en-US"/>
          </a:p>
        </p:txBody>
      </p:sp>
      <p:pic>
        <p:nvPicPr>
          <p:cNvPr id="6146" name="Picture 2" descr="Why feature scaling can make the learning rate large? - Supervised ML:  Regression and Classification - DeepLearning.AI">
            <a:extLst>
              <a:ext uri="{FF2B5EF4-FFF2-40B4-BE49-F238E27FC236}">
                <a16:creationId xmlns:a16="http://schemas.microsoft.com/office/drawing/2014/main" id="{2E8D0CEC-207E-A085-F8C7-730A11B55FF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1009"/>
          <a:stretch>
            <a:fillRect/>
          </a:stretch>
        </p:blipFill>
        <p:spPr bwMode="auto">
          <a:xfrm>
            <a:off x="146050" y="63500"/>
            <a:ext cx="11899900" cy="59899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5212872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7C9E14-7CD0-0E59-FC55-A4582E6F36B7}"/>
              </a:ext>
            </a:extLst>
          </p:cNvPr>
          <p:cNvSpPr>
            <a:spLocks noGrp="1"/>
          </p:cNvSpPr>
          <p:nvPr>
            <p:ph type="title"/>
          </p:nvPr>
        </p:nvSpPr>
        <p:spPr>
          <a:xfrm>
            <a:off x="1451579" y="804519"/>
            <a:ext cx="4517421" cy="1049235"/>
          </a:xfrm>
        </p:spPr>
        <p:txBody>
          <a:bodyPr/>
          <a:lstStyle/>
          <a:p>
            <a:r>
              <a:rPr lang="en-US" dirty="0"/>
              <a:t>Better Descending</a:t>
            </a:r>
          </a:p>
        </p:txBody>
      </p:sp>
      <p:sp>
        <p:nvSpPr>
          <p:cNvPr id="3" name="Content Placeholder 2">
            <a:extLst>
              <a:ext uri="{FF2B5EF4-FFF2-40B4-BE49-F238E27FC236}">
                <a16:creationId xmlns:a16="http://schemas.microsoft.com/office/drawing/2014/main" id="{8687D965-ECA8-A1A6-6DED-8CF2945FA48D}"/>
              </a:ext>
            </a:extLst>
          </p:cNvPr>
          <p:cNvSpPr>
            <a:spLocks noGrp="1"/>
          </p:cNvSpPr>
          <p:nvPr>
            <p:ph idx="1"/>
          </p:nvPr>
        </p:nvSpPr>
        <p:spPr>
          <a:xfrm>
            <a:off x="0" y="1853754"/>
            <a:ext cx="5969001" cy="4199727"/>
          </a:xfrm>
        </p:spPr>
        <p:txBody>
          <a:bodyPr/>
          <a:lstStyle/>
          <a:p>
            <a:r>
              <a:rPr lang="en-US" dirty="0"/>
              <a:t>I couldn’t find a great picture. </a:t>
            </a:r>
          </a:p>
          <a:p>
            <a:r>
              <a:rPr lang="en-US" dirty="0"/>
              <a:t>The GD algorithm is trying to find the lowest point, in many dimensions. </a:t>
            </a:r>
          </a:p>
          <a:p>
            <a:r>
              <a:rPr lang="en-US" dirty="0"/>
              <a:t>The shape can be complex – this is hard. </a:t>
            </a:r>
          </a:p>
          <a:p>
            <a:r>
              <a:rPr lang="en-US" dirty="0"/>
              <a:t>If data is scaled, the shape is more ”bowl like”. </a:t>
            </a:r>
          </a:p>
          <a:p>
            <a:r>
              <a:rPr lang="en-US" dirty="0"/>
              <a:t>If data has different scales, some axes are compressed/stretched. </a:t>
            </a:r>
          </a:p>
          <a:p>
            <a:r>
              <a:rPr lang="en-US" dirty="0"/>
              <a:t>Algorithm is worse at working towards the bottom. </a:t>
            </a:r>
          </a:p>
        </p:txBody>
      </p:sp>
      <p:pic>
        <p:nvPicPr>
          <p:cNvPr id="10242" name="Picture 2" descr="Gradient Descent vs. Backpropagation: What's the Difference?">
            <a:extLst>
              <a:ext uri="{FF2B5EF4-FFF2-40B4-BE49-F238E27FC236}">
                <a16:creationId xmlns:a16="http://schemas.microsoft.com/office/drawing/2014/main" id="{BF16C3E2-DBCF-615E-45D8-79971C7F43A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9000" y="-446"/>
            <a:ext cx="6223000" cy="3708400"/>
          </a:xfrm>
          <a:prstGeom prst="rect">
            <a:avLst/>
          </a:prstGeom>
          <a:noFill/>
          <a:extLst>
            <a:ext uri="{909E8E84-426E-40DD-AFC4-6F175D3DCCD1}">
              <a14:hiddenFill xmlns:a14="http://schemas.microsoft.com/office/drawing/2010/main">
                <a:solidFill>
                  <a:srgbClr val="FFFFFF"/>
                </a:solidFill>
              </a14:hiddenFill>
            </a:ext>
          </a:extLst>
        </p:spPr>
      </p:pic>
      <p:pic>
        <p:nvPicPr>
          <p:cNvPr id="10244" name="Picture 4" descr="What is the Gradient Descent Algorithm - Analytics Vidhya">
            <a:extLst>
              <a:ext uri="{FF2B5EF4-FFF2-40B4-BE49-F238E27FC236}">
                <a16:creationId xmlns:a16="http://schemas.microsoft.com/office/drawing/2014/main" id="{3B4D87C4-B831-ADE9-68CE-EC42FB689F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988300" y="3705225"/>
            <a:ext cx="4203700" cy="31527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689133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A9C73-F913-6240-D397-4B7BC74D0C05}"/>
              </a:ext>
            </a:extLst>
          </p:cNvPr>
          <p:cNvSpPr>
            <a:spLocks noGrp="1"/>
          </p:cNvSpPr>
          <p:nvPr>
            <p:ph type="title"/>
          </p:nvPr>
        </p:nvSpPr>
        <p:spPr/>
        <p:txBody>
          <a:bodyPr/>
          <a:lstStyle/>
          <a:p>
            <a:r>
              <a:rPr lang="en-US" dirty="0"/>
              <a:t>Don’t Leak while you Scale!</a:t>
            </a:r>
          </a:p>
        </p:txBody>
      </p:sp>
      <p:sp>
        <p:nvSpPr>
          <p:cNvPr id="3" name="Content Placeholder 2">
            <a:extLst>
              <a:ext uri="{FF2B5EF4-FFF2-40B4-BE49-F238E27FC236}">
                <a16:creationId xmlns:a16="http://schemas.microsoft.com/office/drawing/2014/main" id="{8687F39D-7F0A-5BA0-37C1-A65A9EAAFA71}"/>
              </a:ext>
            </a:extLst>
          </p:cNvPr>
          <p:cNvSpPr>
            <a:spLocks noGrp="1"/>
          </p:cNvSpPr>
          <p:nvPr>
            <p:ph idx="1"/>
          </p:nvPr>
        </p:nvSpPr>
        <p:spPr>
          <a:xfrm>
            <a:off x="1451579" y="1853754"/>
            <a:ext cx="9603275" cy="4199727"/>
          </a:xfrm>
        </p:spPr>
        <p:txBody>
          <a:bodyPr/>
          <a:lstStyle/>
          <a:p>
            <a:r>
              <a:rPr lang="en-US" dirty="0"/>
              <a:t>Technically, we should perform the scaling after train-test split. </a:t>
            </a:r>
          </a:p>
          <a:p>
            <a:pPr lvl="1"/>
            <a:r>
              <a:rPr lang="en-US" dirty="0"/>
              <a:t>We split the data to isolate train and test data. </a:t>
            </a:r>
          </a:p>
          <a:p>
            <a:pPr lvl="1"/>
            <a:r>
              <a:rPr lang="en-US" dirty="0"/>
              <a:t>Fit the scaler on the training data. </a:t>
            </a:r>
          </a:p>
          <a:p>
            <a:pPr lvl="1"/>
            <a:r>
              <a:rPr lang="en-US" dirty="0"/>
              <a:t>Apply the scaler to training and test data. </a:t>
            </a:r>
          </a:p>
          <a:p>
            <a:r>
              <a:rPr lang="en-US" dirty="0"/>
              <a:t>This avoids data leakage – we don’t want the model to ever see training data. </a:t>
            </a:r>
          </a:p>
          <a:p>
            <a:pPr lvl="1"/>
            <a:r>
              <a:rPr lang="en-US" dirty="0"/>
              <a:t>Good practice in general as it helps with objective metrics. </a:t>
            </a:r>
          </a:p>
          <a:p>
            <a:pPr lvl="1"/>
            <a:r>
              <a:rPr lang="en-US" dirty="0"/>
              <a:t>Scores of complete model are on new, never seen data. </a:t>
            </a:r>
          </a:p>
          <a:p>
            <a:pPr lvl="1"/>
            <a:r>
              <a:rPr lang="en-US" dirty="0"/>
              <a:t>Rough analog, LLMs can basically ‘learn’ the benchmarks they’re evaluated on. </a:t>
            </a:r>
          </a:p>
          <a:p>
            <a:r>
              <a:rPr lang="en-US" dirty="0"/>
              <a:t>In practice this doesn’t really make a big impact 99.99% of the time. </a:t>
            </a:r>
          </a:p>
        </p:txBody>
      </p:sp>
    </p:spTree>
    <p:extLst>
      <p:ext uri="{BB962C8B-B14F-4D97-AF65-F5344CB8AC3E}">
        <p14:creationId xmlns:p14="http://schemas.microsoft.com/office/powerpoint/2010/main" val="245715082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718EE9-19F5-8128-78A9-71A6F76E8B60}"/>
              </a:ext>
            </a:extLst>
          </p:cNvPr>
          <p:cNvSpPr>
            <a:spLocks noGrp="1"/>
          </p:cNvSpPr>
          <p:nvPr>
            <p:ph type="title"/>
          </p:nvPr>
        </p:nvSpPr>
        <p:spPr/>
        <p:txBody>
          <a:bodyPr/>
          <a:lstStyle/>
          <a:p>
            <a:r>
              <a:rPr lang="en-US" dirty="0"/>
              <a:t>Feature Scaling Usage</a:t>
            </a:r>
          </a:p>
        </p:txBody>
      </p:sp>
      <p:sp>
        <p:nvSpPr>
          <p:cNvPr id="3" name="Content Placeholder 2">
            <a:extLst>
              <a:ext uri="{FF2B5EF4-FFF2-40B4-BE49-F238E27FC236}">
                <a16:creationId xmlns:a16="http://schemas.microsoft.com/office/drawing/2014/main" id="{C89836CF-77E8-AD9E-561E-9174184C4048}"/>
              </a:ext>
            </a:extLst>
          </p:cNvPr>
          <p:cNvSpPr>
            <a:spLocks noGrp="1"/>
          </p:cNvSpPr>
          <p:nvPr>
            <p:ph idx="1"/>
          </p:nvPr>
        </p:nvSpPr>
        <p:spPr>
          <a:xfrm>
            <a:off x="1451579" y="1853754"/>
            <a:ext cx="9603275" cy="4199727"/>
          </a:xfrm>
        </p:spPr>
        <p:txBody>
          <a:bodyPr/>
          <a:lstStyle/>
          <a:p>
            <a:r>
              <a:rPr lang="en-US" dirty="0"/>
              <a:t>We generally use feature scaling all the time, there aren’t really any downsides. </a:t>
            </a:r>
          </a:p>
          <a:p>
            <a:r>
              <a:rPr lang="en-US" dirty="0"/>
              <a:t>Which one do we use? </a:t>
            </a:r>
          </a:p>
          <a:p>
            <a:pPr lvl="1"/>
            <a:r>
              <a:rPr lang="en-US" dirty="0"/>
              <a:t>There is no “true” answer, we test and observe the performance. </a:t>
            </a:r>
          </a:p>
          <a:p>
            <a:pPr lvl="1"/>
            <a:r>
              <a:rPr lang="en-US" dirty="0"/>
              <a:t>If the data is roughly normal to start with, standardization may be better. </a:t>
            </a:r>
          </a:p>
          <a:p>
            <a:r>
              <a:rPr lang="en-US" dirty="0"/>
              <a:t>The steps in code are simple. </a:t>
            </a:r>
          </a:p>
          <a:p>
            <a:pPr lvl="1"/>
            <a:r>
              <a:rPr lang="en-US" dirty="0"/>
              <a:t>Make a scaler object, using the </a:t>
            </a:r>
            <a:r>
              <a:rPr lang="en-US" dirty="0" err="1"/>
              <a:t>sklearn</a:t>
            </a:r>
            <a:r>
              <a:rPr lang="en-US" dirty="0"/>
              <a:t> module. </a:t>
            </a:r>
          </a:p>
          <a:p>
            <a:pPr lvl="1"/>
            <a:r>
              <a:rPr lang="en-US" dirty="0"/>
              <a:t>Fit the scaler to the training X data, so it learns what the new scale should be. </a:t>
            </a:r>
          </a:p>
          <a:p>
            <a:pPr lvl="1"/>
            <a:r>
              <a:rPr lang="en-US" dirty="0"/>
              <a:t>Transform the test data, so it is on the correct scale. </a:t>
            </a:r>
          </a:p>
          <a:p>
            <a:r>
              <a:rPr lang="en-US" dirty="0"/>
              <a:t>Once this is done, nothing else changes. (Note: no need to scale y, generally*). </a:t>
            </a:r>
          </a:p>
        </p:txBody>
      </p:sp>
    </p:spTree>
    <p:extLst>
      <p:ext uri="{BB962C8B-B14F-4D97-AF65-F5344CB8AC3E}">
        <p14:creationId xmlns:p14="http://schemas.microsoft.com/office/powerpoint/2010/main" val="221567978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8199" name="Rectangle 8198">
            <a:extLst>
              <a:ext uri="{FF2B5EF4-FFF2-40B4-BE49-F238E27FC236}">
                <a16:creationId xmlns:a16="http://schemas.microsoft.com/office/drawing/2014/main" id="{CDDE5CDF-1512-4CDA-B956-23D223F8DE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8201" name="Picture 8200">
            <a:extLst>
              <a:ext uri="{FF2B5EF4-FFF2-40B4-BE49-F238E27FC236}">
                <a16:creationId xmlns:a16="http://schemas.microsoft.com/office/drawing/2014/main" id="{B029D7D8-5A6B-4C76-94C8-15798C6C5AD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rotWithShape="1">
          <a:blip r:embed="rId2">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cxnSp>
        <p:nvCxnSpPr>
          <p:cNvPr id="8203" name="Straight Connector 8202">
            <a:extLst>
              <a:ext uri="{FF2B5EF4-FFF2-40B4-BE49-F238E27FC236}">
                <a16:creationId xmlns:a16="http://schemas.microsoft.com/office/drawing/2014/main" id="{A5C9319C-E20D-4884-952F-60B6A58C3E3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 useBgFill="1">
        <p:nvSpPr>
          <p:cNvPr id="8205" name="Rectangle 8204">
            <a:extLst>
              <a:ext uri="{FF2B5EF4-FFF2-40B4-BE49-F238E27FC236}">
                <a16:creationId xmlns:a16="http://schemas.microsoft.com/office/drawing/2014/main" id="{F1176DA6-4BBF-42A4-9C94-E6613CCD6B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07" name="Rectangle 8206">
            <a:extLst>
              <a:ext uri="{FF2B5EF4-FFF2-40B4-BE49-F238E27FC236}">
                <a16:creationId xmlns:a16="http://schemas.microsoft.com/office/drawing/2014/main" id="{99AAB0AE-172B-4FB4-80C2-86CD6B8242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solidFill>
            <a:schemeClr val="bg1"/>
          </a:solidFill>
          <a:ln w="22225">
            <a:solidFill>
              <a:srgbClr val="FF9D3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194" name="Picture 2" descr="How to Deal imbalanced datasets in machine learning?">
            <a:extLst>
              <a:ext uri="{FF2B5EF4-FFF2-40B4-BE49-F238E27FC236}">
                <a16:creationId xmlns:a16="http://schemas.microsoft.com/office/drawing/2014/main" id="{E6150381-3E14-2AAB-F10B-3C7F55471C25}"/>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tretch>
            <a:fillRect/>
          </a:stretch>
        </p:blipFill>
        <p:spPr bwMode="auto">
          <a:xfrm>
            <a:off x="643467" y="1098042"/>
            <a:ext cx="10905066" cy="46619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953806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5B60C5-DDBF-8DB7-DBA0-A4D9CA4BC7B5}"/>
              </a:ext>
            </a:extLst>
          </p:cNvPr>
          <p:cNvSpPr>
            <a:spLocks noGrp="1"/>
          </p:cNvSpPr>
          <p:nvPr>
            <p:ph type="title"/>
          </p:nvPr>
        </p:nvSpPr>
        <p:spPr/>
        <p:txBody>
          <a:bodyPr/>
          <a:lstStyle/>
          <a:p>
            <a:r>
              <a:rPr lang="en-US" dirty="0"/>
              <a:t>But First</a:t>
            </a:r>
          </a:p>
        </p:txBody>
      </p:sp>
      <p:sp>
        <p:nvSpPr>
          <p:cNvPr id="3" name="Content Placeholder 2">
            <a:extLst>
              <a:ext uri="{FF2B5EF4-FFF2-40B4-BE49-F238E27FC236}">
                <a16:creationId xmlns:a16="http://schemas.microsoft.com/office/drawing/2014/main" id="{592CE809-09CB-5016-3EF9-72CA072D6E89}"/>
              </a:ext>
            </a:extLst>
          </p:cNvPr>
          <p:cNvSpPr>
            <a:spLocks noGrp="1"/>
          </p:cNvSpPr>
          <p:nvPr>
            <p:ph idx="1"/>
          </p:nvPr>
        </p:nvSpPr>
        <p:spPr/>
        <p:txBody>
          <a:bodyPr/>
          <a:lstStyle/>
          <a:p>
            <a:r>
              <a:rPr lang="en-US" dirty="0"/>
              <a:t>The idea of imbalanced learning matters, but…</a:t>
            </a:r>
          </a:p>
          <a:p>
            <a:r>
              <a:rPr lang="en-US" dirty="0"/>
              <a:t>It is pretty simple. </a:t>
            </a:r>
          </a:p>
          <a:p>
            <a:r>
              <a:rPr lang="en-US" dirty="0"/>
              <a:t>These basic techniques </a:t>
            </a:r>
          </a:p>
        </p:txBody>
      </p:sp>
    </p:spTree>
    <p:extLst>
      <p:ext uri="{BB962C8B-B14F-4D97-AF65-F5344CB8AC3E}">
        <p14:creationId xmlns:p14="http://schemas.microsoft.com/office/powerpoint/2010/main" val="288992737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22EEE7-53D8-5732-DE17-A0F501A69E66}"/>
              </a:ext>
            </a:extLst>
          </p:cNvPr>
          <p:cNvSpPr>
            <a:spLocks noGrp="1"/>
          </p:cNvSpPr>
          <p:nvPr>
            <p:ph type="title"/>
          </p:nvPr>
        </p:nvSpPr>
        <p:spPr/>
        <p:txBody>
          <a:bodyPr/>
          <a:lstStyle/>
          <a:p>
            <a:r>
              <a:rPr lang="en-US" dirty="0"/>
              <a:t>Imbalanced Data</a:t>
            </a:r>
          </a:p>
        </p:txBody>
      </p:sp>
      <p:sp>
        <p:nvSpPr>
          <p:cNvPr id="3" name="Content Placeholder 2">
            <a:extLst>
              <a:ext uri="{FF2B5EF4-FFF2-40B4-BE49-F238E27FC236}">
                <a16:creationId xmlns:a16="http://schemas.microsoft.com/office/drawing/2014/main" id="{7091A014-FDD4-73E7-C5D2-A2479100AA38}"/>
              </a:ext>
            </a:extLst>
          </p:cNvPr>
          <p:cNvSpPr>
            <a:spLocks noGrp="1"/>
          </p:cNvSpPr>
          <p:nvPr>
            <p:ph idx="1"/>
          </p:nvPr>
        </p:nvSpPr>
        <p:spPr>
          <a:xfrm>
            <a:off x="1451579" y="1853754"/>
            <a:ext cx="9799517" cy="4199727"/>
          </a:xfrm>
        </p:spPr>
        <p:txBody>
          <a:bodyPr>
            <a:normAutofit/>
          </a:bodyPr>
          <a:lstStyle/>
          <a:p>
            <a:r>
              <a:rPr lang="en-US" dirty="0"/>
              <a:t>On common issue with classification is that it is possible to have radically different number of samples in each of the classes. </a:t>
            </a:r>
          </a:p>
          <a:p>
            <a:pPr lvl="1"/>
            <a:r>
              <a:rPr lang="en-US" dirty="0"/>
              <a:t>E.g. credit card fraud – most things are not fraud. </a:t>
            </a:r>
          </a:p>
          <a:p>
            <a:r>
              <a:rPr lang="en-US" dirty="0"/>
              <a:t>Imbalance can present an issue, as our models want to be as accurate as possible. </a:t>
            </a:r>
          </a:p>
          <a:p>
            <a:pPr lvl="1"/>
            <a:r>
              <a:rPr lang="en-US" dirty="0"/>
              <a:t>If you predict False for every credit card transaction, you’ll miss all the fraud, but you’ll score north of 99.5% accuracy. Frauds can be disregarded in pursuit of accuracy. </a:t>
            </a:r>
          </a:p>
          <a:p>
            <a:pPr lvl="1"/>
            <a:r>
              <a:rPr lang="en-US" dirty="0"/>
              <a:t>Each gradient descent loop looks to make the predictions more accurate, if the data is imbalanced, we can be “pulled” in that direction. The majority class “dominates”. </a:t>
            </a:r>
          </a:p>
          <a:p>
            <a:pPr lvl="1"/>
            <a:r>
              <a:rPr lang="en-US" dirty="0"/>
              <a:t>In a credit card example, we may get lots of false negatives. Many frauds are missed. </a:t>
            </a:r>
          </a:p>
          <a:p>
            <a:r>
              <a:rPr lang="en-US" dirty="0"/>
              <a:t>One method to combat this is to look at other error metrics like recall, precision, and F1... </a:t>
            </a:r>
          </a:p>
        </p:txBody>
      </p:sp>
    </p:spTree>
    <p:extLst>
      <p:ext uri="{BB962C8B-B14F-4D97-AF65-F5344CB8AC3E}">
        <p14:creationId xmlns:p14="http://schemas.microsoft.com/office/powerpoint/2010/main" val="391496542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F00C1-4A97-6488-1D1C-0C11CA1E3C0F}"/>
              </a:ext>
            </a:extLst>
          </p:cNvPr>
          <p:cNvSpPr>
            <a:spLocks noGrp="1"/>
          </p:cNvSpPr>
          <p:nvPr>
            <p:ph type="title"/>
          </p:nvPr>
        </p:nvSpPr>
        <p:spPr/>
        <p:txBody>
          <a:bodyPr/>
          <a:lstStyle/>
          <a:p>
            <a:r>
              <a:rPr lang="en-US" dirty="0"/>
              <a:t>Algorithms are Greedy</a:t>
            </a:r>
          </a:p>
        </p:txBody>
      </p:sp>
      <p:sp>
        <p:nvSpPr>
          <p:cNvPr id="3" name="Content Placeholder 2">
            <a:extLst>
              <a:ext uri="{FF2B5EF4-FFF2-40B4-BE49-F238E27FC236}">
                <a16:creationId xmlns:a16="http://schemas.microsoft.com/office/drawing/2014/main" id="{F022FADC-5EC6-6ACF-AF6B-C56CA7DBA880}"/>
              </a:ext>
            </a:extLst>
          </p:cNvPr>
          <p:cNvSpPr>
            <a:spLocks noGrp="1"/>
          </p:cNvSpPr>
          <p:nvPr>
            <p:ph idx="1"/>
          </p:nvPr>
        </p:nvSpPr>
        <p:spPr>
          <a:xfrm>
            <a:off x="1451579" y="2015732"/>
            <a:ext cx="9603275" cy="4037749"/>
          </a:xfrm>
        </p:spPr>
        <p:txBody>
          <a:bodyPr/>
          <a:lstStyle/>
          <a:p>
            <a:r>
              <a:rPr lang="en-US" dirty="0"/>
              <a:t>The algorithm training the model is greedy, it tries to minimize cost. </a:t>
            </a:r>
          </a:p>
          <a:p>
            <a:r>
              <a:rPr lang="en-US" dirty="0"/>
              <a:t>The cost is just a aggregation of each individual miss. </a:t>
            </a:r>
          </a:p>
          <a:p>
            <a:r>
              <a:rPr lang="en-US" dirty="0"/>
              <a:t>The total cost metric doesn’t really care how that error is distributed. </a:t>
            </a:r>
          </a:p>
          <a:p>
            <a:pPr lvl="1"/>
            <a:r>
              <a:rPr lang="en-US" dirty="0"/>
              <a:t>A cc fraud model that always predicts 0 will have 99.9%+ loss of 0. A few loss of 1. </a:t>
            </a:r>
          </a:p>
          <a:p>
            <a:pPr lvl="1"/>
            <a:r>
              <a:rPr lang="en-US" dirty="0"/>
              <a:t>A cc fraud model that works, may have many losses of .1, .2, .3 that add up. </a:t>
            </a:r>
          </a:p>
          <a:p>
            <a:pPr lvl="1"/>
            <a:r>
              <a:rPr lang="en-US" dirty="0"/>
              <a:t>The second one could have </a:t>
            </a:r>
            <a:r>
              <a:rPr lang="en-US" i="1" dirty="0"/>
              <a:t>perfect</a:t>
            </a:r>
            <a:r>
              <a:rPr lang="en-US" dirty="0"/>
              <a:t> accuracy, but still maybe more loss. </a:t>
            </a:r>
          </a:p>
          <a:p>
            <a:r>
              <a:rPr lang="en-US" dirty="0"/>
              <a:t>Imbalanced learning techniques aim to ensure performance across all classes is kept. </a:t>
            </a:r>
          </a:p>
        </p:txBody>
      </p:sp>
    </p:spTree>
    <p:extLst>
      <p:ext uri="{BB962C8B-B14F-4D97-AF65-F5344CB8AC3E}">
        <p14:creationId xmlns:p14="http://schemas.microsoft.com/office/powerpoint/2010/main" val="398593655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94F3F8-0A72-EB66-308D-EE2F8A04A6BA}"/>
              </a:ext>
            </a:extLst>
          </p:cNvPr>
          <p:cNvSpPr>
            <a:spLocks noGrp="1"/>
          </p:cNvSpPr>
          <p:nvPr>
            <p:ph type="title"/>
          </p:nvPr>
        </p:nvSpPr>
        <p:spPr/>
        <p:txBody>
          <a:bodyPr/>
          <a:lstStyle/>
          <a:p>
            <a:r>
              <a:rPr lang="en-US" dirty="0"/>
              <a:t>Really Imbalanced Consideration</a:t>
            </a:r>
          </a:p>
        </p:txBody>
      </p:sp>
      <p:sp>
        <p:nvSpPr>
          <p:cNvPr id="3" name="Content Placeholder 2">
            <a:extLst>
              <a:ext uri="{FF2B5EF4-FFF2-40B4-BE49-F238E27FC236}">
                <a16:creationId xmlns:a16="http://schemas.microsoft.com/office/drawing/2014/main" id="{954B8FD1-CD8B-3A02-0B26-D047AFC61769}"/>
              </a:ext>
            </a:extLst>
          </p:cNvPr>
          <p:cNvSpPr>
            <a:spLocks noGrp="1"/>
          </p:cNvSpPr>
          <p:nvPr>
            <p:ph idx="1"/>
          </p:nvPr>
        </p:nvSpPr>
        <p:spPr>
          <a:xfrm>
            <a:off x="1451579" y="1853754"/>
            <a:ext cx="9603275" cy="4199727"/>
          </a:xfrm>
        </p:spPr>
        <p:txBody>
          <a:bodyPr/>
          <a:lstStyle/>
          <a:p>
            <a:r>
              <a:rPr lang="en-US" dirty="0"/>
              <a:t>These simple techniques are old, can work, and are pretty simple. </a:t>
            </a:r>
          </a:p>
          <a:p>
            <a:r>
              <a:rPr lang="en-US" dirty="0"/>
              <a:t>Modern ML often uses different approaches. </a:t>
            </a:r>
          </a:p>
          <a:p>
            <a:r>
              <a:rPr lang="en-US" dirty="0"/>
              <a:t>Neural networks can often handle imbalanced data given enough data. </a:t>
            </a:r>
          </a:p>
          <a:p>
            <a:pPr lvl="1"/>
            <a:r>
              <a:rPr lang="en-US" dirty="0"/>
              <a:t>Can preset bias – what share to expect in each class. </a:t>
            </a:r>
          </a:p>
          <a:p>
            <a:r>
              <a:rPr lang="en-US" dirty="0"/>
              <a:t>Data generation is also common in some domains. </a:t>
            </a:r>
          </a:p>
          <a:p>
            <a:r>
              <a:rPr lang="en-US" dirty="0"/>
              <a:t>Tweaks can also be implemented in the algorithm. </a:t>
            </a:r>
          </a:p>
          <a:p>
            <a:pPr lvl="1"/>
            <a:r>
              <a:rPr lang="en-US" dirty="0"/>
              <a:t>Weighting can be applied, so minority classes “matter more”. </a:t>
            </a:r>
          </a:p>
          <a:p>
            <a:pPr lvl="1"/>
            <a:r>
              <a:rPr lang="en-US" dirty="0"/>
              <a:t>Different costs can be applied, to better account for minority class. </a:t>
            </a:r>
          </a:p>
          <a:p>
            <a:pPr lvl="1"/>
            <a:r>
              <a:rPr lang="en-US" dirty="0" err="1"/>
              <a:t>Imblearn</a:t>
            </a:r>
            <a:r>
              <a:rPr lang="en-US" dirty="0"/>
              <a:t> has some ensemble (combination of models… later) that are setup for this. </a:t>
            </a:r>
          </a:p>
        </p:txBody>
      </p:sp>
    </p:spTree>
    <p:extLst>
      <p:ext uri="{BB962C8B-B14F-4D97-AF65-F5344CB8AC3E}">
        <p14:creationId xmlns:p14="http://schemas.microsoft.com/office/powerpoint/2010/main" val="11277658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EC6A7D-44E2-3867-DB60-DCBE1FBF097F}"/>
              </a:ext>
            </a:extLst>
          </p:cNvPr>
          <p:cNvSpPr>
            <a:spLocks noGrp="1"/>
          </p:cNvSpPr>
          <p:nvPr>
            <p:ph type="title"/>
          </p:nvPr>
        </p:nvSpPr>
        <p:spPr>
          <a:xfrm>
            <a:off x="259493" y="867037"/>
            <a:ext cx="5541234" cy="1049235"/>
          </a:xfrm>
        </p:spPr>
        <p:txBody>
          <a:bodyPr/>
          <a:lstStyle/>
          <a:p>
            <a:r>
              <a:rPr lang="en-US" dirty="0"/>
              <a:t>Data Resampling</a:t>
            </a:r>
          </a:p>
        </p:txBody>
      </p:sp>
      <p:sp>
        <p:nvSpPr>
          <p:cNvPr id="3" name="Content Placeholder 2">
            <a:extLst>
              <a:ext uri="{FF2B5EF4-FFF2-40B4-BE49-F238E27FC236}">
                <a16:creationId xmlns:a16="http://schemas.microsoft.com/office/drawing/2014/main" id="{F1CC5A9E-4376-4A0E-536D-885F0916D225}"/>
              </a:ext>
            </a:extLst>
          </p:cNvPr>
          <p:cNvSpPr>
            <a:spLocks noGrp="1"/>
          </p:cNvSpPr>
          <p:nvPr>
            <p:ph idx="1"/>
          </p:nvPr>
        </p:nvSpPr>
        <p:spPr>
          <a:xfrm>
            <a:off x="1460500" y="2174306"/>
            <a:ext cx="8854757" cy="3816657"/>
          </a:xfrm>
        </p:spPr>
        <p:txBody>
          <a:bodyPr>
            <a:normAutofit lnSpcReduction="10000"/>
          </a:bodyPr>
          <a:lstStyle/>
          <a:p>
            <a:r>
              <a:rPr lang="en-US" dirty="0"/>
              <a:t>Another thing we can do is manipulate the data, to make it less imbalanced. </a:t>
            </a:r>
          </a:p>
          <a:p>
            <a:r>
              <a:rPr lang="en-US" dirty="0"/>
              <a:t>We change the training dataset to be less “true to life” but to be better at “training a model”. </a:t>
            </a:r>
          </a:p>
          <a:p>
            <a:pPr lvl="1"/>
            <a:r>
              <a:rPr lang="en-US" dirty="0"/>
              <a:t>Analogous to if you studied for a diploma exam by looking at test prep material rather than the class material. You aren’t studying the “real” stuff, but you are using something that will prepare you better for what you care about – test performance. Or test data performance. </a:t>
            </a:r>
          </a:p>
          <a:p>
            <a:r>
              <a:rPr lang="en-US" dirty="0"/>
              <a:t>There are two basic approaches to this:</a:t>
            </a:r>
          </a:p>
          <a:p>
            <a:pPr lvl="1"/>
            <a:r>
              <a:rPr lang="en-US" dirty="0" err="1"/>
              <a:t>Undersampling</a:t>
            </a:r>
            <a:r>
              <a:rPr lang="en-US" dirty="0"/>
              <a:t> – reducing the amount of the majority class. </a:t>
            </a:r>
          </a:p>
          <a:p>
            <a:pPr lvl="1"/>
            <a:r>
              <a:rPr lang="en-US" dirty="0"/>
              <a:t>Oversampling – increasing the amount of the minority class. </a:t>
            </a:r>
          </a:p>
        </p:txBody>
      </p:sp>
      <p:pic>
        <p:nvPicPr>
          <p:cNvPr id="9218" name="Picture 2" descr="The 5 Most Useful Techniques to Handle Imbalanced Datasets - KDnuggets">
            <a:extLst>
              <a:ext uri="{FF2B5EF4-FFF2-40B4-BE49-F238E27FC236}">
                <a16:creationId xmlns:a16="http://schemas.microsoft.com/office/drawing/2014/main" id="{39D9B9FB-D650-F70B-B48D-B5F6E153DED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91193" y="0"/>
            <a:ext cx="7400807" cy="21743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6404484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558ED5-EB15-191C-9B26-7171DB0A8101}"/>
              </a:ext>
            </a:extLst>
          </p:cNvPr>
          <p:cNvSpPr>
            <a:spLocks noGrp="1"/>
          </p:cNvSpPr>
          <p:nvPr>
            <p:ph type="title"/>
          </p:nvPr>
        </p:nvSpPr>
        <p:spPr/>
        <p:txBody>
          <a:bodyPr/>
          <a:lstStyle/>
          <a:p>
            <a:r>
              <a:rPr lang="en-US" dirty="0"/>
              <a:t>Fake your Data</a:t>
            </a:r>
          </a:p>
        </p:txBody>
      </p:sp>
      <p:sp>
        <p:nvSpPr>
          <p:cNvPr id="3" name="Content Placeholder 2">
            <a:extLst>
              <a:ext uri="{FF2B5EF4-FFF2-40B4-BE49-F238E27FC236}">
                <a16:creationId xmlns:a16="http://schemas.microsoft.com/office/drawing/2014/main" id="{BC729668-846C-76E7-5AF1-46DA3301F511}"/>
              </a:ext>
            </a:extLst>
          </p:cNvPr>
          <p:cNvSpPr>
            <a:spLocks noGrp="1"/>
          </p:cNvSpPr>
          <p:nvPr>
            <p:ph idx="1"/>
          </p:nvPr>
        </p:nvSpPr>
        <p:spPr>
          <a:xfrm>
            <a:off x="1451579" y="1853754"/>
            <a:ext cx="9603275" cy="4199727"/>
          </a:xfrm>
        </p:spPr>
        <p:txBody>
          <a:bodyPr/>
          <a:lstStyle/>
          <a:p>
            <a:r>
              <a:rPr lang="en-US" dirty="0"/>
              <a:t>The imbalanced techniques here may seem odd. </a:t>
            </a:r>
          </a:p>
          <a:p>
            <a:pPr lvl="1"/>
            <a:r>
              <a:rPr lang="en-US" dirty="0"/>
              <a:t>We are knowingly changing the data to be less ‘accurate’.</a:t>
            </a:r>
          </a:p>
          <a:p>
            <a:r>
              <a:rPr lang="en-US" dirty="0"/>
              <a:t>This type of thing is fairly common:</a:t>
            </a:r>
          </a:p>
          <a:p>
            <a:pPr lvl="1"/>
            <a:r>
              <a:rPr lang="en-US" dirty="0"/>
              <a:t>Transformations we’ve seen before. </a:t>
            </a:r>
          </a:p>
          <a:p>
            <a:pPr lvl="1"/>
            <a:r>
              <a:rPr lang="en-US" dirty="0"/>
              <a:t>Scaling variable values. </a:t>
            </a:r>
          </a:p>
          <a:p>
            <a:pPr lvl="1"/>
            <a:r>
              <a:rPr lang="en-US" dirty="0"/>
              <a:t>Creating fake training values or even records.  </a:t>
            </a:r>
          </a:p>
          <a:p>
            <a:r>
              <a:rPr lang="en-US" dirty="0"/>
              <a:t>Remember, our goal with a dataset is to provide something to let a model learn. </a:t>
            </a:r>
          </a:p>
          <a:p>
            <a:pPr lvl="1"/>
            <a:r>
              <a:rPr lang="en-US" dirty="0"/>
              <a:t>This can be our original data, it could also be some variation. </a:t>
            </a:r>
          </a:p>
          <a:p>
            <a:pPr lvl="1"/>
            <a:r>
              <a:rPr lang="en-US" dirty="0"/>
              <a:t>The goal isn’t to make the ‘most accurate dataset’ it is to give the model what it needs. </a:t>
            </a:r>
          </a:p>
        </p:txBody>
      </p:sp>
    </p:spTree>
    <p:extLst>
      <p:ext uri="{BB962C8B-B14F-4D97-AF65-F5344CB8AC3E}">
        <p14:creationId xmlns:p14="http://schemas.microsoft.com/office/powerpoint/2010/main" val="283972028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432737-8BCD-10FC-5E32-1C3B9ED9009A}"/>
              </a:ext>
            </a:extLst>
          </p:cNvPr>
          <p:cNvSpPr>
            <a:spLocks noGrp="1"/>
          </p:cNvSpPr>
          <p:nvPr>
            <p:ph type="title"/>
          </p:nvPr>
        </p:nvSpPr>
        <p:spPr/>
        <p:txBody>
          <a:bodyPr/>
          <a:lstStyle/>
          <a:p>
            <a:r>
              <a:rPr lang="en-US" dirty="0" err="1"/>
              <a:t>Undersampling</a:t>
            </a:r>
            <a:endParaRPr lang="en-US" dirty="0"/>
          </a:p>
        </p:txBody>
      </p:sp>
      <p:sp>
        <p:nvSpPr>
          <p:cNvPr id="3" name="Content Placeholder 2">
            <a:extLst>
              <a:ext uri="{FF2B5EF4-FFF2-40B4-BE49-F238E27FC236}">
                <a16:creationId xmlns:a16="http://schemas.microsoft.com/office/drawing/2014/main" id="{358C615A-B9F5-F11D-3A8E-F4003B4C00EB}"/>
              </a:ext>
            </a:extLst>
          </p:cNvPr>
          <p:cNvSpPr>
            <a:spLocks noGrp="1"/>
          </p:cNvSpPr>
          <p:nvPr>
            <p:ph idx="1"/>
          </p:nvPr>
        </p:nvSpPr>
        <p:spPr>
          <a:xfrm>
            <a:off x="636105" y="2015732"/>
            <a:ext cx="6607872" cy="4037749"/>
          </a:xfrm>
        </p:spPr>
        <p:txBody>
          <a:bodyPr/>
          <a:lstStyle/>
          <a:p>
            <a:r>
              <a:rPr lang="en-US" dirty="0"/>
              <a:t>An </a:t>
            </a:r>
            <a:r>
              <a:rPr lang="en-US" dirty="0" err="1"/>
              <a:t>undersample</a:t>
            </a:r>
            <a:r>
              <a:rPr lang="en-US" dirty="0"/>
              <a:t> takes only some sample of the majority class, so there is more balance. </a:t>
            </a:r>
          </a:p>
          <a:p>
            <a:r>
              <a:rPr lang="en-US" dirty="0"/>
              <a:t>Most simple way is to just randomly select X records from the majority class. </a:t>
            </a:r>
          </a:p>
          <a:p>
            <a:r>
              <a:rPr lang="en-US" dirty="0"/>
              <a:t>Other algorithms use smarts to determine which to remove. </a:t>
            </a:r>
          </a:p>
          <a:p>
            <a:pPr lvl="1"/>
            <a:r>
              <a:rPr lang="en-US" dirty="0"/>
              <a:t>Tomek pairs, in the code example, removes some of the majority records that are “closest” to the decision boundary. </a:t>
            </a:r>
          </a:p>
        </p:txBody>
      </p:sp>
      <p:pic>
        <p:nvPicPr>
          <p:cNvPr id="6146" name="Picture 2" descr="2. Undersampling Techniques - Machine Learning Concepts">
            <a:extLst>
              <a:ext uri="{FF2B5EF4-FFF2-40B4-BE49-F238E27FC236}">
                <a16:creationId xmlns:a16="http://schemas.microsoft.com/office/drawing/2014/main" id="{50D89B9C-AB2B-C5C3-E671-61B03353CCA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43977" y="3348381"/>
            <a:ext cx="4203700" cy="27051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1024976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C90171-238A-13E4-98A1-187F6A88F4B8}"/>
              </a:ext>
            </a:extLst>
          </p:cNvPr>
          <p:cNvSpPr>
            <a:spLocks noGrp="1"/>
          </p:cNvSpPr>
          <p:nvPr>
            <p:ph type="title"/>
          </p:nvPr>
        </p:nvSpPr>
        <p:spPr/>
        <p:txBody>
          <a:bodyPr/>
          <a:lstStyle/>
          <a:p>
            <a:r>
              <a:rPr lang="en-US" dirty="0"/>
              <a:t>Oversampling</a:t>
            </a:r>
          </a:p>
        </p:txBody>
      </p:sp>
      <p:sp>
        <p:nvSpPr>
          <p:cNvPr id="3" name="Content Placeholder 2">
            <a:extLst>
              <a:ext uri="{FF2B5EF4-FFF2-40B4-BE49-F238E27FC236}">
                <a16:creationId xmlns:a16="http://schemas.microsoft.com/office/drawing/2014/main" id="{FFD4B8BB-50AF-25D7-855C-7BD44EC712F6}"/>
              </a:ext>
            </a:extLst>
          </p:cNvPr>
          <p:cNvSpPr>
            <a:spLocks noGrp="1"/>
          </p:cNvSpPr>
          <p:nvPr>
            <p:ph idx="1"/>
          </p:nvPr>
        </p:nvSpPr>
        <p:spPr>
          <a:xfrm>
            <a:off x="4905632" y="2015732"/>
            <a:ext cx="7175156" cy="4037749"/>
          </a:xfrm>
        </p:spPr>
        <p:txBody>
          <a:bodyPr/>
          <a:lstStyle/>
          <a:p>
            <a:r>
              <a:rPr lang="en-US" dirty="0"/>
              <a:t>Oversampling is to reproduce the minority class records multiple times to improve the balance. </a:t>
            </a:r>
          </a:p>
          <a:p>
            <a:r>
              <a:rPr lang="en-US" dirty="0"/>
              <a:t>Most simple way is to just include the minority data multiple times. </a:t>
            </a:r>
          </a:p>
          <a:p>
            <a:pPr lvl="1"/>
            <a:r>
              <a:rPr lang="en-US" dirty="0"/>
              <a:t>i.e. random oversampling with replacement. </a:t>
            </a:r>
          </a:p>
          <a:p>
            <a:r>
              <a:rPr lang="en-US" dirty="0"/>
              <a:t>Smarter algorithms can generate “similar” data based on what is in the minority class. </a:t>
            </a:r>
          </a:p>
          <a:p>
            <a:pPr lvl="1"/>
            <a:r>
              <a:rPr lang="en-US" dirty="0"/>
              <a:t>SMOTE in the code example, creates interpolated (between) data records from the original. </a:t>
            </a:r>
          </a:p>
        </p:txBody>
      </p:sp>
      <p:pic>
        <p:nvPicPr>
          <p:cNvPr id="7170" name="Picture 2">
            <a:extLst>
              <a:ext uri="{FF2B5EF4-FFF2-40B4-BE49-F238E27FC236}">
                <a16:creationId xmlns:a16="http://schemas.microsoft.com/office/drawing/2014/main" id="{7292AB6E-4822-8074-FF5E-D6410D39E2C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8564"/>
          <a:stretch/>
        </p:blipFill>
        <p:spPr bwMode="auto">
          <a:xfrm>
            <a:off x="111212" y="2127250"/>
            <a:ext cx="4572686" cy="260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4675060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705E4C-1DB5-5C9D-E174-FD67D4F29494}"/>
              </a:ext>
            </a:extLst>
          </p:cNvPr>
          <p:cNvSpPr>
            <a:spLocks noGrp="1"/>
          </p:cNvSpPr>
          <p:nvPr>
            <p:ph type="title"/>
          </p:nvPr>
        </p:nvSpPr>
        <p:spPr/>
        <p:txBody>
          <a:bodyPr/>
          <a:lstStyle/>
          <a:p>
            <a:r>
              <a:rPr lang="en-US" dirty="0"/>
              <a:t>Imbalanced Learning</a:t>
            </a:r>
          </a:p>
        </p:txBody>
      </p:sp>
      <p:sp>
        <p:nvSpPr>
          <p:cNvPr id="3" name="Content Placeholder 2">
            <a:extLst>
              <a:ext uri="{FF2B5EF4-FFF2-40B4-BE49-F238E27FC236}">
                <a16:creationId xmlns:a16="http://schemas.microsoft.com/office/drawing/2014/main" id="{D8DBE32C-C3A7-499C-21FB-99EAE31801CF}"/>
              </a:ext>
            </a:extLst>
          </p:cNvPr>
          <p:cNvSpPr>
            <a:spLocks noGrp="1"/>
          </p:cNvSpPr>
          <p:nvPr>
            <p:ph idx="1"/>
          </p:nvPr>
        </p:nvSpPr>
        <p:spPr>
          <a:xfrm>
            <a:off x="1451579" y="2015732"/>
            <a:ext cx="9603275" cy="4037749"/>
          </a:xfrm>
        </p:spPr>
        <p:txBody>
          <a:bodyPr>
            <a:normAutofit lnSpcReduction="10000"/>
          </a:bodyPr>
          <a:lstStyle/>
          <a:p>
            <a:r>
              <a:rPr lang="en-US" dirty="0"/>
              <a:t>We have a package that can handle most of the imbalanced stuff for us – </a:t>
            </a:r>
            <a:r>
              <a:rPr lang="en-US" dirty="0" err="1"/>
              <a:t>imblearn</a:t>
            </a:r>
            <a:r>
              <a:rPr lang="en-US" dirty="0"/>
              <a:t>. </a:t>
            </a:r>
          </a:p>
          <a:p>
            <a:r>
              <a:rPr lang="en-US" dirty="0"/>
              <a:t>This package provides functions that can do the resampling, that are in the same format as the </a:t>
            </a:r>
            <a:r>
              <a:rPr lang="en-US" dirty="0" err="1"/>
              <a:t>sklearn</a:t>
            </a:r>
            <a:r>
              <a:rPr lang="en-US" dirty="0"/>
              <a:t> stuff:</a:t>
            </a:r>
          </a:p>
          <a:p>
            <a:pPr lvl="1"/>
            <a:r>
              <a:rPr lang="en-US" dirty="0"/>
              <a:t>Using them is easy, as they perform like things we are used to. </a:t>
            </a:r>
          </a:p>
          <a:p>
            <a:pPr lvl="1"/>
            <a:r>
              <a:rPr lang="en-US" dirty="0"/>
              <a:t>We can incorporate them into things like pipelines, to make it easy. </a:t>
            </a:r>
          </a:p>
          <a:p>
            <a:r>
              <a:rPr lang="en-US" dirty="0" err="1"/>
              <a:t>Imblearn</a:t>
            </a:r>
            <a:r>
              <a:rPr lang="en-US" dirty="0"/>
              <a:t> has lots of resampling algorithms that we can try. </a:t>
            </a:r>
          </a:p>
          <a:p>
            <a:pPr lvl="1"/>
            <a:r>
              <a:rPr lang="en-US" dirty="0"/>
              <a:t>Some are combined – </a:t>
            </a:r>
            <a:r>
              <a:rPr lang="en-US" dirty="0" err="1"/>
              <a:t>eg.</a:t>
            </a:r>
            <a:r>
              <a:rPr lang="en-US" dirty="0"/>
              <a:t> Oversample to generate new data, then under sample to “clean” it. </a:t>
            </a:r>
          </a:p>
          <a:p>
            <a:r>
              <a:rPr lang="en-US" dirty="0"/>
              <a:t>You likely don’t have </a:t>
            </a:r>
            <a:r>
              <a:rPr lang="en-US" dirty="0" err="1"/>
              <a:t>imblearn</a:t>
            </a:r>
            <a:r>
              <a:rPr lang="en-US" dirty="0"/>
              <a:t> installed. </a:t>
            </a:r>
          </a:p>
          <a:p>
            <a:pPr lvl="1"/>
            <a:r>
              <a:rPr lang="en-US" dirty="0"/>
              <a:t>Try running a code cell with “!pip install </a:t>
            </a:r>
            <a:r>
              <a:rPr lang="en-US" dirty="0" err="1"/>
              <a:t>imblearn</a:t>
            </a:r>
            <a:r>
              <a:rPr lang="en-US" dirty="0"/>
              <a:t>” and it will install it. (if you have pip)</a:t>
            </a:r>
          </a:p>
          <a:p>
            <a:pPr lvl="1"/>
            <a:r>
              <a:rPr lang="en-US" dirty="0"/>
              <a:t>“!</a:t>
            </a:r>
            <a:r>
              <a:rPr lang="en-US" dirty="0" err="1"/>
              <a:t>conda</a:t>
            </a:r>
            <a:r>
              <a:rPr lang="en-US" dirty="0"/>
              <a:t> install </a:t>
            </a:r>
            <a:r>
              <a:rPr lang="en-US" dirty="0" err="1"/>
              <a:t>imblearn</a:t>
            </a:r>
            <a:r>
              <a:rPr lang="en-US" dirty="0"/>
              <a:t>” (and “!</a:t>
            </a:r>
            <a:r>
              <a:rPr lang="en-US" dirty="0" err="1"/>
              <a:t>conda</a:t>
            </a:r>
            <a:r>
              <a:rPr lang="en-US" dirty="0"/>
              <a:t> install pip”) should do it if you don’t. </a:t>
            </a:r>
          </a:p>
        </p:txBody>
      </p:sp>
    </p:spTree>
    <p:extLst>
      <p:ext uri="{BB962C8B-B14F-4D97-AF65-F5344CB8AC3E}">
        <p14:creationId xmlns:p14="http://schemas.microsoft.com/office/powerpoint/2010/main" val="15716701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6B9F0-CB31-7A53-A355-A58B5633E7F1}"/>
              </a:ext>
            </a:extLst>
          </p:cNvPr>
          <p:cNvSpPr>
            <a:spLocks noGrp="1"/>
          </p:cNvSpPr>
          <p:nvPr>
            <p:ph type="title"/>
          </p:nvPr>
        </p:nvSpPr>
        <p:spPr/>
        <p:txBody>
          <a:bodyPr/>
          <a:lstStyle/>
          <a:p>
            <a:r>
              <a:rPr lang="en-US" dirty="0"/>
              <a:t>Process and Results</a:t>
            </a:r>
          </a:p>
        </p:txBody>
      </p:sp>
      <p:sp>
        <p:nvSpPr>
          <p:cNvPr id="3" name="Content Placeholder 2">
            <a:extLst>
              <a:ext uri="{FF2B5EF4-FFF2-40B4-BE49-F238E27FC236}">
                <a16:creationId xmlns:a16="http://schemas.microsoft.com/office/drawing/2014/main" id="{7D6C3903-DA53-EA1D-BEEA-2E47A44C0AA7}"/>
              </a:ext>
            </a:extLst>
          </p:cNvPr>
          <p:cNvSpPr>
            <a:spLocks noGrp="1"/>
          </p:cNvSpPr>
          <p:nvPr>
            <p:ph idx="1"/>
          </p:nvPr>
        </p:nvSpPr>
        <p:spPr>
          <a:xfrm>
            <a:off x="1219200" y="1853754"/>
            <a:ext cx="10287000" cy="4199727"/>
          </a:xfrm>
        </p:spPr>
        <p:txBody>
          <a:bodyPr/>
          <a:lstStyle/>
          <a:p>
            <a:r>
              <a:rPr lang="en-US" dirty="0"/>
              <a:t>Having a more balanced dataset may help build better models. </a:t>
            </a:r>
          </a:p>
          <a:p>
            <a:pPr lvl="1"/>
            <a:r>
              <a:rPr lang="en-US" dirty="0"/>
              <a:t>Effects are not very predictable in most cases, must try and see results. </a:t>
            </a:r>
          </a:p>
          <a:p>
            <a:r>
              <a:rPr lang="en-US" dirty="0"/>
              <a:t>When oversampling we are inventing new data, that can introduce error. </a:t>
            </a:r>
          </a:p>
          <a:p>
            <a:r>
              <a:rPr lang="en-US" dirty="0"/>
              <a:t>When </a:t>
            </a:r>
            <a:r>
              <a:rPr lang="en-US" dirty="0" err="1"/>
              <a:t>undersampling</a:t>
            </a:r>
            <a:r>
              <a:rPr lang="en-US" dirty="0"/>
              <a:t> data we are removing data, that can remove information. </a:t>
            </a:r>
          </a:p>
          <a:p>
            <a:r>
              <a:rPr lang="en-US" dirty="0"/>
              <a:t>When dealing with imbalanced data, we can include this in our prep steps:</a:t>
            </a:r>
          </a:p>
          <a:p>
            <a:pPr lvl="1"/>
            <a:r>
              <a:rPr lang="en-US" dirty="0"/>
              <a:t>E.g. clean data, remove outliers, select features, encode categorical, resample data, rescale data, </a:t>
            </a:r>
            <a:r>
              <a:rPr lang="en-US" dirty="0" err="1"/>
              <a:t>etc</a:t>
            </a:r>
            <a:r>
              <a:rPr lang="en-US" dirty="0"/>
              <a:t>….</a:t>
            </a:r>
          </a:p>
          <a:p>
            <a:r>
              <a:rPr lang="en-US" dirty="0"/>
              <a:t>We are focusing on the end result here – we are going to see if changing the dataset gives us a better model. </a:t>
            </a:r>
          </a:p>
        </p:txBody>
      </p:sp>
    </p:spTree>
    <p:extLst>
      <p:ext uri="{BB962C8B-B14F-4D97-AF65-F5344CB8AC3E}">
        <p14:creationId xmlns:p14="http://schemas.microsoft.com/office/powerpoint/2010/main" val="227713677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81DCF9-B9C3-E3CD-8C82-B9A52EF5906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A23344E1-DAFA-3730-D0CA-76A30520E435}"/>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474506948"/>
      </p:ext>
    </p:extLst>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docProps/app.xml><?xml version="1.0" encoding="utf-8"?>
<Properties xmlns="http://schemas.openxmlformats.org/officeDocument/2006/extended-properties" xmlns:vt="http://schemas.openxmlformats.org/officeDocument/2006/docPropsVTypes">
  <Template>{2C098A6B-0D6A-6740-AB07-6AAE29A34FE3}tf10001119</Template>
  <TotalTime>16344</TotalTime>
  <Words>4424</Words>
  <Application>Microsoft Macintosh PowerPoint</Application>
  <PresentationFormat>Widescreen</PresentationFormat>
  <Paragraphs>352</Paragraphs>
  <Slides>67</Slides>
  <Notes>0</Notes>
  <HiddenSlides>9</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67</vt:i4>
      </vt:variant>
    </vt:vector>
  </HeadingPairs>
  <TitlesOfParts>
    <vt:vector size="70" baseType="lpstr">
      <vt:lpstr>Arial</vt:lpstr>
      <vt:lpstr>Gill Sans MT</vt:lpstr>
      <vt:lpstr>Gallery</vt:lpstr>
      <vt:lpstr>Housekeeping</vt:lpstr>
      <vt:lpstr>I’m supposed to Give You a Test Next Week!</vt:lpstr>
      <vt:lpstr>Ravel – Why???</vt:lpstr>
      <vt:lpstr>Classification and Imbalanced Data</vt:lpstr>
      <vt:lpstr>Classification Review</vt:lpstr>
      <vt:lpstr>Classification and Logistic Regression</vt:lpstr>
      <vt:lpstr>Finding the Line – Descend that Gradient</vt:lpstr>
      <vt:lpstr>Training Process</vt:lpstr>
      <vt:lpstr>Animation with Linear Regression</vt:lpstr>
      <vt:lpstr>PowerPoint Presentation</vt:lpstr>
      <vt:lpstr>PowerPoint Presentation</vt:lpstr>
      <vt:lpstr>Cost/Loss</vt:lpstr>
      <vt:lpstr>Cost Functions</vt:lpstr>
      <vt:lpstr>More on Costs</vt:lpstr>
      <vt:lpstr>Gradient Descent</vt:lpstr>
      <vt:lpstr>Gradient Descent in Practice</vt:lpstr>
      <vt:lpstr>PowerPoint Presentation</vt:lpstr>
      <vt:lpstr>PowerPoint Presentation</vt:lpstr>
      <vt:lpstr>PowerPoint Presentation</vt:lpstr>
      <vt:lpstr>Ignore Calcs if Gibberish</vt:lpstr>
      <vt:lpstr>PowerPoint Presentation</vt:lpstr>
      <vt:lpstr>PowerPoint Presentation</vt:lpstr>
      <vt:lpstr>PowerPoint Presentation</vt:lpstr>
      <vt:lpstr>Gradient Descent Results</vt:lpstr>
      <vt:lpstr>Classification and Regression</vt:lpstr>
      <vt:lpstr>Errors</vt:lpstr>
      <vt:lpstr>Model Accuracy</vt:lpstr>
      <vt:lpstr>PowerPoint Presentation</vt:lpstr>
      <vt:lpstr>Confusion Matrix</vt:lpstr>
      <vt:lpstr>PowerPoint Presentation</vt:lpstr>
      <vt:lpstr>In stats Language…</vt:lpstr>
      <vt:lpstr>Derived Accuracies</vt:lpstr>
      <vt:lpstr>PowerPoint Presentation</vt:lpstr>
      <vt:lpstr>Errors Interlude</vt:lpstr>
      <vt:lpstr>Recall-Precision Tradeoff</vt:lpstr>
      <vt:lpstr>Accuracy Plotting</vt:lpstr>
      <vt:lpstr>ROC and AUC</vt:lpstr>
      <vt:lpstr>Real Examples</vt:lpstr>
      <vt:lpstr>Using Different Metrics</vt:lpstr>
      <vt:lpstr>Remember the Regression</vt:lpstr>
      <vt:lpstr>Unscaled Variables</vt:lpstr>
      <vt:lpstr>Don’t Get Scared, Don’t Get Pale, Deal With the Scale!</vt:lpstr>
      <vt:lpstr>PowerPoint Presentation</vt:lpstr>
      <vt:lpstr>Common Transformation – Feature Scaling</vt:lpstr>
      <vt:lpstr>Results</vt:lpstr>
      <vt:lpstr>PowerPoint Presentation</vt:lpstr>
      <vt:lpstr>Data Example</vt:lpstr>
      <vt:lpstr>Comparison</vt:lpstr>
      <vt:lpstr>PowerPoint Presentation</vt:lpstr>
      <vt:lpstr>PowerPoint Presentation</vt:lpstr>
      <vt:lpstr>Why Scale</vt:lpstr>
      <vt:lpstr>PowerPoint Presentation</vt:lpstr>
      <vt:lpstr>Better Descending</vt:lpstr>
      <vt:lpstr>Don’t Leak while you Scale!</vt:lpstr>
      <vt:lpstr>Feature Scaling Usage</vt:lpstr>
      <vt:lpstr>PowerPoint Presentation</vt:lpstr>
      <vt:lpstr>But First</vt:lpstr>
      <vt:lpstr>Imbalanced Data</vt:lpstr>
      <vt:lpstr>Algorithms are Greedy</vt:lpstr>
      <vt:lpstr>Really Imbalanced Consideration</vt:lpstr>
      <vt:lpstr>Data Resampling</vt:lpstr>
      <vt:lpstr>Fake your Data</vt:lpstr>
      <vt:lpstr>Undersampling</vt:lpstr>
      <vt:lpstr>Oversampling</vt:lpstr>
      <vt:lpstr>Imbalanced Learning</vt:lpstr>
      <vt:lpstr>Process and Results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Akeem Semper</dc:creator>
  <cp:lastModifiedBy>Akeem Semper</cp:lastModifiedBy>
  <cp:revision>70</cp:revision>
  <dcterms:created xsi:type="dcterms:W3CDTF">2022-11-23T18:32:25Z</dcterms:created>
  <dcterms:modified xsi:type="dcterms:W3CDTF">2025-11-28T18:49:28Z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0877899-02b0-462c-b2a9-b7d15c4f96fe_Enabled">
    <vt:lpwstr>true</vt:lpwstr>
  </property>
  <property fmtid="{D5CDD505-2E9C-101B-9397-08002B2CF9AE}" pid="3" name="MSIP_Label_10877899-02b0-462c-b2a9-b7d15c4f96fe_SetDate">
    <vt:lpwstr>2025-11-25T22:18:25Z</vt:lpwstr>
  </property>
  <property fmtid="{D5CDD505-2E9C-101B-9397-08002B2CF9AE}" pid="4" name="MSIP_Label_10877899-02b0-462c-b2a9-b7d15c4f96fe_Method">
    <vt:lpwstr>Standard</vt:lpwstr>
  </property>
  <property fmtid="{D5CDD505-2E9C-101B-9397-08002B2CF9AE}" pid="5" name="MSIP_Label_10877899-02b0-462c-b2a9-b7d15c4f96fe_Name">
    <vt:lpwstr>Protected [Protected A]</vt:lpwstr>
  </property>
  <property fmtid="{D5CDD505-2E9C-101B-9397-08002B2CF9AE}" pid="6" name="MSIP_Label_10877899-02b0-462c-b2a9-b7d15c4f96fe_SiteId">
    <vt:lpwstr>5c98fb47-d3b9-4649-9d94-f88cbdd9729c</vt:lpwstr>
  </property>
  <property fmtid="{D5CDD505-2E9C-101B-9397-08002B2CF9AE}" pid="7" name="MSIP_Label_10877899-02b0-462c-b2a9-b7d15c4f96fe_ActionId">
    <vt:lpwstr>82a64da5-7b58-4d82-8a86-d021568ff1c5</vt:lpwstr>
  </property>
  <property fmtid="{D5CDD505-2E9C-101B-9397-08002B2CF9AE}" pid="8" name="MSIP_Label_10877899-02b0-462c-b2a9-b7d15c4f96fe_ContentBits">
    <vt:lpwstr>0</vt:lpwstr>
  </property>
  <property fmtid="{D5CDD505-2E9C-101B-9397-08002B2CF9AE}" pid="9" name="MSIP_Label_10877899-02b0-462c-b2a9-b7d15c4f96fe_Tag">
    <vt:lpwstr>50, 3, 0, 1</vt:lpwstr>
  </property>
</Properties>
</file>
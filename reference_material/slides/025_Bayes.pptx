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2" r:id="rId2"/>
    <p:sldId id="273" r:id="rId3"/>
    <p:sldId id="290" r:id="rId4"/>
    <p:sldId id="291" r:id="rId5"/>
    <p:sldId id="294" r:id="rId6"/>
    <p:sldId id="293" r:id="rId7"/>
    <p:sldId id="298" r:id="rId8"/>
    <p:sldId id="295" r:id="rId9"/>
    <p:sldId id="274" r:id="rId10"/>
    <p:sldId id="275" r:id="rId11"/>
    <p:sldId id="276" r:id="rId12"/>
    <p:sldId id="270" r:id="rId13"/>
    <p:sldId id="271" r:id="rId14"/>
    <p:sldId id="256" r:id="rId15"/>
    <p:sldId id="266" r:id="rId16"/>
    <p:sldId id="268" r:id="rId17"/>
    <p:sldId id="267" r:id="rId18"/>
    <p:sldId id="269" r:id="rId19"/>
    <p:sldId id="272" r:id="rId20"/>
    <p:sldId id="278" r:id="rId21"/>
    <p:sldId id="284" r:id="rId22"/>
    <p:sldId id="279" r:id="rId23"/>
    <p:sldId id="280" r:id="rId24"/>
    <p:sldId id="281" r:id="rId25"/>
    <p:sldId id="282" r:id="rId26"/>
    <p:sldId id="285" r:id="rId27"/>
    <p:sldId id="257" r:id="rId28"/>
    <p:sldId id="258" r:id="rId29"/>
    <p:sldId id="288" r:id="rId30"/>
    <p:sldId id="259" r:id="rId31"/>
    <p:sldId id="260" r:id="rId32"/>
    <p:sldId id="261" r:id="rId33"/>
    <p:sldId id="262" r:id="rId34"/>
    <p:sldId id="287" r:id="rId35"/>
    <p:sldId id="277" r:id="rId36"/>
    <p:sldId id="289" r:id="rId37"/>
    <p:sldId id="263" r:id="rId38"/>
    <p:sldId id="264" r:id="rId39"/>
    <p:sldId id="283" r:id="rId40"/>
    <p:sldId id="286" r:id="rId41"/>
    <p:sldId id="265" r:id="rId42"/>
    <p:sldId id="296" r:id="rId43"/>
    <p:sldId id="297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8BA21F-7F32-4540-9208-09D77F5B03BA}">
          <p14:sldIdLst>
            <p14:sldId id="292"/>
            <p14:sldId id="273"/>
            <p14:sldId id="290"/>
            <p14:sldId id="291"/>
            <p14:sldId id="294"/>
            <p14:sldId id="293"/>
            <p14:sldId id="298"/>
            <p14:sldId id="295"/>
          </p14:sldIdLst>
        </p14:section>
        <p14:section name="Weird Charts" id="{2AEAC93D-C99C-1047-830D-43486A067398}">
          <p14:sldIdLst>
            <p14:sldId id="274"/>
            <p14:sldId id="275"/>
            <p14:sldId id="276"/>
          </p14:sldIdLst>
        </p14:section>
        <p14:section name="Review" id="{C7432C32-F37E-7249-B88B-001A7073A27F}">
          <p14:sldIdLst>
            <p14:sldId id="270"/>
            <p14:sldId id="271"/>
            <p14:sldId id="256"/>
            <p14:sldId id="266"/>
            <p14:sldId id="268"/>
            <p14:sldId id="267"/>
            <p14:sldId id="269"/>
            <p14:sldId id="272"/>
          </p14:sldIdLst>
        </p14:section>
        <p14:section name="Untitled Section" id="{4742D186-45D8-B14F-B58C-3B6342FA3E4D}">
          <p14:sldIdLst>
            <p14:sldId id="278"/>
            <p14:sldId id="284"/>
            <p14:sldId id="279"/>
            <p14:sldId id="280"/>
            <p14:sldId id="281"/>
            <p14:sldId id="282"/>
            <p14:sldId id="285"/>
          </p14:sldIdLst>
        </p14:section>
        <p14:section name="Bayes" id="{1EE95CFD-4D78-9A43-80C9-00F166D1574B}">
          <p14:sldIdLst>
            <p14:sldId id="257"/>
            <p14:sldId id="258"/>
            <p14:sldId id="288"/>
            <p14:sldId id="259"/>
            <p14:sldId id="260"/>
            <p14:sldId id="261"/>
            <p14:sldId id="262"/>
          </p14:sldIdLst>
        </p14:section>
        <p14:section name="Interpretability" id="{D528C759-143A-6446-821D-C964BB8BF507}">
          <p14:sldIdLst>
            <p14:sldId id="287"/>
          </p14:sldIdLst>
        </p14:section>
        <p14:section name="Bayes has it Made" id="{350DA108-D506-D043-A2F9-C3A173631B9B}">
          <p14:sldIdLst>
            <p14:sldId id="277"/>
            <p14:sldId id="289"/>
            <p14:sldId id="263"/>
            <p14:sldId id="264"/>
            <p14:sldId id="283"/>
            <p14:sldId id="286"/>
            <p14:sldId id="26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52"/>
    <p:restoredTop sz="96327"/>
  </p:normalViewPr>
  <p:slideViewPr>
    <p:cSldViewPr snapToGrid="0" snapToObjects="1">
      <p:cViewPr varScale="1">
        <p:scale>
          <a:sx n="150" d="100"/>
          <a:sy n="150" d="100"/>
        </p:scale>
        <p:origin x="17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8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76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83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2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74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2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296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16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40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42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6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6E7C-3D31-C579-52CB-0BF2A8BA8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Fun Game…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106B5-3092-7972-E770-A5115637E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Suppose you're on a game show, and you're given the choice of three doors: </a:t>
            </a:r>
          </a:p>
          <a:p>
            <a:pPr lvl="1"/>
            <a:r>
              <a:rPr lang="en-US" dirty="0"/>
              <a:t>Behind one door is a car; </a:t>
            </a:r>
          </a:p>
          <a:p>
            <a:pPr lvl="1"/>
            <a:r>
              <a:rPr lang="en-US" dirty="0"/>
              <a:t>behind the others, goats. </a:t>
            </a:r>
          </a:p>
          <a:p>
            <a:r>
              <a:rPr lang="en-US" dirty="0"/>
              <a:t>Game: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You pick a door.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 host, who knows what's behind the doors, opens another door to reveal a goat.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You are given the choice to swap to the remaining door, or hold your pick.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 doors are open, you get what was behind the door you settled on.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 you switch? 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90F866C5-390E-E85F-B6D6-71950F1CB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366" y="88454"/>
            <a:ext cx="3175000" cy="176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45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9AEB-116D-42CD-AAFB-F9DFF9A1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B2240-35C9-D562-BADA-D7D93C21F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Probability, conditional probability, and (potentially) Bayes. </a:t>
            </a:r>
          </a:p>
          <a:p>
            <a:pPr lvl="1"/>
            <a:r>
              <a:rPr lang="en-US" dirty="0"/>
              <a:t>Please be honest about what makes sense, we’ll see how far we can get. </a:t>
            </a:r>
          </a:p>
          <a:p>
            <a:pPr lvl="1"/>
            <a:r>
              <a:rPr lang="en-US" dirty="0"/>
              <a:t>Largely example based, the core theory of probability is pretty simple. </a:t>
            </a:r>
          </a:p>
          <a:p>
            <a:r>
              <a:rPr lang="en-US" dirty="0"/>
              <a:t>For test things, conditional probability is fair game, after that is off. </a:t>
            </a:r>
          </a:p>
          <a:p>
            <a:r>
              <a:rPr lang="en-US" dirty="0"/>
              <a:t>We’ll finish the topic next Monday, the last class.</a:t>
            </a:r>
          </a:p>
          <a:p>
            <a:pPr lvl="1"/>
            <a:r>
              <a:rPr lang="en-US" dirty="0"/>
              <a:t>We’ll cover the actual sklearn model then. </a:t>
            </a:r>
          </a:p>
          <a:p>
            <a:pPr lvl="1"/>
            <a:r>
              <a:rPr lang="en-US" dirty="0"/>
              <a:t>We (probably) won’t get to deriving it, that’s worth a read through (w.b.32). </a:t>
            </a:r>
          </a:p>
          <a:p>
            <a:r>
              <a:rPr lang="en-US" dirty="0"/>
              <a:t>You can try Bayes for project stuff if you want. I’ll post that Wednesday. </a:t>
            </a:r>
          </a:p>
          <a:p>
            <a:pPr lvl="1"/>
            <a:r>
              <a:rPr lang="en-US" dirty="0"/>
              <a:t>Might require a little data prep and/or documentation reading. </a:t>
            </a:r>
          </a:p>
        </p:txBody>
      </p:sp>
    </p:spTree>
    <p:extLst>
      <p:ext uri="{BB962C8B-B14F-4D97-AF65-F5344CB8AC3E}">
        <p14:creationId xmlns:p14="http://schemas.microsoft.com/office/powerpoint/2010/main" val="156039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C971-F15A-47C2-94D1-A1CD93B56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1E804-904C-6D1B-C1E1-E39D1B026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81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6A1F-781F-8496-2FD7-3717E90AB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6A5CB-317D-41F7-BDE0-DC1A1C9DA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Overall, looked pretty good. Small notes only:</a:t>
            </a:r>
          </a:p>
          <a:p>
            <a:pPr lvl="1"/>
            <a:r>
              <a:rPr lang="en-US" dirty="0"/>
              <a:t>I’m not sure a normal distribution for vote totals is best?</a:t>
            </a:r>
          </a:p>
          <a:p>
            <a:pPr lvl="2"/>
            <a:r>
              <a:rPr lang="en-US" dirty="0"/>
              <a:t>Small sample, asserting vote totals are normal is an assertion (that may be correct). </a:t>
            </a:r>
          </a:p>
          <a:p>
            <a:pPr lvl="1"/>
            <a:r>
              <a:rPr lang="en-US" dirty="0"/>
              <a:t>Can’t estimate purple/yellow independently – they sum to 1. </a:t>
            </a:r>
          </a:p>
          <a:p>
            <a:pPr lvl="2"/>
            <a:r>
              <a:rPr lang="en-US" dirty="0"/>
              <a:t>Could get both at 52% in one simulation round. </a:t>
            </a:r>
          </a:p>
          <a:p>
            <a:pPr lvl="1"/>
            <a:r>
              <a:rPr lang="en-US" dirty="0"/>
              <a:t>If you do something like </a:t>
            </a:r>
            <a:r>
              <a:rPr lang="en-US" dirty="0" err="1"/>
              <a:t>multicolinierity</a:t>
            </a:r>
            <a:r>
              <a:rPr lang="en-US" dirty="0"/>
              <a:t>, test the model after. </a:t>
            </a:r>
          </a:p>
          <a:p>
            <a:pPr lvl="1"/>
            <a:r>
              <a:rPr lang="en-US" dirty="0"/>
              <a:t>Consider grids of images if you have many. (Is the fig, ax stuff familiar?) </a:t>
            </a:r>
          </a:p>
          <a:p>
            <a:r>
              <a:rPr lang="en-US" dirty="0"/>
              <a:t>I’ll finish the test stuff on Wednesday.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68606-BAA9-57A1-08DA-24F4DED89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918" y="97267"/>
            <a:ext cx="5948082" cy="191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29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5A7C-BF3C-8F48-1993-82F820A4D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3BD2D-DBC2-5404-B319-FAE928CA4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82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C963-1CCC-2FD2-063D-47F843A5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AF768-8DBC-9233-CF2E-D7FE75AD8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826F514-F114-7785-0FEB-E2D887579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8" y="0"/>
            <a:ext cx="9991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072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83E2-1BFA-E18A-D829-9272305B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BE550-27DC-F43E-8A4A-DD3D7A2B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The Monty Hall Problem: A Simple Visual Explanation">
            <a:extLst>
              <a:ext uri="{FF2B5EF4-FFF2-40B4-BE49-F238E27FC236}">
                <a16:creationId xmlns:a16="http://schemas.microsoft.com/office/drawing/2014/main" id="{23F2205C-FED7-80DB-DAFE-647D3AE86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0"/>
            <a:ext cx="8574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81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iscussion of the Monty Hall Dilemma by Peter Stikker">
            <a:extLst>
              <a:ext uri="{FF2B5EF4-FFF2-40B4-BE49-F238E27FC236}">
                <a16:creationId xmlns:a16="http://schemas.microsoft.com/office/drawing/2014/main" id="{868711D2-EE49-65F2-93B6-C4901DC2E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68" y="279399"/>
            <a:ext cx="11609464" cy="530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51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83E5-2524-759A-34CB-AF79F119D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densities so Weird?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2D88E-CBA3-BD41-400C-306B01101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D1F11-10A9-2178-1300-92D45A6C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40" y="1853754"/>
            <a:ext cx="7772400" cy="479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4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EEAC-B5F8-286E-45A6-8A0E3866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Density… Really…?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13EB2-9902-4D0F-B459-E6FF4D1F5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940" y="1927860"/>
            <a:ext cx="6195060" cy="41903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Density means the total area under curve is 1. </a:t>
            </a:r>
          </a:p>
          <a:p>
            <a:pPr lvl="1"/>
            <a:r>
              <a:rPr lang="en-US" dirty="0"/>
              <a:t>If we have a continuous dataset, this works, but…</a:t>
            </a:r>
          </a:p>
          <a:p>
            <a:r>
              <a:rPr lang="en-US" dirty="0"/>
              <a:t>The area is the integral, not a count. </a:t>
            </a:r>
          </a:p>
          <a:p>
            <a:pPr lvl="1"/>
            <a:r>
              <a:rPr lang="en-US" dirty="0"/>
              <a:t>Works over an area, not a point (like a bin w/ discreet).</a:t>
            </a:r>
          </a:p>
          <a:p>
            <a:pPr lvl="1"/>
            <a:r>
              <a:rPr lang="en-US" dirty="0"/>
              <a:t>Sparse discreet data can make this weird. </a:t>
            </a:r>
          </a:p>
          <a:p>
            <a:pPr lvl="1"/>
            <a:r>
              <a:rPr lang="en-US" dirty="0"/>
              <a:t>We don’t get a ‘rectangle’ we get stalagmites. </a:t>
            </a:r>
          </a:p>
          <a:p>
            <a:r>
              <a:rPr lang="en-US" dirty="0"/>
              <a:t>With discreet data there’s estimating going on. </a:t>
            </a:r>
          </a:p>
          <a:p>
            <a:pPr lvl="1"/>
            <a:r>
              <a:rPr lang="en-US" dirty="0"/>
              <a:t>The KDE line is an approximation of the actual data. </a:t>
            </a:r>
          </a:p>
          <a:p>
            <a:pPr lvl="1"/>
            <a:r>
              <a:rPr lang="en-US" dirty="0"/>
              <a:t>There is a smoothing parameter that can help.  </a:t>
            </a:r>
          </a:p>
          <a:p>
            <a:r>
              <a:rPr lang="en-US" dirty="0"/>
              <a:t>Fundamentally a mismatch data/visual tool.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86271-D1FA-EAD9-4BA2-151754E511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608"/>
          <a:stretch>
            <a:fillRect/>
          </a:stretch>
        </p:blipFill>
        <p:spPr>
          <a:xfrm>
            <a:off x="0" y="1927860"/>
            <a:ext cx="6040066" cy="2148503"/>
          </a:xfrm>
          <a:prstGeom prst="rect">
            <a:avLst/>
          </a:prstGeom>
        </p:spPr>
      </p:pic>
      <p:pic>
        <p:nvPicPr>
          <p:cNvPr id="4098" name="Picture 2" descr="Area under the Curve Formula">
            <a:extLst>
              <a:ext uri="{FF2B5EF4-FFF2-40B4-BE49-F238E27FC236}">
                <a16:creationId xmlns:a16="http://schemas.microsoft.com/office/drawing/2014/main" id="{629798F0-9DFB-2B16-53B9-08F7AA504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4086186"/>
            <a:ext cx="3524250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EACD2-979A-A564-465A-679079D0E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410" y="4076362"/>
            <a:ext cx="2378656" cy="232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2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589B-47C1-266A-40AF-130E8518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2968021" cy="1049235"/>
          </a:xfrm>
        </p:spPr>
        <p:txBody>
          <a:bodyPr/>
          <a:lstStyle/>
          <a:p>
            <a:r>
              <a:rPr lang="en-US" dirty="0"/>
              <a:t>Discreetness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19449-E5C9-6B55-A0C0-F2C0EA6A2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6132884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 discreet data, those y values can be odd. </a:t>
            </a:r>
          </a:p>
          <a:p>
            <a:pPr lvl="1"/>
            <a:r>
              <a:rPr lang="en-US" dirty="0"/>
              <a:t>’Area’ is not the most meaningful concept. </a:t>
            </a:r>
          </a:p>
          <a:p>
            <a:pPr lvl="1"/>
            <a:r>
              <a:rPr lang="en-US" dirty="0"/>
              <a:t>Discreet data is ‘meant’ for a histogram. </a:t>
            </a:r>
          </a:p>
          <a:p>
            <a:r>
              <a:rPr lang="en-US" dirty="0"/>
              <a:t>Change to ‘probability’ to get something more readable. </a:t>
            </a:r>
          </a:p>
          <a:p>
            <a:pPr lvl="1"/>
            <a:r>
              <a:rPr lang="en-US" dirty="0"/>
              <a:t>Height of bars sums to 1. </a:t>
            </a:r>
          </a:p>
          <a:p>
            <a:r>
              <a:rPr lang="en-US" dirty="0"/>
              <a:t>In practice this isn’t really an issue often.</a:t>
            </a:r>
          </a:p>
          <a:p>
            <a:pPr lvl="1"/>
            <a:r>
              <a:rPr lang="en-US" dirty="0"/>
              <a:t>Only if you need to read Y value from KDE. </a:t>
            </a:r>
          </a:p>
          <a:p>
            <a:pPr lvl="1"/>
            <a:r>
              <a:rPr lang="en-US" dirty="0"/>
              <a:t>Pattern, comparisons, etc.. Still work fine. </a:t>
            </a:r>
          </a:p>
          <a:p>
            <a:pPr lvl="1"/>
            <a:r>
              <a:rPr lang="en-US" b="1" dirty="0"/>
              <a:t>Bigger and smoother data lessens impact. </a:t>
            </a:r>
          </a:p>
          <a:p>
            <a:r>
              <a:rPr lang="en-US" dirty="0"/>
              <a:t>Seaborn has a “visualizing distributions” page.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1E070-22D1-F4BF-7166-7DC567863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884" y="717579"/>
            <a:ext cx="6059116" cy="473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8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6C9E-B79D-AB5E-8508-79F50D9B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6252241" cy="1049235"/>
          </a:xfrm>
        </p:spPr>
        <p:txBody>
          <a:bodyPr/>
          <a:lstStyle/>
          <a:p>
            <a:r>
              <a:rPr lang="en-US" dirty="0"/>
              <a:t>Review - Gradient Descent and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EC63-4186-A738-8B18-E965F1B9E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" y="2015732"/>
            <a:ext cx="10727195" cy="3981208"/>
          </a:xfrm>
        </p:spPr>
        <p:txBody>
          <a:bodyPr/>
          <a:lstStyle/>
          <a:p>
            <a:r>
              <a:rPr lang="en-US" dirty="0"/>
              <a:t>Last week we looked at classification using logistic regression. </a:t>
            </a:r>
          </a:p>
          <a:p>
            <a:pPr lvl="1"/>
            <a:r>
              <a:rPr lang="en-US" dirty="0"/>
              <a:t>Instead of predicting a value we predict T/F, a class membership. </a:t>
            </a:r>
          </a:p>
          <a:p>
            <a:r>
              <a:rPr lang="en-US" dirty="0"/>
              <a:t>Still a linear calculation, but the details differ – need to predict probability not value. </a:t>
            </a:r>
          </a:p>
          <a:p>
            <a:pPr lvl="1"/>
            <a:r>
              <a:rPr lang="en-US" dirty="0"/>
              <a:t>Uses a regression to the logit to get (something convertible to) probabilities. </a:t>
            </a:r>
          </a:p>
          <a:p>
            <a:pPr lvl="1"/>
            <a:r>
              <a:rPr lang="en-US" dirty="0"/>
              <a:t>Sigmoid calculation converts any logit to a probability. </a:t>
            </a:r>
          </a:p>
          <a:p>
            <a:r>
              <a:rPr lang="en-US" dirty="0"/>
              <a:t>The slope and intercepts can’t be calculated directly here like with LLS. </a:t>
            </a:r>
          </a:p>
          <a:p>
            <a:pPr lvl="1"/>
            <a:r>
              <a:rPr lang="en-US" dirty="0"/>
              <a:t>Need an alternative way to find best </a:t>
            </a:r>
            <a:r>
              <a:rPr lang="en-US" dirty="0" err="1"/>
              <a:t>coef</a:t>
            </a:r>
            <a:r>
              <a:rPr lang="en-US" dirty="0"/>
              <a:t> – gradient descent. </a:t>
            </a:r>
          </a:p>
          <a:p>
            <a:pPr lvl="1"/>
            <a:r>
              <a:rPr lang="en-US" dirty="0"/>
              <a:t>Guess some coefficients, calculate cost, adjust </a:t>
            </a:r>
            <a:r>
              <a:rPr lang="en-US" dirty="0" err="1"/>
              <a:t>coef</a:t>
            </a:r>
            <a:r>
              <a:rPr lang="en-US" dirty="0"/>
              <a:t> (using gradient), repeat until done. </a:t>
            </a:r>
          </a:p>
          <a:p>
            <a:pPr lvl="1"/>
            <a:r>
              <a:rPr lang="en-US" dirty="0"/>
              <a:t>This process is very common, coefficients can rarely be directly calculated. </a:t>
            </a:r>
          </a:p>
        </p:txBody>
      </p:sp>
      <p:pic>
        <p:nvPicPr>
          <p:cNvPr id="3074" name="Picture 2" descr="A Beginners Guide to Gradient Descent Algorithm for Data Scientists!">
            <a:extLst>
              <a:ext uri="{FF2B5EF4-FFF2-40B4-BE49-F238E27FC236}">
                <a16:creationId xmlns:a16="http://schemas.microsoft.com/office/drawing/2014/main" id="{D781402D-BF2D-6CDB-E1B2-1503F49C1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351" y="132098"/>
            <a:ext cx="4445649" cy="277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ogistic Regression">
            <a:extLst>
              <a:ext uri="{FF2B5EF4-FFF2-40B4-BE49-F238E27FC236}">
                <a16:creationId xmlns:a16="http://schemas.microsoft.com/office/drawing/2014/main" id="{2AA27453-B847-AD5C-4877-5ED568E5E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640" y="3063239"/>
            <a:ext cx="2880361" cy="304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148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C23E-81B1-D949-ED13-5AA32B801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603275" cy="708659"/>
          </a:xfrm>
        </p:spPr>
        <p:txBody>
          <a:bodyPr/>
          <a:lstStyle/>
          <a:p>
            <a:r>
              <a:rPr lang="en-US" dirty="0"/>
              <a:t>At bottom of Logistic Regression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2937-88E5-8960-688A-42135C3CB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016EB-70FA-7AC3-CA72-EF73322A6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590"/>
            <a:ext cx="12183342" cy="564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41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5D26-77CB-5048-8DE4-A9B849C71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0B032-B292-674D-855C-81EE4ADE6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7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2FC0B-61AD-1F6E-3C66-FF8CAE0E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– Remember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03DB-F57D-5E3B-58C8-97671A475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2620"/>
            <a:ext cx="9603275" cy="414086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Recall the idea of probability. </a:t>
            </a:r>
          </a:p>
          <a:p>
            <a:pPr lvl="1"/>
            <a:r>
              <a:rPr lang="en-US" dirty="0"/>
              <a:t>P(A) – what is the likelihood that A will happen. </a:t>
            </a:r>
          </a:p>
          <a:p>
            <a:r>
              <a:rPr lang="en-US" dirty="0"/>
              <a:t>Probability comes up directly in several inferential things:</a:t>
            </a:r>
          </a:p>
          <a:p>
            <a:pPr lvl="1"/>
            <a:r>
              <a:rPr lang="en-US" dirty="0"/>
              <a:t>Monte Carlo simulation and hypothesis testing. </a:t>
            </a:r>
          </a:p>
          <a:p>
            <a:pPr lvl="1"/>
            <a:r>
              <a:rPr lang="en-US" dirty="0"/>
              <a:t>Odds and logit for gradient descent and logistic regression. </a:t>
            </a:r>
          </a:p>
          <a:p>
            <a:r>
              <a:rPr lang="en-US" dirty="0"/>
              <a:t>We can understand all* of the stats we’ve done from the perspective of probability. </a:t>
            </a:r>
          </a:p>
          <a:p>
            <a:pPr lvl="1"/>
            <a:r>
              <a:rPr lang="en-US" dirty="0"/>
              <a:t>We track what happens in data (assume categorical features/targets for this). </a:t>
            </a:r>
          </a:p>
          <a:p>
            <a:pPr lvl="1"/>
            <a:r>
              <a:rPr lang="en-US" dirty="0"/>
              <a:t>These happenings can be converted into probabilities. </a:t>
            </a:r>
          </a:p>
          <a:p>
            <a:pPr lvl="1"/>
            <a:r>
              <a:rPr lang="en-US" dirty="0"/>
              <a:t>Bayesian statistics explains the ideas we’ve covered, but looking at probability. </a:t>
            </a:r>
          </a:p>
          <a:p>
            <a:r>
              <a:rPr lang="en-US" dirty="0"/>
              <a:t>Log. Reg. Classification models predict the probability something will happen!</a:t>
            </a:r>
          </a:p>
        </p:txBody>
      </p:sp>
    </p:spTree>
    <p:extLst>
      <p:ext uri="{BB962C8B-B14F-4D97-AF65-F5344CB8AC3E}">
        <p14:creationId xmlns:p14="http://schemas.microsoft.com/office/powerpoint/2010/main" val="851535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A8CB-103E-B491-DBA9-1234FE73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6B3F-F17C-A75A-D035-14381BBCE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In this stuff we’ll use totally categorical data. </a:t>
            </a:r>
          </a:p>
          <a:p>
            <a:pPr lvl="1"/>
            <a:r>
              <a:rPr lang="en-US" dirty="0"/>
              <a:t>Classification of categorical target. </a:t>
            </a:r>
          </a:p>
          <a:p>
            <a:pPr lvl="1"/>
            <a:r>
              <a:rPr lang="en-US" dirty="0"/>
              <a:t>Features are all categorical. </a:t>
            </a:r>
          </a:p>
          <a:p>
            <a:r>
              <a:rPr lang="en-US" dirty="0"/>
              <a:t>We </a:t>
            </a:r>
            <a:r>
              <a:rPr lang="en-US" i="1" dirty="0"/>
              <a:t>can</a:t>
            </a:r>
            <a:r>
              <a:rPr lang="en-US" dirty="0"/>
              <a:t> use numeric features, but we won’t now. </a:t>
            </a:r>
          </a:p>
          <a:p>
            <a:pPr lvl="1"/>
            <a:r>
              <a:rPr lang="en-US" dirty="0"/>
              <a:t>Practically, this is very easy to do, follows most sklearn conventions. </a:t>
            </a:r>
          </a:p>
          <a:p>
            <a:pPr lvl="1"/>
            <a:r>
              <a:rPr lang="en-US" dirty="0"/>
              <a:t>Several model types just make more sense to explain with one or the other. </a:t>
            </a:r>
          </a:p>
          <a:p>
            <a:r>
              <a:rPr lang="en-US" dirty="0"/>
              <a:t>This is one where the model assumes normal distribution of features. </a:t>
            </a:r>
          </a:p>
          <a:p>
            <a:pPr lvl="1"/>
            <a:r>
              <a:rPr lang="en-US" dirty="0"/>
              <a:t>Probability calculations are similar to hypothesis test probabilities. </a:t>
            </a:r>
          </a:p>
          <a:p>
            <a:pPr lvl="1"/>
            <a:r>
              <a:rPr lang="en-US" dirty="0"/>
              <a:t>The closer the features are to normal, the better the results. </a:t>
            </a:r>
          </a:p>
        </p:txBody>
      </p:sp>
      <p:pic>
        <p:nvPicPr>
          <p:cNvPr id="1026" name="Picture 2" descr="Gaussian Naive Bayes - GeeksforGeeks">
            <a:extLst>
              <a:ext uri="{FF2B5EF4-FFF2-40B4-BE49-F238E27FC236}">
                <a16:creationId xmlns:a16="http://schemas.microsoft.com/office/drawing/2014/main" id="{33BDC3CA-1B3E-CF82-C90A-05DF2F13B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r="4288"/>
          <a:stretch>
            <a:fillRect/>
          </a:stretch>
        </p:blipFill>
        <p:spPr bwMode="auto">
          <a:xfrm>
            <a:off x="6705331" y="0"/>
            <a:ext cx="5486669" cy="306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223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CD5E-C5F9-36E1-D902-FBC23F1EE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CACC-9724-6AB9-0C2C-94E7AFD07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Using probabilities for prediction relies on conditional probabilities. </a:t>
            </a:r>
          </a:p>
          <a:p>
            <a:pPr lvl="1"/>
            <a:r>
              <a:rPr lang="en-US" dirty="0"/>
              <a:t>Given this fact, what is the probability. </a:t>
            </a:r>
          </a:p>
          <a:p>
            <a:pPr lvl="1"/>
            <a:r>
              <a:rPr lang="en-US" dirty="0"/>
              <a:t>E.g. if you have high blood pressure, what is the likelihood of a stroke. </a:t>
            </a:r>
          </a:p>
          <a:p>
            <a:r>
              <a:rPr lang="en-US" dirty="0"/>
              <a:t>We can express conditional probabilities like this:</a:t>
            </a:r>
          </a:p>
          <a:p>
            <a:pPr lvl="1"/>
            <a:r>
              <a:rPr lang="en-US" dirty="0"/>
              <a:t>P(A | B) – probability of A, given that B is true. </a:t>
            </a:r>
          </a:p>
          <a:p>
            <a:r>
              <a:rPr lang="en-US" dirty="0"/>
              <a:t>In datasets, this conditional probability could be calculated for any combo. E.g.</a:t>
            </a:r>
          </a:p>
          <a:p>
            <a:pPr lvl="1"/>
            <a:r>
              <a:rPr lang="en-US" dirty="0"/>
              <a:t>P( stroke | high blood pressure)</a:t>
            </a:r>
          </a:p>
          <a:p>
            <a:pPr lvl="1"/>
            <a:r>
              <a:rPr lang="en-US" dirty="0"/>
              <a:t>P( stroke | high BMI)</a:t>
            </a:r>
          </a:p>
          <a:p>
            <a:pPr lvl="1"/>
            <a:r>
              <a:rPr lang="en-US" dirty="0"/>
              <a:t>P( stroke | high BMI and high blood pressure)</a:t>
            </a:r>
          </a:p>
          <a:p>
            <a:r>
              <a:rPr lang="en-US" dirty="0"/>
              <a:t>The A is our Y, what we want; Bs are our </a:t>
            </a:r>
            <a:r>
              <a:rPr lang="en-US" dirty="0" err="1"/>
              <a:t>Xs</a:t>
            </a:r>
            <a:r>
              <a:rPr lang="en-US" dirty="0"/>
              <a:t>, what we know (features). </a:t>
            </a:r>
          </a:p>
        </p:txBody>
      </p:sp>
    </p:spTree>
    <p:extLst>
      <p:ext uri="{BB962C8B-B14F-4D97-AF65-F5344CB8AC3E}">
        <p14:creationId xmlns:p14="http://schemas.microsoft.com/office/powerpoint/2010/main" val="2149056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E2F3D-7F2C-87A8-F7BD-87C162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F6650-86B9-30B6-1DA6-E9CD532D9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27946"/>
          </a:xfrm>
        </p:spPr>
        <p:txBody>
          <a:bodyPr/>
          <a:lstStyle/>
          <a:p>
            <a:r>
              <a:rPr lang="en-US" dirty="0"/>
              <a:t>We can think of the probability as conditional, and progress through ‘learning’ things. </a:t>
            </a:r>
          </a:p>
          <a:p>
            <a:pPr lvl="1"/>
            <a:r>
              <a:rPr lang="en-US" dirty="0"/>
              <a:t>Pretend you learn each feature one-by-one and change the estimate each time. </a:t>
            </a:r>
          </a:p>
          <a:p>
            <a:r>
              <a:rPr lang="en-US" dirty="0"/>
              <a:t>We start with a baseline – what is the probability?</a:t>
            </a:r>
          </a:p>
          <a:p>
            <a:pPr lvl="1"/>
            <a:r>
              <a:rPr lang="en-US" dirty="0"/>
              <a:t>As we ‘learn’ each feature, the probability becomes conditional on that. P( Y | X1)…</a:t>
            </a:r>
          </a:p>
          <a:p>
            <a:r>
              <a:rPr lang="en-US" dirty="0"/>
              <a:t>These ‘updates’ make our prediction more accurate as we learn each one. </a:t>
            </a:r>
          </a:p>
          <a:p>
            <a:pPr lvl="1"/>
            <a:r>
              <a:rPr lang="en-US" dirty="0"/>
              <a:t>Each adds another X to the prediction. </a:t>
            </a:r>
          </a:p>
          <a:p>
            <a:pPr lvl="1"/>
            <a:r>
              <a:rPr lang="en-US" dirty="0"/>
              <a:t>If that X is useful, we’ve ‘learned more’. </a:t>
            </a:r>
          </a:p>
          <a:p>
            <a:pPr lvl="1"/>
            <a:r>
              <a:rPr lang="en-US" dirty="0"/>
              <a:t>Will they live… if young, obese, family history,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We can the probabilities as prior and posterior.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A839F1-5F1A-8CEC-AE82-9B2ACAE6E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748" y="4022222"/>
            <a:ext cx="4747902" cy="2099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238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4623-BBBE-B4CE-396F-4AB6571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A685-BA9E-DC45-F79C-E5FF84554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to code for an example of some updating…</a:t>
            </a:r>
          </a:p>
        </p:txBody>
      </p:sp>
    </p:spTree>
    <p:extLst>
      <p:ext uri="{BB962C8B-B14F-4D97-AF65-F5344CB8AC3E}">
        <p14:creationId xmlns:p14="http://schemas.microsoft.com/office/powerpoint/2010/main" val="569268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9B0C-DAE0-39CD-F08A-8C1E8DD9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Be lazy, We’re Getting </a:t>
            </a:r>
            <a:r>
              <a:rPr lang="en-US" dirty="0" err="1"/>
              <a:t>Bayesy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C3E02-E4F6-0DAF-084C-1C0051123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n Actual Introduction to Bayesian Statistics | by Oscar Nieves | Cantor's  Paradise">
            <a:extLst>
              <a:ext uri="{FF2B5EF4-FFF2-40B4-BE49-F238E27FC236}">
                <a16:creationId xmlns:a16="http://schemas.microsoft.com/office/drawing/2014/main" id="{5C1659DB-CF36-6ECC-4EB4-3ADFE60BE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184" y="1853754"/>
            <a:ext cx="6149631" cy="3958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53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A467-095F-183E-2796-BB5EBB38E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and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F5A71-5454-32F3-F7A9-8812B5F1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Bayesian statistics is based on conditional probability. </a:t>
            </a:r>
          </a:p>
          <a:p>
            <a:pPr lvl="1"/>
            <a:r>
              <a:rPr lang="en-US" dirty="0"/>
              <a:t>If this thing happens, then how likely is this other thing? </a:t>
            </a:r>
          </a:p>
          <a:p>
            <a:pPr lvl="1"/>
            <a:r>
              <a:rPr lang="en-US" dirty="0"/>
              <a:t>P(A) – how likely (percentage wise) is A to happen. </a:t>
            </a:r>
          </a:p>
          <a:p>
            <a:pPr lvl="1"/>
            <a:r>
              <a:rPr lang="en-US" dirty="0"/>
              <a:t>P( A | B) – how likely is A, given that B has happened. </a:t>
            </a:r>
          </a:p>
          <a:p>
            <a:r>
              <a:rPr lang="en-US" dirty="0"/>
              <a:t>Our datasets (with categorical columns) can provide this with some counting. </a:t>
            </a:r>
          </a:p>
          <a:p>
            <a:pPr lvl="1"/>
            <a:r>
              <a:rPr lang="en-US" dirty="0"/>
              <a:t>The probability of something, like a target, being True is the # of times it happens / total. </a:t>
            </a:r>
          </a:p>
          <a:p>
            <a:pPr lvl="1"/>
            <a:r>
              <a:rPr lang="en-US" dirty="0"/>
              <a:t>E.g. the original prior probability of getting skin cancer is # of skin cancer / total people. </a:t>
            </a:r>
          </a:p>
          <a:p>
            <a:r>
              <a:rPr lang="en-US" dirty="0"/>
              <a:t>We can use each feature to add ‘quality’ to this prediction, more info:</a:t>
            </a:r>
          </a:p>
          <a:p>
            <a:pPr lvl="1"/>
            <a:r>
              <a:rPr lang="en-US" dirty="0"/>
              <a:t>If we add “family history of cancer” to the original prior probability, our prediction gets better.</a:t>
            </a:r>
          </a:p>
          <a:p>
            <a:pPr lvl="1"/>
            <a:r>
              <a:rPr lang="en-US" dirty="0"/>
              <a:t>After the update, this posterior probability includes info on family history…</a:t>
            </a:r>
          </a:p>
        </p:txBody>
      </p:sp>
    </p:spTree>
    <p:extLst>
      <p:ext uri="{BB962C8B-B14F-4D97-AF65-F5344CB8AC3E}">
        <p14:creationId xmlns:p14="http://schemas.microsoft.com/office/powerpoint/2010/main" val="2115713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659B-2542-5BFA-B817-DDAB72BF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DFE29-CB12-27E8-9000-F9B803444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8"/>
          </a:xfrm>
        </p:spPr>
        <p:txBody>
          <a:bodyPr/>
          <a:lstStyle/>
          <a:p>
            <a:r>
              <a:rPr lang="en-US" dirty="0"/>
              <a:t>With a multi-feature dataset, we can make a predictive-</a:t>
            </a:r>
            <a:r>
              <a:rPr lang="en-US" dirty="0" err="1"/>
              <a:t>ish</a:t>
            </a:r>
            <a:r>
              <a:rPr lang="en-US" dirty="0"/>
              <a:t> process to predict target.</a:t>
            </a:r>
          </a:p>
          <a:p>
            <a:pPr lvl="1"/>
            <a:r>
              <a:rPr lang="en-US" dirty="0"/>
              <a:t>Initial prediction is raw probability, each feature adjusts this a little. </a:t>
            </a:r>
          </a:p>
          <a:p>
            <a:r>
              <a:rPr lang="en-US" dirty="0"/>
              <a:t>The target is golf – are we going to golf in these conditions? </a:t>
            </a:r>
          </a:p>
          <a:p>
            <a:pPr lvl="1"/>
            <a:r>
              <a:rPr lang="en-US" dirty="0"/>
              <a:t>Start with the prior probability – likelihood of playing golf overall. </a:t>
            </a:r>
          </a:p>
          <a:p>
            <a:pPr lvl="1"/>
            <a:r>
              <a:rPr lang="en-US" dirty="0"/>
              <a:t>”Learn” one feature at a time, which ”updates” our prediction. </a:t>
            </a:r>
          </a:p>
          <a:p>
            <a:pPr lvl="2"/>
            <a:r>
              <a:rPr lang="en-US" dirty="0"/>
              <a:t>If it is sunny, how does that impact it – in play/no play scenarios, how likely is sunny?</a:t>
            </a:r>
          </a:p>
          <a:p>
            <a:pPr lvl="2"/>
            <a:r>
              <a:rPr lang="en-US" dirty="0"/>
              <a:t>This likelihood gives the model more info on probability, based on this feature. </a:t>
            </a:r>
          </a:p>
          <a:p>
            <a:pPr lvl="1"/>
            <a:r>
              <a:rPr lang="en-US" dirty="0"/>
              <a:t>Prior probability and new information combine to posterior probability. </a:t>
            </a:r>
          </a:p>
          <a:p>
            <a:pPr lvl="1"/>
            <a:r>
              <a:rPr lang="en-US" dirty="0"/>
              <a:t>Each feature updates our understanding, or adjusts our prediction to be better. </a:t>
            </a:r>
          </a:p>
          <a:p>
            <a:r>
              <a:rPr lang="en-US" dirty="0"/>
              <a:t>Once we’ve included all features, our prediction is as smart as it’ll get. </a:t>
            </a:r>
          </a:p>
        </p:txBody>
      </p:sp>
    </p:spTree>
    <p:extLst>
      <p:ext uri="{BB962C8B-B14F-4D97-AF65-F5344CB8AC3E}">
        <p14:creationId xmlns:p14="http://schemas.microsoft.com/office/powerpoint/2010/main" val="4168502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B5AD-47FE-6E4E-8D77-FD4D3574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F8150-3A31-4526-79CE-E3CDA6B8D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554" y="1959430"/>
            <a:ext cx="4911636" cy="4094052"/>
          </a:xfrm>
        </p:spPr>
        <p:txBody>
          <a:bodyPr/>
          <a:lstStyle/>
          <a:p>
            <a:r>
              <a:rPr lang="en-US" dirty="0"/>
              <a:t>The combined prob is the probability both are true. </a:t>
            </a:r>
          </a:p>
          <a:p>
            <a:pPr lvl="1"/>
            <a:r>
              <a:rPr lang="en-US" dirty="0"/>
              <a:t>Golf/not and sunny. </a:t>
            </a:r>
          </a:p>
          <a:p>
            <a:r>
              <a:rPr lang="en-US" dirty="0"/>
              <a:t>More features just repeat steps. </a:t>
            </a:r>
          </a:p>
          <a:p>
            <a:r>
              <a:rPr lang="en-US" dirty="0"/>
              <a:t>Learning:</a:t>
            </a:r>
          </a:p>
          <a:p>
            <a:pPr lvl="1"/>
            <a:r>
              <a:rPr lang="en-US" dirty="0"/>
              <a:t>Start with baseline model prediction. </a:t>
            </a:r>
          </a:p>
          <a:p>
            <a:pPr lvl="1"/>
            <a:r>
              <a:rPr lang="en-US" dirty="0"/>
              <a:t>Feature adds new information. </a:t>
            </a:r>
          </a:p>
          <a:p>
            <a:pPr lvl="1"/>
            <a:r>
              <a:rPr lang="en-US" dirty="0"/>
              <a:t>This info changes prediction. </a:t>
            </a:r>
          </a:p>
          <a:p>
            <a:pPr lvl="1"/>
            <a:r>
              <a:rPr lang="en-US" dirty="0"/>
              <a:t>This prediction is now equiv. to baseline.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BEDF64-D37D-DEB3-8B09-40FEBFFC7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111801"/>
            <a:ext cx="7772400" cy="235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6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87CC-D5FE-78AB-9978-D30F6051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DA43E-FF49-E05C-E762-198F6A511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Normalization has come up twice recently:</a:t>
            </a:r>
          </a:p>
          <a:p>
            <a:pPr lvl="1"/>
            <a:r>
              <a:rPr lang="en-US" dirty="0"/>
              <a:t>Scaling variables to between (usually) 0 and 1. </a:t>
            </a:r>
          </a:p>
          <a:p>
            <a:pPr lvl="1"/>
            <a:r>
              <a:rPr lang="en-US" dirty="0"/>
              <a:t>Changing these probabilities (to 0 to 100 scale). </a:t>
            </a:r>
          </a:p>
          <a:p>
            <a:r>
              <a:rPr lang="en-US" dirty="0"/>
              <a:t>The concept is the same, values are on non-standard scale. </a:t>
            </a:r>
          </a:p>
          <a:p>
            <a:r>
              <a:rPr lang="en-US" dirty="0"/>
              <a:t>Normalized probabilities are out of 100 – happens or not. </a:t>
            </a:r>
          </a:p>
          <a:p>
            <a:r>
              <a:rPr lang="en-US" dirty="0"/>
              <a:t>Unnormalized probabilities are out of “things that are the same” – a subset. </a:t>
            </a:r>
          </a:p>
          <a:p>
            <a:pPr lvl="1"/>
            <a:r>
              <a:rPr lang="en-US" dirty="0"/>
              <a:t>Here they are the probability of play/not and sunny – 5 out of 14 records. </a:t>
            </a:r>
          </a:p>
          <a:p>
            <a:pPr lvl="1"/>
            <a:r>
              <a:rPr lang="en-US" dirty="0"/>
              <a:t>There are more records outside this (overcast, rainy) that are the other 9. </a:t>
            </a:r>
          </a:p>
          <a:p>
            <a:pPr lvl="1"/>
            <a:r>
              <a:rPr lang="en-US" dirty="0"/>
              <a:t>3/14 are play sunny, 2/14 are no play sunny, the percents out of all days are the values in the </a:t>
            </a:r>
            <a:r>
              <a:rPr lang="en-US" dirty="0" err="1"/>
              <a:t>unnorm</a:t>
            </a:r>
            <a:r>
              <a:rPr lang="en-US" dirty="0"/>
              <a:t> column. The values after normalized are per 100 – (e.g. 3/14, then div by 5/14).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3B29E2-61A0-371B-6149-D5666FE32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96"/>
          <a:stretch>
            <a:fillRect/>
          </a:stretch>
        </p:blipFill>
        <p:spPr>
          <a:xfrm>
            <a:off x="7489371" y="516647"/>
            <a:ext cx="4702629" cy="235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23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CEBE-D3D0-EF80-1622-89AFFD76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 and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19BB1-09EE-077D-1EC0-2986B6C1F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This idea can be built into a normal machine learning algorithm. </a:t>
            </a:r>
          </a:p>
          <a:p>
            <a:pPr lvl="1"/>
            <a:r>
              <a:rPr lang="en-US" dirty="0"/>
              <a:t>Predict probability, just like logistic regression. </a:t>
            </a:r>
          </a:p>
          <a:p>
            <a:pPr lvl="1"/>
            <a:r>
              <a:rPr lang="en-US" dirty="0"/>
              <a:t>Take in features (just categorical for now) and combine them for model. </a:t>
            </a:r>
          </a:p>
          <a:p>
            <a:r>
              <a:rPr lang="en-US" dirty="0"/>
              <a:t>Bayes, logistic regression, and any other classification model are equivalent in purpose. </a:t>
            </a:r>
          </a:p>
          <a:p>
            <a:pPr lvl="1"/>
            <a:r>
              <a:rPr lang="en-US" dirty="0"/>
              <a:t>The way they build the model (inputs-&gt;outputs) can be totally different. </a:t>
            </a:r>
          </a:p>
          <a:p>
            <a:pPr lvl="1"/>
            <a:r>
              <a:rPr lang="en-US" dirty="0"/>
              <a:t>The math and logic behind this are very different, but it does the same thing. </a:t>
            </a:r>
          </a:p>
          <a:p>
            <a:pPr lvl="1"/>
            <a:r>
              <a:rPr lang="en-US" dirty="0"/>
              <a:t>Model types have strengths and weaknesses – fit to data, types of problems they excel at, size of data needed to train, training or testing speed, 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255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BE85-CB88-B550-5B01-BA14A718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Real-</a:t>
            </a:r>
            <a:r>
              <a:rPr lang="en-US" dirty="0" err="1"/>
              <a:t>ish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B3117-1CD7-1AB2-0A57-1BBE91C65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68372"/>
          </a:xfrm>
        </p:spPr>
        <p:txBody>
          <a:bodyPr/>
          <a:lstStyle/>
          <a:p>
            <a:r>
              <a:rPr lang="en-US" dirty="0"/>
              <a:t>We are predicting if students will pass an exam. </a:t>
            </a:r>
          </a:p>
          <a:p>
            <a:pPr lvl="1"/>
            <a:r>
              <a:rPr lang="en-US" dirty="0"/>
              <a:t>Original prior probability – what is the overall pass rate?</a:t>
            </a:r>
          </a:p>
          <a:p>
            <a:r>
              <a:rPr lang="en-US" dirty="0"/>
              <a:t>Bayes-y updates with features. </a:t>
            </a:r>
          </a:p>
          <a:p>
            <a:pPr lvl="1"/>
            <a:r>
              <a:rPr lang="en-US" dirty="0"/>
              <a:t>Did they study. </a:t>
            </a:r>
          </a:p>
          <a:p>
            <a:pPr lvl="1"/>
            <a:r>
              <a:rPr lang="en-US" dirty="0"/>
              <a:t>Did they attend class. </a:t>
            </a:r>
          </a:p>
          <a:p>
            <a:pPr lvl="1"/>
            <a:r>
              <a:rPr lang="en-US" dirty="0"/>
              <a:t>Did they do the review exercise. </a:t>
            </a:r>
          </a:p>
          <a:p>
            <a:r>
              <a:rPr lang="en-US" dirty="0"/>
              <a:t>Each of these adds new info, and updates our predicted probability of passing. </a:t>
            </a:r>
          </a:p>
          <a:p>
            <a:pPr lvl="1"/>
            <a:r>
              <a:rPr lang="en-US" dirty="0"/>
              <a:t>Add info on studying – for people who pass/not, did they study?</a:t>
            </a:r>
          </a:p>
          <a:p>
            <a:pPr lvl="1"/>
            <a:r>
              <a:rPr lang="en-US" dirty="0"/>
              <a:t>This likelihood then modifies the prior probability, generating the posterior (</a:t>
            </a:r>
            <a:r>
              <a:rPr lang="en-US" dirty="0" err="1"/>
              <a:t>unnorm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We now have the probability of passing, including impact of studying. Repeat…</a:t>
            </a:r>
          </a:p>
        </p:txBody>
      </p:sp>
    </p:spTree>
    <p:extLst>
      <p:ext uri="{BB962C8B-B14F-4D97-AF65-F5344CB8AC3E}">
        <p14:creationId xmlns:p14="http://schemas.microsoft.com/office/powerpoint/2010/main" val="2959877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3F18-8AA3-FE4E-8B12-38C59A9E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41D47-3353-8C41-9E35-AD14C68C2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1685373"/>
          </a:xfrm>
        </p:spPr>
        <p:txBody>
          <a:bodyPr>
            <a:normAutofit/>
          </a:bodyPr>
          <a:lstStyle/>
          <a:p>
            <a:r>
              <a:rPr lang="en-US" dirty="0"/>
              <a:t>Bayes’ allows us to update the probability of something happening as we gain information.</a:t>
            </a:r>
          </a:p>
          <a:p>
            <a:pPr lvl="1"/>
            <a:r>
              <a:rPr lang="en-US" dirty="0"/>
              <a:t>The hypothesis is what we want to know. </a:t>
            </a:r>
          </a:p>
          <a:p>
            <a:pPr lvl="1"/>
            <a:r>
              <a:rPr lang="en-US" dirty="0"/>
              <a:t>The evidence is the feature set. </a:t>
            </a:r>
          </a:p>
          <a:p>
            <a:pPr lvl="1"/>
            <a:r>
              <a:rPr lang="en-US" dirty="0"/>
              <a:t>As we incorporate features, the prediction gets modified from where it started. </a:t>
            </a:r>
          </a:p>
        </p:txBody>
      </p:sp>
      <p:pic>
        <p:nvPicPr>
          <p:cNvPr id="1028" name="Picture 4" descr="Bayes&amp;amp;#39; theorem - GaussianWaves">
            <a:extLst>
              <a:ext uri="{FF2B5EF4-FFF2-40B4-BE49-F238E27FC236}">
                <a16:creationId xmlns:a16="http://schemas.microsoft.com/office/drawing/2014/main" id="{D8CD2F94-4A06-EF48-836B-2053502732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8"/>
          <a:stretch/>
        </p:blipFill>
        <p:spPr bwMode="auto">
          <a:xfrm>
            <a:off x="1412594" y="3539127"/>
            <a:ext cx="9685803" cy="251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440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2419-AB90-9D4F-B801-D554E63F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CB6A0-9F6B-D945-A3D0-A8766505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7" y="1853752"/>
            <a:ext cx="4698444" cy="42999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Naïve bayes is an algorithm that is built on the Bayes’ Theorem calculation. </a:t>
            </a:r>
          </a:p>
          <a:p>
            <a:pPr lvl="1"/>
            <a:r>
              <a:rPr lang="en-US" dirty="0"/>
              <a:t>Naïve – each feature is treated as independent. </a:t>
            </a:r>
          </a:p>
          <a:p>
            <a:pPr lvl="1"/>
            <a:r>
              <a:rPr lang="en-US" dirty="0"/>
              <a:t>Bayes – uses Bayes’ Theorem. </a:t>
            </a:r>
          </a:p>
          <a:p>
            <a:r>
              <a:rPr lang="en-US" dirty="0"/>
              <a:t>Classifier is a “Big Bayes’ Theorem” where each feature is another term.</a:t>
            </a:r>
          </a:p>
          <a:p>
            <a:pPr lvl="1"/>
            <a:r>
              <a:rPr lang="en-US" dirty="0"/>
              <a:t>Y is the target – what we predict. </a:t>
            </a:r>
          </a:p>
          <a:p>
            <a:pPr lvl="1"/>
            <a:r>
              <a:rPr lang="en-US" dirty="0" err="1"/>
              <a:t>Xs</a:t>
            </a:r>
            <a:r>
              <a:rPr lang="en-US" dirty="0"/>
              <a:t> are (categorical) feature set.  </a:t>
            </a:r>
          </a:p>
          <a:p>
            <a:r>
              <a:rPr lang="en-US" dirty="0"/>
              <a:t>Pedantic note, it’s one step in reality, just easier to imagine one feature at a time. </a:t>
            </a:r>
          </a:p>
        </p:txBody>
      </p:sp>
      <p:pic>
        <p:nvPicPr>
          <p:cNvPr id="2050" name="Picture 2" descr="How Naive Bayes Algorithm Works? (with example and full code) | ML+">
            <a:extLst>
              <a:ext uri="{FF2B5EF4-FFF2-40B4-BE49-F238E27FC236}">
                <a16:creationId xmlns:a16="http://schemas.microsoft.com/office/drawing/2014/main" id="{515FCD61-37E5-824F-85B7-4115F865E5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0" r="3502"/>
          <a:stretch/>
        </p:blipFill>
        <p:spPr bwMode="auto">
          <a:xfrm>
            <a:off x="4720280" y="1853753"/>
            <a:ext cx="7449883" cy="429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186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B1BC-6B60-5183-108E-489C8C92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so Naive After All…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C4019-77D8-E602-D846-9C1345D8B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Models all want to predict Y given several </a:t>
            </a:r>
            <a:r>
              <a:rPr lang="en-US" dirty="0" err="1"/>
              <a:t>Xs</a:t>
            </a:r>
            <a:r>
              <a:rPr lang="en-US" dirty="0"/>
              <a:t>. </a:t>
            </a:r>
          </a:p>
          <a:p>
            <a:r>
              <a:rPr lang="en-US" dirty="0"/>
              <a:t>Model starts with baseline – no X in prediction. </a:t>
            </a:r>
          </a:p>
          <a:p>
            <a:r>
              <a:rPr lang="en-US" dirty="0"/>
              <a:t>Each X ’adds’ its impact. </a:t>
            </a:r>
          </a:p>
          <a:p>
            <a:pPr lvl="1"/>
            <a:r>
              <a:rPr lang="en-US" dirty="0"/>
              <a:t>The ‘flipped’ probability – given Y, how likely is X. 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Predicting if we golf based on rain, </a:t>
            </a:r>
            <a:r>
              <a:rPr lang="en-US" dirty="0" err="1"/>
              <a:t>clould</a:t>
            </a:r>
            <a:r>
              <a:rPr lang="en-US" dirty="0"/>
              <a:t>, and wind. </a:t>
            </a:r>
          </a:p>
          <a:p>
            <a:pPr lvl="1"/>
            <a:r>
              <a:rPr lang="en-US" dirty="0"/>
              <a:t>Baseline is likelihood of golfing at all. </a:t>
            </a:r>
          </a:p>
          <a:p>
            <a:pPr lvl="1"/>
            <a:r>
              <a:rPr lang="en-US" dirty="0"/>
              <a:t>‘Add’ impact of rain – if golfing, likelihood of rain; if not, likelihood of rain. </a:t>
            </a:r>
          </a:p>
          <a:p>
            <a:pPr lvl="1"/>
            <a:r>
              <a:rPr lang="en-US" dirty="0"/>
              <a:t>‘Add’ impact of cloud – if golfing, likelihood of cloud’ if not, likelihood of cloud. </a:t>
            </a:r>
          </a:p>
        </p:txBody>
      </p:sp>
    </p:spTree>
    <p:extLst>
      <p:ext uri="{BB962C8B-B14F-4D97-AF65-F5344CB8AC3E}">
        <p14:creationId xmlns:p14="http://schemas.microsoft.com/office/powerpoint/2010/main" val="3787838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55E2-BEE8-5246-8131-825FD594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by Hand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1FDB3-F93C-CD41-8D40-C935B319E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1175143"/>
          </a:xfrm>
        </p:spPr>
        <p:txBody>
          <a:bodyPr/>
          <a:lstStyle/>
          <a:p>
            <a:r>
              <a:rPr lang="en-US" dirty="0"/>
              <a:t>A fruit is </a:t>
            </a:r>
            <a:r>
              <a:rPr lang="en-CA" dirty="0"/>
              <a:t>Long, Sweet, and Yellow – what fruit is it? </a:t>
            </a:r>
          </a:p>
          <a:p>
            <a:r>
              <a:rPr lang="en-CA" dirty="0"/>
              <a:t>Below is our training data. 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5D086A0-478F-2D47-BF8F-080C85AE6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90875"/>
            <a:ext cx="12192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095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67BD-9241-3741-9B79-DBE953F6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2901D-1C72-1F4D-BB37-771A36FD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20616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Calculate prior probabilities: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(Banana) = .5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(Orange) = .3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(Other) = .2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Compute denominator: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(Long) = .5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(Sweet) = .65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(Yellow) = .8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P(L)*P(S)*P(Y) = .26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This is needed for the full calculation, but doesn’t matter in the prediction. </a:t>
            </a:r>
          </a:p>
        </p:txBody>
      </p:sp>
      <p:pic>
        <p:nvPicPr>
          <p:cNvPr id="4" name="Picture 2" descr="How Naive Bayes Algorithm Works? (with example and full code) | ML+">
            <a:extLst>
              <a:ext uri="{FF2B5EF4-FFF2-40B4-BE49-F238E27FC236}">
                <a16:creationId xmlns:a16="http://schemas.microsoft.com/office/drawing/2014/main" id="{71FA7E87-71C0-1748-9EF6-F0FFD89E65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0" r="3502"/>
          <a:stretch/>
        </p:blipFill>
        <p:spPr bwMode="auto">
          <a:xfrm>
            <a:off x="6227805" y="1853754"/>
            <a:ext cx="5942358" cy="342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135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9FF4-3EEC-2B4F-A123-7BF3A9500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Process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753A-4060-3645-BF81-FD8F1F648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2665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/>
              <a:t>Calculate numerator: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(Long | Banana) = .8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(Sweet | Banana) = .7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(Yellow | Banana) = .9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(Banana) = .5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Product = .252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/>
              <a:t>Classify – Calculate probability for all potential classes. 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P (Banana | Long, Sweet, Yellow) = .252/.26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P (Orange | Long, Sweet, Yellow) = 0 (There are no long oranges)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P (Other | Long, Sweet, Yellow) = .01875/.26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D596723-D0D5-384C-BC44-94665CDAE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156" y="1414544"/>
            <a:ext cx="7065844" cy="301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43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D0871-89D4-FA48-824A-16A783B4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7A55-4D9A-E648-8729-A18D0E238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8630"/>
          </a:xfrm>
        </p:spPr>
        <p:txBody>
          <a:bodyPr/>
          <a:lstStyle/>
          <a:p>
            <a:r>
              <a:rPr lang="en-US" dirty="0"/>
              <a:t>Those final probabilities could be normalized to get the probability on a percentage scale.</a:t>
            </a:r>
          </a:p>
          <a:p>
            <a:pPr lvl="1"/>
            <a:r>
              <a:rPr lang="en-US" dirty="0"/>
              <a:t>As we did with the Bayesian tables – it’d be like 99%+ banana here. </a:t>
            </a:r>
          </a:p>
          <a:p>
            <a:r>
              <a:rPr lang="en-US" dirty="0"/>
              <a:t>As a classifier, Bayes is:</a:t>
            </a:r>
          </a:p>
          <a:p>
            <a:pPr lvl="1"/>
            <a:r>
              <a:rPr lang="en-US" dirty="0"/>
              <a:t>Interpretable – we can illustrate how predictions are made. </a:t>
            </a:r>
          </a:p>
          <a:p>
            <a:pPr lvl="1"/>
            <a:r>
              <a:rPr lang="en-US" dirty="0"/>
              <a:t>Simple – the math is just what we did by hand. </a:t>
            </a:r>
          </a:p>
          <a:p>
            <a:pPr lvl="1"/>
            <a:r>
              <a:rPr lang="en-US" dirty="0"/>
              <a:t>Fast – due to the simplicity, training and predicting are usually fast.  </a:t>
            </a:r>
          </a:p>
          <a:p>
            <a:r>
              <a:rPr lang="en-US" dirty="0"/>
              <a:t>However, Bayes is also:</a:t>
            </a:r>
          </a:p>
          <a:p>
            <a:pPr lvl="1"/>
            <a:r>
              <a:rPr lang="en-US" dirty="0"/>
              <a:t>Limited – the independence assumption is often untrue. Making its applications limited. </a:t>
            </a:r>
          </a:p>
          <a:p>
            <a:pPr lvl="1"/>
            <a:r>
              <a:rPr lang="en-US" dirty="0"/>
              <a:t>Probability estimates aren’t reliable*, even if classifier is accurate. </a:t>
            </a:r>
          </a:p>
          <a:p>
            <a:pPr lvl="2"/>
            <a:r>
              <a:rPr lang="en-US" dirty="0"/>
              <a:t>The raw percentages from calculations shouldn’t be relied on. (Independence and completeness). </a:t>
            </a:r>
          </a:p>
        </p:txBody>
      </p:sp>
    </p:spTree>
    <p:extLst>
      <p:ext uri="{BB962C8B-B14F-4D97-AF65-F5344CB8AC3E}">
        <p14:creationId xmlns:p14="http://schemas.microsoft.com/office/powerpoint/2010/main" val="377180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4A360-1759-643C-64C0-FC355CD2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5A48A-C4EA-9CA2-71BD-0A1C002A7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metric, outside of accuracy, that a model may be evaluated on is interpretability. </a:t>
            </a:r>
          </a:p>
          <a:p>
            <a:pPr lvl="1"/>
            <a:r>
              <a:rPr lang="en-US" dirty="0"/>
              <a:t>Can we understand how the model made a decision. </a:t>
            </a:r>
          </a:p>
          <a:p>
            <a:r>
              <a:rPr lang="en-US" dirty="0"/>
              <a:t>We’ve seen parts that go both </a:t>
            </a:r>
          </a:p>
        </p:txBody>
      </p:sp>
    </p:spTree>
    <p:extLst>
      <p:ext uri="{BB962C8B-B14F-4D97-AF65-F5344CB8AC3E}">
        <p14:creationId xmlns:p14="http://schemas.microsoft.com/office/powerpoint/2010/main" val="4835212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A587-6B7B-4684-677B-EF71500D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F0EB-AAA0-3DDF-F4BB-8C77B3DE0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8940"/>
            <a:ext cx="9603275" cy="4104541"/>
          </a:xfrm>
        </p:spPr>
        <p:txBody>
          <a:bodyPr/>
          <a:lstStyle/>
          <a:p>
            <a:r>
              <a:rPr lang="en-US" dirty="0"/>
              <a:t>One cool thing about Bayes is that it isn’t linear. </a:t>
            </a:r>
          </a:p>
          <a:p>
            <a:pPr lvl="1"/>
            <a:r>
              <a:rPr lang="en-US" dirty="0"/>
              <a:t>There’s no y=</a:t>
            </a:r>
            <a:r>
              <a:rPr lang="en-US" dirty="0" err="1"/>
              <a:t>mx+b</a:t>
            </a:r>
            <a:r>
              <a:rPr lang="en-US" dirty="0"/>
              <a:t> type equation anywhere. </a:t>
            </a:r>
          </a:p>
          <a:p>
            <a:r>
              <a:rPr lang="en-US" dirty="0"/>
              <a:t>The decisions it makes are the same as a logistic regression, but the method is different. </a:t>
            </a:r>
          </a:p>
          <a:p>
            <a:pPr lvl="1"/>
            <a:r>
              <a:rPr lang="en-US" dirty="0"/>
              <a:t>Logistic regression requires some linear decision boundary to separate A/B. </a:t>
            </a:r>
          </a:p>
          <a:p>
            <a:pPr lvl="1"/>
            <a:r>
              <a:rPr lang="en-US" dirty="0"/>
              <a:t>Bayes doesn’t – things can be classified without a linear relationship. </a:t>
            </a:r>
          </a:p>
          <a:p>
            <a:pPr lvl="1"/>
            <a:r>
              <a:rPr lang="en-US" dirty="0"/>
              <a:t>Different types of models can handle different types of relationships in data. </a:t>
            </a:r>
          </a:p>
          <a:p>
            <a:r>
              <a:rPr lang="en-US" dirty="0"/>
              <a:t>If there is a linear correlation, regression may excel, if not Bayes (or others) may excel…</a:t>
            </a:r>
          </a:p>
          <a:p>
            <a:pPr lvl="1"/>
            <a:r>
              <a:rPr lang="en-US" dirty="0"/>
              <a:t>Real scenarios may have non-linear relationships. </a:t>
            </a:r>
          </a:p>
          <a:p>
            <a:pPr lvl="1"/>
            <a:r>
              <a:rPr lang="en-US" dirty="0"/>
              <a:t>Is there a linear relationship between dining options and cancer occurrences – maybe? </a:t>
            </a:r>
          </a:p>
        </p:txBody>
      </p:sp>
    </p:spTree>
    <p:extLst>
      <p:ext uri="{BB962C8B-B14F-4D97-AF65-F5344CB8AC3E}">
        <p14:creationId xmlns:p14="http://schemas.microsoft.com/office/powerpoint/2010/main" val="2500669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9EA6-F507-0EAA-3C89-0EC3D667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C2D9-D2C9-1785-1992-2C61761F8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3305" y="2330365"/>
            <a:ext cx="5264046" cy="2673882"/>
          </a:xfrm>
        </p:spPr>
        <p:txBody>
          <a:bodyPr/>
          <a:lstStyle/>
          <a:p>
            <a:r>
              <a:rPr lang="en-US" dirty="0"/>
              <a:t>Capturing non-linear relationships is great. </a:t>
            </a:r>
          </a:p>
          <a:p>
            <a:r>
              <a:rPr lang="en-US" dirty="0"/>
              <a:t>Lots of data may not have a linear relationship.</a:t>
            </a:r>
          </a:p>
          <a:p>
            <a:pPr lvl="1"/>
            <a:r>
              <a:rPr lang="en-US" dirty="0"/>
              <a:t>Especially true in ‘unstructured’ problems. </a:t>
            </a:r>
          </a:p>
          <a:p>
            <a:pPr lvl="1"/>
            <a:r>
              <a:rPr lang="en-US" dirty="0"/>
              <a:t>Unstructured data is non-tabular. Images,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Linear models can’t adapt to the relationship.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Naive Bayes and Text Classification | Sebastian Raschka, PhD">
            <a:extLst>
              <a:ext uri="{FF2B5EF4-FFF2-40B4-BE49-F238E27FC236}">
                <a16:creationId xmlns:a16="http://schemas.microsoft.com/office/drawing/2014/main" id="{37A2E253-8495-39AF-3A71-34038CEF3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9" y="2330365"/>
            <a:ext cx="6383106" cy="267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780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2F8B-CC41-B844-BE6A-DD4E51E3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Smoothing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33FC4-E87A-814B-AFD5-9180DC614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74" y="1915886"/>
            <a:ext cx="5995549" cy="420624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One issue Bayes can have is if there is an example to predict that was not in the training data.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 what if a fruit is green?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Introduces a divide by 0, which is impossible.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Laplace smoothing is the solution: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Add 1 (or another value) to the observations.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Built into any implementation, usually as a parameter.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Common as you’ll get an error if things are missing.</a:t>
            </a:r>
          </a:p>
          <a:p>
            <a:pPr>
              <a:lnSpc>
                <a:spcPct val="110000"/>
              </a:lnSpc>
            </a:pPr>
            <a:r>
              <a:rPr lang="en-US" dirty="0"/>
              <a:t>The larger the data is, the less this matters.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Big data = fewer missing values from train.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Big data = this change is numerically irrelevant. </a:t>
            </a:r>
          </a:p>
        </p:txBody>
      </p:sp>
      <p:pic>
        <p:nvPicPr>
          <p:cNvPr id="6146" name="Picture 2" descr="Nave Bayes Text Classification Applying Multinomial Naive Bayes">
            <a:extLst>
              <a:ext uri="{FF2B5EF4-FFF2-40B4-BE49-F238E27FC236}">
                <a16:creationId xmlns:a16="http://schemas.microsoft.com/office/drawing/2014/main" id="{2FED2A53-FB89-984E-83A5-DE39888F2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4224" y="2015734"/>
            <a:ext cx="4600817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417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29B3-CC94-2543-9E94-CD26B3EE1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Flexible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FEA7E-CA17-B54B-8045-D82F45542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463" y="1853754"/>
            <a:ext cx="5844348" cy="419972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By default, Bayes only works with categorical features.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When dealing with numerical features we need to adapt the algorithm.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Gaussian Bayes does so by replacing the probability calculation with a probability calculation based on a gaussian distribution.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These probabilities replace the probabilities in Bayes and everything else works in the same way. </a:t>
            </a:r>
          </a:p>
          <a:p>
            <a:pPr>
              <a:lnSpc>
                <a:spcPct val="110000"/>
              </a:lnSpc>
            </a:pPr>
            <a:r>
              <a:rPr lang="en-US" dirty="0"/>
              <a:t>This is one example of wanting normalized data for features based on model assumptions. </a:t>
            </a:r>
          </a:p>
          <a:p>
            <a:pPr>
              <a:lnSpc>
                <a:spcPct val="110000"/>
              </a:lnSpc>
            </a:pPr>
            <a:r>
              <a:rPr lang="en-US" dirty="0"/>
              <a:t>Note: the details are handled by sklearn. </a:t>
            </a:r>
          </a:p>
        </p:txBody>
      </p:sp>
      <p:pic>
        <p:nvPicPr>
          <p:cNvPr id="7170" name="Picture 2" descr="Gaussian Naive Bayes">
            <a:extLst>
              <a:ext uri="{FF2B5EF4-FFF2-40B4-BE49-F238E27FC236}">
                <a16:creationId xmlns:a16="http://schemas.microsoft.com/office/drawing/2014/main" id="{3248527C-2ADF-5345-AFAB-60A7F06FE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09811" y="1853754"/>
            <a:ext cx="6182190" cy="462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490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8C9D8-9487-2297-14C9-A847E7D5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and Sklearn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5C909-14D4-FC92-D91B-32B5388C2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7708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Using</a:t>
            </a:r>
            <a:r>
              <a:rPr lang="en-US" dirty="0"/>
              <a:t> bayes models is normally pretty simple, everything is just sklearn standard. </a:t>
            </a:r>
          </a:p>
          <a:p>
            <a:r>
              <a:rPr lang="en-US" dirty="0"/>
              <a:t>There are a couple of specific (potential) things to be aware of:</a:t>
            </a:r>
          </a:p>
          <a:p>
            <a:pPr lvl="1"/>
            <a:r>
              <a:rPr lang="en-US" dirty="0"/>
              <a:t>Bayes theoretically </a:t>
            </a:r>
            <a:r>
              <a:rPr lang="en-US" b="1" dirty="0"/>
              <a:t>doesn’t</a:t>
            </a:r>
            <a:r>
              <a:rPr lang="en-US" dirty="0"/>
              <a:t> require encoding of variables, implementations may. </a:t>
            </a:r>
          </a:p>
          <a:p>
            <a:pPr lvl="2"/>
            <a:r>
              <a:rPr lang="en-US" dirty="0"/>
              <a:t>From docs: “It is further assumed that all categories of each feature are represented by the numbers 0, …, n - 1, where n refers to the total number of categories for the given feature. This can, for instance, be achieved with the help of </a:t>
            </a:r>
            <a:r>
              <a:rPr lang="en-US" dirty="0" err="1"/>
              <a:t>OrdinalEncoder</a:t>
            </a:r>
            <a:r>
              <a:rPr lang="en-US" dirty="0"/>
              <a:t>.”</a:t>
            </a:r>
          </a:p>
          <a:p>
            <a:pPr lvl="1"/>
            <a:r>
              <a:rPr lang="en-US" b="1" dirty="0"/>
              <a:t>Bayes requires categorical features</a:t>
            </a:r>
            <a:r>
              <a:rPr lang="en-US" dirty="0"/>
              <a:t>, implementations may do something to automatically handle numeric features or may have some different variant. </a:t>
            </a:r>
          </a:p>
          <a:p>
            <a:pPr lvl="2"/>
            <a:r>
              <a:rPr lang="en-US" dirty="0"/>
              <a:t>In sklearn there are several Bayes varieties for different applications – Gaussian for numerical. </a:t>
            </a:r>
          </a:p>
          <a:p>
            <a:r>
              <a:rPr lang="en-US" dirty="0"/>
              <a:t>Overall, this can be true in several places:</a:t>
            </a:r>
          </a:p>
          <a:p>
            <a:pPr lvl="1"/>
            <a:r>
              <a:rPr lang="en-US" dirty="0"/>
              <a:t>ML libraries have a pretty standard way to use algorithms, for ease of use. </a:t>
            </a:r>
          </a:p>
          <a:p>
            <a:pPr lvl="1"/>
            <a:r>
              <a:rPr lang="en-US" dirty="0"/>
              <a:t>The exact requirements of the theoretical algorithm change to match. </a:t>
            </a:r>
          </a:p>
        </p:txBody>
      </p:sp>
    </p:spTree>
    <p:extLst>
      <p:ext uri="{BB962C8B-B14F-4D97-AF65-F5344CB8AC3E}">
        <p14:creationId xmlns:p14="http://schemas.microsoft.com/office/powerpoint/2010/main" val="28507320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7B9A-26F0-8DE2-CC61-F8AF3EA5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5DD75-66BE-9946-9CBF-EFF642980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/>
          <a:lstStyle/>
          <a:p>
            <a:r>
              <a:rPr lang="en-US" dirty="0"/>
              <a:t>Bayes models are used in several real-life places. </a:t>
            </a:r>
          </a:p>
          <a:p>
            <a:pPr lvl="1"/>
            <a:r>
              <a:rPr lang="en-US" dirty="0"/>
              <a:t>Spam detection. </a:t>
            </a:r>
          </a:p>
          <a:p>
            <a:pPr lvl="1"/>
            <a:r>
              <a:rPr lang="en-US" dirty="0"/>
              <a:t>Markov chain type of things. You don’t need details, but these are probabilistic things that depend only on previous states. </a:t>
            </a:r>
          </a:p>
          <a:p>
            <a:pPr lvl="1"/>
            <a:r>
              <a:rPr lang="en-US" dirty="0"/>
              <a:t>Other probabilistic “state-needing” things. E.g. modelling one customer’s behavior, finance.</a:t>
            </a:r>
          </a:p>
          <a:p>
            <a:pPr lvl="1"/>
            <a:r>
              <a:rPr lang="en-US" dirty="0"/>
              <a:t>Optimization – when doing other ML stuff, Bayes can help narrow down option choices.  </a:t>
            </a:r>
          </a:p>
          <a:p>
            <a:r>
              <a:rPr lang="en-US" dirty="0"/>
              <a:t>Bayes has tended to perform well on unstructured (non-tabular) problems (like spam). </a:t>
            </a:r>
          </a:p>
          <a:p>
            <a:pPr lvl="1"/>
            <a:r>
              <a:rPr lang="en-US" dirty="0"/>
              <a:t>Bayes used to be best, but newer (</a:t>
            </a:r>
            <a:r>
              <a:rPr lang="en-US" dirty="0" err="1"/>
              <a:t>xgb</a:t>
            </a:r>
            <a:r>
              <a:rPr lang="en-US" dirty="0"/>
              <a:t>, neural networks) models can be good/better. </a:t>
            </a:r>
          </a:p>
          <a:p>
            <a:pPr lvl="1"/>
            <a:r>
              <a:rPr lang="en-US" dirty="0"/>
              <a:t>For something like spam, fast processing of Bayes can really matter. (Est 130 billion </a:t>
            </a:r>
            <a:r>
              <a:rPr lang="en-US" dirty="0" err="1"/>
              <a:t>gmails</a:t>
            </a:r>
            <a:r>
              <a:rPr lang="en-US" dirty="0"/>
              <a:t>/day)</a:t>
            </a:r>
          </a:p>
          <a:p>
            <a:pPr lvl="1"/>
            <a:r>
              <a:rPr lang="en-US" dirty="0"/>
              <a:t>The relationship of words in text and spam status probably isn’t linear…</a:t>
            </a:r>
          </a:p>
        </p:txBody>
      </p:sp>
    </p:spTree>
    <p:extLst>
      <p:ext uri="{BB962C8B-B14F-4D97-AF65-F5344CB8AC3E}">
        <p14:creationId xmlns:p14="http://schemas.microsoft.com/office/powerpoint/2010/main" val="2979603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13C7-2AD5-8445-A578-9756556E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82E42-0273-FB4E-B3D8-2E3564257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0320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Bayes is one of the simpler classifiers that we can create. </a:t>
            </a:r>
          </a:p>
          <a:p>
            <a:pPr lvl="1"/>
            <a:r>
              <a:rPr lang="en-US" dirty="0"/>
              <a:t>Bayes regression exists, but is not super common so we don’t worry about it. </a:t>
            </a:r>
          </a:p>
          <a:p>
            <a:r>
              <a:rPr lang="en-US" dirty="0"/>
              <a:t>Bayesian models have different logic than regression – no linear dependance, no residual. </a:t>
            </a:r>
          </a:p>
          <a:p>
            <a:pPr lvl="1"/>
            <a:r>
              <a:rPr lang="en-US" dirty="0"/>
              <a:t>There is still a model (inputs-&gt;output), but how it works is totally different. </a:t>
            </a:r>
          </a:p>
          <a:p>
            <a:r>
              <a:rPr lang="en-US" dirty="0"/>
              <a:t>Strengths:</a:t>
            </a:r>
          </a:p>
          <a:p>
            <a:pPr lvl="1"/>
            <a:r>
              <a:rPr lang="en-US" dirty="0"/>
              <a:t>It is fast, both making predictions and in training – probability calcs are quick. </a:t>
            </a:r>
          </a:p>
          <a:p>
            <a:pPr lvl="1"/>
            <a:r>
              <a:rPr lang="en-US" dirty="0"/>
              <a:t>Often performs well on “unstructured” things, like email spam detection (more in NLP part). </a:t>
            </a:r>
          </a:p>
          <a:p>
            <a:r>
              <a:rPr lang="en-US" dirty="0"/>
              <a:t>Weaknesses:</a:t>
            </a:r>
          </a:p>
          <a:p>
            <a:pPr lvl="1"/>
            <a:r>
              <a:rPr lang="en-US" dirty="0"/>
              <a:t>Handling mixed data (num and cat) can be very annoying. </a:t>
            </a:r>
          </a:p>
          <a:p>
            <a:pPr lvl="1"/>
            <a:r>
              <a:rPr lang="en-US" dirty="0"/>
              <a:t>Independence of features isn’t perfect in most real-life scenarios*. </a:t>
            </a:r>
          </a:p>
          <a:p>
            <a:pPr lvl="1"/>
            <a:r>
              <a:rPr lang="en-US" dirty="0"/>
              <a:t>Limited ability to make model better through tuning (next semester). </a:t>
            </a:r>
          </a:p>
          <a:p>
            <a:r>
              <a:rPr lang="en-US" dirty="0"/>
              <a:t>Bayes is good at specific tasks, but other models beat it in general. </a:t>
            </a:r>
          </a:p>
        </p:txBody>
      </p:sp>
    </p:spTree>
    <p:extLst>
      <p:ext uri="{BB962C8B-B14F-4D97-AF65-F5344CB8AC3E}">
        <p14:creationId xmlns:p14="http://schemas.microsoft.com/office/powerpoint/2010/main" val="30934471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4066-0542-F810-8C3E-2334F8C4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Build-A-Bayes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3821B-3F71-E693-8F9F-1253EB489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workbook 032 we have an example of a Bayes model, made by hand. </a:t>
            </a:r>
          </a:p>
          <a:p>
            <a:r>
              <a:rPr lang="en-US" dirty="0"/>
              <a:t>We don’t need to do this by hand, but can we read through and follow…</a:t>
            </a:r>
          </a:p>
          <a:p>
            <a:r>
              <a:rPr lang="en-US" dirty="0"/>
              <a:t>This is generally a decent self-check. </a:t>
            </a:r>
          </a:p>
          <a:p>
            <a:pPr lvl="1"/>
            <a:r>
              <a:rPr lang="en-US" dirty="0"/>
              <a:t>We know what the model does – calculate probs, likelihoods, combine them,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We can use a simple example and track it through the algorithm. </a:t>
            </a:r>
          </a:p>
        </p:txBody>
      </p:sp>
    </p:spTree>
    <p:extLst>
      <p:ext uri="{BB962C8B-B14F-4D97-AF65-F5344CB8AC3E}">
        <p14:creationId xmlns:p14="http://schemas.microsoft.com/office/powerpoint/2010/main" val="2375008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E6A90-CF72-AE42-9444-D85AFF64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the Future…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C263-2439-2E32-F015-F3A0303EA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January we’ll start roughly where we left of here. </a:t>
            </a:r>
          </a:p>
          <a:p>
            <a:pPr lvl="1"/>
            <a:r>
              <a:rPr lang="en-US" dirty="0"/>
              <a:t>Use a different model type, evaluate models better, more data prep (pipeline). </a:t>
            </a:r>
          </a:p>
          <a:p>
            <a:r>
              <a:rPr lang="en-US" dirty="0"/>
              <a:t>Things that are really important:</a:t>
            </a:r>
          </a:p>
          <a:p>
            <a:pPr lvl="1"/>
            <a:r>
              <a:rPr lang="en-US" dirty="0"/>
              <a:t>Code – similar to what we’re doing now, but we’ll have more functions/classes/complexity. </a:t>
            </a:r>
          </a:p>
          <a:p>
            <a:pPr lvl="1"/>
            <a:r>
              <a:rPr lang="en-US" dirty="0"/>
              <a:t>Data – manipulating 2D data in assorted ways. </a:t>
            </a:r>
          </a:p>
          <a:p>
            <a:pPr lvl="1"/>
            <a:r>
              <a:rPr lang="en-US" dirty="0"/>
              <a:t>Sklearn – most things use the sklearn libraries, get used to code and docs. </a:t>
            </a:r>
          </a:p>
          <a:p>
            <a:pPr lvl="1"/>
            <a:r>
              <a:rPr lang="en-US" dirty="0"/>
              <a:t>Basic stats (understand idea and relate to data) – distribution, </a:t>
            </a:r>
            <a:r>
              <a:rPr lang="en-US" b="1" dirty="0"/>
              <a:t>variance, correlation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Idea of gradient descent, weights/parameters being modified, iterative solutions. </a:t>
            </a:r>
          </a:p>
          <a:p>
            <a:pPr lvl="1"/>
            <a:r>
              <a:rPr lang="en-US" dirty="0"/>
              <a:t>Errors – theory and usage, for classification and numeric values. </a:t>
            </a:r>
          </a:p>
          <a:p>
            <a:pPr lvl="1"/>
            <a:r>
              <a:rPr lang="en-US" dirty="0"/>
              <a:t>Probability, odds, conditional probability. </a:t>
            </a:r>
          </a:p>
          <a:p>
            <a:pPr lvl="1"/>
            <a:r>
              <a:rPr lang="en-US" dirty="0"/>
              <a:t>Inference/generalization – we have some data, how can we estimate more/all. </a:t>
            </a:r>
          </a:p>
        </p:txBody>
      </p:sp>
    </p:spTree>
    <p:extLst>
      <p:ext uri="{BB962C8B-B14F-4D97-AF65-F5344CB8AC3E}">
        <p14:creationId xmlns:p14="http://schemas.microsoft.com/office/powerpoint/2010/main" val="308689373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11362</TotalTime>
  <Words>3541</Words>
  <Application>Microsoft Macintosh PowerPoint</Application>
  <PresentationFormat>Widescreen</PresentationFormat>
  <Paragraphs>318</Paragraphs>
  <Slides>43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Gill Sans MT</vt:lpstr>
      <vt:lpstr>Gallery</vt:lpstr>
      <vt:lpstr>A Fun Game…</vt:lpstr>
      <vt:lpstr>Housekeeping</vt:lpstr>
      <vt:lpstr>Housekeeping </vt:lpstr>
      <vt:lpstr>Assignment</vt:lpstr>
      <vt:lpstr>PowerPoint Presentation</vt:lpstr>
      <vt:lpstr>PowerPoint Presentation</vt:lpstr>
      <vt:lpstr>PowerPoint Presentation</vt:lpstr>
      <vt:lpstr>PowerPoint Presentation</vt:lpstr>
      <vt:lpstr>Why Are densities so Weird? </vt:lpstr>
      <vt:lpstr>What’s the Density… Really…?</vt:lpstr>
      <vt:lpstr>Discreetness</vt:lpstr>
      <vt:lpstr>Review - Gradient Descent and Logistic Regression</vt:lpstr>
      <vt:lpstr>At bottom of Logistic Regression Code</vt:lpstr>
      <vt:lpstr>Naïve Bayes</vt:lpstr>
      <vt:lpstr>Probability – Remember it!</vt:lpstr>
      <vt:lpstr>Note on Features </vt:lpstr>
      <vt:lpstr>Conditional Probability</vt:lpstr>
      <vt:lpstr>Updates</vt:lpstr>
      <vt:lpstr>Check the Code</vt:lpstr>
      <vt:lpstr>Don’t Be lazy, We’re Getting Bayesy!</vt:lpstr>
      <vt:lpstr>Bayes and Conditions</vt:lpstr>
      <vt:lpstr>Bayesian Updates</vt:lpstr>
      <vt:lpstr>In Numbers</vt:lpstr>
      <vt:lpstr>Normalization</vt:lpstr>
      <vt:lpstr>Updates and Us</vt:lpstr>
      <vt:lpstr>A Real-ish Example</vt:lpstr>
      <vt:lpstr>Back to Bayes</vt:lpstr>
      <vt:lpstr>Naïve Bayes</vt:lpstr>
      <vt:lpstr>Not so Naive After All…</vt:lpstr>
      <vt:lpstr>Example by Hand</vt:lpstr>
      <vt:lpstr>Naïve Bayes Process</vt:lpstr>
      <vt:lpstr>Naïve Bayes Process 2</vt:lpstr>
      <vt:lpstr>Naïve Bayes</vt:lpstr>
      <vt:lpstr>Interpretability</vt:lpstr>
      <vt:lpstr>Non-Linear Relationships</vt:lpstr>
      <vt:lpstr>Non-linearity</vt:lpstr>
      <vt:lpstr>Smoothing</vt:lpstr>
      <vt:lpstr>Flexible Bayes</vt:lpstr>
      <vt:lpstr>Bayes and Sklearn Implementation</vt:lpstr>
      <vt:lpstr>Real Life Bayes</vt:lpstr>
      <vt:lpstr>Naïve Bayes Conclusion</vt:lpstr>
      <vt:lpstr>Build-A-Bayes</vt:lpstr>
      <vt:lpstr>For the Future…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44</cp:revision>
  <dcterms:created xsi:type="dcterms:W3CDTF">2022-03-06T22:45:50Z</dcterms:created>
  <dcterms:modified xsi:type="dcterms:W3CDTF">2025-12-08T18:28:16Z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2025-12-01T16:39:17Z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11388bab-c556-4053-9c3b-cc30ad2bd3cf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
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6" r:id="rId2"/>
    <p:sldId id="256" r:id="rId3"/>
    <p:sldId id="258" r:id="rId4"/>
    <p:sldId id="257" r:id="rId5"/>
    <p:sldId id="285" r:id="rId6"/>
    <p:sldId id="284" r:id="rId7"/>
    <p:sldId id="286" r:id="rId8"/>
    <p:sldId id="287" r:id="rId9"/>
    <p:sldId id="259" r:id="rId10"/>
    <p:sldId id="260" r:id="rId11"/>
    <p:sldId id="289" r:id="rId12"/>
    <p:sldId id="261" r:id="rId13"/>
    <p:sldId id="263" r:id="rId14"/>
    <p:sldId id="262" r:id="rId15"/>
    <p:sldId id="288" r:id="rId16"/>
    <p:sldId id="264" r:id="rId17"/>
    <p:sldId id="265" r:id="rId18"/>
    <p:sldId id="266" r:id="rId19"/>
    <p:sldId id="277" r:id="rId20"/>
    <p:sldId id="267" r:id="rId21"/>
    <p:sldId id="268" r:id="rId22"/>
    <p:sldId id="269" r:id="rId23"/>
    <p:sldId id="290" r:id="rId24"/>
    <p:sldId id="270" r:id="rId25"/>
    <p:sldId id="291" r:id="rId26"/>
    <p:sldId id="271" r:id="rId27"/>
    <p:sldId id="272" r:id="rId28"/>
    <p:sldId id="273" r:id="rId29"/>
    <p:sldId id="274" r:id="rId30"/>
    <p:sldId id="275" r:id="rId31"/>
    <p:sldId id="278" r:id="rId32"/>
    <p:sldId id="281" r:id="rId33"/>
    <p:sldId id="279" r:id="rId34"/>
    <p:sldId id="280" r:id="rId35"/>
    <p:sldId id="282" r:id="rId36"/>
    <p:sldId id="283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DAB3-4FA8-CF41-99A4-732AB256F84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7B934A8-0251-9247-A3EE-874AA35B02B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300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DAB3-4FA8-CF41-99A4-732AB256F84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34A8-0251-9247-A3EE-874AA35B02B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526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DAB3-4FA8-CF41-99A4-732AB256F84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34A8-0251-9247-A3EE-874AA35B02B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82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DAB3-4FA8-CF41-99A4-732AB256F84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34A8-0251-9247-A3EE-874AA35B02B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858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DAB3-4FA8-CF41-99A4-732AB256F84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34A8-0251-9247-A3EE-874AA35B02B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86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DAB3-4FA8-CF41-99A4-732AB256F84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34A8-0251-9247-A3EE-874AA35B02B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158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DAB3-4FA8-CF41-99A4-732AB256F84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34A8-0251-9247-A3EE-874AA35B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78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DAB3-4FA8-CF41-99A4-732AB256F84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34A8-0251-9247-A3EE-874AA35B02B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842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AF3DAB3-4FA8-CF41-99A4-732AB256F84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34A8-0251-9247-A3EE-874AA35B02B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591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DAB3-4FA8-CF41-99A4-732AB256F84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34A8-0251-9247-A3EE-874AA35B02B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95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DAB3-4FA8-CF41-99A4-732AB256F84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34A8-0251-9247-A3EE-874AA35B02B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74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3DAB3-4FA8-CF41-99A4-732AB256F84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7B934A8-0251-9247-A3EE-874AA35B02B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0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996A-5178-8725-6FB2-9B805A9B7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Stuff to Do!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B9A4-2979-9DA1-B14D-05A14BDAA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77656"/>
            <a:ext cx="9603275" cy="4075825"/>
          </a:xfrm>
        </p:spPr>
        <p:txBody>
          <a:bodyPr/>
          <a:lstStyle/>
          <a:p>
            <a:r>
              <a:rPr lang="en-US" dirty="0"/>
              <a:t>Today – regression. (We’ll do workbook 21 and maybe 23, 22 after)</a:t>
            </a:r>
          </a:p>
          <a:p>
            <a:pPr lvl="1"/>
            <a:r>
              <a:rPr lang="en-US" dirty="0"/>
              <a:t>Pull from repository, there are several small errors I fixed (</a:t>
            </a:r>
            <a:r>
              <a:rPr lang="en-US" dirty="0" err="1"/>
              <a:t>mean_squared_error</a:t>
            </a:r>
            <a:r>
              <a:rPr lang="en-US" dirty="0"/>
              <a:t> function). </a:t>
            </a:r>
          </a:p>
          <a:p>
            <a:pPr lvl="1"/>
            <a:r>
              <a:rPr lang="en-US" dirty="0"/>
              <a:t>Read chapter 10 and 11 this week. </a:t>
            </a:r>
          </a:p>
          <a:p>
            <a:pPr lvl="1"/>
            <a:r>
              <a:rPr lang="en-US" dirty="0"/>
              <a:t>R-squared. </a:t>
            </a:r>
          </a:p>
          <a:p>
            <a:pPr lvl="1"/>
            <a:r>
              <a:rPr lang="en-US" dirty="0"/>
              <a:t>Multiple input regression. </a:t>
            </a:r>
          </a:p>
          <a:p>
            <a:pPr lvl="1"/>
            <a:r>
              <a:rPr lang="en-US" dirty="0" err="1"/>
              <a:t>Multicolinearity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Sklearn and </a:t>
            </a:r>
            <a:r>
              <a:rPr lang="en-US" dirty="0" err="1"/>
              <a:t>statsmodels</a:t>
            </a:r>
            <a:r>
              <a:rPr lang="en-US" dirty="0"/>
              <a:t> intro. </a:t>
            </a:r>
          </a:p>
          <a:p>
            <a:pPr lvl="2"/>
            <a:r>
              <a:rPr lang="en-US" dirty="0"/>
              <a:t>The </a:t>
            </a:r>
            <a:r>
              <a:rPr lang="en-US" dirty="0" err="1"/>
              <a:t>statsmodels</a:t>
            </a:r>
            <a:r>
              <a:rPr lang="en-US" dirty="0"/>
              <a:t> stuff is mostly needed now because we’ll look at the p-values a bit. </a:t>
            </a:r>
          </a:p>
          <a:p>
            <a:pPr lvl="2"/>
            <a:r>
              <a:rPr lang="en-US" dirty="0"/>
              <a:t>If you’re going to neglect anything, make it </a:t>
            </a:r>
            <a:r>
              <a:rPr lang="en-US" dirty="0" err="1"/>
              <a:t>statsmodels</a:t>
            </a:r>
            <a:r>
              <a:rPr lang="en-US" dirty="0"/>
              <a:t>. We won’t use much later. </a:t>
            </a:r>
          </a:p>
          <a:p>
            <a:pPr lvl="2"/>
            <a:r>
              <a:rPr lang="en-US" dirty="0"/>
              <a:t>If you do book examples, sklearn is generally a better choice. </a:t>
            </a:r>
          </a:p>
        </p:txBody>
      </p:sp>
    </p:spTree>
    <p:extLst>
      <p:ext uri="{BB962C8B-B14F-4D97-AF65-F5344CB8AC3E}">
        <p14:creationId xmlns:p14="http://schemas.microsoft.com/office/powerpoint/2010/main" val="362962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E7CD8-D823-4F38-DA30-E819FD6B87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Regression – R2 and </a:t>
            </a:r>
            <a:r>
              <a:rPr lang="en-US" dirty="0" err="1"/>
              <a:t>Statsmodels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140DFB-3F16-162E-1748-F5D3541848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2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D1FF6-953C-B6C9-4C9C-FBCD7C655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Why Statistical Models?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8101F-703F-2A66-EB6B-127E1E0E3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15732"/>
            <a:ext cx="5912022" cy="4037749"/>
          </a:xfrm>
        </p:spPr>
        <p:txBody>
          <a:bodyPr/>
          <a:lstStyle/>
          <a:p>
            <a:r>
              <a:rPr lang="en-US" dirty="0"/>
              <a:t>Inferential stats uses models to allow for predictions. </a:t>
            </a:r>
          </a:p>
          <a:p>
            <a:pPr lvl="1"/>
            <a:r>
              <a:rPr lang="en-US" dirty="0"/>
              <a:t>An analytical distribution is a model of empirical data.</a:t>
            </a:r>
          </a:p>
          <a:p>
            <a:pPr lvl="1"/>
            <a:r>
              <a:rPr lang="en-US" dirty="0"/>
              <a:t>E.g. Generalizing w/ distribution model. </a:t>
            </a:r>
          </a:p>
          <a:p>
            <a:pPr lvl="1"/>
            <a:r>
              <a:rPr lang="en-US" dirty="0"/>
              <a:t>Probability (vote, coin) MC estimation. </a:t>
            </a:r>
          </a:p>
          <a:p>
            <a:r>
              <a:rPr lang="en-US" dirty="0"/>
              <a:t>Machine learning models extend this. </a:t>
            </a:r>
          </a:p>
          <a:p>
            <a:pPr lvl="1"/>
            <a:r>
              <a:rPr lang="en-US" dirty="0"/>
              <a:t>Model some prediction (will be customer, temperature, stock price, will survive surgery…)</a:t>
            </a:r>
          </a:p>
          <a:p>
            <a:r>
              <a:rPr lang="en-US" dirty="0"/>
              <a:t>A model tells us expectations, we can use that to make predictions. </a:t>
            </a:r>
          </a:p>
        </p:txBody>
      </p:sp>
      <p:pic>
        <p:nvPicPr>
          <p:cNvPr id="1026" name="Picture 2" descr="dan nguyen 🐮 on X">
            <a:extLst>
              <a:ext uri="{FF2B5EF4-FFF2-40B4-BE49-F238E27FC236}">
                <a16:creationId xmlns:a16="http://schemas.microsoft.com/office/drawing/2014/main" id="{AB21E1AB-37AB-D3A6-48D2-661FD3E49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78" y="2163003"/>
            <a:ext cx="5912022" cy="330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72010-0C4C-02DF-4409-8541F07E7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regression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10DF6-220C-41BA-F228-7FEBE49C4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2015732"/>
            <a:ext cx="6333064" cy="4037749"/>
          </a:xfrm>
        </p:spPr>
        <p:txBody>
          <a:bodyPr/>
          <a:lstStyle/>
          <a:p>
            <a:r>
              <a:rPr lang="en-US" dirty="0"/>
              <a:t>Our linear regression models are the simplest ML model. </a:t>
            </a:r>
          </a:p>
          <a:p>
            <a:pPr lvl="1"/>
            <a:r>
              <a:rPr lang="en-US" dirty="0"/>
              <a:t>The prediction is Y, given X (or more </a:t>
            </a:r>
            <a:r>
              <a:rPr lang="en-US" dirty="0" err="1"/>
              <a:t>Xs</a:t>
            </a:r>
            <a:r>
              <a:rPr lang="en-US" dirty="0"/>
              <a:t>…). </a:t>
            </a:r>
          </a:p>
          <a:p>
            <a:r>
              <a:rPr lang="en-US" dirty="0"/>
              <a:t>The ‘learning’ is simple – LLS calculation. </a:t>
            </a:r>
          </a:p>
          <a:p>
            <a:pPr lvl="1"/>
            <a:r>
              <a:rPr lang="en-US" dirty="0"/>
              <a:t>Optimal m and b can be calculated directly. </a:t>
            </a:r>
          </a:p>
          <a:p>
            <a:pPr lvl="1"/>
            <a:r>
              <a:rPr lang="en-US" dirty="0"/>
              <a:t>Any process that makes m and b is valid. </a:t>
            </a:r>
          </a:p>
          <a:p>
            <a:r>
              <a:rPr lang="en-US" dirty="0"/>
              <a:t>Residuals can be aggregated to measure model quality. </a:t>
            </a:r>
          </a:p>
          <a:p>
            <a:pPr lvl="1"/>
            <a:r>
              <a:rPr lang="en-US" dirty="0"/>
              <a:t>MSE – square and average residuals, common in calcs. </a:t>
            </a:r>
          </a:p>
          <a:p>
            <a:pPr lvl="1"/>
            <a:r>
              <a:rPr lang="en-US" dirty="0"/>
              <a:t>RMSE – root of MSE, most common, in scale of values. </a:t>
            </a:r>
          </a:p>
          <a:p>
            <a:r>
              <a:rPr lang="en-US" dirty="0"/>
              <a:t>A model that is a good ‘fit’ has small residuals. </a:t>
            </a:r>
          </a:p>
        </p:txBody>
      </p:sp>
      <p:pic>
        <p:nvPicPr>
          <p:cNvPr id="2050" name="Picture 2" descr="Least Square Method | Definition Graph and Formula - GeeksforGeeks">
            <a:extLst>
              <a:ext uri="{FF2B5EF4-FFF2-40B4-BE49-F238E27FC236}">
                <a16:creationId xmlns:a16="http://schemas.microsoft.com/office/drawing/2014/main" id="{DE2DC2EF-DAD4-1EDD-4CFF-2E3CC1639D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5" r="10907"/>
          <a:stretch>
            <a:fillRect/>
          </a:stretch>
        </p:blipFill>
        <p:spPr bwMode="auto">
          <a:xfrm>
            <a:off x="6556347" y="1365074"/>
            <a:ext cx="5635653" cy="517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324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4A4C7-1FB4-9786-1A54-34A5C206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Drama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F99D2-A041-85BE-CDC4-8EED8B74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4793" y="2015732"/>
            <a:ext cx="4125691" cy="4059147"/>
          </a:xfrm>
        </p:spPr>
        <p:txBody>
          <a:bodyPr/>
          <a:lstStyle/>
          <a:p>
            <a:r>
              <a:rPr lang="en-US" dirty="0"/>
              <a:t>We can average our residuals to get MSE. </a:t>
            </a:r>
          </a:p>
          <a:p>
            <a:r>
              <a:rPr lang="en-US" dirty="0"/>
              <a:t>MSE/RMSE expresses accuracy of model. </a:t>
            </a:r>
          </a:p>
          <a:p>
            <a:r>
              <a:rPr lang="en-US" dirty="0"/>
              <a:t>We can also look at residuals. </a:t>
            </a:r>
          </a:p>
          <a:p>
            <a:r>
              <a:rPr lang="en-US" dirty="0"/>
              <a:t>If there’s a pattern in residuals, it wasn’t captured by the model. </a:t>
            </a:r>
          </a:p>
          <a:p>
            <a:r>
              <a:rPr lang="en-US" dirty="0"/>
              <a:t>Ideally the model should ‘explain’ all of the variance in Y. </a:t>
            </a:r>
          </a:p>
        </p:txBody>
      </p:sp>
      <p:pic>
        <p:nvPicPr>
          <p:cNvPr id="5122" name="Picture 2" descr="Interpreting Residual Plots to Improve Your Regression">
            <a:extLst>
              <a:ext uri="{FF2B5EF4-FFF2-40B4-BE49-F238E27FC236}">
                <a16:creationId xmlns:a16="http://schemas.microsoft.com/office/drawing/2014/main" id="{6B7E5249-4723-64B5-421D-B575AEA53D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47"/>
          <a:stretch>
            <a:fillRect/>
          </a:stretch>
        </p:blipFill>
        <p:spPr bwMode="auto">
          <a:xfrm>
            <a:off x="173384" y="1853754"/>
            <a:ext cx="7811409" cy="422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271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1A6C-1597-9819-A739-084ABBBC2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need to </a:t>
            </a:r>
            <a:r>
              <a:rPr lang="en-US" dirty="0" err="1"/>
              <a:t>fiT</a:t>
            </a:r>
            <a:r>
              <a:rPr lang="en-US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2CB47-48BC-C14F-977D-58522C28C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612591"/>
          </a:xfrm>
        </p:spPr>
        <p:txBody>
          <a:bodyPr/>
          <a:lstStyle/>
          <a:p>
            <a:r>
              <a:rPr lang="en-US" dirty="0"/>
              <a:t>A model is a good fit if it follows the data. </a:t>
            </a:r>
          </a:p>
          <a:p>
            <a:r>
              <a:rPr lang="en-US" dirty="0"/>
              <a:t>A model that fits gives good predictions!</a:t>
            </a:r>
          </a:p>
        </p:txBody>
      </p:sp>
      <p:pic>
        <p:nvPicPr>
          <p:cNvPr id="4098" name="Picture 2" descr="Curve Fitting using Linear and Nonlinear Regression - GeeksforGeeks">
            <a:extLst>
              <a:ext uri="{FF2B5EF4-FFF2-40B4-BE49-F238E27FC236}">
                <a16:creationId xmlns:a16="http://schemas.microsoft.com/office/drawing/2014/main" id="{D4C8D90A-1A38-CFAA-5440-98A163B08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960" y="0"/>
            <a:ext cx="5634040" cy="456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oes linear regression mean the model fit line has to be straight? - Cross  Validated">
            <a:extLst>
              <a:ext uri="{FF2B5EF4-FFF2-40B4-BE49-F238E27FC236}">
                <a16:creationId xmlns:a16="http://schemas.microsoft.com/office/drawing/2014/main" id="{7739A5AB-8E60-C31D-4272-0F74A100D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61155"/>
            <a:ext cx="5252484" cy="393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144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07B9-A408-0E32-FE0A-E2177795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93D39-7DD6-9D32-7E6C-40C6D0928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generally aggregate residuals into the RMSE/MSE. </a:t>
            </a:r>
          </a:p>
          <a:p>
            <a:r>
              <a:rPr lang="en-US" dirty="0"/>
              <a:t>Gives us an easy to use/compare results. </a:t>
            </a:r>
          </a:p>
        </p:txBody>
      </p:sp>
    </p:spTree>
    <p:extLst>
      <p:ext uri="{BB962C8B-B14F-4D97-AF65-F5344CB8AC3E}">
        <p14:creationId xmlns:p14="http://schemas.microsoft.com/office/powerpoint/2010/main" val="2884472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A9F7B-C917-0049-6B96-87F3F871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R-Squared and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D6732-C120-3874-132A-B061C0E50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5303847" cy="4272148"/>
          </a:xfrm>
        </p:spPr>
        <p:txBody>
          <a:bodyPr>
            <a:normAutofit/>
          </a:bodyPr>
          <a:lstStyle/>
          <a:p>
            <a:r>
              <a:rPr lang="en-US" dirty="0"/>
              <a:t>Remember the correlation – relationship between X and Y. </a:t>
            </a:r>
          </a:p>
          <a:p>
            <a:r>
              <a:rPr lang="en-US" dirty="0"/>
              <a:t>The larger the magnitude of correlation, the ‘tighter’ the relationship. </a:t>
            </a:r>
          </a:p>
          <a:p>
            <a:r>
              <a:rPr lang="en-US" dirty="0"/>
              <a:t>R-squared magnifies this. </a:t>
            </a:r>
          </a:p>
          <a:p>
            <a:pPr lvl="1"/>
            <a:r>
              <a:rPr lang="en-US" dirty="0"/>
              <a:t>Drops the residual and ‘lessens’ the raw numerical values of correlation. </a:t>
            </a:r>
          </a:p>
          <a:p>
            <a:pPr lvl="1"/>
            <a:r>
              <a:rPr lang="en-US" dirty="0"/>
              <a:t>I.e. you need to be </a:t>
            </a:r>
            <a:r>
              <a:rPr lang="en-US" i="1" dirty="0"/>
              <a:t>really</a:t>
            </a:r>
            <a:r>
              <a:rPr lang="en-US" dirty="0"/>
              <a:t> correlated to have a high r squared. </a:t>
            </a:r>
          </a:p>
        </p:txBody>
      </p:sp>
      <p:pic>
        <p:nvPicPr>
          <p:cNvPr id="4" name="Picture 3" descr="How to interpret an R of .736 and R2 of 0.54 - Quora">
            <a:extLst>
              <a:ext uri="{FF2B5EF4-FFF2-40B4-BE49-F238E27FC236}">
                <a16:creationId xmlns:a16="http://schemas.microsoft.com/office/drawing/2014/main" id="{4A2CE8D1-1C68-EB68-3E59-D9AA5BAEA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847" y="1853754"/>
            <a:ext cx="6723702" cy="411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00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D845B-FF2C-F36D-DEF4-8E1B14E8A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Reexamining Fit – R Squared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0A26F-9EB3-1F40-ED20-68B5F6887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In predictive modeling we often use a different metric for quality along with RMSE – R2. </a:t>
            </a:r>
          </a:p>
          <a:p>
            <a:r>
              <a:rPr lang="en-US" dirty="0"/>
              <a:t>R squared, or R2 is the coefficient of determination. </a:t>
            </a:r>
          </a:p>
          <a:p>
            <a:pPr lvl="1"/>
            <a:r>
              <a:rPr lang="en-US" dirty="0"/>
              <a:t>This measures the amount of variance that is explained by the model. </a:t>
            </a:r>
          </a:p>
          <a:p>
            <a:pPr lvl="1"/>
            <a:r>
              <a:rPr lang="en-US" dirty="0"/>
              <a:t>It is also the square of the correlation. </a:t>
            </a:r>
          </a:p>
          <a:p>
            <a:r>
              <a:rPr lang="en-US" dirty="0"/>
              <a:t>I think it is easiest to think of it in terms of variance, in a few steps. </a:t>
            </a:r>
          </a:p>
        </p:txBody>
      </p:sp>
    </p:spTree>
    <p:extLst>
      <p:ext uri="{BB962C8B-B14F-4D97-AF65-F5344CB8AC3E}">
        <p14:creationId xmlns:p14="http://schemas.microsoft.com/office/powerpoint/2010/main" val="2634301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7D6C5-A8AB-509C-41B6-10B5AF52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77" y="804519"/>
            <a:ext cx="10276378" cy="1049235"/>
          </a:xfrm>
        </p:spPr>
        <p:txBody>
          <a:bodyPr/>
          <a:lstStyle/>
          <a:p>
            <a:r>
              <a:rPr lang="en-US" dirty="0"/>
              <a:t>Variance – Our data varies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B5CDD-C7C6-04CD-AA50-BDA0EAE52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322" y="1853754"/>
            <a:ext cx="8197702" cy="4199727"/>
          </a:xfrm>
        </p:spPr>
        <p:txBody>
          <a:bodyPr/>
          <a:lstStyle/>
          <a:p>
            <a:r>
              <a:rPr lang="en-US" dirty="0"/>
              <a:t>We can think of our target, y, in terms of its variance. </a:t>
            </a:r>
          </a:p>
          <a:p>
            <a:pPr lvl="1"/>
            <a:r>
              <a:rPr lang="en-US" dirty="0"/>
              <a:t>Y varies – it literally has different values for different x inputs. </a:t>
            </a:r>
          </a:p>
          <a:p>
            <a:pPr lvl="1"/>
            <a:r>
              <a:rPr lang="en-US" dirty="0"/>
              <a:t>We can measure that amount of variance by measuring how far values are from the mean. </a:t>
            </a:r>
          </a:p>
          <a:p>
            <a:r>
              <a:rPr lang="en-US" dirty="0"/>
              <a:t>This is known as SST or sum of squares total. </a:t>
            </a:r>
          </a:p>
          <a:p>
            <a:pPr lvl="1"/>
            <a:r>
              <a:rPr lang="en-US" dirty="0"/>
              <a:t>It’s also the top of the variance calculation. </a:t>
            </a:r>
          </a:p>
          <a:p>
            <a:pPr lvl="1"/>
            <a:r>
              <a:rPr lang="en-US" dirty="0"/>
              <a:t>This measures how much the real values vary from the mean – a baseline. </a:t>
            </a:r>
          </a:p>
          <a:p>
            <a:pPr lvl="1"/>
            <a:r>
              <a:rPr lang="en-US" dirty="0"/>
              <a:t>I.e. (thought model, not def.) the model is attempting to tell us Y, think of the default value for Y that it tells us to be the mean, this tells us how much the model must ‘move’ from that default. </a:t>
            </a:r>
          </a:p>
        </p:txBody>
      </p:sp>
      <p:pic>
        <p:nvPicPr>
          <p:cNvPr id="3074" name="Picture 2" descr="SST = SSR + SSE in regression ...">
            <a:extLst>
              <a:ext uri="{FF2B5EF4-FFF2-40B4-BE49-F238E27FC236}">
                <a16:creationId xmlns:a16="http://schemas.microsoft.com/office/drawing/2014/main" id="{81384808-AB71-34AB-1FA1-CF4B9F5A7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400" y="202754"/>
            <a:ext cx="4927600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Learn R-squared | Choosing The Best Model">
            <a:extLst>
              <a:ext uri="{FF2B5EF4-FFF2-40B4-BE49-F238E27FC236}">
                <a16:creationId xmlns:a16="http://schemas.microsoft.com/office/drawing/2014/main" id="{AE87BC22-7487-F52C-1B2F-C5B882BA0F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15" t="8063" r="7045" b="26273"/>
          <a:stretch>
            <a:fillRect/>
          </a:stretch>
        </p:blipFill>
        <p:spPr>
          <a:xfrm>
            <a:off x="8825023" y="1853754"/>
            <a:ext cx="3189767" cy="287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05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E65C3-90CA-A993-24E1-07B7F39C4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 explains part of that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EE06C-CA8E-EF44-0BEE-645BA68CC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89" y="1853754"/>
            <a:ext cx="5326960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model (line) explains some of that. </a:t>
            </a:r>
          </a:p>
          <a:p>
            <a:pPr lvl="1"/>
            <a:r>
              <a:rPr lang="en-US" dirty="0"/>
              <a:t>I.e. the model tells us what Y should be given X, but isn’t perfect. </a:t>
            </a:r>
          </a:p>
          <a:p>
            <a:r>
              <a:rPr lang="en-US" dirty="0"/>
              <a:t>The model explains some variance. </a:t>
            </a:r>
          </a:p>
          <a:p>
            <a:r>
              <a:rPr lang="en-US" dirty="0"/>
              <a:t>Some variance is not explained </a:t>
            </a:r>
          </a:p>
          <a:p>
            <a:pPr lvl="1"/>
            <a:r>
              <a:rPr lang="en-US" dirty="0"/>
              <a:t>Residuals. </a:t>
            </a:r>
          </a:p>
          <a:p>
            <a:r>
              <a:rPr lang="en-US" dirty="0"/>
              <a:t>So we have:</a:t>
            </a:r>
          </a:p>
          <a:p>
            <a:pPr lvl="1"/>
            <a:r>
              <a:rPr lang="en-US" dirty="0"/>
              <a:t>Actual variance – the raw data variance. </a:t>
            </a:r>
          </a:p>
          <a:p>
            <a:pPr lvl="1"/>
            <a:r>
              <a:rPr lang="en-US" dirty="0"/>
              <a:t>Explained variance – amount model explains.</a:t>
            </a:r>
          </a:p>
          <a:p>
            <a:pPr lvl="1"/>
            <a:r>
              <a:rPr lang="en-US" dirty="0" err="1"/>
              <a:t>Unex</a:t>
            </a:r>
            <a:r>
              <a:rPr lang="en-US" dirty="0"/>
              <a:t>. Variance – the amount of leftover error.</a:t>
            </a:r>
          </a:p>
        </p:txBody>
      </p:sp>
      <p:pic>
        <p:nvPicPr>
          <p:cNvPr id="4" name="Picture 3" descr="Learn R-squared | Choosing The Best Model">
            <a:extLst>
              <a:ext uri="{FF2B5EF4-FFF2-40B4-BE49-F238E27FC236}">
                <a16:creationId xmlns:a16="http://schemas.microsoft.com/office/drawing/2014/main" id="{995BD875-732D-91DB-3379-AF6EF4D55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48" y="2015732"/>
            <a:ext cx="6205821" cy="349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88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29C5-3292-71F4-42DC-C1786154E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1974" y="804519"/>
            <a:ext cx="3742880" cy="1049235"/>
          </a:xfrm>
        </p:spPr>
        <p:txBody>
          <a:bodyPr/>
          <a:lstStyle/>
          <a:p>
            <a:r>
              <a:rPr lang="en-US" dirty="0"/>
              <a:t>Break that apart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B9A2D-7550-9738-8BDF-F45827EFB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1974" y="1853754"/>
            <a:ext cx="4711150" cy="3929208"/>
          </a:xfrm>
        </p:spPr>
        <p:txBody>
          <a:bodyPr/>
          <a:lstStyle/>
          <a:p>
            <a:r>
              <a:rPr lang="en-US" dirty="0"/>
              <a:t>The data varies from the mean – SST. </a:t>
            </a:r>
          </a:p>
          <a:p>
            <a:pPr lvl="1"/>
            <a:r>
              <a:rPr lang="en-US" dirty="0"/>
              <a:t>Mean is baseline, departures vary away.</a:t>
            </a:r>
          </a:p>
          <a:p>
            <a:r>
              <a:rPr lang="en-US" dirty="0"/>
              <a:t>Some variance ’explained’ by the model. </a:t>
            </a:r>
          </a:p>
          <a:p>
            <a:pPr lvl="1"/>
            <a:r>
              <a:rPr lang="en-US" dirty="0"/>
              <a:t>Model gets us close to the value. </a:t>
            </a:r>
          </a:p>
          <a:p>
            <a:r>
              <a:rPr lang="en-US" dirty="0"/>
              <a:t>The rest is the residual – error. </a:t>
            </a:r>
          </a:p>
          <a:p>
            <a:pPr lvl="1"/>
            <a:r>
              <a:rPr lang="en-US" dirty="0"/>
              <a:t>The model got us closer, but we are still this far away. </a:t>
            </a:r>
          </a:p>
          <a:p>
            <a:pPr lvl="1"/>
            <a:r>
              <a:rPr lang="en-US" dirty="0"/>
              <a:t>R2 is the ratio of this. </a:t>
            </a:r>
          </a:p>
          <a:p>
            <a:r>
              <a:rPr lang="en-US" dirty="0"/>
              <a:t>The closer the model is, the more SSR. </a:t>
            </a:r>
          </a:p>
        </p:txBody>
      </p:sp>
      <p:pic>
        <p:nvPicPr>
          <p:cNvPr id="4098" name="Picture 2" descr="Statistical Regression SSR / SSE / SST | Dr. Walid Soula | Artificial  Intelligence in Plain English">
            <a:extLst>
              <a:ext uri="{FF2B5EF4-FFF2-40B4-BE49-F238E27FC236}">
                <a16:creationId xmlns:a16="http://schemas.microsoft.com/office/drawing/2014/main" id="{4E772850-0C7A-856C-3064-7B5F93AA8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0767"/>
            <a:ext cx="7311974" cy="520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117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8DCD2-1B99-D357-7072-1F6CD5A1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Frame it in Terms of Error as well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840EE-F9E4-5677-1216-938AEF04A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9822" y="2015732"/>
            <a:ext cx="3319162" cy="3450613"/>
          </a:xfrm>
        </p:spPr>
        <p:txBody>
          <a:bodyPr/>
          <a:lstStyle/>
          <a:p>
            <a:r>
              <a:rPr lang="en-US" dirty="0"/>
              <a:t>Deviation from mean is ‘wrong’. </a:t>
            </a:r>
          </a:p>
          <a:p>
            <a:r>
              <a:rPr lang="en-US" dirty="0"/>
              <a:t>Some error is captured by model. </a:t>
            </a:r>
          </a:p>
          <a:p>
            <a:r>
              <a:rPr lang="en-US" dirty="0"/>
              <a:t>The rest is residual. </a:t>
            </a:r>
          </a:p>
          <a:p>
            <a:r>
              <a:rPr lang="en-US" dirty="0"/>
              <a:t>I don’t like this thought model, personally. </a:t>
            </a:r>
          </a:p>
        </p:txBody>
      </p:sp>
      <p:pic>
        <p:nvPicPr>
          <p:cNvPr id="6146" name="Picture 2" descr="Image by Author">
            <a:extLst>
              <a:ext uri="{FF2B5EF4-FFF2-40B4-BE49-F238E27FC236}">
                <a16:creationId xmlns:a16="http://schemas.microsoft.com/office/drawing/2014/main" id="{EE687224-B51E-635B-7D1B-8CAEC894C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22" y="1853754"/>
            <a:ext cx="8280400" cy="433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3776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F845D-D761-C583-138B-B059BBB3A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R2…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02270-26C3-412D-69BD-07D5441FF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234" y="2015732"/>
            <a:ext cx="5039832" cy="4037749"/>
          </a:xfrm>
        </p:spPr>
        <p:txBody>
          <a:bodyPr>
            <a:normAutofit/>
          </a:bodyPr>
          <a:lstStyle/>
          <a:p>
            <a:r>
              <a:rPr lang="en-US" dirty="0"/>
              <a:t>R2 is the percentage of the total variance in Y (SST) that the model explains (SSR). </a:t>
            </a:r>
          </a:p>
          <a:p>
            <a:pPr lvl="1"/>
            <a:r>
              <a:rPr lang="en-US" dirty="0"/>
              <a:t>I.e. the value of Y varies this much, our model explains this portion, the rest of the variance is stuff that we can’t explain. </a:t>
            </a:r>
          </a:p>
          <a:p>
            <a:pPr lvl="1"/>
            <a:r>
              <a:rPr lang="en-US" dirty="0"/>
              <a:t>Our model tells us “this percentage” of the departure from the mean. </a:t>
            </a:r>
          </a:p>
          <a:p>
            <a:r>
              <a:rPr lang="en-US" dirty="0"/>
              <a:t>Between 0 and 1. </a:t>
            </a:r>
          </a:p>
          <a:p>
            <a:r>
              <a:rPr lang="en-US" dirty="0"/>
              <a:t>Comparable between scenarios/models. </a:t>
            </a:r>
          </a:p>
        </p:txBody>
      </p:sp>
      <p:pic>
        <p:nvPicPr>
          <p:cNvPr id="5122" name="Picture 2" descr="Looking at R-Squared. In data science we create regression… | by Erika D | Medium">
            <a:extLst>
              <a:ext uri="{FF2B5EF4-FFF2-40B4-BE49-F238E27FC236}">
                <a16:creationId xmlns:a16="http://schemas.microsoft.com/office/drawing/2014/main" id="{33E561D9-3B7E-D3D7-0E36-949D923B8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524" y="105164"/>
            <a:ext cx="8299622" cy="1652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east squares - Why is $SST=SSE + SSR$? (One variable linear regression) -  Cross Validated">
            <a:extLst>
              <a:ext uri="{FF2B5EF4-FFF2-40B4-BE49-F238E27FC236}">
                <a16:creationId xmlns:a16="http://schemas.microsoft.com/office/drawing/2014/main" id="{066960B9-F325-797F-3765-A430A18CE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34" y="2015732"/>
            <a:ext cx="6718300" cy="379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313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53DE-ACB0-D8F3-DED5-DA5301AE6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24873-D999-AF33-34A9-C0D11A76B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R squared of a linear regression | Definition and interpretation">
            <a:extLst>
              <a:ext uri="{FF2B5EF4-FFF2-40B4-BE49-F238E27FC236}">
                <a16:creationId xmlns:a16="http://schemas.microsoft.com/office/drawing/2014/main" id="{22D7CF49-A608-E77B-90E8-DD5FD60BC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789" y="562920"/>
            <a:ext cx="9854853" cy="549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19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AAE9-B128-E7B4-808A-E3CB8F577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 Squared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DDF8-807F-28D3-D8C8-F29A4A39C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88288"/>
            <a:ext cx="9603275" cy="4065193"/>
          </a:xfrm>
        </p:spPr>
        <p:txBody>
          <a:bodyPr/>
          <a:lstStyle/>
          <a:p>
            <a:r>
              <a:rPr lang="en-US" dirty="0"/>
              <a:t>R2 is the most common default metric to score a model. </a:t>
            </a:r>
          </a:p>
          <a:p>
            <a:pPr lvl="1"/>
            <a:r>
              <a:rPr lang="en-US" dirty="0"/>
              <a:t>Result of score function in sklearn, default value in </a:t>
            </a:r>
            <a:r>
              <a:rPr lang="en-US" dirty="0" err="1"/>
              <a:t>statsmodels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We can compare anything, since it is a percentage. Error measures depend on scale. </a:t>
            </a:r>
          </a:p>
          <a:p>
            <a:r>
              <a:rPr lang="en-US" dirty="0"/>
              <a:t>The (1-R2, SSE) variance is what our model doesn’t capture. </a:t>
            </a:r>
          </a:p>
          <a:p>
            <a:pPr lvl="1"/>
            <a:r>
              <a:rPr lang="en-US" dirty="0"/>
              <a:t>Variables that we don’t have in the model (e.g. h vs w probably has more factors). </a:t>
            </a:r>
          </a:p>
          <a:p>
            <a:pPr lvl="1"/>
            <a:r>
              <a:rPr lang="en-US" dirty="0"/>
              <a:t>Some things can’t really be embedded into a model easily as a variable. </a:t>
            </a:r>
          </a:p>
          <a:p>
            <a:pPr lvl="1"/>
            <a:r>
              <a:rPr lang="en-US" dirty="0"/>
              <a:t>Noise or randomness that we fundamentally can’t predict. </a:t>
            </a:r>
          </a:p>
          <a:p>
            <a:r>
              <a:rPr lang="en-US" dirty="0"/>
              <a:t>Adding more inputs can help us capture more things that determine outcome…</a:t>
            </a:r>
          </a:p>
        </p:txBody>
      </p:sp>
    </p:spTree>
    <p:extLst>
      <p:ext uri="{BB962C8B-B14F-4D97-AF65-F5344CB8AC3E}">
        <p14:creationId xmlns:p14="http://schemas.microsoft.com/office/powerpoint/2010/main" val="1975493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5C20-A3DB-CC86-7479-60674AF38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Inputs for 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EEFEB-DF04-7EAE-3754-CD9925577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In most cases, we have several inputs to predict one output. </a:t>
            </a:r>
          </a:p>
          <a:p>
            <a:pPr lvl="1"/>
            <a:r>
              <a:rPr lang="en-US" dirty="0"/>
              <a:t>E.g. a loan may take in income, age, profession, credit… to predict interest rate. </a:t>
            </a:r>
          </a:p>
          <a:p>
            <a:pPr lvl="1"/>
            <a:r>
              <a:rPr lang="en-US" dirty="0"/>
              <a:t>Real scenarios can have thousands or millions (image, language, genetics…)</a:t>
            </a:r>
          </a:p>
          <a:p>
            <a:r>
              <a:rPr lang="en-US" dirty="0"/>
              <a:t>The more X inputs we have (assuming relevance), the higher our ceiling is.</a:t>
            </a:r>
          </a:p>
          <a:p>
            <a:pPr lvl="1"/>
            <a:r>
              <a:rPr lang="en-US" dirty="0"/>
              <a:t>We can capture more of the SST into the model. </a:t>
            </a:r>
          </a:p>
          <a:p>
            <a:r>
              <a:rPr lang="en-US" dirty="0"/>
              <a:t>For us, not all that much changes:</a:t>
            </a:r>
          </a:p>
          <a:p>
            <a:pPr lvl="1"/>
            <a:r>
              <a:rPr lang="en-US" dirty="0"/>
              <a:t>Data is prepared and shaped the same, X is just wider. </a:t>
            </a:r>
          </a:p>
          <a:p>
            <a:pPr lvl="1"/>
            <a:r>
              <a:rPr lang="en-US" dirty="0"/>
              <a:t>Sklearn will handle the details for us. </a:t>
            </a:r>
          </a:p>
          <a:p>
            <a:r>
              <a:rPr lang="en-US" dirty="0"/>
              <a:t>We often call the x values features, and the y value the target. </a:t>
            </a:r>
          </a:p>
        </p:txBody>
      </p:sp>
    </p:spTree>
    <p:extLst>
      <p:ext uri="{BB962C8B-B14F-4D97-AF65-F5344CB8AC3E}">
        <p14:creationId xmlns:p14="http://schemas.microsoft.com/office/powerpoint/2010/main" val="562453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AC41-7560-550A-22C7-25D1F8698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going on in Multiple Regression?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B1097-754F-68CB-361F-23574EA1D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9975" y="2015732"/>
            <a:ext cx="4341256" cy="3836773"/>
          </a:xfrm>
        </p:spPr>
        <p:txBody>
          <a:bodyPr/>
          <a:lstStyle/>
          <a:p>
            <a:r>
              <a:rPr lang="en-US" dirty="0"/>
              <a:t>The concepts are identical to 1 X. </a:t>
            </a:r>
          </a:p>
          <a:p>
            <a:pPr lvl="1"/>
            <a:r>
              <a:rPr lang="en-US" dirty="0"/>
              <a:t>We are still predicting Y. </a:t>
            </a:r>
          </a:p>
          <a:p>
            <a:pPr lvl="1"/>
            <a:r>
              <a:rPr lang="en-US" dirty="0"/>
              <a:t>The line becomes a plane. </a:t>
            </a:r>
          </a:p>
          <a:p>
            <a:pPr lvl="1"/>
            <a:r>
              <a:rPr lang="en-US" dirty="0"/>
              <a:t>The equation gains a term. </a:t>
            </a:r>
          </a:p>
          <a:p>
            <a:r>
              <a:rPr lang="en-US" dirty="0"/>
              <a:t>This extends to N dimensions. </a:t>
            </a:r>
          </a:p>
          <a:p>
            <a:r>
              <a:rPr lang="en-US" dirty="0"/>
              <a:t>The higher dimension, the more complex a thing we can predict. </a:t>
            </a:r>
          </a:p>
          <a:p>
            <a:r>
              <a:rPr lang="en-US" dirty="0"/>
              <a:t>We can see why outliers can hurt!</a:t>
            </a:r>
          </a:p>
        </p:txBody>
      </p:sp>
      <p:pic>
        <p:nvPicPr>
          <p:cNvPr id="7170" name="Picture 2" descr="The regression model in a 3D space. A multi-variable regression model... |  Download Scientific Diagram">
            <a:extLst>
              <a:ext uri="{FF2B5EF4-FFF2-40B4-BE49-F238E27FC236}">
                <a16:creationId xmlns:a16="http://schemas.microsoft.com/office/drawing/2014/main" id="{9402E54C-1A01-3FE9-0EC1-8CCB8291C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69" y="2015732"/>
            <a:ext cx="7549206" cy="3836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446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0C123-02E6-FE33-9E1E-DF50EB9A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BEBED-8085-1448-7245-38595630A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027193" cy="4037749"/>
          </a:xfrm>
        </p:spPr>
        <p:txBody>
          <a:bodyPr/>
          <a:lstStyle/>
          <a:p>
            <a:r>
              <a:rPr lang="en-US" dirty="0"/>
              <a:t>In code very little needs to change. </a:t>
            </a:r>
          </a:p>
          <a:p>
            <a:pPr lvl="1"/>
            <a:r>
              <a:rPr lang="en-US" dirty="0"/>
              <a:t>If we did it with 1 x, this is just wider. </a:t>
            </a:r>
          </a:p>
          <a:p>
            <a:r>
              <a:rPr lang="en-US" dirty="0"/>
              <a:t>The general process is identical. </a:t>
            </a:r>
          </a:p>
          <a:p>
            <a:pPr lvl="1"/>
            <a:r>
              <a:rPr lang="en-US" dirty="0"/>
              <a:t>Exact steps that we need to do to process and prepare the data may change. </a:t>
            </a:r>
          </a:p>
          <a:p>
            <a:pPr lvl="1"/>
            <a:r>
              <a:rPr lang="en-US" dirty="0"/>
              <a:t>Number of features could be ~unlimited. </a:t>
            </a:r>
          </a:p>
          <a:p>
            <a:endParaRPr lang="en-US" dirty="0"/>
          </a:p>
        </p:txBody>
      </p:sp>
      <p:pic>
        <p:nvPicPr>
          <p:cNvPr id="12290" name="Picture 2" descr="Introducing Scikit-Learn | Python Data Science Handbook">
            <a:extLst>
              <a:ext uri="{FF2B5EF4-FFF2-40B4-BE49-F238E27FC236}">
                <a16:creationId xmlns:a16="http://schemas.microsoft.com/office/drawing/2014/main" id="{526F1CF6-BBBD-CF2A-CADD-6E071E2B9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772" y="2015732"/>
            <a:ext cx="54864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9658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9012-918F-588C-D2B8-22CCF0829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Regression Magic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7C95A-B432-EB5A-BAB2-9680ACB61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363" y="1853755"/>
            <a:ext cx="5933854" cy="4199726"/>
          </a:xfrm>
        </p:spPr>
        <p:txBody>
          <a:bodyPr/>
          <a:lstStyle/>
          <a:p>
            <a:r>
              <a:rPr lang="en-US" dirty="0"/>
              <a:t>Simple regression models let us see the logic. </a:t>
            </a:r>
          </a:p>
          <a:p>
            <a:pPr lvl="1"/>
            <a:r>
              <a:rPr lang="en-US" dirty="0"/>
              <a:t>This often isn’t possible with the models we use later. </a:t>
            </a:r>
          </a:p>
          <a:p>
            <a:r>
              <a:rPr lang="en-US" dirty="0"/>
              <a:t>Prediction for Y is just a weighted combination of X. </a:t>
            </a:r>
          </a:p>
          <a:p>
            <a:pPr lvl="1"/>
            <a:r>
              <a:rPr lang="en-US" dirty="0"/>
              <a:t>The machine learns what those should be. (LLS)</a:t>
            </a:r>
          </a:p>
          <a:p>
            <a:pPr lvl="1"/>
            <a:r>
              <a:rPr lang="en-US" dirty="0"/>
              <a:t>The combo yields the least SSE possible (best fit). </a:t>
            </a:r>
          </a:p>
          <a:p>
            <a:pPr lvl="1"/>
            <a:r>
              <a:rPr lang="en-US" dirty="0"/>
              <a:t>Each parameter controls weight of input. </a:t>
            </a:r>
          </a:p>
          <a:p>
            <a:pPr lvl="1"/>
            <a:r>
              <a:rPr lang="en-US" dirty="0"/>
              <a:t>Intercept shifts entire thing up/down. </a:t>
            </a:r>
          </a:p>
          <a:p>
            <a:r>
              <a:rPr lang="en-US" dirty="0"/>
              <a:t>Based on these inputs, what’s the most accurate combination to predict y? </a:t>
            </a:r>
          </a:p>
          <a:p>
            <a:pPr lvl="1"/>
            <a:endParaRPr lang="en-US" dirty="0"/>
          </a:p>
        </p:txBody>
      </p:sp>
      <p:pic>
        <p:nvPicPr>
          <p:cNvPr id="8194" name="Picture 2" descr="Tutorial: Understanding Linear Regression and Regression Error Metrics">
            <a:extLst>
              <a:ext uri="{FF2B5EF4-FFF2-40B4-BE49-F238E27FC236}">
                <a16:creationId xmlns:a16="http://schemas.microsoft.com/office/drawing/2014/main" id="{A12E9564-4B9A-C1C1-3B86-0983F4E16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216" y="2015732"/>
            <a:ext cx="5933854" cy="3540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698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2141-30A2-DEEE-B454-ACA79776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Multicollinearity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3A950-E4DA-B5FF-F7D1-356F30674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9708" y="2015732"/>
            <a:ext cx="6285146" cy="3959766"/>
          </a:xfrm>
        </p:spPr>
        <p:txBody>
          <a:bodyPr/>
          <a:lstStyle/>
          <a:p>
            <a:r>
              <a:rPr lang="en-US" dirty="0"/>
              <a:t>If we have many relevant X inputs, our prediction for Y can be quite accurate. </a:t>
            </a:r>
          </a:p>
          <a:p>
            <a:pPr lvl="1"/>
            <a:r>
              <a:rPr lang="en-US" dirty="0"/>
              <a:t>Model can take in many relevant factors and weight each appropriately. </a:t>
            </a:r>
          </a:p>
          <a:p>
            <a:r>
              <a:rPr lang="en-US" dirty="0"/>
              <a:t>What if we want to tune our model - make it more accurate or efficient?</a:t>
            </a:r>
          </a:p>
          <a:p>
            <a:pPr lvl="1"/>
            <a:r>
              <a:rPr lang="en-US" dirty="0"/>
              <a:t>(We’ll do this commonly later for accuracy.) </a:t>
            </a:r>
          </a:p>
          <a:p>
            <a:pPr lvl="1"/>
            <a:r>
              <a:rPr lang="en-US" dirty="0"/>
              <a:t>We may have many X inputs, but perhaps not all are needed…</a:t>
            </a:r>
          </a:p>
        </p:txBody>
      </p:sp>
      <p:pic>
        <p:nvPicPr>
          <p:cNvPr id="4" name="Picture 3" descr="The Ballentine view of multicollinearity Muhammad Ali, PhD Scholar... |  Download Scientific Diagram">
            <a:extLst>
              <a:ext uri="{FF2B5EF4-FFF2-40B4-BE49-F238E27FC236}">
                <a16:creationId xmlns:a16="http://schemas.microsoft.com/office/drawing/2014/main" id="{2F6C1E6A-6F33-F415-7271-09FE93A48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96" y="1853754"/>
            <a:ext cx="4526812" cy="412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87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DED4-C114-4F97-9896-A75AAFF43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Medical Screening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17539-74A2-9EE4-4F88-43AAE9778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/>
          <a:lstStyle/>
          <a:p>
            <a:r>
              <a:rPr lang="en-US" dirty="0"/>
              <a:t>Suppose we have a model predicting bodyfat percentage for patients. </a:t>
            </a:r>
          </a:p>
          <a:p>
            <a:pPr lvl="1"/>
            <a:r>
              <a:rPr lang="en-US" dirty="0"/>
              <a:t>Measuring bodyfat is slow and expensive for large numbers of people. </a:t>
            </a:r>
          </a:p>
          <a:p>
            <a:pPr lvl="1"/>
            <a:r>
              <a:rPr lang="en-US" dirty="0"/>
              <a:t>It can be important for forecasting health outcomes. </a:t>
            </a:r>
          </a:p>
          <a:p>
            <a:r>
              <a:rPr lang="en-US" dirty="0"/>
              <a:t>Several other metrics can tell us about bodyfat percentage, partially. </a:t>
            </a:r>
          </a:p>
          <a:p>
            <a:pPr lvl="1"/>
            <a:r>
              <a:rPr lang="en-US" dirty="0"/>
              <a:t>Weight, height, waist size, thigh size, calf size, hip size, chest size…</a:t>
            </a:r>
          </a:p>
          <a:p>
            <a:pPr lvl="1"/>
            <a:r>
              <a:rPr lang="en-US" dirty="0"/>
              <a:t>These are all easier and faster to take and log. </a:t>
            </a:r>
          </a:p>
          <a:p>
            <a:r>
              <a:rPr lang="en-US" dirty="0"/>
              <a:t>Each of these metrics give us some information about bf%. </a:t>
            </a:r>
          </a:p>
          <a:p>
            <a:pPr lvl="1"/>
            <a:r>
              <a:rPr lang="en-US" dirty="0"/>
              <a:t>There’s a lot of overlap in the information given. </a:t>
            </a:r>
          </a:p>
          <a:p>
            <a:pPr lvl="1"/>
            <a:r>
              <a:rPr lang="en-US" dirty="0"/>
              <a:t>Waist size, hip size, thigh size aren’t the same, but they tend to tell us almost the same info.</a:t>
            </a:r>
          </a:p>
        </p:txBody>
      </p:sp>
    </p:spTree>
    <p:extLst>
      <p:ext uri="{BB962C8B-B14F-4D97-AF65-F5344CB8AC3E}">
        <p14:creationId xmlns:p14="http://schemas.microsoft.com/office/powerpoint/2010/main" val="1427320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AAB49-4FDA-9A61-7F67-D0C578188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Information from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843E9-B92B-CD06-5580-1A8B9EB76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291865"/>
          </a:xfrm>
        </p:spPr>
        <p:txBody>
          <a:bodyPr/>
          <a:lstStyle/>
          <a:p>
            <a:r>
              <a:rPr lang="en-US" dirty="0"/>
              <a:t>This is easier if we can think of “information” that a variable holds as separate from itself.</a:t>
            </a:r>
          </a:p>
          <a:p>
            <a:pPr lvl="1"/>
            <a:r>
              <a:rPr lang="en-US" dirty="0"/>
              <a:t>E.g. knee size, ankle size, thigh size, calf size, </a:t>
            </a:r>
            <a:r>
              <a:rPr lang="en-US" dirty="0" err="1"/>
              <a:t>etc</a:t>
            </a:r>
            <a:r>
              <a:rPr lang="en-US" dirty="0"/>
              <a:t>… all give info on “size of leg”. </a:t>
            </a:r>
          </a:p>
          <a:p>
            <a:r>
              <a:rPr lang="en-US" dirty="0"/>
              <a:t>The “piece of info” isn’t necessarily a directly observable thing. </a:t>
            </a:r>
          </a:p>
          <a:p>
            <a:pPr lvl="1"/>
            <a:r>
              <a:rPr lang="en-US" dirty="0"/>
              <a:t>The info is what the model actually needs to make accurate predictions. </a:t>
            </a:r>
          </a:p>
          <a:p>
            <a:r>
              <a:rPr lang="en-US" dirty="0"/>
              <a:t>Ideally, we’d have one variable for each “piece of info”. </a:t>
            </a:r>
          </a:p>
          <a:p>
            <a:r>
              <a:rPr lang="en-US" dirty="0"/>
              <a:t>If we want to tune a model, we’d adjust the parameters (weight of inputs). </a:t>
            </a:r>
          </a:p>
          <a:p>
            <a:pPr lvl="1"/>
            <a:r>
              <a:rPr lang="en-US" dirty="0"/>
              <a:t>Suppose ”leg size” is something that determines weight, and we have the above features. </a:t>
            </a:r>
          </a:p>
          <a:p>
            <a:pPr lvl="1"/>
            <a:r>
              <a:rPr lang="en-US" dirty="0"/>
              <a:t>How would a model know where the “leg size” info is coming from? </a:t>
            </a:r>
          </a:p>
          <a:p>
            <a:r>
              <a:rPr lang="en-US" dirty="0"/>
              <a:t>*Note: The tuning process will be more clear in a couple of weeks.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668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CCE9F-899C-DC97-92C7-EBA7069C9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What’s the Problem?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EC346-AE6F-4717-1ED0-F90F86613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If we have X values that are largely the same we call that multicollinearity. </a:t>
            </a:r>
          </a:p>
          <a:p>
            <a:pPr lvl="1"/>
            <a:r>
              <a:rPr lang="en-US" dirty="0"/>
              <a:t>I.e. several things are highly correlated with each other. </a:t>
            </a:r>
          </a:p>
          <a:p>
            <a:r>
              <a:rPr lang="en-US" dirty="0"/>
              <a:t>This isn’t fatal, but can give us some issues. </a:t>
            </a:r>
          </a:p>
          <a:p>
            <a:pPr lvl="1"/>
            <a:r>
              <a:rPr lang="en-US" dirty="0"/>
              <a:t>If multiple inputs have the same info, the model can’t figure out how to weight each. </a:t>
            </a:r>
          </a:p>
          <a:p>
            <a:pPr lvl="1"/>
            <a:r>
              <a:rPr lang="en-US" dirty="0"/>
              <a:t>The assumption is inputs are orthogonal, they have nothing to do with each other. </a:t>
            </a:r>
          </a:p>
          <a:p>
            <a:pPr lvl="1"/>
            <a:r>
              <a:rPr lang="en-US" dirty="0"/>
              <a:t>A model can’t be sure how to change coefficients as several are almost the same. </a:t>
            </a:r>
          </a:p>
          <a:p>
            <a:pPr lvl="1"/>
            <a:r>
              <a:rPr lang="en-US" dirty="0"/>
              <a:t>The learning can be hard (not with LLS) and can swing with small changes. </a:t>
            </a:r>
          </a:p>
          <a:p>
            <a:r>
              <a:rPr lang="en-US" dirty="0"/>
              <a:t>Ideally, we want each thing measured exactly once. </a:t>
            </a:r>
          </a:p>
        </p:txBody>
      </p:sp>
      <p:pic>
        <p:nvPicPr>
          <p:cNvPr id="4" name="Picture 2" descr="The regression model in a 3D space. A multi-variable regression model... |  Download Scientific Diagram">
            <a:extLst>
              <a:ext uri="{FF2B5EF4-FFF2-40B4-BE49-F238E27FC236}">
                <a16:creationId xmlns:a16="http://schemas.microsoft.com/office/drawing/2014/main" id="{F81911F5-536D-B1B7-23C0-DAE0A5792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459" y="1"/>
            <a:ext cx="4003590" cy="2034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301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EE54B-EBCF-BAFF-A500-7895B3D30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Business-y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565AD-BC48-AC50-D088-40E45C1A3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4291864"/>
          </a:xfrm>
        </p:spPr>
        <p:txBody>
          <a:bodyPr/>
          <a:lstStyle/>
          <a:p>
            <a:r>
              <a:rPr lang="en-US" dirty="0"/>
              <a:t>We have a model that predicts the success of our convenience stores. </a:t>
            </a:r>
          </a:p>
          <a:p>
            <a:r>
              <a:rPr lang="en-US" dirty="0"/>
              <a:t>Several things matter for a store’s success:</a:t>
            </a:r>
          </a:p>
          <a:p>
            <a:pPr lvl="1"/>
            <a:r>
              <a:rPr lang="en-US" dirty="0"/>
              <a:t>Location, pricing, customer satisfaction, product mix,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Each of these can be measured, but not directly, e.g. location:</a:t>
            </a:r>
          </a:p>
          <a:p>
            <a:pPr lvl="1"/>
            <a:r>
              <a:rPr lang="en-US" dirty="0"/>
              <a:t>There’s no direct measurement for “location goodness”, but it clearly matters. </a:t>
            </a:r>
          </a:p>
          <a:p>
            <a:pPr lvl="1"/>
            <a:r>
              <a:rPr lang="en-US" dirty="0"/>
              <a:t>What features measure this? Distance to transit/highway/apartment/intersection. </a:t>
            </a:r>
          </a:p>
          <a:p>
            <a:pPr lvl="1"/>
            <a:r>
              <a:rPr lang="en-US" dirty="0"/>
              <a:t>Foot traffic, car traffic, “ease of access”, population, visibility of store, sign placement,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Each feature overlaps in what it contributes – e.g. foot traffic, transit, population density.</a:t>
            </a:r>
          </a:p>
          <a:p>
            <a:pPr lvl="1"/>
            <a:r>
              <a:rPr lang="en-US" dirty="0"/>
              <a:t>If all three tell us something about “people walking around”, how do we know what matters?</a:t>
            </a:r>
          </a:p>
          <a:p>
            <a:pPr lvl="1"/>
            <a:r>
              <a:rPr lang="en-US" dirty="0"/>
              <a:t>If people walking around is important, what do we weight more? </a:t>
            </a:r>
          </a:p>
        </p:txBody>
      </p:sp>
    </p:spTree>
    <p:extLst>
      <p:ext uri="{BB962C8B-B14F-4D97-AF65-F5344CB8AC3E}">
        <p14:creationId xmlns:p14="http://schemas.microsoft.com/office/powerpoint/2010/main" val="990605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71A9E-7C47-6840-50F2-A56D39E21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M.C.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4270B-997D-BDDB-0CA6-DA8827327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5758"/>
            <a:ext cx="10254868" cy="4107723"/>
          </a:xfrm>
        </p:spPr>
        <p:txBody>
          <a:bodyPr>
            <a:normAutofit/>
          </a:bodyPr>
          <a:lstStyle/>
          <a:p>
            <a:r>
              <a:rPr lang="en-US" dirty="0"/>
              <a:t>Having some </a:t>
            </a:r>
            <a:r>
              <a:rPr lang="en-US" dirty="0" err="1"/>
              <a:t>m.c.</a:t>
            </a:r>
            <a:r>
              <a:rPr lang="en-US" dirty="0"/>
              <a:t> won’t break things on its own. </a:t>
            </a:r>
          </a:p>
          <a:p>
            <a:r>
              <a:rPr lang="en-US" dirty="0"/>
              <a:t>In high-dimensional (many X) models, training may be slow or not converge. </a:t>
            </a:r>
          </a:p>
          <a:p>
            <a:r>
              <a:rPr lang="en-US" dirty="0"/>
              <a:t>In cases like our linear regression, we can’t know which inputs matter. </a:t>
            </a:r>
          </a:p>
          <a:p>
            <a:pPr lvl="1"/>
            <a:r>
              <a:rPr lang="en-US" dirty="0"/>
              <a:t>Our first tuning step can be to remove, so model can fit accurately. </a:t>
            </a:r>
          </a:p>
          <a:p>
            <a:pPr lvl="1"/>
            <a:r>
              <a:rPr lang="en-US" dirty="0"/>
              <a:t>The model is trying to weight importance, if the same thing comes from many sources, that’s hard. </a:t>
            </a:r>
          </a:p>
          <a:p>
            <a:r>
              <a:rPr lang="en-US" dirty="0"/>
              <a:t>Generally, the simpler the model, the better. </a:t>
            </a:r>
          </a:p>
          <a:p>
            <a:pPr lvl="1"/>
            <a:r>
              <a:rPr lang="en-US" dirty="0"/>
              <a:t>Similar performance with fewer inputs is cheaper. </a:t>
            </a:r>
          </a:p>
          <a:p>
            <a:pPr lvl="1"/>
            <a:r>
              <a:rPr lang="en-US" dirty="0"/>
              <a:t>In the bf% example, we literally need less work and tools. </a:t>
            </a:r>
          </a:p>
          <a:p>
            <a:pPr lvl="1"/>
            <a:r>
              <a:rPr lang="en-US" dirty="0"/>
              <a:t>Other whys and </a:t>
            </a:r>
            <a:r>
              <a:rPr lang="en-US" dirty="0" err="1"/>
              <a:t>hows</a:t>
            </a:r>
            <a:r>
              <a:rPr lang="en-US" dirty="0"/>
              <a:t> to come later. </a:t>
            </a:r>
          </a:p>
        </p:txBody>
      </p:sp>
    </p:spTree>
    <p:extLst>
      <p:ext uri="{BB962C8B-B14F-4D97-AF65-F5344CB8AC3E}">
        <p14:creationId xmlns:p14="http://schemas.microsoft.com/office/powerpoint/2010/main" val="2220712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D3E1-85EC-DFC3-D236-AE8FBAA7F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</a:t>
            </a:r>
            <a:r>
              <a:rPr lang="en-US" dirty="0" err="1"/>
              <a:t>M.c.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D077B-E87A-1B58-2E36-FE87921AC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158" y="2015732"/>
            <a:ext cx="4742380" cy="3450613"/>
          </a:xfrm>
        </p:spPr>
        <p:txBody>
          <a:bodyPr/>
          <a:lstStyle/>
          <a:p>
            <a:r>
              <a:rPr lang="en-US" dirty="0"/>
              <a:t>We can usually spot it in a </a:t>
            </a:r>
            <a:r>
              <a:rPr lang="en-US" dirty="0" err="1"/>
              <a:t>pairplot</a:t>
            </a:r>
            <a:r>
              <a:rPr lang="en-US" dirty="0"/>
              <a:t>. </a:t>
            </a:r>
          </a:p>
          <a:p>
            <a:r>
              <a:rPr lang="en-US" dirty="0"/>
              <a:t>Pairs of variables that appear highly correlated. </a:t>
            </a:r>
          </a:p>
        </p:txBody>
      </p:sp>
      <p:pic>
        <p:nvPicPr>
          <p:cNvPr id="10242" name="Picture 2" descr="3 Ways To Detect Multicollinearity &amp; Reasons Why To Expect It | by M.  Hammad Hassan | Medium">
            <a:extLst>
              <a:ext uri="{FF2B5EF4-FFF2-40B4-BE49-F238E27FC236}">
                <a16:creationId xmlns:a16="http://schemas.microsoft.com/office/drawing/2014/main" id="{5C097F58-9604-5F4C-187F-B53F3D156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537" y="0"/>
            <a:ext cx="68754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730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9C6C2-A154-8825-FDBB-D88C4FC1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M.C.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7369B-0495-86E7-C547-0997A874E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We can also calculate a metric called the VIF – variable inflation factor. </a:t>
            </a:r>
          </a:p>
          <a:p>
            <a:r>
              <a:rPr lang="en-US" dirty="0"/>
              <a:t>VIF measures how much of this variable’s info is explained by others. </a:t>
            </a:r>
          </a:p>
          <a:p>
            <a:pPr lvl="1"/>
            <a:r>
              <a:rPr lang="en-US" dirty="0"/>
              <a:t>We get a value for each input variable. </a:t>
            </a:r>
          </a:p>
          <a:p>
            <a:pPr lvl="1"/>
            <a:r>
              <a:rPr lang="en-US" dirty="0"/>
              <a:t>1 means there is no multicollinearity. </a:t>
            </a:r>
          </a:p>
          <a:p>
            <a:pPr lvl="1"/>
            <a:r>
              <a:rPr lang="en-US" dirty="0"/>
              <a:t>Over about 10 are ones that require real investigation. </a:t>
            </a:r>
          </a:p>
          <a:p>
            <a:r>
              <a:rPr lang="en-US" dirty="0"/>
              <a:t>We can remove redundant ones with the help of the p values. </a:t>
            </a:r>
          </a:p>
          <a:p>
            <a:pPr lvl="1"/>
            <a:r>
              <a:rPr lang="en-US" dirty="0" err="1"/>
              <a:t>Statsmodels</a:t>
            </a:r>
            <a:r>
              <a:rPr lang="en-US" dirty="0"/>
              <a:t> will give us per variable p-values. </a:t>
            </a:r>
          </a:p>
          <a:p>
            <a:pPr lvl="1"/>
            <a:r>
              <a:rPr lang="en-US" dirty="0"/>
              <a:t>NH – this feature does not matter (m=0), what is the prob of seeing results this large. </a:t>
            </a:r>
          </a:p>
          <a:p>
            <a:pPr lvl="1"/>
            <a:r>
              <a:rPr lang="en-US" dirty="0"/>
              <a:t>Be aware, there can be odd swings when </a:t>
            </a:r>
            <a:r>
              <a:rPr lang="en-US" dirty="0" err="1"/>
              <a:t>m.c.</a:t>
            </a:r>
            <a:r>
              <a:rPr lang="en-US" dirty="0"/>
              <a:t> is there – model can’t weight properly. </a:t>
            </a:r>
          </a:p>
        </p:txBody>
      </p:sp>
      <p:pic>
        <p:nvPicPr>
          <p:cNvPr id="11266" name="Picture 2" descr="Variance Inflation Factor (VIF). We have always heard about… | by Saurabh  Gupta | Analytics Vidhya | Medium">
            <a:extLst>
              <a:ext uri="{FF2B5EF4-FFF2-40B4-BE49-F238E27FC236}">
                <a16:creationId xmlns:a16="http://schemas.microsoft.com/office/drawing/2014/main" id="{5A08ABD7-9778-8F5C-69F3-0F2BE4220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106" y="2961900"/>
            <a:ext cx="3600893" cy="1870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897E0E-5BAD-7D17-1E79-0C36FB87B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060" y="-8357"/>
            <a:ext cx="5248939" cy="183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27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B7B93-741F-751B-B5F9-E27762CAD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Multicollinearity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24B8C-3C93-10B9-E249-DA76197B6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can do an iterative process to deal with </a:t>
            </a:r>
            <a:r>
              <a:rPr lang="en-US" dirty="0" err="1"/>
              <a:t>m.c.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Run the VIF values. </a:t>
            </a:r>
          </a:p>
          <a:p>
            <a:pPr lvl="1"/>
            <a:r>
              <a:rPr lang="en-US" dirty="0"/>
              <a:t>Run a model via </a:t>
            </a:r>
            <a:r>
              <a:rPr lang="en-US" dirty="0" err="1"/>
              <a:t>statsmodels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Remove some variables based on VIF, p-value, and domain knowledge (i.e. which measures actually overlap in real life.)</a:t>
            </a:r>
          </a:p>
          <a:p>
            <a:pPr lvl="1"/>
            <a:r>
              <a:rPr lang="en-US" dirty="0"/>
              <a:t>Repeat as needed. </a:t>
            </a:r>
          </a:p>
          <a:p>
            <a:r>
              <a:rPr lang="en-US" dirty="0"/>
              <a:t>Tuning a model is largely a judgment call, don’t obsess over where to draw line now. </a:t>
            </a:r>
          </a:p>
          <a:p>
            <a:pPr lvl="1"/>
            <a:r>
              <a:rPr lang="en-US" dirty="0"/>
              <a:t>No high p-values is a good rule of thumb for now. </a:t>
            </a:r>
          </a:p>
        </p:txBody>
      </p:sp>
    </p:spTree>
    <p:extLst>
      <p:ext uri="{BB962C8B-B14F-4D97-AF65-F5344CB8AC3E}">
        <p14:creationId xmlns:p14="http://schemas.microsoft.com/office/powerpoint/2010/main" val="3320482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79DB-FA27-0B61-6BD7-E48DD2765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R2 and Multiple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0E5D9-4ECB-3A34-3356-7F1C8EA97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can measure the ‘completeness’ of our model with R2. </a:t>
            </a:r>
          </a:p>
          <a:p>
            <a:pPr lvl="1"/>
            <a:r>
              <a:rPr lang="en-US" dirty="0"/>
              <a:t>How much of the variance of Y do we capture, and how much do we miss? </a:t>
            </a:r>
          </a:p>
          <a:p>
            <a:pPr lvl="1"/>
            <a:r>
              <a:rPr lang="en-US" dirty="0"/>
              <a:t>Default score is easy to use and compare to others. </a:t>
            </a:r>
          </a:p>
          <a:p>
            <a:r>
              <a:rPr lang="en-US" dirty="0"/>
              <a:t>We can build a more complete model by adding inputs to X. </a:t>
            </a:r>
          </a:p>
          <a:p>
            <a:pPr lvl="1"/>
            <a:r>
              <a:rPr lang="en-US" dirty="0"/>
              <a:t>Most things are determined by many factors. </a:t>
            </a:r>
          </a:p>
          <a:p>
            <a:pPr lvl="1"/>
            <a:r>
              <a:rPr lang="en-US" dirty="0"/>
              <a:t>Little changes, other than it becomes harder to visualize and do by hand. </a:t>
            </a:r>
          </a:p>
        </p:txBody>
      </p:sp>
    </p:spTree>
    <p:extLst>
      <p:ext uri="{BB962C8B-B14F-4D97-AF65-F5344CB8AC3E}">
        <p14:creationId xmlns:p14="http://schemas.microsoft.com/office/powerpoint/2010/main" val="22543032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6A0E-3B86-BD5A-B164-A9353F4D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the Stats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34AB-87B6-8BCB-5980-B03E4DBA1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7" y="1853754"/>
            <a:ext cx="10229058" cy="4199727"/>
          </a:xfrm>
        </p:spPr>
        <p:txBody>
          <a:bodyPr/>
          <a:lstStyle/>
          <a:p>
            <a:r>
              <a:rPr lang="en-US" dirty="0"/>
              <a:t>The first way that we’ll directly use the stats in ML is EDA – exploratory data analysis. </a:t>
            </a:r>
          </a:p>
          <a:p>
            <a:r>
              <a:rPr lang="en-US" dirty="0"/>
              <a:t>This is both art and science, there isn’t a specific set of steps. </a:t>
            </a:r>
          </a:p>
          <a:p>
            <a:r>
              <a:rPr lang="en-US" dirty="0"/>
              <a:t>We do EDA up front to basically look for stuff in our data that may matter. </a:t>
            </a:r>
          </a:p>
          <a:p>
            <a:pPr lvl="1"/>
            <a:r>
              <a:rPr lang="en-US" dirty="0"/>
              <a:t>Missing values. </a:t>
            </a:r>
          </a:p>
          <a:p>
            <a:pPr lvl="1"/>
            <a:r>
              <a:rPr lang="en-US" dirty="0"/>
              <a:t>Outliers. </a:t>
            </a:r>
          </a:p>
          <a:p>
            <a:pPr lvl="1"/>
            <a:r>
              <a:rPr lang="en-US" dirty="0"/>
              <a:t>Errors. </a:t>
            </a:r>
          </a:p>
          <a:p>
            <a:pPr lvl="1"/>
            <a:r>
              <a:rPr lang="en-US" dirty="0"/>
              <a:t>Patterns in data – numeric that is categorical, odd distributions, correlation,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Things that don’t vary. </a:t>
            </a:r>
          </a:p>
          <a:p>
            <a:r>
              <a:rPr lang="en-US" dirty="0"/>
              <a:t>Exactly what we are looking for varies, generally anything that may impact model accuracy. </a:t>
            </a:r>
          </a:p>
        </p:txBody>
      </p:sp>
    </p:spTree>
    <p:extLst>
      <p:ext uri="{BB962C8B-B14F-4D97-AF65-F5344CB8AC3E}">
        <p14:creationId xmlns:p14="http://schemas.microsoft.com/office/powerpoint/2010/main" val="681943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C0882-D407-8B64-8F0A-A2FCB1DD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F816F-240E-8E75-9E3E-BE8153876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5126"/>
            <a:ext cx="9603275" cy="4118355"/>
          </a:xfrm>
        </p:spPr>
        <p:txBody>
          <a:bodyPr/>
          <a:lstStyle/>
          <a:p>
            <a:r>
              <a:rPr lang="en-US" dirty="0"/>
              <a:t>Doing EDA is something that will feel more natural with time. </a:t>
            </a:r>
          </a:p>
          <a:p>
            <a:r>
              <a:rPr lang="en-US" dirty="0"/>
              <a:t>We generally want to look graphically and arithmetically. </a:t>
            </a:r>
          </a:p>
          <a:p>
            <a:pPr lvl="1"/>
            <a:r>
              <a:rPr lang="en-US" dirty="0"/>
              <a:t>Info, describe, and head/sample can give us a look at the stats. </a:t>
            </a:r>
          </a:p>
          <a:p>
            <a:pPr lvl="1"/>
            <a:r>
              <a:rPr lang="en-US" dirty="0" err="1"/>
              <a:t>Pairplot</a:t>
            </a:r>
            <a:r>
              <a:rPr lang="en-US" dirty="0"/>
              <a:t>, box plot, count plot can give us a visual look. </a:t>
            </a:r>
          </a:p>
          <a:p>
            <a:r>
              <a:rPr lang="en-US" dirty="0"/>
              <a:t>Usually need to do some iteration. </a:t>
            </a:r>
          </a:p>
          <a:p>
            <a:pPr lvl="1"/>
            <a:r>
              <a:rPr lang="en-US" dirty="0"/>
              <a:t>Clean something you notice, e.g. outliers. </a:t>
            </a:r>
          </a:p>
          <a:p>
            <a:pPr lvl="1"/>
            <a:r>
              <a:rPr lang="en-US" dirty="0"/>
              <a:t>Check again to see how the data looks. </a:t>
            </a:r>
          </a:p>
        </p:txBody>
      </p:sp>
    </p:spTree>
    <p:extLst>
      <p:ext uri="{BB962C8B-B14F-4D97-AF65-F5344CB8AC3E}">
        <p14:creationId xmlns:p14="http://schemas.microsoft.com/office/powerpoint/2010/main" val="32576568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7EF8-E39C-2C99-C847-C9C851B0D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Nothing of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7CA20-2F49-6A82-8DAB-B37C4A40A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01" y="2015732"/>
            <a:ext cx="5830216" cy="3450613"/>
          </a:xfrm>
        </p:spPr>
        <p:txBody>
          <a:bodyPr/>
          <a:lstStyle/>
          <a:p>
            <a:r>
              <a:rPr lang="en-US" dirty="0"/>
              <a:t>This is some data with nothing obvious to address.</a:t>
            </a:r>
          </a:p>
          <a:p>
            <a:pPr lvl="1"/>
            <a:r>
              <a:rPr lang="en-US" dirty="0"/>
              <a:t>No odd patterns. </a:t>
            </a:r>
          </a:p>
          <a:p>
            <a:pPr lvl="1"/>
            <a:r>
              <a:rPr lang="en-US" dirty="0"/>
              <a:t>No clear outliers.  </a:t>
            </a:r>
          </a:p>
          <a:p>
            <a:pPr lvl="1"/>
            <a:r>
              <a:rPr lang="en-US" dirty="0"/>
              <a:t>Variables seem to have a ‘normal’ amount of variance. </a:t>
            </a:r>
          </a:p>
          <a:p>
            <a:r>
              <a:rPr lang="en-US" dirty="0"/>
              <a:t>This data is ready to be used by a model. </a:t>
            </a:r>
          </a:p>
        </p:txBody>
      </p:sp>
      <p:pic>
        <p:nvPicPr>
          <p:cNvPr id="2050" name="Picture 2" descr="Dramatically Improve Your Exploratory Data Analysis (EDA) | Towards Data  Science">
            <a:extLst>
              <a:ext uri="{FF2B5EF4-FFF2-40B4-BE49-F238E27FC236}">
                <a16:creationId xmlns:a16="http://schemas.microsoft.com/office/drawing/2014/main" id="{62C6B302-3011-29D1-D3F3-EDB4D3F80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216" y="1532238"/>
            <a:ext cx="5830217" cy="4707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4201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6F2B0-E9E8-6ECD-010A-951DCE13A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Weird!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974AF-233E-0DB4-053E-917DB605B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9278" y="2015732"/>
            <a:ext cx="3522721" cy="4119254"/>
          </a:xfrm>
        </p:spPr>
        <p:txBody>
          <a:bodyPr/>
          <a:lstStyle/>
          <a:p>
            <a:r>
              <a:rPr lang="en-US" dirty="0"/>
              <a:t>This dataset shows a clear separation of one class from the other two. </a:t>
            </a:r>
          </a:p>
          <a:p>
            <a:r>
              <a:rPr lang="en-US" dirty="0"/>
              <a:t>This may guide us…</a:t>
            </a:r>
          </a:p>
          <a:p>
            <a:pPr lvl="1"/>
            <a:r>
              <a:rPr lang="en-US" dirty="0"/>
              <a:t>If we want to classify, that division helps. </a:t>
            </a:r>
          </a:p>
          <a:p>
            <a:pPr lvl="1"/>
            <a:r>
              <a:rPr lang="en-US" dirty="0"/>
              <a:t>If that value is a feature, maybe it is better categorical. (??)</a:t>
            </a:r>
          </a:p>
        </p:txBody>
      </p:sp>
      <p:pic>
        <p:nvPicPr>
          <p:cNvPr id="1026" name="Picture 2" descr="Fundamentals of Exploratory Data Analysis with Python Implementation">
            <a:extLst>
              <a:ext uri="{FF2B5EF4-FFF2-40B4-BE49-F238E27FC236}">
                <a16:creationId xmlns:a16="http://schemas.microsoft.com/office/drawing/2014/main" id="{BC0AE3D8-EB56-C1D7-273C-DF74389A7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53" y="1853754"/>
            <a:ext cx="8488526" cy="4203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7146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C361B-31A2-BBC7-8128-D8B8C25A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19"/>
            <a:ext cx="3468084" cy="1049235"/>
          </a:xfrm>
        </p:spPr>
        <p:txBody>
          <a:bodyPr/>
          <a:lstStyle/>
          <a:p>
            <a:r>
              <a:rPr lang="en-US" dirty="0"/>
              <a:t>Outliers and Categorical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0D048-50A6-B407-5D37-96849F79C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15732"/>
            <a:ext cx="4805916" cy="3906603"/>
          </a:xfrm>
        </p:spPr>
        <p:txBody>
          <a:bodyPr/>
          <a:lstStyle/>
          <a:p>
            <a:r>
              <a:rPr lang="en-US" dirty="0"/>
              <a:t>This data appears to have outliers. </a:t>
            </a:r>
          </a:p>
          <a:p>
            <a:r>
              <a:rPr lang="en-US" dirty="0"/>
              <a:t>The last column appears to be better as categorical. </a:t>
            </a:r>
          </a:p>
          <a:p>
            <a:r>
              <a:rPr lang="en-US" dirty="0"/>
              <a:t>The ‘hour’ column has a weird distribution – depending on what I am doing, this might matter. </a:t>
            </a:r>
          </a:p>
        </p:txBody>
      </p:sp>
      <p:pic>
        <p:nvPicPr>
          <p:cNvPr id="3078" name="Picture 6" descr="distributions - How to interpret pairplots() - Cross Validated">
            <a:extLst>
              <a:ext uri="{FF2B5EF4-FFF2-40B4-BE49-F238E27FC236}">
                <a16:creationId xmlns:a16="http://schemas.microsoft.com/office/drawing/2014/main" id="{03CF9A95-830B-82D9-D993-2BEF2843C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663" y="0"/>
            <a:ext cx="7272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8758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2B0D2-0D58-554E-D694-76BAC3DD2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EDA-</a:t>
            </a:r>
            <a:r>
              <a:rPr lang="en-US" dirty="0" err="1"/>
              <a:t>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923F8-AE60-DAAE-C255-0D5C34C71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This EDA process is something we want to do when we load any data. </a:t>
            </a:r>
          </a:p>
          <a:p>
            <a:r>
              <a:rPr lang="en-US" dirty="0"/>
              <a:t>ML intended datasets often have few errors or issues to find. </a:t>
            </a:r>
          </a:p>
          <a:p>
            <a:r>
              <a:rPr lang="en-US" dirty="0"/>
              <a:t>When using real world data this process is usually more involved. </a:t>
            </a:r>
          </a:p>
          <a:p>
            <a:pPr lvl="1"/>
            <a:r>
              <a:rPr lang="en-US" dirty="0"/>
              <a:t>We want a dataset with no ‘junk’, so we need to find it in EDA. </a:t>
            </a:r>
          </a:p>
          <a:p>
            <a:pPr lvl="1"/>
            <a:r>
              <a:rPr lang="en-US" dirty="0"/>
              <a:t>Some domain knowledge is required to do a really good job here. </a:t>
            </a:r>
          </a:p>
          <a:p>
            <a:r>
              <a:rPr lang="en-US" dirty="0"/>
              <a:t>The EDA process will guide future behaviors. </a:t>
            </a:r>
          </a:p>
          <a:p>
            <a:pPr lvl="1"/>
            <a:r>
              <a:rPr lang="en-US" dirty="0"/>
              <a:t>Do we see anything in the data that we want to investigate further? </a:t>
            </a:r>
          </a:p>
          <a:p>
            <a:pPr lvl="1"/>
            <a:r>
              <a:rPr lang="en-US" dirty="0"/>
              <a:t>What cleaning/preparation steps do we need to build into our pipeline? </a:t>
            </a:r>
          </a:p>
        </p:txBody>
      </p:sp>
    </p:spTree>
    <p:extLst>
      <p:ext uri="{BB962C8B-B14F-4D97-AF65-F5344CB8AC3E}">
        <p14:creationId xmlns:p14="http://schemas.microsoft.com/office/powerpoint/2010/main" val="280772847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177</TotalTime>
  <Words>2855</Words>
  <Application>Microsoft Macintosh PowerPoint</Application>
  <PresentationFormat>Widescreen</PresentationFormat>
  <Paragraphs>260</Paragraphs>
  <Slides>36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Gill Sans MT</vt:lpstr>
      <vt:lpstr>Gallery</vt:lpstr>
      <vt:lpstr>Stuff to Do!</vt:lpstr>
      <vt:lpstr>More Regression – R2 and Statsmodels</vt:lpstr>
      <vt:lpstr>But Why Statistical Models? </vt:lpstr>
      <vt:lpstr>Remember regression Models</vt:lpstr>
      <vt:lpstr>Residual Drama</vt:lpstr>
      <vt:lpstr>Models need to fiT!</vt:lpstr>
      <vt:lpstr>Error Aggregation</vt:lpstr>
      <vt:lpstr>R-Squared and Correlation</vt:lpstr>
      <vt:lpstr>Reexamining Fit – R Squared</vt:lpstr>
      <vt:lpstr>Variance – Our data varies</vt:lpstr>
      <vt:lpstr>The Model explains part of that Variance</vt:lpstr>
      <vt:lpstr>Break that apart</vt:lpstr>
      <vt:lpstr>You can Frame it in Terms of Error as well</vt:lpstr>
      <vt:lpstr>So, R2…</vt:lpstr>
      <vt:lpstr>PowerPoint Presentation</vt:lpstr>
      <vt:lpstr>Using R Squared</vt:lpstr>
      <vt:lpstr>Multiple Inputs for X</vt:lpstr>
      <vt:lpstr>What’s going on in Multiple Regression?</vt:lpstr>
      <vt:lpstr>In practice</vt:lpstr>
      <vt:lpstr>The Regression Magic</vt:lpstr>
      <vt:lpstr>Multicollinearity</vt:lpstr>
      <vt:lpstr>Example – Medical Screening</vt:lpstr>
      <vt:lpstr>Separate Information from Variable</vt:lpstr>
      <vt:lpstr>So, What’s the Problem? </vt:lpstr>
      <vt:lpstr>More Business-y Example</vt:lpstr>
      <vt:lpstr>Managing M.C.</vt:lpstr>
      <vt:lpstr>Detecting M.c.</vt:lpstr>
      <vt:lpstr>Measuring M.C. </vt:lpstr>
      <vt:lpstr>Multicollinearity Process</vt:lpstr>
      <vt:lpstr>R2 and Multiple Regression</vt:lpstr>
      <vt:lpstr>Applying the Stats Stuff</vt:lpstr>
      <vt:lpstr>EDA Process</vt:lpstr>
      <vt:lpstr>Example – Nothing of interest</vt:lpstr>
      <vt:lpstr>Something Weird!</vt:lpstr>
      <vt:lpstr>Outliers and Categorical</vt:lpstr>
      <vt:lpstr>Get EDA-ing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Semper</dc:creator>
  <cp:lastModifiedBy>Akeem Semper</cp:lastModifiedBy>
  <cp:revision>21</cp:revision>
  <dcterms:created xsi:type="dcterms:W3CDTF">2025-11-17T17:51:41Z</dcterms:created>
  <dcterms:modified xsi:type="dcterms:W3CDTF">2026-10-27T16:24:24Z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2025-11-17T18:24:35Z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b424954b-f96c-4afa-b7b4-c235b45deaac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
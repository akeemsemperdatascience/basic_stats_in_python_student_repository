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3" r:id="rId2"/>
    <p:sldId id="269" r:id="rId3"/>
    <p:sldId id="270" r:id="rId4"/>
    <p:sldId id="271" r:id="rId5"/>
    <p:sldId id="256" r:id="rId6"/>
    <p:sldId id="268" r:id="rId7"/>
    <p:sldId id="274" r:id="rId8"/>
    <p:sldId id="266" r:id="rId9"/>
    <p:sldId id="272" r:id="rId10"/>
    <p:sldId id="257" r:id="rId11"/>
    <p:sldId id="258" r:id="rId12"/>
    <p:sldId id="265" r:id="rId13"/>
    <p:sldId id="264" r:id="rId14"/>
    <p:sldId id="267" r:id="rId15"/>
    <p:sldId id="259" r:id="rId16"/>
    <p:sldId id="260" r:id="rId17"/>
    <p:sldId id="273" r:id="rId18"/>
    <p:sldId id="262" r:id="rId19"/>
    <p:sldId id="26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20"/>
    <p:restoredTop sz="95897"/>
  </p:normalViewPr>
  <p:slideViewPr>
    <p:cSldViewPr snapToGrid="0" snapToObjects="1">
      <p:cViewPr varScale="1">
        <p:scale>
          <a:sx n="128" d="100"/>
          <a:sy n="128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0219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9277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6331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9024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590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039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040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118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3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1193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0032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09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6593C-6A8F-1480-2F7D-4415B047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of 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6A1EE-F364-4D13-BBCF-78A5D3603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2402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Quiz:</a:t>
            </a:r>
          </a:p>
          <a:p>
            <a:pPr lvl="1"/>
            <a:r>
              <a:rPr lang="en-US" dirty="0"/>
              <a:t>Corrections made for my mistakes, should be reflected in the grade now. </a:t>
            </a:r>
          </a:p>
          <a:p>
            <a:pPr lvl="1"/>
            <a:r>
              <a:rPr lang="en-US" dirty="0"/>
              <a:t>I updated the percentage ones to give %50 marks for percent vs decimal. </a:t>
            </a:r>
          </a:p>
          <a:p>
            <a:r>
              <a:rPr lang="en-US" dirty="0"/>
              <a:t>Test:</a:t>
            </a:r>
          </a:p>
          <a:p>
            <a:pPr lvl="1"/>
            <a:r>
              <a:rPr lang="en-US" dirty="0"/>
              <a:t>Guide on Moodle. </a:t>
            </a:r>
          </a:p>
          <a:p>
            <a:pPr lvl="1"/>
            <a:r>
              <a:rPr lang="en-US" dirty="0"/>
              <a:t>Theory, no calculations. </a:t>
            </a:r>
          </a:p>
          <a:p>
            <a:r>
              <a:rPr lang="en-US" dirty="0"/>
              <a:t>Assignment 2:</a:t>
            </a:r>
          </a:p>
          <a:p>
            <a:pPr lvl="1"/>
            <a:r>
              <a:rPr lang="en-US" dirty="0"/>
              <a:t>Description is up. Largely analytical distributions and correlation. 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 dirty="0"/>
              <a:t>Error (workbook 012…). First part of chapter 8. </a:t>
            </a:r>
          </a:p>
          <a:p>
            <a:pPr lvl="1"/>
            <a:r>
              <a:rPr lang="en-US" dirty="0"/>
              <a:t>Peek at time series data. </a:t>
            </a:r>
          </a:p>
        </p:txBody>
      </p:sp>
    </p:spTree>
    <p:extLst>
      <p:ext uri="{BB962C8B-B14F-4D97-AF65-F5344CB8AC3E}">
        <p14:creationId xmlns:p14="http://schemas.microsoft.com/office/powerpoint/2010/main" val="4261501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4A4BB-E7D6-4328-BED4-DB9171C76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- Correlations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8312E-2768-AEBF-D834-7E21833E6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5290" y="1938130"/>
            <a:ext cx="6896710" cy="4115351"/>
          </a:xfrm>
        </p:spPr>
        <p:txBody>
          <a:bodyPr/>
          <a:lstStyle/>
          <a:p>
            <a:r>
              <a:rPr lang="en-US" dirty="0"/>
              <a:t>Last time we looked at relationships between two numerical variables. </a:t>
            </a:r>
          </a:p>
          <a:p>
            <a:r>
              <a:rPr lang="en-US" dirty="0"/>
              <a:t>We can measure covariance – how much Y varies as X varies. </a:t>
            </a:r>
          </a:p>
          <a:p>
            <a:r>
              <a:rPr lang="en-US" dirty="0"/>
              <a:t>This can be translated into correlation. </a:t>
            </a:r>
          </a:p>
          <a:p>
            <a:pPr lvl="1"/>
            <a:r>
              <a:rPr lang="en-US" dirty="0"/>
              <a:t>0 is none, -/+ 1 is perfect. </a:t>
            </a:r>
          </a:p>
          <a:p>
            <a:r>
              <a:rPr lang="en-US" dirty="0"/>
              <a:t>Can spot visually on scatter or calculate. </a:t>
            </a:r>
          </a:p>
          <a:p>
            <a:pPr lvl="1"/>
            <a:r>
              <a:rPr lang="en-US" dirty="0"/>
              <a:t>Pearson or spearman. </a:t>
            </a:r>
          </a:p>
          <a:p>
            <a:r>
              <a:rPr lang="en-US" dirty="0"/>
              <a:t>Predictively – if we know X, how well do I know Y?</a:t>
            </a:r>
          </a:p>
          <a:p>
            <a:pPr lvl="1"/>
            <a:r>
              <a:rPr lang="en-US" dirty="0"/>
              <a:t>How much of the variance in Y is explained? </a:t>
            </a:r>
          </a:p>
        </p:txBody>
      </p:sp>
      <p:pic>
        <p:nvPicPr>
          <p:cNvPr id="1026" name="Picture 2" descr="Correlation and Regression Analysis – Statistics Through an Equity Lens  [Revised Edition]">
            <a:extLst>
              <a:ext uri="{FF2B5EF4-FFF2-40B4-BE49-F238E27FC236}">
                <a16:creationId xmlns:a16="http://schemas.microsoft.com/office/drawing/2014/main" id="{D3BC77AA-0F42-5DF1-7B3E-DE82B441E4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0909" y="1752522"/>
            <a:ext cx="5376199" cy="4300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220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7826-B72A-BF9A-0D85-6830E3060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Strength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C8E43-F246-E18C-2AC2-FF72E9D0E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2696" y="1958010"/>
            <a:ext cx="5976495" cy="4020484"/>
          </a:xfrm>
        </p:spPr>
        <p:txBody>
          <a:bodyPr/>
          <a:lstStyle/>
          <a:p>
            <a:r>
              <a:rPr lang="en-US" dirty="0"/>
              <a:t>Knowing correlation is important for several reasons. </a:t>
            </a:r>
          </a:p>
          <a:p>
            <a:r>
              <a:rPr lang="en-US" dirty="0"/>
              <a:t>We can see things that have a connection. </a:t>
            </a:r>
          </a:p>
          <a:p>
            <a:r>
              <a:rPr lang="en-US" dirty="0"/>
              <a:t>We can validate new measures. </a:t>
            </a:r>
          </a:p>
          <a:p>
            <a:r>
              <a:rPr lang="en-US" dirty="0"/>
              <a:t>We can predict trends. </a:t>
            </a:r>
          </a:p>
          <a:p>
            <a:r>
              <a:rPr lang="en-US" dirty="0"/>
              <a:t>In exploring data for ML, we want to know:</a:t>
            </a:r>
          </a:p>
          <a:p>
            <a:pPr lvl="1"/>
            <a:r>
              <a:rPr lang="en-US" dirty="0"/>
              <a:t>Things correlated with target.</a:t>
            </a:r>
          </a:p>
          <a:p>
            <a:pPr lvl="1"/>
            <a:r>
              <a:rPr lang="en-US" dirty="0"/>
              <a:t>Things correlated with each other. </a:t>
            </a:r>
          </a:p>
          <a:p>
            <a:r>
              <a:rPr lang="en-US" dirty="0"/>
              <a:t>Later in ML – how do several </a:t>
            </a:r>
            <a:r>
              <a:rPr lang="en-US" dirty="0" err="1"/>
              <a:t>Xs</a:t>
            </a:r>
            <a:r>
              <a:rPr lang="en-US" dirty="0"/>
              <a:t> explain Y. </a:t>
            </a:r>
          </a:p>
          <a:p>
            <a:pPr lvl="1"/>
            <a:endParaRPr lang="en-US" dirty="0"/>
          </a:p>
        </p:txBody>
      </p:sp>
      <p:pic>
        <p:nvPicPr>
          <p:cNvPr id="2050" name="Picture 2" descr="Correlation coefficient and correlation test in R - Stats and R">
            <a:extLst>
              <a:ext uri="{FF2B5EF4-FFF2-40B4-BE49-F238E27FC236}">
                <a16:creationId xmlns:a16="http://schemas.microsoft.com/office/drawing/2014/main" id="{70FF6B6D-DB3B-8A21-FE5D-F2701694FD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43" r="8006"/>
          <a:stretch>
            <a:fillRect/>
          </a:stretch>
        </p:blipFill>
        <p:spPr bwMode="auto">
          <a:xfrm>
            <a:off x="7169191" y="1853754"/>
            <a:ext cx="5022809" cy="4278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2035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42489-CB19-A811-64CE-926441B1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Explained Variance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EBEAE-0A15-AE03-A8A8-4B0A2395B3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9482" y="1853754"/>
            <a:ext cx="6297480" cy="4278689"/>
          </a:xfrm>
        </p:spPr>
        <p:txBody>
          <a:bodyPr>
            <a:normAutofit/>
          </a:bodyPr>
          <a:lstStyle/>
          <a:p>
            <a:r>
              <a:rPr lang="en-US" dirty="0"/>
              <a:t>I think its easiest to frame in terms of Variance Explained. </a:t>
            </a:r>
          </a:p>
          <a:p>
            <a:r>
              <a:rPr lang="en-US" dirty="0"/>
              <a:t>Each variable varies (literally) in value.</a:t>
            </a:r>
          </a:p>
          <a:p>
            <a:pPr lvl="1"/>
            <a:r>
              <a:rPr lang="en-US" dirty="0"/>
              <a:t>Unchanging variable is easy to explain – just the mean. </a:t>
            </a:r>
          </a:p>
          <a:p>
            <a:pPr lvl="1"/>
            <a:r>
              <a:rPr lang="en-US" dirty="0"/>
              <a:t>Variable that varies is harder – mean +/- some variation. </a:t>
            </a:r>
          </a:p>
          <a:p>
            <a:r>
              <a:rPr lang="en-US" dirty="0"/>
              <a:t>Correlation tells how much of that variance is explained.</a:t>
            </a:r>
          </a:p>
          <a:p>
            <a:pPr lvl="1"/>
            <a:r>
              <a:rPr lang="en-US" dirty="0"/>
              <a:t>I want to know Y, Y data varies in value some amount. </a:t>
            </a:r>
          </a:p>
          <a:p>
            <a:pPr lvl="1"/>
            <a:r>
              <a:rPr lang="en-US" dirty="0"/>
              <a:t>X gives us (explains) some information on Y’s value. </a:t>
            </a:r>
          </a:p>
          <a:p>
            <a:pPr lvl="1"/>
            <a:r>
              <a:rPr lang="en-US" dirty="0"/>
              <a:t>If correlation is 1, X explains all of Y’s variance – we know 100% of Y’s value (no ambiguity). </a:t>
            </a:r>
          </a:p>
          <a:p>
            <a:r>
              <a:rPr lang="en-US" dirty="0"/>
              <a:t>Y is target, X is input – how well can we get Y from X. </a:t>
            </a:r>
          </a:p>
        </p:txBody>
      </p:sp>
      <p:pic>
        <p:nvPicPr>
          <p:cNvPr id="3074" name="Picture 2" descr="Are There Any Variants of Scatter Plots ? - Advance Innovation Group - Blog">
            <a:extLst>
              <a:ext uri="{FF2B5EF4-FFF2-40B4-BE49-F238E27FC236}">
                <a16:creationId xmlns:a16="http://schemas.microsoft.com/office/drawing/2014/main" id="{E8FBFD00-FF3C-2EF4-82AD-BFF37F70C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38" y="2067338"/>
            <a:ext cx="5704444" cy="3491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7670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06A6D-B04D-DFFC-21B2-BD44396FA4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36125-717A-D5AD-1708-CB7F24EC71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615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D282D-5B87-7E8C-8634-093003DF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Estimates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63E60-3095-93ED-90BF-C18284B88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So far we’ve looked at two main types of ”things”:</a:t>
            </a:r>
          </a:p>
          <a:p>
            <a:pPr lvl="1"/>
            <a:r>
              <a:rPr lang="en-US" dirty="0"/>
              <a:t>Empirical data – real values. Generally a sample of a population. </a:t>
            </a:r>
          </a:p>
          <a:p>
            <a:pPr lvl="1"/>
            <a:r>
              <a:rPr lang="en-US" dirty="0"/>
              <a:t>Models – a representation of some data. Analytical distributions and the line of best fit (regression line) are both models. </a:t>
            </a:r>
          </a:p>
          <a:p>
            <a:r>
              <a:rPr lang="en-US" dirty="0"/>
              <a:t>A model is a simplified representation of the data. </a:t>
            </a:r>
          </a:p>
          <a:p>
            <a:r>
              <a:rPr lang="en-US" dirty="0"/>
              <a:t>How good is a model? So far,  we’ve mainly looked to eyeball it.</a:t>
            </a:r>
          </a:p>
          <a:p>
            <a:r>
              <a:rPr lang="en-US" dirty="0"/>
              <a:t>The models always differ from the empirical data somewhat.  </a:t>
            </a:r>
          </a:p>
          <a:p>
            <a:r>
              <a:rPr lang="en-US" dirty="0"/>
              <a:t>How do we evaluate how good a model is? </a:t>
            </a:r>
          </a:p>
        </p:txBody>
      </p:sp>
    </p:spTree>
    <p:extLst>
      <p:ext uri="{BB962C8B-B14F-4D97-AF65-F5344CB8AC3E}">
        <p14:creationId xmlns:p14="http://schemas.microsoft.com/office/powerpoint/2010/main" val="3876072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857AF-E27A-214B-AEA1-7E64C3ED6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Distributions And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91DD-4138-2F8E-2866-D8E389DAF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6499" y="2015732"/>
            <a:ext cx="6276353" cy="4037749"/>
          </a:xfrm>
        </p:spPr>
        <p:txBody>
          <a:bodyPr/>
          <a:lstStyle/>
          <a:p>
            <a:r>
              <a:rPr lang="en-US" dirty="0"/>
              <a:t>Our analytical distributions are models. </a:t>
            </a:r>
          </a:p>
          <a:p>
            <a:pPr lvl="1"/>
            <a:r>
              <a:rPr lang="en-US" dirty="0"/>
              <a:t>Mathematical representation of our data. </a:t>
            </a:r>
          </a:p>
          <a:p>
            <a:pPr lvl="1"/>
            <a:r>
              <a:rPr lang="en-US" dirty="0"/>
              <a:t>Defined by some equation rather than collection of data. </a:t>
            </a:r>
          </a:p>
          <a:p>
            <a:r>
              <a:rPr lang="en-US" dirty="0"/>
              <a:t>Models aren’t perfect, they’re simplifications. </a:t>
            </a:r>
          </a:p>
          <a:p>
            <a:pPr lvl="1"/>
            <a:r>
              <a:rPr lang="en-US" dirty="0"/>
              <a:t>We expect some difference between data and model. </a:t>
            </a:r>
          </a:p>
          <a:p>
            <a:r>
              <a:rPr lang="en-US" dirty="0"/>
              <a:t>Any other model works the same way. </a:t>
            </a:r>
          </a:p>
          <a:p>
            <a:pPr lvl="1"/>
            <a:r>
              <a:rPr lang="en-US" dirty="0"/>
              <a:t>It gives a simple version of what we see in data. </a:t>
            </a:r>
          </a:p>
        </p:txBody>
      </p:sp>
      <p:pic>
        <p:nvPicPr>
          <p:cNvPr id="8194" name="Picture 2" descr="The Ultimate Guide to Statistical Distributions: Normal, Uniform, Binomial,  Poisson &amp; More | by Rohan Mistry | Aug, 2025 | Medium">
            <a:extLst>
              <a:ext uri="{FF2B5EF4-FFF2-40B4-BE49-F238E27FC236}">
                <a16:creationId xmlns:a16="http://schemas.microsoft.com/office/drawing/2014/main" id="{768A53FD-A4AC-8060-573C-E3193E459D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148" y="1853754"/>
            <a:ext cx="5637351" cy="3905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1019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74B564-B911-8B2C-FDD8-1DE665220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519" y="-22182"/>
            <a:ext cx="10662962" cy="69023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B09457-7837-DDDE-819F-EACAED7EA4DF}"/>
              </a:ext>
            </a:extLst>
          </p:cNvPr>
          <p:cNvSpPr txBox="1"/>
          <p:nvPr/>
        </p:nvSpPr>
        <p:spPr>
          <a:xfrm>
            <a:off x="2454965" y="815009"/>
            <a:ext cx="48502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Another model:</a:t>
            </a:r>
          </a:p>
          <a:p>
            <a:r>
              <a:rPr lang="en-US" dirty="0"/>
              <a:t>Data – The dots. </a:t>
            </a:r>
          </a:p>
          <a:p>
            <a:r>
              <a:rPr lang="en-US" dirty="0"/>
              <a:t>Model – the line: y = m*x + b</a:t>
            </a:r>
          </a:p>
        </p:txBody>
      </p:sp>
    </p:spTree>
    <p:extLst>
      <p:ext uri="{BB962C8B-B14F-4D97-AF65-F5344CB8AC3E}">
        <p14:creationId xmlns:p14="http://schemas.microsoft.com/office/powerpoint/2010/main" val="1434053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machine learning - Linear Regression: how to discern a possible correlation  between observation errors from scatter plot - Cross Validated">
            <a:extLst>
              <a:ext uri="{FF2B5EF4-FFF2-40B4-BE49-F238E27FC236}">
                <a16:creationId xmlns:a16="http://schemas.microsoft.com/office/drawing/2014/main" id="{4F665E50-429B-60A5-80FE-E3C709E711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61"/>
          <a:stretch>
            <a:fillRect/>
          </a:stretch>
        </p:blipFill>
        <p:spPr bwMode="auto">
          <a:xfrm>
            <a:off x="919163" y="566530"/>
            <a:ext cx="10353675" cy="6291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2340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6352-913A-80C4-CF7E-B8EC17246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9208-C1D8-D820-95A6-46333A523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When matching empirical data to analytical distributions our match is never perfect. </a:t>
            </a:r>
          </a:p>
          <a:p>
            <a:r>
              <a:rPr lang="en-US" dirty="0"/>
              <a:t>Each point is “off” the analytical distribution by some amount. </a:t>
            </a:r>
          </a:p>
          <a:p>
            <a:r>
              <a:rPr lang="en-US" dirty="0"/>
              <a:t>The less the total amount of “off” is, the more closely matched the distribution. </a:t>
            </a:r>
          </a:p>
          <a:p>
            <a:endParaRPr lang="en-US" dirty="0"/>
          </a:p>
          <a:p>
            <a:r>
              <a:rPr lang="en-US" dirty="0"/>
              <a:t>Predictions work the same way:</a:t>
            </a:r>
          </a:p>
          <a:p>
            <a:pPr lvl="1"/>
            <a:r>
              <a:rPr lang="en-US" dirty="0"/>
              <a:t>Predict what a value should be. </a:t>
            </a:r>
          </a:p>
          <a:p>
            <a:pPr lvl="1"/>
            <a:r>
              <a:rPr lang="en-US" dirty="0"/>
              <a:t>Measure our error.</a:t>
            </a:r>
          </a:p>
          <a:p>
            <a:pPr lvl="1"/>
            <a:r>
              <a:rPr lang="en-US" dirty="0"/>
              <a:t>Summarize these errors to estimate overall accuracy. </a:t>
            </a:r>
          </a:p>
        </p:txBody>
      </p:sp>
    </p:spTree>
    <p:extLst>
      <p:ext uri="{BB962C8B-B14F-4D97-AF65-F5344CB8AC3E}">
        <p14:creationId xmlns:p14="http://schemas.microsoft.com/office/powerpoint/2010/main" val="3134869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F6B96-4AC2-5366-6E64-4FCABD653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35C24-FC39-2D6E-5A15-E5DC7C3D6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13" y="2015732"/>
            <a:ext cx="4761570" cy="4037749"/>
          </a:xfrm>
        </p:spPr>
        <p:txBody>
          <a:bodyPr/>
          <a:lstStyle/>
          <a:p>
            <a:r>
              <a:rPr lang="en-US" dirty="0"/>
              <a:t>A residual is how much one value is off from reality. </a:t>
            </a:r>
          </a:p>
          <a:p>
            <a:r>
              <a:rPr lang="en-US" dirty="0"/>
              <a:t>Each point in our data has its own residual – how “off” was the model vs that real value. </a:t>
            </a:r>
          </a:p>
          <a:p>
            <a:r>
              <a:rPr lang="en-US" dirty="0"/>
              <a:t>Here – </a:t>
            </a:r>
            <a:r>
              <a:rPr lang="en-US" dirty="0" err="1"/>
              <a:t>LoBF</a:t>
            </a:r>
            <a:r>
              <a:rPr lang="en-US" dirty="0"/>
              <a:t> is a model of the data.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F8C1F-A22D-924B-1803-6143A067A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92" y="1853754"/>
            <a:ext cx="7140571" cy="484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981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FA2BA-264D-E3CA-EB08-A9F10BFD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Analytical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14678-FC62-6CF2-A4FF-346E8C4DC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199" y="2015732"/>
            <a:ext cx="10034656" cy="4037749"/>
          </a:xfrm>
        </p:spPr>
        <p:txBody>
          <a:bodyPr/>
          <a:lstStyle/>
          <a:p>
            <a:r>
              <a:rPr lang="en-US" dirty="0"/>
              <a:t>The idea of error works in the same way when matching empirical vs analytical distributions.</a:t>
            </a:r>
          </a:p>
          <a:p>
            <a:pPr lvl="1"/>
            <a:r>
              <a:rPr lang="en-US" dirty="0"/>
              <a:t>Empirical is the real data. </a:t>
            </a:r>
          </a:p>
          <a:p>
            <a:pPr lvl="1"/>
            <a:r>
              <a:rPr lang="en-US" dirty="0"/>
              <a:t>The analytical distribution is the prediction.</a:t>
            </a:r>
          </a:p>
          <a:p>
            <a:r>
              <a:rPr lang="en-US" dirty="0"/>
              <a:t>E.g. Consider matching a lognormal looking distribution to the </a:t>
            </a:r>
            <a:r>
              <a:rPr lang="en-US" dirty="0" err="1"/>
              <a:t>lognorm</a:t>
            </a:r>
            <a:r>
              <a:rPr lang="en-US" dirty="0"/>
              <a:t> analytical one:</a:t>
            </a:r>
          </a:p>
          <a:p>
            <a:pPr lvl="1"/>
            <a:r>
              <a:rPr lang="en-US" dirty="0"/>
              <a:t>Empirical data tells us how many values we have in a bin. </a:t>
            </a:r>
          </a:p>
          <a:p>
            <a:pPr lvl="1"/>
            <a:r>
              <a:rPr lang="en-US" dirty="0"/>
              <a:t>The analytical distribution tells us how many we expect (if the data follows that </a:t>
            </a:r>
            <a:r>
              <a:rPr lang="en-US" dirty="0" err="1"/>
              <a:t>dist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The difference between the two is the residual, or amount of error. </a:t>
            </a:r>
          </a:p>
          <a:p>
            <a:r>
              <a:rPr lang="en-US" dirty="0"/>
              <a:t>This error is the ‘</a:t>
            </a:r>
            <a:r>
              <a:rPr lang="en-US" dirty="0" err="1"/>
              <a:t>miss’</a:t>
            </a:r>
            <a:r>
              <a:rPr lang="en-US" dirty="0"/>
              <a:t> of the model – it isn’t capturing the empirical pattern accurately. </a:t>
            </a:r>
          </a:p>
          <a:p>
            <a:pPr lvl="1"/>
            <a:r>
              <a:rPr lang="en-US" dirty="0"/>
              <a:t>This could be due to the model not fitting, or due to actual variation from normal in data. </a:t>
            </a:r>
          </a:p>
        </p:txBody>
      </p:sp>
    </p:spTree>
    <p:extLst>
      <p:ext uri="{BB962C8B-B14F-4D97-AF65-F5344CB8AC3E}">
        <p14:creationId xmlns:p14="http://schemas.microsoft.com/office/powerpoint/2010/main" val="193075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E0CC7-13E3-E839-CD79-3E2C82420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8A355-9E85-BB63-D825-EB997BE32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6E9D6D-B1E0-2455-A1E9-5F23DFE4B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146" y="0"/>
            <a:ext cx="9917708" cy="689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487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9860B-DFF8-D259-8D4D-4227B9F0A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Residuals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B42DD-CEC8-F15F-D887-AE5B66FD5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369" y="2015732"/>
            <a:ext cx="4080793" cy="4120572"/>
          </a:xfrm>
        </p:spPr>
        <p:txBody>
          <a:bodyPr>
            <a:normAutofit/>
          </a:bodyPr>
          <a:lstStyle/>
          <a:p>
            <a:r>
              <a:rPr lang="en-US" dirty="0"/>
              <a:t>If we have an expectation (analytical model, ML prediction, guess) and a true (empirical) value, we can calculate the residual. </a:t>
            </a:r>
          </a:p>
          <a:p>
            <a:r>
              <a:rPr lang="en-US" dirty="0"/>
              <a:t>At each empirical point, how accurate is the model? </a:t>
            </a:r>
          </a:p>
          <a:p>
            <a:r>
              <a:rPr lang="en-US" dirty="0"/>
              <a:t>We get one residual for each row of data (point):</a:t>
            </a:r>
          </a:p>
          <a:p>
            <a:pPr lvl="1"/>
            <a:r>
              <a:rPr lang="en-US" dirty="0" err="1"/>
              <a:t>Y_predicted</a:t>
            </a:r>
            <a:r>
              <a:rPr lang="en-US" dirty="0"/>
              <a:t> – </a:t>
            </a:r>
            <a:r>
              <a:rPr lang="en-US" dirty="0" err="1"/>
              <a:t>Y_actual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2050" name="Picture 2" descr="Residual Plots Unit #8 - Statistics. - ppt video online download">
            <a:extLst>
              <a:ext uri="{FF2B5EF4-FFF2-40B4-BE49-F238E27FC236}">
                <a16:creationId xmlns:a16="http://schemas.microsoft.com/office/drawing/2014/main" id="{DC915E80-688C-ECF9-B4E3-140FCB08D7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48"/>
          <a:stretch/>
        </p:blipFill>
        <p:spPr bwMode="auto">
          <a:xfrm>
            <a:off x="4426684" y="1473620"/>
            <a:ext cx="7765315" cy="5384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08438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9AE9-C7BA-7C94-52F0-B3F727BF7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Summarization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36DCAA-7675-6826-7BFF-726EC4BF5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967" y="1934598"/>
            <a:ext cx="10909888" cy="4198573"/>
          </a:xfrm>
        </p:spPr>
        <p:txBody>
          <a:bodyPr>
            <a:normAutofit/>
          </a:bodyPr>
          <a:lstStyle/>
          <a:p>
            <a:r>
              <a:rPr lang="en-US" dirty="0"/>
              <a:t>When dealing with many points, a list of residuals is impractical. </a:t>
            </a:r>
          </a:p>
          <a:p>
            <a:pPr lvl="1"/>
            <a:r>
              <a:rPr lang="en-US" dirty="0"/>
              <a:t>Think of a dataset with 10,000,000 rows – a list of that many residuals is impractical. </a:t>
            </a:r>
          </a:p>
          <a:p>
            <a:r>
              <a:rPr lang="en-US" dirty="0"/>
              <a:t>We can summarize residuals into one measure of error. </a:t>
            </a:r>
          </a:p>
          <a:p>
            <a:r>
              <a:rPr lang="en-US" dirty="0"/>
              <a:t>There are several ways to summarize error, e.g.</a:t>
            </a:r>
          </a:p>
          <a:p>
            <a:pPr lvl="1"/>
            <a:r>
              <a:rPr lang="en-US" dirty="0"/>
              <a:t>MSE – Mean squared error. Square residuals and average them.</a:t>
            </a:r>
          </a:p>
          <a:p>
            <a:pPr lvl="1"/>
            <a:r>
              <a:rPr lang="en-US" dirty="0"/>
              <a:t>RMSE – Root mean squared error. Take the square root of MSE. </a:t>
            </a:r>
          </a:p>
          <a:p>
            <a:pPr lvl="1"/>
            <a:r>
              <a:rPr lang="en-US" dirty="0"/>
              <a:t>MAE – Mean absolute error. Average the absolute values of the residuals. </a:t>
            </a:r>
          </a:p>
          <a:p>
            <a:r>
              <a:rPr lang="en-US" dirty="0"/>
              <a:t>RMSE (or MSE) is the most common error measure for us. </a:t>
            </a:r>
          </a:p>
          <a:p>
            <a:r>
              <a:rPr lang="en-US" dirty="0"/>
              <a:t>Lower error amounts tell us that the model and the empirical are similar. </a:t>
            </a:r>
          </a:p>
        </p:txBody>
      </p:sp>
      <p:pic>
        <p:nvPicPr>
          <p:cNvPr id="5122" name="Picture 2" descr="Essential Regression Evaluation Metrics: MSE, RMSE, MAE, R², and Adjusted  R² | by FARSHAD K | Medium">
            <a:extLst>
              <a:ext uri="{FF2B5EF4-FFF2-40B4-BE49-F238E27FC236}">
                <a16:creationId xmlns:a16="http://schemas.microsoft.com/office/drawing/2014/main" id="{0BE68346-45FF-C8FD-AD8E-1C10139C62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73" b="18406"/>
          <a:stretch>
            <a:fillRect/>
          </a:stretch>
        </p:blipFill>
        <p:spPr bwMode="auto">
          <a:xfrm>
            <a:off x="7251699" y="2725189"/>
            <a:ext cx="4940301" cy="1848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7122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56086-BE05-B01B-10A4-6D197644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Squared?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4DD8C-2FBC-A875-6B61-74B2788B9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error measures either squared or took the absolute value of the residual. </a:t>
            </a:r>
          </a:p>
          <a:p>
            <a:r>
              <a:rPr lang="en-US" dirty="0"/>
              <a:t>Squaring does a couple of things:</a:t>
            </a:r>
          </a:p>
          <a:p>
            <a:pPr lvl="1"/>
            <a:r>
              <a:rPr lang="en-US" dirty="0"/>
              <a:t>Eliminates negatives. We get a measure of the magnitude. (MAE* also does this.)</a:t>
            </a:r>
          </a:p>
          <a:p>
            <a:pPr lvl="1"/>
            <a:r>
              <a:rPr lang="en-US" dirty="0"/>
              <a:t>Penalizes large residuals. </a:t>
            </a:r>
          </a:p>
          <a:p>
            <a:r>
              <a:rPr lang="en-US" dirty="0"/>
              <a:t>Having residuals that are small are good, even though they’ll never be perfect. </a:t>
            </a:r>
          </a:p>
          <a:p>
            <a:r>
              <a:rPr lang="en-US" dirty="0"/>
              <a:t>Having large residuals indicates massive misses. </a:t>
            </a:r>
          </a:p>
          <a:p>
            <a:r>
              <a:rPr lang="en-US" dirty="0"/>
              <a:t>MSE/RMSE tends to reward models without many large residuals. </a:t>
            </a:r>
          </a:p>
          <a:p>
            <a:pPr lvl="1"/>
            <a:r>
              <a:rPr lang="en-US" dirty="0"/>
              <a:t>Few large misses. </a:t>
            </a:r>
          </a:p>
          <a:p>
            <a:r>
              <a:rPr lang="en-US" dirty="0"/>
              <a:t>*Absolute values make for weird math, which is one reason it is less common. </a:t>
            </a:r>
          </a:p>
        </p:txBody>
      </p:sp>
    </p:spTree>
    <p:extLst>
      <p:ext uri="{BB962C8B-B14F-4D97-AF65-F5344CB8AC3E}">
        <p14:creationId xmlns:p14="http://schemas.microsoft.com/office/powerpoint/2010/main" val="35701648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0BEBB-87B6-B031-54D9-7E3DD180E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Where’s the Error From?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92BB6-929A-CCAA-B290-DA2EB966A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497" y="1853754"/>
            <a:ext cx="6467503" cy="4199727"/>
          </a:xfrm>
        </p:spPr>
        <p:txBody>
          <a:bodyPr>
            <a:normAutofit/>
          </a:bodyPr>
          <a:lstStyle/>
          <a:p>
            <a:r>
              <a:rPr lang="en-US" dirty="0"/>
              <a:t>Error is just the difference between model and empirical. </a:t>
            </a:r>
          </a:p>
          <a:p>
            <a:pPr lvl="1"/>
            <a:r>
              <a:rPr lang="en-US" dirty="0"/>
              <a:t>This isn’t an absolute statement of ‘truth’. </a:t>
            </a:r>
          </a:p>
          <a:p>
            <a:pPr lvl="1"/>
            <a:r>
              <a:rPr lang="en-US" dirty="0"/>
              <a:t>Models are always approximations. </a:t>
            </a:r>
          </a:p>
          <a:p>
            <a:pPr lvl="1"/>
            <a:r>
              <a:rPr lang="en-US" dirty="0" err="1"/>
              <a:t>A.k.a</a:t>
            </a:r>
            <a:r>
              <a:rPr lang="en-US" dirty="0"/>
              <a:t> difference between expectation and empirical. </a:t>
            </a:r>
          </a:p>
          <a:p>
            <a:r>
              <a:rPr lang="en-US" dirty="0"/>
              <a:t>Still need judgement. </a:t>
            </a:r>
          </a:p>
          <a:p>
            <a:pPr lvl="1"/>
            <a:r>
              <a:rPr lang="en-US" dirty="0"/>
              <a:t>Is model good and data odd, or do we have wrong model? </a:t>
            </a:r>
          </a:p>
          <a:p>
            <a:r>
              <a:rPr lang="en-US" dirty="0"/>
              <a:t>E.g. are there actually more 9.5 and 12-13 people in reality or did we just randomly get a few more in our sample. </a:t>
            </a:r>
          </a:p>
          <a:p>
            <a:pPr lvl="1"/>
            <a:r>
              <a:rPr lang="en-US" dirty="0"/>
              <a:t>Maybe model should be slightly fatter. </a:t>
            </a:r>
          </a:p>
        </p:txBody>
      </p:sp>
      <p:pic>
        <p:nvPicPr>
          <p:cNvPr id="6146" name="Picture 2" descr="Distribution Of Men's Shoe Sizes | Fila Men's Galvanize Chef Providers Shoes">
            <a:extLst>
              <a:ext uri="{FF2B5EF4-FFF2-40B4-BE49-F238E27FC236}">
                <a16:creationId xmlns:a16="http://schemas.microsoft.com/office/drawing/2014/main" id="{93598D7A-D7B3-5B9D-E376-FBC20D75F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46852"/>
            <a:ext cx="5724497" cy="3866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0067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59CE7-4693-6CD4-9424-CF2757B5E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R-Squared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8D358-DB04-D571-BCE4-C0FC85A2E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51106"/>
          </a:xfrm>
        </p:spPr>
        <p:txBody>
          <a:bodyPr/>
          <a:lstStyle/>
          <a:p>
            <a:r>
              <a:rPr lang="en-US" dirty="0"/>
              <a:t>R-squared is another measure of model quality. </a:t>
            </a:r>
          </a:p>
          <a:p>
            <a:pPr lvl="1"/>
            <a:r>
              <a:rPr lang="en-US" dirty="0"/>
              <a:t>Likely to pop-up if searching about this stuff. </a:t>
            </a:r>
          </a:p>
          <a:p>
            <a:pPr lvl="1"/>
            <a:r>
              <a:rPr lang="en-US" dirty="0"/>
              <a:t>Correlation squared. </a:t>
            </a:r>
          </a:p>
          <a:p>
            <a:r>
              <a:rPr lang="en-US" dirty="0"/>
              <a:t>We’ll deal with it later. </a:t>
            </a:r>
          </a:p>
          <a:p>
            <a:r>
              <a:rPr lang="en-US" dirty="0"/>
              <a:t>It is a measure of “how much” the model captures. </a:t>
            </a:r>
          </a:p>
        </p:txBody>
      </p:sp>
      <p:pic>
        <p:nvPicPr>
          <p:cNvPr id="7170" name="Picture 2" descr="correlation - Simple linear regression: R2 not equal to squared Pearson  coefficient - Cross Validated">
            <a:extLst>
              <a:ext uri="{FF2B5EF4-FFF2-40B4-BE49-F238E27FC236}">
                <a16:creationId xmlns:a16="http://schemas.microsoft.com/office/drawing/2014/main" id="{F175385C-E90F-6ECE-835F-9FF4C5382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634" y="4104860"/>
            <a:ext cx="8187787" cy="268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8308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8E2FB-8FB8-AFFD-AF14-EB856BED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A1AE3-CCE9-BAFD-B227-F99A3F0A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Moving forwards, error is a critical metric for us. </a:t>
            </a:r>
          </a:p>
          <a:p>
            <a:r>
              <a:rPr lang="en-US" dirty="0"/>
              <a:t>We want to build models to make predictions. </a:t>
            </a:r>
          </a:p>
          <a:p>
            <a:pPr lvl="1"/>
            <a:r>
              <a:rPr lang="en-US" dirty="0"/>
              <a:t>Error indicates how well we are doing. </a:t>
            </a:r>
          </a:p>
          <a:p>
            <a:pPr lvl="1"/>
            <a:r>
              <a:rPr lang="en-US" dirty="0"/>
              <a:t>Data isn’t cosmically bound to follow a distribution, we </a:t>
            </a:r>
            <a:r>
              <a:rPr lang="en-US"/>
              <a:t>are approximating. </a:t>
            </a:r>
            <a:endParaRPr lang="en-US" dirty="0"/>
          </a:p>
          <a:p>
            <a:r>
              <a:rPr lang="en-US" dirty="0"/>
              <a:t>Less error = closer match between expectations and reality. </a:t>
            </a:r>
          </a:p>
          <a:p>
            <a:endParaRPr lang="en-US" dirty="0"/>
          </a:p>
          <a:p>
            <a:r>
              <a:rPr lang="en-US" dirty="0"/>
              <a:t>We’ll build an error calculation from scratch and look at the library functions. </a:t>
            </a:r>
          </a:p>
          <a:p>
            <a:r>
              <a:rPr lang="en-US" dirty="0"/>
              <a:t>This stuff carries over directly to the error calculations we need for ML. </a:t>
            </a:r>
          </a:p>
        </p:txBody>
      </p:sp>
    </p:spTree>
    <p:extLst>
      <p:ext uri="{BB962C8B-B14F-4D97-AF65-F5344CB8AC3E}">
        <p14:creationId xmlns:p14="http://schemas.microsoft.com/office/powerpoint/2010/main" val="76767667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363</TotalTime>
  <Words>1263</Words>
  <Application>Microsoft Macintosh PowerPoint</Application>
  <PresentationFormat>Widescreen</PresentationFormat>
  <Paragraphs>132</Paragraphs>
  <Slides>19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Gill Sans MT</vt:lpstr>
      <vt:lpstr>Gallery</vt:lpstr>
      <vt:lpstr>Keeping of House</vt:lpstr>
      <vt:lpstr>Review - Correlations</vt:lpstr>
      <vt:lpstr>Correlation Strength</vt:lpstr>
      <vt:lpstr>Explained Variance</vt:lpstr>
      <vt:lpstr>Errors</vt:lpstr>
      <vt:lpstr>Data and Estimates</vt:lpstr>
      <vt:lpstr>Analytical Distributions And Models</vt:lpstr>
      <vt:lpstr>PowerPoint Presentation</vt:lpstr>
      <vt:lpstr>PowerPoint Presentation</vt:lpstr>
      <vt:lpstr>Errors</vt:lpstr>
      <vt:lpstr>Residuals</vt:lpstr>
      <vt:lpstr>In Analytical Distributions</vt:lpstr>
      <vt:lpstr>PowerPoint Presentation</vt:lpstr>
      <vt:lpstr>Calculating Residuals</vt:lpstr>
      <vt:lpstr>Summarization of Errors</vt:lpstr>
      <vt:lpstr>Why Squared?</vt:lpstr>
      <vt:lpstr>Where’s the Error From?</vt:lpstr>
      <vt:lpstr>R-Squared</vt:lpstr>
      <vt:lpstr>Errors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28</cp:revision>
  <dcterms:created xsi:type="dcterms:W3CDTF">2022-06-01T19:38:40Z</dcterms:created>
  <dcterms:modified xsi:type="dcterms:W3CDTF">2025-10-04T17:53:04Z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2025-10-04T17:02:47Z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9712a5c8-7bb1-4a2d-a3f9-0d88c384fbb9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